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27248"/>
            <a:ext cx="9144000" cy="2016252"/>
          </a:xfrm>
          <a:prstGeom prst="rect">
            <a:avLst/>
          </a:prstGeom>
          <a:solidFill>
            <a:srgbClr val="2432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399FE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132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9FB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react-app-peoplify v2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화면 기획서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21214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7D4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 회사 맞춤형 · 인력 투입 관리 중심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7355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FA6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도메인  ·  13개 화면  ·  project 도메인 신규  ·  더미데이터 기반 선행 개발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65760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185416" y="3657600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85416" y="365760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22192" y="3657600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22192" y="365760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목록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58968" y="3657600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58968" y="365760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상세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95744" y="3657600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95744" y="365760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등록/수정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169664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169664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185416" y="4169664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C4A7A"/>
          </a:solidFill>
          <a:ln w="19050">
            <a:solidFill>
              <a:srgbClr val="399F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85416" y="4169664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등록/수정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822192" y="4169664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22192" y="4169664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상세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58968" y="4169664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58968" y="4169664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배정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095744" y="4169664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95744" y="4169664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현황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681728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68172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근무 보고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85416" y="4681728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468172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휴가 관리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822192" y="4681728"/>
            <a:ext cx="1499616" cy="384048"/>
          </a:xfrm>
          <a:prstGeom prst="roundRect">
            <a:avLst>
              <a:gd name="adj" fmla="val 11905"/>
            </a:avLst>
          </a:prstGeom>
          <a:solidFill>
            <a:srgbClr val="26345C"/>
          </a:solidFill>
          <a:ln w="12700">
            <a:solidFill>
              <a:srgbClr val="3E589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22192" y="4681728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통계/리포트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9274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9144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전체 구성 개요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78992"/>
            <a:ext cx="1594714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78992"/>
            <a:ext cx="1594714" cy="457200"/>
          </a:xfrm>
          <a:prstGeom prst="rect">
            <a:avLst/>
          </a:prstGeom>
          <a:solidFill>
            <a:srgbClr val="7B3AEC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78992"/>
            <a:ext cx="1594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572768"/>
            <a:ext cx="15947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B3A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" y="1956816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ECE5F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956816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B3A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4224528"/>
            <a:ext cx="1594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화면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070202" y="1078992"/>
            <a:ext cx="1594714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70202" y="1078992"/>
            <a:ext cx="1594714" cy="457200"/>
          </a:xfrm>
          <a:prstGeom prst="rect">
            <a:avLst/>
          </a:prstGeom>
          <a:solidFill>
            <a:srgbClr val="0E756D"/>
          </a:solidFill>
          <a:ln/>
        </p:spPr>
      </p:sp>
      <p:sp>
        <p:nvSpPr>
          <p:cNvPr id="13" name="Text 11"/>
          <p:cNvSpPr/>
          <p:nvPr/>
        </p:nvSpPr>
        <p:spPr>
          <a:xfrm>
            <a:off x="2070202" y="1078992"/>
            <a:ext cx="1594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employee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70202" y="1572768"/>
            <a:ext cx="15947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5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직원관리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179930" y="1956816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D6F6F0"/>
          </a:solidFill>
          <a:ln/>
        </p:spPr>
      </p:sp>
      <p:sp>
        <p:nvSpPr>
          <p:cNvPr id="16" name="Text 14"/>
          <p:cNvSpPr/>
          <p:nvPr/>
        </p:nvSpPr>
        <p:spPr>
          <a:xfrm>
            <a:off x="2161642" y="1956816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75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목록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79930" y="2400300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D6F6F0"/>
          </a:solidFill>
          <a:ln/>
        </p:spPr>
      </p:sp>
      <p:sp>
        <p:nvSpPr>
          <p:cNvPr id="18" name="Text 16"/>
          <p:cNvSpPr/>
          <p:nvPr/>
        </p:nvSpPr>
        <p:spPr>
          <a:xfrm>
            <a:off x="2161642" y="2400300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75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상세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79930" y="2843784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D6F6F0"/>
          </a:solidFill>
          <a:ln/>
        </p:spPr>
      </p:sp>
      <p:sp>
        <p:nvSpPr>
          <p:cNvPr id="20" name="Text 18"/>
          <p:cNvSpPr/>
          <p:nvPr/>
        </p:nvSpPr>
        <p:spPr>
          <a:xfrm>
            <a:off x="2161642" y="2843784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75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등록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70202" y="4224528"/>
            <a:ext cx="1594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화면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774643" y="1078992"/>
            <a:ext cx="1594714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774643" y="1078992"/>
            <a:ext cx="1594714" cy="457200"/>
          </a:xfrm>
          <a:prstGeom prst="rect">
            <a:avLst/>
          </a:prstGeom>
          <a:solidFill>
            <a:srgbClr val="1C4ED7"/>
          </a:solidFill>
          <a:ln/>
        </p:spPr>
      </p:sp>
      <p:sp>
        <p:nvSpPr>
          <p:cNvPr id="24" name="Text 22"/>
          <p:cNvSpPr/>
          <p:nvPr/>
        </p:nvSpPr>
        <p:spPr>
          <a:xfrm>
            <a:off x="3774643" y="1078992"/>
            <a:ext cx="1594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774643" y="1572768"/>
            <a:ext cx="15947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4ED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투입관리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884371" y="1956816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DCE9FF"/>
          </a:solidFill>
          <a:ln/>
        </p:spPr>
      </p:sp>
      <p:sp>
        <p:nvSpPr>
          <p:cNvPr id="27" name="Text 25"/>
          <p:cNvSpPr/>
          <p:nvPr/>
        </p:nvSpPr>
        <p:spPr>
          <a:xfrm>
            <a:off x="3866083" y="1956816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4ED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884371" y="2400300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DCE9FF"/>
          </a:solidFill>
          <a:ln w="15875">
            <a:solidFill>
              <a:srgbClr val="1C4ED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66083" y="2400300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4ED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등록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84371" y="2843784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DCE9FF"/>
          </a:solidFill>
          <a:ln/>
        </p:spPr>
      </p:sp>
      <p:sp>
        <p:nvSpPr>
          <p:cNvPr id="31" name="Text 29"/>
          <p:cNvSpPr/>
          <p:nvPr/>
        </p:nvSpPr>
        <p:spPr>
          <a:xfrm>
            <a:off x="3866083" y="2843784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4ED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상세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884371" y="3287268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DCE9FF"/>
          </a:solidFill>
          <a:ln/>
        </p:spPr>
      </p:sp>
      <p:sp>
        <p:nvSpPr>
          <p:cNvPr id="33" name="Text 31"/>
          <p:cNvSpPr/>
          <p:nvPr/>
        </p:nvSpPr>
        <p:spPr>
          <a:xfrm>
            <a:off x="3866083" y="3287268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4ED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배정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884371" y="3730752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DCE9FF"/>
          </a:solidFill>
          <a:ln/>
        </p:spPr>
      </p:sp>
      <p:sp>
        <p:nvSpPr>
          <p:cNvPr id="35" name="Text 33"/>
          <p:cNvSpPr/>
          <p:nvPr/>
        </p:nvSpPr>
        <p:spPr>
          <a:xfrm>
            <a:off x="3866083" y="3730752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4ED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현황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774643" y="4224528"/>
            <a:ext cx="1594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화면 ★ 신규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79085" y="1078992"/>
            <a:ext cx="1594714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479085" y="1078992"/>
            <a:ext cx="1594714" cy="457200"/>
          </a:xfrm>
          <a:prstGeom prst="rect">
            <a:avLst/>
          </a:prstGeom>
          <a:solidFill>
            <a:srgbClr val="B55309"/>
          </a:solidFill>
          <a:ln/>
        </p:spPr>
      </p:sp>
      <p:sp>
        <p:nvSpPr>
          <p:cNvPr id="39" name="Text 37"/>
          <p:cNvSpPr/>
          <p:nvPr/>
        </p:nvSpPr>
        <p:spPr>
          <a:xfrm>
            <a:off x="5479085" y="1078992"/>
            <a:ext cx="1594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attendance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479085" y="1572768"/>
            <a:ext cx="15947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5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근태관리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588813" y="1956816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FBE6CC"/>
          </a:solidFill>
          <a:ln/>
        </p:spPr>
      </p:sp>
      <p:sp>
        <p:nvSpPr>
          <p:cNvPr id="42" name="Text 40"/>
          <p:cNvSpPr/>
          <p:nvPr/>
        </p:nvSpPr>
        <p:spPr>
          <a:xfrm>
            <a:off x="5570525" y="1956816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5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근무 보고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588813" y="2400300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FBE6CC"/>
          </a:solidFill>
          <a:ln/>
        </p:spPr>
      </p:sp>
      <p:sp>
        <p:nvSpPr>
          <p:cNvPr id="44" name="Text 42"/>
          <p:cNvSpPr/>
          <p:nvPr/>
        </p:nvSpPr>
        <p:spPr>
          <a:xfrm>
            <a:off x="5570525" y="2400300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5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휴가 관리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479085" y="4224528"/>
            <a:ext cx="1594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화면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183526" y="1078992"/>
            <a:ext cx="1594714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183526" y="1078992"/>
            <a:ext cx="1594714" cy="457200"/>
          </a:xfrm>
          <a:prstGeom prst="rect">
            <a:avLst/>
          </a:prstGeom>
          <a:solidFill>
            <a:srgbClr val="185EA5"/>
          </a:solidFill>
          <a:ln/>
        </p:spPr>
      </p:sp>
      <p:sp>
        <p:nvSpPr>
          <p:cNvPr id="48" name="Text 46"/>
          <p:cNvSpPr/>
          <p:nvPr/>
        </p:nvSpPr>
        <p:spPr>
          <a:xfrm>
            <a:off x="7183526" y="1078992"/>
            <a:ext cx="1594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183526" y="1572768"/>
            <a:ext cx="15947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85E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7293254" y="1956816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DBE9FB"/>
          </a:solidFill>
          <a:ln/>
        </p:spPr>
      </p:sp>
      <p:sp>
        <p:nvSpPr>
          <p:cNvPr id="51" name="Text 49"/>
          <p:cNvSpPr/>
          <p:nvPr/>
        </p:nvSpPr>
        <p:spPr>
          <a:xfrm>
            <a:off x="7274966" y="1956816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5E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93254" y="2400300"/>
            <a:ext cx="1375258" cy="365760"/>
          </a:xfrm>
          <a:prstGeom prst="roundRect">
            <a:avLst>
              <a:gd name="adj" fmla="val 10000"/>
            </a:avLst>
          </a:prstGeom>
          <a:solidFill>
            <a:srgbClr val="DBE9FB"/>
          </a:solidFill>
          <a:ln/>
        </p:spPr>
      </p:sp>
      <p:sp>
        <p:nvSpPr>
          <p:cNvPr id="53" name="Text 51"/>
          <p:cNvSpPr/>
          <p:nvPr/>
        </p:nvSpPr>
        <p:spPr>
          <a:xfrm>
            <a:off x="7274966" y="2400300"/>
            <a:ext cx="14118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5E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통계/리포트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83526" y="4224528"/>
            <a:ext cx="1594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화면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65760" y="4626864"/>
            <a:ext cx="8412480" cy="329184"/>
          </a:xfrm>
          <a:prstGeom prst="rect">
            <a:avLst/>
          </a:prstGeom>
          <a:solidFill>
            <a:srgbClr val="EAF1FC"/>
          </a:solidFill>
          <a:ln/>
        </p:spPr>
      </p:sp>
      <p:sp>
        <p:nvSpPr>
          <p:cNvPr id="56" name="Text 54"/>
          <p:cNvSpPr/>
          <p:nvPr/>
        </p:nvSpPr>
        <p:spPr>
          <a:xfrm>
            <a:off x="502920" y="462686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C4ED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project 도메인</a:t>
            </a:r>
            <a:pPr algn="l" indent="0" marL="0">
              <a:buNone/>
            </a:pPr>
            <a:r>
              <a:rPr lang="en-US" sz="1000" dirty="0">
                <a:solidFill>
                  <a:srgbClr val="3341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SI 핵심 — 프로젝트 등록·투입 인력 관리·배정·현황 조회   |   attendance는 현장 특성 반영하여 간소화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1C4ED7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4864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project</a:t>
            </a:r>
            <a:pPr algn="l" indent="0" marL="0">
              <a:buNone/>
            </a:pPr>
            <a:r>
              <a:rPr lang="en-US" sz="2400" b="1" dirty="0">
                <a:solidFill>
                  <a:srgbClr val="E8EE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도메인  ★ 신규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949440" y="54864"/>
            <a:ext cx="1691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5E2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화면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987552"/>
            <a:ext cx="271272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987552"/>
            <a:ext cx="2712720" cy="420624"/>
          </a:xfrm>
          <a:prstGeom prst="rect">
            <a:avLst/>
          </a:prstGeom>
          <a:solidFill>
            <a:srgbClr val="DCE9FF"/>
          </a:solidFill>
          <a:ln/>
        </p:spPr>
      </p:sp>
      <p:sp>
        <p:nvSpPr>
          <p:cNvPr id="7" name="Text 5"/>
          <p:cNvSpPr/>
          <p:nvPr/>
        </p:nvSpPr>
        <p:spPr>
          <a:xfrm>
            <a:off x="448056" y="1005840"/>
            <a:ext cx="1752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D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56104" y="1078992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1F8C7A"/>
          </a:solidFill>
          <a:ln/>
        </p:spPr>
      </p:sp>
      <p:sp>
        <p:nvSpPr>
          <p:cNvPr id="9" name="Text 7"/>
          <p:cNvSpPr/>
          <p:nvPr/>
        </p:nvSpPr>
        <p:spPr>
          <a:xfrm>
            <a:off x="2356104" y="107899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48056" y="1444752"/>
            <a:ext cx="2456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" y="1664208"/>
            <a:ext cx="24384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상태별 탭 : 진행중/완료/예정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프로젝트명·고객사 검색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카드형 목록 : 투입인원·투입률·상태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8056" y="2450592"/>
            <a:ext cx="2456688" cy="0"/>
          </a:xfrm>
          <a:prstGeom prst="line">
            <a:avLst/>
          </a:prstGeom>
          <a:noFill/>
          <a:ln w="12700">
            <a:solidFill>
              <a:srgbClr val="EAEE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" y="2468880"/>
            <a:ext cx="2456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: 프로젝트 5건 (진행3·완료1·예정1)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48056" y="2688336"/>
            <a:ext cx="2456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F7B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: Badge · Input · Select · Button · Card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15640" y="987552"/>
            <a:ext cx="271272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15640" y="987552"/>
            <a:ext cx="2712720" cy="420624"/>
          </a:xfrm>
          <a:prstGeom prst="rect">
            <a:avLst/>
          </a:prstGeom>
          <a:solidFill>
            <a:srgbClr val="DCE9FF"/>
          </a:solidFill>
          <a:ln/>
        </p:spPr>
      </p:sp>
      <p:sp>
        <p:nvSpPr>
          <p:cNvPr id="17" name="Shape 15"/>
          <p:cNvSpPr/>
          <p:nvPr/>
        </p:nvSpPr>
        <p:spPr>
          <a:xfrm>
            <a:off x="3215640" y="987552"/>
            <a:ext cx="2712720" cy="50292"/>
          </a:xfrm>
          <a:prstGeom prst="rect">
            <a:avLst/>
          </a:prstGeom>
          <a:solidFill>
            <a:srgbClr val="399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43656" y="1005840"/>
            <a:ext cx="1752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D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등록/수정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1704" y="1078992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7E45E0"/>
          </a:solidFill>
          <a:ln/>
        </p:spPr>
      </p:sp>
      <p:sp>
        <p:nvSpPr>
          <p:cNvPr id="20" name="Text 18"/>
          <p:cNvSpPr/>
          <p:nvPr/>
        </p:nvSpPr>
        <p:spPr>
          <a:xfrm>
            <a:off x="5251704" y="107899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343656" y="14081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99F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신규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343656" y="1554480"/>
            <a:ext cx="2456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/projects/new · /:id/edit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61944" y="1773936"/>
            <a:ext cx="24384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기본정보 : 프로젝트명·고객사·계약기간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상태·PM 지정 · 기술스택(태그)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: 금액·계약형태(도급/파견)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43656" y="2450592"/>
            <a:ext cx="2456688" cy="0"/>
          </a:xfrm>
          <a:prstGeom prst="line">
            <a:avLst/>
          </a:prstGeom>
          <a:noFill/>
          <a:ln w="12700">
            <a:solidFill>
              <a:srgbClr val="EAEE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43656" y="2468880"/>
            <a:ext cx="2456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: 고객사·PM 후보·기술스택 예시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343656" y="2688336"/>
            <a:ext cx="2456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F7B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: Input · Select · Calendar · Button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111240" y="987552"/>
            <a:ext cx="271272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11240" y="987552"/>
            <a:ext cx="2712720" cy="420624"/>
          </a:xfrm>
          <a:prstGeom prst="rect">
            <a:avLst/>
          </a:prstGeom>
          <a:solidFill>
            <a:srgbClr val="DCE9FF"/>
          </a:solidFill>
          <a:ln/>
        </p:spPr>
      </p:sp>
      <p:sp>
        <p:nvSpPr>
          <p:cNvPr id="29" name="Text 27"/>
          <p:cNvSpPr/>
          <p:nvPr/>
        </p:nvSpPr>
        <p:spPr>
          <a:xfrm>
            <a:off x="6239256" y="1005840"/>
            <a:ext cx="1752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D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상세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47304" y="1078992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1F8C7A"/>
          </a:solidFill>
          <a:ln/>
        </p:spPr>
      </p:sp>
      <p:sp>
        <p:nvSpPr>
          <p:cNvPr id="31" name="Text 29"/>
          <p:cNvSpPr/>
          <p:nvPr/>
        </p:nvSpPr>
        <p:spPr>
          <a:xfrm>
            <a:off x="8147304" y="107899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239256" y="1444752"/>
            <a:ext cx="2456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/projects/:id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57544" y="1664208"/>
            <a:ext cx="24384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: 개요 | 투입 인력 | 일정 | 계약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: 고객사·기간·기술스택·진척도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인력 : 역할·투입률·철수예정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39256" y="2450592"/>
            <a:ext cx="2456688" cy="0"/>
          </a:xfrm>
          <a:prstGeom prst="line">
            <a:avLst/>
          </a:prstGeom>
          <a:noFill/>
          <a:ln w="12700">
            <a:solidFill>
              <a:srgbClr val="EAEEF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39256" y="2468880"/>
            <a:ext cx="2456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: 투입 인력 3~5명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239256" y="2688336"/>
            <a:ext cx="2456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F7B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: Badge · Table · Dialog · Progress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767840" y="3090672"/>
            <a:ext cx="271272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767840" y="3090672"/>
            <a:ext cx="2712720" cy="420624"/>
          </a:xfrm>
          <a:prstGeom prst="rect">
            <a:avLst/>
          </a:prstGeom>
          <a:solidFill>
            <a:srgbClr val="DCE9FF"/>
          </a:solidFill>
          <a:ln/>
        </p:spPr>
      </p:sp>
      <p:sp>
        <p:nvSpPr>
          <p:cNvPr id="39" name="Text 37"/>
          <p:cNvSpPr/>
          <p:nvPr/>
        </p:nvSpPr>
        <p:spPr>
          <a:xfrm>
            <a:off x="1895856" y="3108960"/>
            <a:ext cx="1752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D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배정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584448" y="3182112"/>
            <a:ext cx="786384" cy="237744"/>
          </a:xfrm>
          <a:prstGeom prst="roundRect">
            <a:avLst>
              <a:gd name="adj" fmla="val 15385"/>
            </a:avLst>
          </a:prstGeom>
          <a:solidFill>
            <a:srgbClr val="BD6A2B"/>
          </a:solidFill>
          <a:ln/>
        </p:spPr>
      </p:sp>
      <p:sp>
        <p:nvSpPr>
          <p:cNvPr id="41" name="Text 39"/>
          <p:cNvSpPr/>
          <p:nvPr/>
        </p:nvSpPr>
        <p:spPr>
          <a:xfrm>
            <a:off x="3584448" y="318211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Manager+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895856" y="3547872"/>
            <a:ext cx="2456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/projects/:id/assign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914144" y="3767328"/>
            <a:ext cx="24384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가용 인력(벤치) 목록 조회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기술스택·경력·투입률·부서 필터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역할·투입률·기간 설정 후 배정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895856" y="4553712"/>
            <a:ext cx="2456688" cy="0"/>
          </a:xfrm>
          <a:prstGeom prst="line">
            <a:avLst/>
          </a:prstGeom>
          <a:noFill/>
          <a:ln w="12700">
            <a:solidFill>
              <a:srgbClr val="EAEE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95856" y="4572000"/>
            <a:ext cx="2456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: 벤치 인원 8명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895856" y="4791456"/>
            <a:ext cx="2456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F7B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: Table · Select · Input · Button · Badge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663440" y="3090672"/>
            <a:ext cx="2712720" cy="19385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663440" y="3090672"/>
            <a:ext cx="2712720" cy="420624"/>
          </a:xfrm>
          <a:prstGeom prst="rect">
            <a:avLst/>
          </a:prstGeom>
          <a:solidFill>
            <a:srgbClr val="DCE9FF"/>
          </a:solidFill>
          <a:ln/>
        </p:spPr>
      </p:sp>
      <p:sp>
        <p:nvSpPr>
          <p:cNvPr id="49" name="Text 47"/>
          <p:cNvSpPr/>
          <p:nvPr/>
        </p:nvSpPr>
        <p:spPr>
          <a:xfrm>
            <a:off x="4791456" y="3108960"/>
            <a:ext cx="1752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D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현황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6699504" y="3182112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1F8C7A"/>
          </a:solidFill>
          <a:ln/>
        </p:spPr>
      </p:sp>
      <p:sp>
        <p:nvSpPr>
          <p:cNvPr id="51" name="Text 49"/>
          <p:cNvSpPr/>
          <p:nvPr/>
        </p:nvSpPr>
        <p:spPr>
          <a:xfrm>
            <a:off x="6699504" y="318211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791456" y="3547872"/>
            <a:ext cx="2456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/projects/status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809744" y="3767328"/>
            <a:ext cx="24384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인력 × 프로젝트 매트릭스 뷰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상태별 필터 : 투입중/벤치/휴가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철수 임박(30일 이내) 강조 표시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791456" y="4553712"/>
            <a:ext cx="2456688" cy="0"/>
          </a:xfrm>
          <a:prstGeom prst="line">
            <a:avLst/>
          </a:prstGeom>
          <a:noFill/>
          <a:ln w="12700">
            <a:solidFill>
              <a:srgbClr val="EAEEF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91456" y="4572000"/>
            <a:ext cx="2456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: 전 인원 32명 현황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791456" y="4791456"/>
            <a:ext cx="2456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F7B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: Table · Badge · Select · Button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756D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4864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employee</a:t>
            </a:r>
            <a:pPr algn="l" indent="0" marL="0">
              <a:buNone/>
            </a:pPr>
            <a:r>
              <a:rPr lang="en-US" sz="2400" b="1" dirty="0">
                <a:solidFill>
                  <a:srgbClr val="E8EE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도메인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949440" y="54864"/>
            <a:ext cx="1691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D5E2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화면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267004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24128"/>
            <a:ext cx="2670048" cy="420624"/>
          </a:xfrm>
          <a:prstGeom prst="rect">
            <a:avLst/>
          </a:prstGeom>
          <a:solidFill>
            <a:srgbClr val="D6F6F0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042416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D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목록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59152" y="1115568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1F8C7A"/>
          </a:solidFill>
          <a:ln/>
        </p:spPr>
      </p:sp>
      <p:sp>
        <p:nvSpPr>
          <p:cNvPr id="9" name="Text 7"/>
          <p:cNvSpPr/>
          <p:nvPr/>
        </p:nvSpPr>
        <p:spPr>
          <a:xfrm>
            <a:off x="2359152" y="1115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3776" y="1481328"/>
            <a:ext cx="2414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2064" y="1700784"/>
            <a:ext cx="2395728" cy="2414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이름·부서·직급·현재 투입 프로젝트 검색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재직상태·부서 필터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프로젝트 컬럼 추가 (SI 특성)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(Admin) · 페이지네이션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93776" y="4206240"/>
            <a:ext cx="2414016" cy="0"/>
          </a:xfrm>
          <a:prstGeom prst="line">
            <a:avLst/>
          </a:prstGeom>
          <a:noFill/>
          <a:ln w="12700">
            <a:solidFill>
              <a:srgbClr val="EAEE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22452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: 직원 32명 / 현재 투입 프로젝트 컬럼 포함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93776" y="4443984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F7B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: Table · Badge · Select · Input · Pagination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36976" y="1024128"/>
            <a:ext cx="267004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36976" y="1024128"/>
            <a:ext cx="2670048" cy="420624"/>
          </a:xfrm>
          <a:prstGeom prst="rect">
            <a:avLst/>
          </a:prstGeom>
          <a:solidFill>
            <a:srgbClr val="D6F6F0"/>
          </a:solidFill>
          <a:ln/>
        </p:spPr>
      </p:sp>
      <p:sp>
        <p:nvSpPr>
          <p:cNvPr id="17" name="Text 15"/>
          <p:cNvSpPr/>
          <p:nvPr/>
        </p:nvSpPr>
        <p:spPr>
          <a:xfrm>
            <a:off x="3364992" y="1042416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D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상세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230368" y="1115568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1F8C7A"/>
          </a:solidFill>
          <a:ln/>
        </p:spPr>
      </p:sp>
      <p:sp>
        <p:nvSpPr>
          <p:cNvPr id="19" name="Text 17"/>
          <p:cNvSpPr/>
          <p:nvPr/>
        </p:nvSpPr>
        <p:spPr>
          <a:xfrm>
            <a:off x="5230368" y="1115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64992" y="1481328"/>
            <a:ext cx="2414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/employees/:id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1700784"/>
            <a:ext cx="2395728" cy="2414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: 기본정보 | 투입 이력 | 기술스택 | 계약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기본정보 : 프로필·부서·직급·연락처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이력 탭 (신규) : 과거 참여 목록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 탭 (신규) : 보유 스킬·경력년수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64992" y="4206240"/>
            <a:ext cx="2414016" cy="0"/>
          </a:xfrm>
          <a:prstGeom prst="line">
            <a:avLst/>
          </a:prstGeom>
          <a:noFill/>
          <a:ln w="12700">
            <a:solidFill>
              <a:srgbClr val="EAEE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4992" y="422452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: 투입 이력 5건 / 기술스택 3~5개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64992" y="4443984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F7B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: Badge · Dialog · Button · Table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108192" y="1024128"/>
            <a:ext cx="267004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08192" y="1024128"/>
            <a:ext cx="2670048" cy="420624"/>
          </a:xfrm>
          <a:prstGeom prst="rect">
            <a:avLst/>
          </a:prstGeom>
          <a:solidFill>
            <a:srgbClr val="D6F6F0"/>
          </a:solidFill>
          <a:ln/>
        </p:spPr>
      </p:sp>
      <p:sp>
        <p:nvSpPr>
          <p:cNvPr id="27" name="Text 25"/>
          <p:cNvSpPr/>
          <p:nvPr/>
        </p:nvSpPr>
        <p:spPr>
          <a:xfrm>
            <a:off x="6236208" y="1042416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D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등록/수정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01584" y="1115568"/>
            <a:ext cx="566928" cy="237744"/>
          </a:xfrm>
          <a:prstGeom prst="roundRect">
            <a:avLst>
              <a:gd name="adj" fmla="val 15385"/>
            </a:avLst>
          </a:prstGeom>
          <a:solidFill>
            <a:srgbClr val="7E45E0"/>
          </a:solidFill>
          <a:ln/>
        </p:spPr>
      </p:sp>
      <p:sp>
        <p:nvSpPr>
          <p:cNvPr id="29" name="Text 27"/>
          <p:cNvSpPr/>
          <p:nvPr/>
        </p:nvSpPr>
        <p:spPr>
          <a:xfrm>
            <a:off x="8101584" y="1115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236208" y="1481328"/>
            <a:ext cx="2414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/employees/new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54496" y="1700784"/>
            <a:ext cx="2395728" cy="2414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기본정보 폼 · 유효성 검사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 입력 (신규) : 태그 형태로 추가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역할/직급 Select</a:t>
            </a:r>
            <a:endParaRPr lang="en-US" sz="900" dirty="0"/>
          </a:p>
          <a:p>
            <a:pPr algn="l" marL="127000" indent="-127000">
              <a:lnSpc>
                <a:spcPct val="98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입사일 DatePicker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36208" y="4206240"/>
            <a:ext cx="2414016" cy="0"/>
          </a:xfrm>
          <a:prstGeom prst="line">
            <a:avLst/>
          </a:prstGeom>
          <a:noFill/>
          <a:ln w="12700">
            <a:solidFill>
              <a:srgbClr val="EAEE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36208" y="422452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: 부서 5개 / 직급 5개 / 기술스택 예시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36208" y="4443984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F7B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 : Input · Select · Calendar · Button · Alert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9274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FFFFF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attendance</a:t>
            </a:r>
            <a:pPr algn="l" indent="0" marL="0">
              <a:buNone/>
            </a:pPr>
            <a:r>
              <a:rPr lang="en-US" sz="1900" b="1" dirty="0">
                <a:solidFill>
                  <a:srgbClr val="E8EEF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도메인 (간소화)  +  더미 데이터 구조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5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attendance 도메인 — 2개 화면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286000" cy="1371600"/>
          </a:xfrm>
          <a:prstGeom prst="rect">
            <a:avLst/>
          </a:prstGeom>
          <a:solidFill>
            <a:srgbClr val="FBE6CC"/>
          </a:solidFill>
          <a:ln w="12700">
            <a:solidFill>
              <a:srgbClr val="EAD4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" y="146304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D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근무 보고</a:t>
            </a:r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(전체)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3776" y="1737360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5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/attendance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93776" y="1956816"/>
            <a:ext cx="202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직원: 당월 근무일수·초과근무·특이사항 입력 · 관리자: 팀원 보고 내역 확인·승인 · 미제출자 자동 표시 · 최근 3개월 이력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61488" y="1371600"/>
            <a:ext cx="2286000" cy="1371600"/>
          </a:xfrm>
          <a:prstGeom prst="rect">
            <a:avLst/>
          </a:prstGeom>
          <a:solidFill>
            <a:srgbClr val="FBE6CC"/>
          </a:solidFill>
          <a:ln w="12700">
            <a:solidFill>
              <a:srgbClr val="EAD4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9504" y="146304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D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휴가 관리</a:t>
            </a:r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(전체)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89504" y="1737360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5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/attendance/leave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889504" y="1956816"/>
            <a:ext cx="202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연차 잔여일 표시 · 휴가 신청 폼(날짜·종류·사유) · 승인 워크플로우(현장 PM 알림) · 신청 내역+상태 확인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4681728" cy="566928"/>
          </a:xfrm>
          <a:prstGeom prst="rect">
            <a:avLst/>
          </a:prstGeom>
          <a:solidFill>
            <a:srgbClr val="FBF3E9"/>
          </a:solidFill>
          <a:ln w="12700">
            <a:solidFill>
              <a:srgbClr val="EAD4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" y="2852928"/>
            <a:ext cx="4425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5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: </a:t>
            </a:r>
            <a:pPr algn="l" indent="0" marL="0">
              <a:buNone/>
            </a:pPr>
            <a:r>
              <a:rPr lang="en-US" sz="900" dirty="0">
                <a:solidFill>
                  <a:srgbClr val="5A52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출퇴근 현황(실시간 버튼) · 근태 현황 조회(일별 로그) — 현장 파견 특성상 불필요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49240" y="10241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927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데이터 구조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49240" y="1298448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src/core/mocks/  또는  domains/[domain]/api/mock-data.ts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349240" y="1591056"/>
            <a:ext cx="3429000" cy="1188720"/>
          </a:xfrm>
          <a:prstGeom prst="rect">
            <a:avLst/>
          </a:prstGeom>
          <a:solidFill>
            <a:srgbClr val="F4F7FC"/>
          </a:solidFill>
          <a:ln w="12700">
            <a:solidFill>
              <a:srgbClr val="E3E8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49240" y="1591056"/>
            <a:ext cx="64008" cy="1188720"/>
          </a:xfrm>
          <a:prstGeom prst="rect">
            <a:avLst/>
          </a:prstGeom>
          <a:solidFill>
            <a:srgbClr val="1C4ED7"/>
          </a:solidFill>
          <a:ln/>
        </p:spPr>
      </p:sp>
      <p:sp>
        <p:nvSpPr>
          <p:cNvPr id="19" name="Text 17"/>
          <p:cNvSpPr/>
          <p:nvPr/>
        </p:nvSpPr>
        <p:spPr>
          <a:xfrm>
            <a:off x="5504688" y="16276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projects.ts</a:t>
            </a:r>
            <a:pPr algn="l" indent="0" marL="0">
              <a:buNone/>
            </a:pPr>
            <a:r>
              <a:rPr lang="en-US" sz="850" dirty="0">
                <a:solidFill>
                  <a:srgbClr val="1C4ED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project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522976" y="188366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IProject[] - 5건  ·  status: ACTIVE|COMPLETED|PLANNED</a:t>
            </a:r>
            <a:endParaRPr lang="en-US" sz="850" dirty="0"/>
          </a:p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id·name·clientName·startDate·endDate·pm·techStack·계약</a:t>
            </a:r>
            <a:endParaRPr lang="en-US" sz="850" dirty="0"/>
          </a:p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폼 → IProject 생성·갱신 ★</a:t>
            </a:r>
            <a:endParaRPr lang="en-US" sz="850" dirty="0"/>
          </a:p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IProjectMember[] : empId·role·rate·기간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349240" y="2889504"/>
            <a:ext cx="3429000" cy="1001268"/>
          </a:xfrm>
          <a:prstGeom prst="rect">
            <a:avLst/>
          </a:prstGeom>
          <a:solidFill>
            <a:srgbClr val="F4F7FC"/>
          </a:solidFill>
          <a:ln w="12700">
            <a:solidFill>
              <a:srgbClr val="E3E8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49240" y="2889504"/>
            <a:ext cx="64008" cy="1001268"/>
          </a:xfrm>
          <a:prstGeom prst="rect">
            <a:avLst/>
          </a:prstGeom>
          <a:solidFill>
            <a:srgbClr val="0E756D"/>
          </a:solidFill>
          <a:ln/>
        </p:spPr>
      </p:sp>
      <p:sp>
        <p:nvSpPr>
          <p:cNvPr id="23" name="Text 21"/>
          <p:cNvSpPr/>
          <p:nvPr/>
        </p:nvSpPr>
        <p:spPr>
          <a:xfrm>
            <a:off x="5504688" y="29260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employees.ts</a:t>
            </a:r>
            <a:pPr algn="l" indent="0" marL="0">
              <a:buNone/>
            </a:pPr>
            <a:r>
              <a:rPr lang="en-US" sz="850" dirty="0">
                <a:solidFill>
                  <a:srgbClr val="0E75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employee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522976" y="3182112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IEmployee[] - 32건</a:t>
            </a:r>
            <a:endParaRPr lang="en-US" sz="850" dirty="0"/>
          </a:p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currentProjectId (현재 투입 프로젝트)</a:t>
            </a:r>
            <a:endParaRPr lang="en-US" sz="850" dirty="0"/>
          </a:p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skills: string[] (기술스택)  ·  benchSince: Date|null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49240" y="4000500"/>
            <a:ext cx="3429000" cy="1001268"/>
          </a:xfrm>
          <a:prstGeom prst="rect">
            <a:avLst/>
          </a:prstGeom>
          <a:solidFill>
            <a:srgbClr val="F4F7FC"/>
          </a:solidFill>
          <a:ln w="12700">
            <a:solidFill>
              <a:srgbClr val="E3E8F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49240" y="4000500"/>
            <a:ext cx="64008" cy="1001268"/>
          </a:xfrm>
          <a:prstGeom prst="rect">
            <a:avLst/>
          </a:prstGeom>
          <a:solidFill>
            <a:srgbClr val="B55309"/>
          </a:solidFill>
          <a:ln/>
        </p:spPr>
      </p:sp>
      <p:sp>
        <p:nvSpPr>
          <p:cNvPr id="27" name="Text 25"/>
          <p:cNvSpPr/>
          <p:nvPr/>
        </p:nvSpPr>
        <p:spPr>
          <a:xfrm>
            <a:off x="5504688" y="40370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attendance.ts</a:t>
            </a:r>
            <a:pPr algn="l" indent="0" marL="0">
              <a:buNone/>
            </a:pPr>
            <a:r>
              <a:rPr lang="en-US" sz="850" dirty="0">
                <a:solidFill>
                  <a:srgbClr val="B5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attendance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522976" y="4293108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IMonthlyReport[] - 직원×월 단위</a:t>
            </a:r>
            <a:endParaRPr lang="en-US" sz="850" dirty="0"/>
          </a:p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workDays·overtimeHours·note·status</a:t>
            </a:r>
            <a:endParaRPr lang="en-US" sz="850" dirty="0"/>
          </a:p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status: SUBMITTED|APPROVED|PENDING  ·  ILeave[] 10건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92744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91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상태 관리 &amp; 라우팅 설계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D52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Zustand Store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517904"/>
            <a:ext cx="3703320" cy="566928"/>
          </a:xfrm>
          <a:prstGeom prst="rect">
            <a:avLst/>
          </a:prstGeom>
          <a:solidFill>
            <a:srgbClr val="F7F9FD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17904"/>
            <a:ext cx="73152" cy="566928"/>
          </a:xfrm>
          <a:prstGeom prst="rect">
            <a:avLst/>
          </a:prstGeom>
          <a:solidFill>
            <a:srgbClr val="7B3AE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8191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B3A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useAuthStore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181051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token, role, userInfo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189988"/>
            <a:ext cx="3703320" cy="566928"/>
          </a:xfrm>
          <a:prstGeom prst="rect">
            <a:avLst/>
          </a:prstGeom>
          <a:solidFill>
            <a:srgbClr val="F7F9FD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89988"/>
            <a:ext cx="73152" cy="566928"/>
          </a:xfrm>
          <a:prstGeom prst="rect">
            <a:avLst/>
          </a:prstGeom>
          <a:solidFill>
            <a:srgbClr val="0E756D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2539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75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useEmployeeStore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4825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검색어, 필터 조건, 뷰 모드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62072"/>
            <a:ext cx="3703320" cy="566928"/>
          </a:xfrm>
          <a:prstGeom prst="rect">
            <a:avLst/>
          </a:prstGeom>
          <a:solidFill>
            <a:srgbClr val="F7F9FD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862072"/>
            <a:ext cx="73152" cy="566928"/>
          </a:xfrm>
          <a:prstGeom prst="rect">
            <a:avLst/>
          </a:prstGeom>
          <a:solidFill>
            <a:srgbClr val="1C4ED7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260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C4ED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useProjectStore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프로젝트, 필터·폼 상태 ★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534156"/>
            <a:ext cx="3703320" cy="566928"/>
          </a:xfrm>
          <a:prstGeom prst="rect">
            <a:avLst/>
          </a:prstGeom>
          <a:solidFill>
            <a:srgbClr val="F7F9FD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534156"/>
            <a:ext cx="73152" cy="566928"/>
          </a:xfrm>
          <a:prstGeom prst="rect">
            <a:avLst/>
          </a:prstGeom>
          <a:solidFill>
            <a:srgbClr val="1C4ED7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5981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C4ED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useAssignStore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382676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 임시 상태, 선택 인력 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3703320" cy="566928"/>
          </a:xfrm>
          <a:prstGeom prst="rect">
            <a:avLst/>
          </a:prstGeom>
          <a:solidFill>
            <a:srgbClr val="F7F9FD"/>
          </a:solidFill>
          <a:ln w="12700">
            <a:solidFill>
              <a:srgbClr val="E3E8F1"/>
            </a:solidFill>
            <a:prstDash val="solid"/>
          </a:ln>
          <a:effectLst>
            <a:outerShdw sx="100000" sy="100000" kx="0" ky="0" algn="bl" rotWithShape="0" blurRad="88900" dist="25400" dir="8100000">
              <a:srgbClr val="1E2D52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206240"/>
            <a:ext cx="73152" cy="566928"/>
          </a:xfrm>
          <a:prstGeom prst="rect">
            <a:avLst/>
          </a:prstGeom>
          <a:solidFill>
            <a:srgbClr val="B5530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27024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5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useLeaveStore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449884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C35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신청서 임시 상태, 선택 날짜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0" y="1051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D52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라우팅 구조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0" y="1517904"/>
            <a:ext cx="4160520" cy="274320"/>
          </a:xfrm>
          <a:prstGeom prst="rect">
            <a:avLst/>
          </a:prstGeom>
          <a:solidFill>
            <a:srgbClr val="25324D"/>
          </a:solidFill>
          <a:ln/>
        </p:spPr>
      </p:sp>
      <p:sp>
        <p:nvSpPr>
          <p:cNvPr id="27" name="Text 25"/>
          <p:cNvSpPr/>
          <p:nvPr/>
        </p:nvSpPr>
        <p:spPr>
          <a:xfrm>
            <a:off x="4681728" y="1517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7D4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path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46520" y="15179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9FB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component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955280" y="151790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9FB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681728" y="1792224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46520" y="1792224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LoginPage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955280" y="1792224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572000" y="2040941"/>
            <a:ext cx="4160520" cy="248717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34" name="Text 32"/>
          <p:cNvSpPr/>
          <p:nvPr/>
        </p:nvSpPr>
        <p:spPr>
          <a:xfrm>
            <a:off x="4681728" y="2040941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446520" y="2040941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DashboardPage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280" y="2040941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681728" y="2289658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446520" y="2289658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EmployeeListPage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955280" y="2289658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572000" y="2538374"/>
            <a:ext cx="4160520" cy="248717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41" name="Text 39"/>
          <p:cNvSpPr/>
          <p:nvPr/>
        </p:nvSpPr>
        <p:spPr>
          <a:xfrm>
            <a:off x="4681728" y="2538374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/employees/:id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446520" y="2538374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EmployeeDetailPage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955280" y="2538374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81728" y="2787091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/employees/new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446520" y="2787091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EmployeeFormPage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955280" y="2787091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7E45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0" y="3035808"/>
            <a:ext cx="4160520" cy="248717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48" name="Text 46"/>
          <p:cNvSpPr/>
          <p:nvPr/>
        </p:nvSpPr>
        <p:spPr>
          <a:xfrm>
            <a:off x="4681728" y="3035808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446520" y="3035808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ProjectListPage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955280" y="3035808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572000" y="3284525"/>
            <a:ext cx="4160520" cy="248717"/>
          </a:xfrm>
          <a:prstGeom prst="rect">
            <a:avLst/>
          </a:prstGeom>
          <a:solidFill>
            <a:srgbClr val="EAF1FC"/>
          </a:solidFill>
          <a:ln/>
        </p:spPr>
      </p:sp>
      <p:sp>
        <p:nvSpPr>
          <p:cNvPr id="52" name="Text 50"/>
          <p:cNvSpPr/>
          <p:nvPr/>
        </p:nvSpPr>
        <p:spPr>
          <a:xfrm>
            <a:off x="4681728" y="3284525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C4ED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/projects/new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6446520" y="3284525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ProjectFormPage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955280" y="3284525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7E45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ADMIN★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572000" y="3533242"/>
            <a:ext cx="4160520" cy="248717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56" name="Text 54"/>
          <p:cNvSpPr/>
          <p:nvPr/>
        </p:nvSpPr>
        <p:spPr>
          <a:xfrm>
            <a:off x="4681728" y="3533242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/projects/:id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6446520" y="3533242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ProjectDetailPage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955280" y="3533242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681728" y="3781958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/projects/:id/assign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446520" y="3781958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ProjectAssignPage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955280" y="3781958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D6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MGR+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572000" y="4030675"/>
            <a:ext cx="4160520" cy="248717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63" name="Text 61"/>
          <p:cNvSpPr/>
          <p:nvPr/>
        </p:nvSpPr>
        <p:spPr>
          <a:xfrm>
            <a:off x="4681728" y="4030675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/projects/status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446520" y="4030675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ProjectStatusPage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955280" y="4030675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681728" y="4279392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/attendance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446520" y="4279392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MonthlyReportPage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7955280" y="4279392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4572000" y="4528109"/>
            <a:ext cx="4160520" cy="248717"/>
          </a:xfrm>
          <a:prstGeom prst="rect">
            <a:avLst/>
          </a:prstGeom>
          <a:solidFill>
            <a:srgbClr val="F4F7FC"/>
          </a:solidFill>
          <a:ln/>
        </p:spPr>
      </p:sp>
      <p:sp>
        <p:nvSpPr>
          <p:cNvPr id="70" name="Text 68"/>
          <p:cNvSpPr/>
          <p:nvPr/>
        </p:nvSpPr>
        <p:spPr>
          <a:xfrm>
            <a:off x="4681728" y="4528109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/attendance/leave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446520" y="4528109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LeaveManagePage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7955280" y="4528109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681728" y="4776826"/>
            <a:ext cx="17830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/reports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6446520" y="4776826"/>
            <a:ext cx="155448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ReportPage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955280" y="4776826"/>
            <a:ext cx="71323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D6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MGR+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개발 우선순위 &amp; 로드맵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20240" cy="32461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3A4D7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280160"/>
            <a:ext cx="1920240" cy="457200"/>
          </a:xfrm>
          <a:prstGeom prst="rect">
            <a:avLst/>
          </a:prstGeom>
          <a:solidFill>
            <a:srgbClr val="54AAE7"/>
          </a:solidFill>
          <a:ln/>
        </p:spPr>
      </p:sp>
      <p:sp>
        <p:nvSpPr>
          <p:cNvPr id="5" name="Text 3"/>
          <p:cNvSpPr/>
          <p:nvPr/>
        </p:nvSpPr>
        <p:spPr>
          <a:xfrm>
            <a:off x="585216" y="1280160"/>
            <a:ext cx="10561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17320" y="1280160"/>
            <a:ext cx="850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AF1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 개발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85216" y="1847088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FD2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 구축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2286000"/>
            <a:ext cx="160934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Login (더미 인증)</a:t>
            </a:r>
            <a:endParaRPr lang="en-US" sz="1100" dirty="0"/>
          </a:p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Dashboard (투입 중심 KPI)</a:t>
            </a:r>
            <a:endParaRPr lang="en-US" sz="1100" dirty="0"/>
          </a:p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목록 (투입 프로젝트 컬럼)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280160"/>
            <a:ext cx="1920240" cy="32461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3A4D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0" y="1280160"/>
            <a:ext cx="1920240" cy="457200"/>
          </a:xfrm>
          <a:prstGeom prst="rect">
            <a:avLst/>
          </a:prstGeom>
          <a:solidFill>
            <a:srgbClr val="3561D6"/>
          </a:solidFill>
          <a:ln/>
        </p:spPr>
      </p:sp>
      <p:sp>
        <p:nvSpPr>
          <p:cNvPr id="11" name="Text 9"/>
          <p:cNvSpPr/>
          <p:nvPr/>
        </p:nvSpPr>
        <p:spPr>
          <a:xfrm>
            <a:off x="2688336" y="1280160"/>
            <a:ext cx="10561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1280160"/>
            <a:ext cx="850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AF1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 핵심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688336" y="1847088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FD2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: 투입 관리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24912" y="2286000"/>
            <a:ext cx="160934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목록 / 상세</a:t>
            </a:r>
            <a:endParaRPr lang="en-US" sz="1100" dirty="0"/>
          </a:p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등록/수정 ★</a:t>
            </a:r>
            <a:endParaRPr lang="en-US" sz="1100" dirty="0"/>
          </a:p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배정 화면</a:t>
            </a:r>
            <a:endParaRPr lang="en-US" sz="1100" dirty="0"/>
          </a:p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 현황 매트릭스 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1920240" cy="32461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3A4D7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280160"/>
            <a:ext cx="1920240" cy="457200"/>
          </a:xfrm>
          <a:prstGeom prst="rect">
            <a:avLst/>
          </a:prstGeom>
          <a:solidFill>
            <a:srgbClr val="257D78"/>
          </a:solidFill>
          <a:ln/>
        </p:spPr>
      </p:sp>
      <p:sp>
        <p:nvSpPr>
          <p:cNvPr id="17" name="Text 15"/>
          <p:cNvSpPr/>
          <p:nvPr/>
        </p:nvSpPr>
        <p:spPr>
          <a:xfrm>
            <a:off x="4791456" y="1280160"/>
            <a:ext cx="10561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623560" y="1280160"/>
            <a:ext cx="850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AF1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이어서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91456" y="1847088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FD2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&amp; 근태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28032" y="2286000"/>
            <a:ext cx="160934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상세 (투입 이력 탭)</a:t>
            </a:r>
            <a:endParaRPr lang="en-US" sz="1100" dirty="0"/>
          </a:p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등록/수정 (기술스택)</a:t>
            </a:r>
            <a:endParaRPr lang="en-US" sz="1100" dirty="0"/>
          </a:p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근무 보고 / 휴가 관리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66560" y="1280160"/>
            <a:ext cx="1920240" cy="32461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3A4D7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280160"/>
            <a:ext cx="1920240" cy="457200"/>
          </a:xfrm>
          <a:prstGeom prst="rect">
            <a:avLst/>
          </a:prstGeom>
          <a:solidFill>
            <a:srgbClr val="3F8AD4"/>
          </a:solidFill>
          <a:ln/>
        </p:spPr>
      </p:sp>
      <p:sp>
        <p:nvSpPr>
          <p:cNvPr id="23" name="Text 21"/>
          <p:cNvSpPr/>
          <p:nvPr/>
        </p:nvSpPr>
        <p:spPr>
          <a:xfrm>
            <a:off x="6894576" y="1280160"/>
            <a:ext cx="10561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26680" y="1280160"/>
            <a:ext cx="850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AF1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894576" y="1847088"/>
            <a:ext cx="166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FD2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&amp; 마무리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31152" y="2286000"/>
            <a:ext cx="160934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통계/리포트 (투입률 분석)</a:t>
            </a:r>
            <a:endParaRPr lang="en-US" sz="1100" dirty="0"/>
          </a:p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PDF·엑셀 내보내기</a:t>
            </a:r>
            <a:endParaRPr lang="en-US" sz="1100" dirty="0"/>
          </a:p>
          <a:p>
            <a:pPr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E4E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API 연동 전환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FB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데이터(mock) 선행 개발 완료 후 백엔드 API로 순차 전환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react-app-peoplify v2 화면 기획서</dc:title>
  <dc:subject>PptxGenJS Presentation</dc:subject>
  <dc:creator>peoplify</dc:creator>
  <cp:lastModifiedBy>peoplify</cp:lastModifiedBy>
  <cp:revision>1</cp:revision>
  <dcterms:created xsi:type="dcterms:W3CDTF">2026-05-29T05:07:07Z</dcterms:created>
  <dcterms:modified xsi:type="dcterms:W3CDTF">2026-05-29T05:07:07Z</dcterms:modified>
</cp:coreProperties>
</file>