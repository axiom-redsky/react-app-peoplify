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9" r:id="rId3"/>
    <p:sldId id="272" r:id="rId4"/>
    <p:sldId id="270" r:id="rId5"/>
    <p:sldId id="276" r:id="rId6"/>
    <p:sldId id="274" r:id="rId7"/>
    <p:sldId id="271" r:id="rId8"/>
    <p:sldId id="257" r:id="rId9"/>
    <p:sldId id="259" r:id="rId10"/>
    <p:sldId id="286" r:id="rId11"/>
    <p:sldId id="281" r:id="rId12"/>
    <p:sldId id="287" r:id="rId13"/>
    <p:sldId id="284" r:id="rId14"/>
    <p:sldId id="285" r:id="rId15"/>
    <p:sldId id="262" r:id="rId16"/>
    <p:sldId id="265" r:id="rId17"/>
    <p:sldId id="266" r:id="rId18"/>
    <p:sldId id="267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9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230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19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35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53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67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50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774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7117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92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318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8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5143500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37744" y="3017520"/>
            <a:ext cx="8906256" cy="21259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B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react-app-peoplify  v2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화면 기획서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02920" y="20299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회사 맞춤형 · 프로젝트 투입 관리 중심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13개 화면  ·  5개 도메인  ·  project 도메인 신규  ·  attendance 간소화</a:t>
            </a:r>
            <a:endParaRPr lang="en-US" sz="1100" dirty="0"/>
          </a:p>
        </p:txBody>
      </p:sp>
      <p:sp>
        <p:nvSpPr>
          <p:cNvPr id="8" name="Rounded Rectangle 7"/>
          <p:cNvSpPr/>
          <p:nvPr/>
        </p:nvSpPr>
        <p:spPr>
          <a:xfrm>
            <a:off x="502920" y="3584448"/>
            <a:ext cx="1569110" cy="329184"/>
          </a:xfrm>
          <a:prstGeom prst="roundRect">
            <a:avLst>
              <a:gd name="adj" fmla="val 18000"/>
            </a:avLst>
          </a:prstGeom>
          <a:solidFill>
            <a:srgbClr val="243260"/>
          </a:solidFill>
          <a:ln w="9525">
            <a:solidFill>
              <a:srgbClr val="2D4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3584448"/>
            <a:ext cx="156911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Login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00046" y="3584448"/>
            <a:ext cx="1569110" cy="329184"/>
          </a:xfrm>
          <a:prstGeom prst="roundRect">
            <a:avLst>
              <a:gd name="adj" fmla="val 18000"/>
            </a:avLst>
          </a:prstGeom>
          <a:solidFill>
            <a:srgbClr val="243260"/>
          </a:solidFill>
          <a:ln w="9525">
            <a:solidFill>
              <a:srgbClr val="2D4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00046" y="3584448"/>
            <a:ext cx="156911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97172" y="3584448"/>
            <a:ext cx="1569110" cy="329184"/>
          </a:xfrm>
          <a:prstGeom prst="roundRect">
            <a:avLst>
              <a:gd name="adj" fmla="val 18000"/>
            </a:avLst>
          </a:prstGeom>
          <a:solidFill>
            <a:srgbClr val="243260"/>
          </a:solidFill>
          <a:ln w="9525">
            <a:solidFill>
              <a:srgbClr val="2D4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97172" y="3584448"/>
            <a:ext cx="156911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직원 목록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94299" y="3584448"/>
            <a:ext cx="1569110" cy="329184"/>
          </a:xfrm>
          <a:prstGeom prst="roundRect">
            <a:avLst>
              <a:gd name="adj" fmla="val 18000"/>
            </a:avLst>
          </a:prstGeom>
          <a:solidFill>
            <a:srgbClr val="243260"/>
          </a:solidFill>
          <a:ln w="9525">
            <a:solidFill>
              <a:srgbClr val="2D4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94299" y="3584448"/>
            <a:ext cx="156911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직원 상세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1425" y="3584448"/>
            <a:ext cx="1569110" cy="329184"/>
          </a:xfrm>
          <a:prstGeom prst="roundRect">
            <a:avLst>
              <a:gd name="adj" fmla="val 18000"/>
            </a:avLst>
          </a:prstGeom>
          <a:solidFill>
            <a:srgbClr val="243260"/>
          </a:solidFill>
          <a:ln w="9525">
            <a:solidFill>
              <a:srgbClr val="2D4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91425" y="3584448"/>
            <a:ext cx="156911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직원 등록/수정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86784"/>
            <a:ext cx="1569110" cy="329184"/>
          </a:xfrm>
          <a:prstGeom prst="roundRect">
            <a:avLst>
              <a:gd name="adj" fmla="val 18000"/>
            </a:avLst>
          </a:prstGeom>
          <a:solidFill>
            <a:srgbClr val="243A7A"/>
          </a:solidFill>
          <a:ln w="9525">
            <a:solidFill>
              <a:srgbClr val="2D4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986784"/>
            <a:ext cx="156911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  <a:latin typeface="Calibri"/>
              </a:rPr>
              <a:t>프로젝트 목록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00046" y="3986784"/>
            <a:ext cx="1569110" cy="329184"/>
          </a:xfrm>
          <a:prstGeom prst="roundRect">
            <a:avLst>
              <a:gd name="adj" fmla="val 18000"/>
            </a:avLst>
          </a:prstGeom>
          <a:solidFill>
            <a:srgbClr val="2C4A7A"/>
          </a:solidFill>
          <a:ln w="15875">
            <a:solidFill>
              <a:srgbClr val="3B9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00046" y="3986784"/>
            <a:ext cx="156911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프로젝트 등록/수정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97172" y="3986784"/>
            <a:ext cx="1569110" cy="329184"/>
          </a:xfrm>
          <a:prstGeom prst="roundRect">
            <a:avLst>
              <a:gd name="adj" fmla="val 18000"/>
            </a:avLst>
          </a:prstGeom>
          <a:solidFill>
            <a:srgbClr val="243A7A"/>
          </a:solidFill>
          <a:ln w="9525">
            <a:solidFill>
              <a:srgbClr val="2D4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97172" y="3986784"/>
            <a:ext cx="156911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  <a:latin typeface="Calibri"/>
              </a:rPr>
              <a:t>프로젝트 상세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94299" y="3986784"/>
            <a:ext cx="1569110" cy="329184"/>
          </a:xfrm>
          <a:prstGeom prst="roundRect">
            <a:avLst>
              <a:gd name="adj" fmla="val 18000"/>
            </a:avLst>
          </a:prstGeom>
          <a:solidFill>
            <a:srgbClr val="243A7A"/>
          </a:solidFill>
          <a:ln w="9525">
            <a:solidFill>
              <a:srgbClr val="2D4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94299" y="3986784"/>
            <a:ext cx="156911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  <a:latin typeface="Calibri"/>
              </a:rPr>
              <a:t>인력 배정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1425" y="3986784"/>
            <a:ext cx="1569110" cy="329184"/>
          </a:xfrm>
          <a:prstGeom prst="roundRect">
            <a:avLst>
              <a:gd name="adj" fmla="val 18000"/>
            </a:avLst>
          </a:prstGeom>
          <a:solidFill>
            <a:srgbClr val="243A7A"/>
          </a:solidFill>
          <a:ln w="9525">
            <a:solidFill>
              <a:srgbClr val="2D4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91425" y="3986784"/>
            <a:ext cx="156911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  <a:latin typeface="Calibri"/>
              </a:rPr>
              <a:t>투입 현황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389120"/>
            <a:ext cx="1569110" cy="329184"/>
          </a:xfrm>
          <a:prstGeom prst="roundRect">
            <a:avLst>
              <a:gd name="adj" fmla="val 18000"/>
            </a:avLst>
          </a:prstGeom>
          <a:solidFill>
            <a:srgbClr val="243260"/>
          </a:solidFill>
          <a:ln w="9525">
            <a:solidFill>
              <a:srgbClr val="2D4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4389120"/>
            <a:ext cx="156911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월별 근무 보고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00046" y="4389120"/>
            <a:ext cx="1569110" cy="329184"/>
          </a:xfrm>
          <a:prstGeom prst="roundRect">
            <a:avLst>
              <a:gd name="adj" fmla="val 18000"/>
            </a:avLst>
          </a:prstGeom>
          <a:solidFill>
            <a:srgbClr val="243260"/>
          </a:solidFill>
          <a:ln w="9525">
            <a:solidFill>
              <a:srgbClr val="2D4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00046" y="4389120"/>
            <a:ext cx="156911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휴가 관리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97172" y="4389120"/>
            <a:ext cx="1569110" cy="329184"/>
          </a:xfrm>
          <a:prstGeom prst="roundRect">
            <a:avLst>
              <a:gd name="adj" fmla="val 18000"/>
            </a:avLst>
          </a:prstGeom>
          <a:solidFill>
            <a:srgbClr val="243260"/>
          </a:solidFill>
          <a:ln w="9525">
            <a:solidFill>
              <a:srgbClr val="2D4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97172" y="4389120"/>
            <a:ext cx="156911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통계/리포트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356616"/>
          </a:xfrm>
          <a:prstGeom prst="rect">
            <a:avLst/>
          </a:prstGeom>
          <a:solidFill>
            <a:srgbClr val="192B49"/>
          </a:solidFill>
          <a:ln w="12700"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260604" y="82296"/>
            <a:ext cx="910249" cy="156966"/>
          </a:xfrm>
          <a:prstGeom prst="rect">
            <a:avLst/>
          </a:prstGeom>
          <a:noFill/>
        </p:spPr>
        <p:txBody>
          <a:bodyPr wrap="none" lIns="41148" tIns="20574" rIns="41148" bIns="20574" anchor="t">
            <a:spAutoFit/>
          </a:bodyPr>
          <a:lstStyle/>
          <a:p>
            <a:r>
              <a:rPr sz="750" b="1">
                <a:solidFill>
                  <a:srgbClr val="C0CDE2"/>
                </a:solidFill>
                <a:latin typeface="Malgun Gothic"/>
              </a:rPr>
              <a:t>Peoplify UI 기획서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71822" y="68580"/>
            <a:ext cx="583237" cy="191591"/>
          </a:xfrm>
          <a:prstGeom prst="rect">
            <a:avLst/>
          </a:prstGeom>
          <a:noFill/>
        </p:spPr>
        <p:txBody>
          <a:bodyPr wrap="none" lIns="41148" tIns="20574" rIns="41148" bIns="20574" anchor="t">
            <a:sp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Malgun Gothic"/>
              </a:rPr>
              <a:t>개정이력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62303" y="89154"/>
            <a:ext cx="647358" cy="133883"/>
          </a:xfrm>
          <a:prstGeom prst="rect">
            <a:avLst/>
          </a:prstGeom>
          <a:noFill/>
        </p:spPr>
        <p:txBody>
          <a:bodyPr wrap="none" lIns="41148" tIns="20574" rIns="41148" bIns="20574" anchor="t">
            <a:spAutoFit/>
          </a:bodyPr>
          <a:lstStyle/>
          <a:p>
            <a:pPr algn="r"/>
            <a:r>
              <a:rPr sz="600">
                <a:solidFill>
                  <a:srgbClr val="C0CDE2"/>
                </a:solidFill>
                <a:latin typeface="Malgun Gothic"/>
              </a:rPr>
              <a:t>Revision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35783" y="82296"/>
            <a:ext cx="182487" cy="145424"/>
          </a:xfrm>
          <a:prstGeom prst="rect">
            <a:avLst/>
          </a:prstGeom>
          <a:noFill/>
        </p:spPr>
        <p:txBody>
          <a:bodyPr wrap="none" lIns="41148" tIns="20574" rIns="41148" bIns="20574" anchor="t">
            <a:spAutoFit/>
          </a:bodyPr>
          <a:lstStyle/>
          <a:p>
            <a:pPr algn="r"/>
            <a:r>
              <a:rPr sz="675" b="1">
                <a:solidFill>
                  <a:srgbClr val="C0CDE2"/>
                </a:solidFill>
                <a:latin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770" y="630937"/>
            <a:ext cx="1426416" cy="295466"/>
          </a:xfrm>
          <a:prstGeom prst="rect">
            <a:avLst/>
          </a:prstGeom>
          <a:noFill/>
        </p:spPr>
        <p:txBody>
          <a:bodyPr wrap="none" lIns="41148" tIns="20574" rIns="41148" bIns="20574" anchor="t">
            <a:spAutoFit/>
          </a:bodyPr>
          <a:lstStyle/>
          <a:p>
            <a:r>
              <a:rPr sz="1650" b="1">
                <a:solidFill>
                  <a:srgbClr val="192130"/>
                </a:solidFill>
                <a:latin typeface="Malgun Gothic"/>
              </a:rPr>
              <a:t>문서 개정이력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486" y="925830"/>
            <a:ext cx="2949269" cy="156966"/>
          </a:xfrm>
          <a:prstGeom prst="rect">
            <a:avLst/>
          </a:prstGeom>
          <a:noFill/>
        </p:spPr>
        <p:txBody>
          <a:bodyPr wrap="none" lIns="41148" tIns="20574" rIns="41148" bIns="20574" anchor="t">
            <a:spAutoFit/>
          </a:bodyPr>
          <a:lstStyle/>
          <a:p>
            <a:r>
              <a:rPr sz="750">
                <a:solidFill>
                  <a:srgbClr val="5A687E"/>
                </a:solidFill>
                <a:latin typeface="Malgun Gothic"/>
              </a:rPr>
              <a:t>화면 설계 변경사항, 검토 의견 반영 내역, 확정 이력을 관리합니다.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0570" y="1556766"/>
            <a:ext cx="83164" cy="249299"/>
          </a:xfrm>
          <a:prstGeom prst="rect">
            <a:avLst/>
          </a:prstGeom>
          <a:noFill/>
        </p:spPr>
        <p:txBody>
          <a:bodyPr wrap="none" lIns="41148" tIns="20574" rIns="41148" bIns="20574" anchor="t">
            <a:spAutoFit/>
          </a:bodyPr>
          <a:lstStyle/>
          <a:p>
            <a:endParaRPr sz="1350"/>
          </a:p>
        </p:txBody>
      </p:sp>
      <p:sp>
        <p:nvSpPr>
          <p:cNvPr id="85" name="TextBox 84"/>
          <p:cNvSpPr txBox="1"/>
          <p:nvPr/>
        </p:nvSpPr>
        <p:spPr>
          <a:xfrm>
            <a:off x="308611" y="4924045"/>
            <a:ext cx="2192652" cy="122341"/>
          </a:xfrm>
          <a:prstGeom prst="rect">
            <a:avLst/>
          </a:prstGeom>
          <a:noFill/>
        </p:spPr>
        <p:txBody>
          <a:bodyPr wrap="none" lIns="41148" tIns="20574" rIns="41148" bIns="20574" anchor="t">
            <a:spAutoFit/>
          </a:bodyPr>
          <a:lstStyle/>
          <a:p>
            <a:r>
              <a:rPr sz="525">
                <a:solidFill>
                  <a:srgbClr val="5A687E"/>
                </a:solidFill>
                <a:latin typeface="Malgun Gothic"/>
              </a:rPr>
              <a:t>※ 개정이력은 주요 산출물 배포/검토/확정 시점 기준으로 작성합니다.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67151" y="4924045"/>
            <a:ext cx="445379" cy="122341"/>
          </a:xfrm>
          <a:prstGeom prst="rect">
            <a:avLst/>
          </a:prstGeom>
          <a:noFill/>
        </p:spPr>
        <p:txBody>
          <a:bodyPr wrap="none" lIns="41148" tIns="20574" rIns="41148" bIns="20574" anchor="t">
            <a:spAutoFit/>
          </a:bodyPr>
          <a:lstStyle/>
          <a:p>
            <a:pPr algn="r"/>
            <a:r>
              <a:rPr sz="525">
                <a:solidFill>
                  <a:srgbClr val="5A687E"/>
                </a:solidFill>
                <a:latin typeface="Malgun Gothic"/>
              </a:rPr>
              <a:t>Confidential</a:t>
            </a:r>
          </a:p>
        </p:txBody>
      </p:sp>
      <p:graphicFrame>
        <p:nvGraphicFramePr>
          <p:cNvPr id="89" name="표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257471"/>
              </p:ext>
            </p:extLst>
          </p:nvPr>
        </p:nvGraphicFramePr>
        <p:xfrm>
          <a:off x="432706" y="1200722"/>
          <a:ext cx="8270425" cy="3626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945">
                  <a:extLst>
                    <a:ext uri="{9D8B030D-6E8A-4147-A177-3AD203B41FA5}">
                      <a16:colId xmlns:a16="http://schemas.microsoft.com/office/drawing/2014/main" val="2991338917"/>
                    </a:ext>
                  </a:extLst>
                </a:gridCol>
                <a:gridCol w="757646">
                  <a:extLst>
                    <a:ext uri="{9D8B030D-6E8A-4147-A177-3AD203B41FA5}">
                      <a16:colId xmlns:a16="http://schemas.microsoft.com/office/drawing/2014/main" val="2614421820"/>
                    </a:ext>
                  </a:extLst>
                </a:gridCol>
                <a:gridCol w="894806">
                  <a:extLst>
                    <a:ext uri="{9D8B030D-6E8A-4147-A177-3AD203B41FA5}">
                      <a16:colId xmlns:a16="http://schemas.microsoft.com/office/drawing/2014/main" val="1128527261"/>
                    </a:ext>
                  </a:extLst>
                </a:gridCol>
                <a:gridCol w="5368834">
                  <a:extLst>
                    <a:ext uri="{9D8B030D-6E8A-4147-A177-3AD203B41FA5}">
                      <a16:colId xmlns:a16="http://schemas.microsoft.com/office/drawing/2014/main" val="3724886803"/>
                    </a:ext>
                  </a:extLst>
                </a:gridCol>
                <a:gridCol w="715194">
                  <a:extLst>
                    <a:ext uri="{9D8B030D-6E8A-4147-A177-3AD203B41FA5}">
                      <a16:colId xmlns:a16="http://schemas.microsoft.com/office/drawing/2014/main" val="1094740758"/>
                    </a:ext>
                  </a:extLst>
                </a:gridCol>
              </a:tblGrid>
              <a:tr h="4154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버전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일자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작성자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변경내용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575491"/>
                  </a:ext>
                </a:extLst>
              </a:tr>
              <a:tr h="4154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v0.1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2026.06.15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정위현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초안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733972"/>
                  </a:ext>
                </a:extLst>
              </a:tr>
              <a:tr h="11339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v0.2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2026.06.17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이용진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직원관리 수정</a:t>
                      </a:r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재직 상태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재직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또는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휴직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상태에서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퇴사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로 변경한 경우 오늘 날짜 퇴사일 노출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재직 상태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퇴사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상태에서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재직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또는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휴직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로 변경한 경우 퇴사일 초기화</a:t>
                      </a:r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- Validation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문구 추가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사용자 안내 방법 변경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날짜 입력 필드 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datepiker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적용</a:t>
                      </a:r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직원관리 등록</a:t>
                      </a:r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- Validation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문구 추가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사용자 안내 방법 변경</a:t>
                      </a:r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직원관리 상세</a:t>
                      </a:r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퇴사 상태일 경우 상단 삭제 버튼 삭제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상단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하단 수정 버튼 중 하단 버튼 삭제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중복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프로젝트 이력 영역 중 프로젝트 명 클릭 시 해당 프로젝트 상세 화면 이동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006999"/>
                  </a:ext>
                </a:extLst>
              </a:tr>
              <a:tr h="415496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55998"/>
                  </a:ext>
                </a:extLst>
              </a:tr>
              <a:tr h="415496"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283618"/>
                  </a:ext>
                </a:extLst>
              </a:tr>
              <a:tr h="415496"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007832"/>
                  </a:ext>
                </a:extLst>
              </a:tr>
              <a:tr h="415496"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295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060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도메인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(SI 투입 중심)  ·  / 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87968" y="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1417320" cy="479602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4173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0" y="347472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Peoplify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960120"/>
            <a:ext cx="14173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0" y="960120"/>
            <a:ext cx="36576" cy="5120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4864" y="100584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" y="1609344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직원관리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" y="221284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" y="2816352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근태관리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" y="3419856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17320" y="347472"/>
            <a:ext cx="7726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572768" y="448056"/>
            <a:ext cx="2926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609344" y="448056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검색...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관리자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833104" y="448056"/>
            <a:ext cx="237744" cy="23774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833104" y="448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417320" y="786384"/>
            <a:ext cx="7726680" cy="435711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572768" y="8778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대시보드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72768" y="113385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5월 26일 (화)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572768" y="1389888"/>
            <a:ext cx="1691640" cy="731520"/>
          </a:xfrm>
          <a:prstGeom prst="rect">
            <a:avLst/>
          </a:prstGeom>
          <a:solidFill>
            <a:srgbClr val="E6F1FB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664208" y="1453896"/>
            <a:ext cx="1527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인원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64208" y="1627632"/>
            <a:ext cx="152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64208" y="1938528"/>
            <a:ext cx="15270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재직 중 30명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355848" y="1389888"/>
            <a:ext cx="1691640" cy="731520"/>
          </a:xfrm>
          <a:prstGeom prst="rect">
            <a:avLst/>
          </a:prstGeom>
          <a:solidFill>
            <a:srgbClr val="DBEAFE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447288" y="1453896"/>
            <a:ext cx="1527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 중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47288" y="1627632"/>
            <a:ext cx="152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26명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447288" y="1938528"/>
            <a:ext cx="15270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26개 프로젝트 현장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138928" y="1389888"/>
            <a:ext cx="169164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230368" y="1453896"/>
            <a:ext cx="1527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벤치(가용)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230368" y="1627632"/>
            <a:ext cx="152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6명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230368" y="1938528"/>
            <a:ext cx="15270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배정 가능 인원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922008" y="1389888"/>
            <a:ext cx="1691640" cy="731520"/>
          </a:xfrm>
          <a:prstGeom prst="rect">
            <a:avLst/>
          </a:prstGeom>
          <a:solidFill>
            <a:srgbClr val="CCFBF1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7013448" y="1453896"/>
            <a:ext cx="1527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프로젝트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13448" y="1627632"/>
            <a:ext cx="152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5건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013448" y="1938528"/>
            <a:ext cx="15270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완료1·예정1 별도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572768" y="2212848"/>
            <a:ext cx="44805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1682496" y="232257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중 프로젝트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645920" y="2578608"/>
            <a:ext cx="1911096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1682496" y="257860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547872" y="2578608"/>
            <a:ext cx="676656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3584448" y="257860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투입인원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233672" y="2578608"/>
            <a:ext cx="1225296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4270248" y="257860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486400" y="2578608"/>
            <a:ext cx="539496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5522976" y="257860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572768" y="2834640"/>
            <a:ext cx="448056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1682496" y="2834640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A금융 차세대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584448" y="283464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7명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270248" y="283464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2025.03~2026.12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486400" y="2907792"/>
            <a:ext cx="566928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5486400" y="290779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682496" y="3163824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B공공기관 ERP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584448" y="316382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5명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270248" y="31638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2025.06~2026.06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486400" y="3236976"/>
            <a:ext cx="566928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5486400" y="323697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572768" y="3493008"/>
            <a:ext cx="448056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1682496" y="3493008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C제조 MES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584448" y="349300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8명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270248" y="349300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2024.12~2026.03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486400" y="3566160"/>
            <a:ext cx="566928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5486400" y="356616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190488" y="2212848"/>
            <a:ext cx="2926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6300216" y="232257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 인원 현황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300216" y="261518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김민준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059168" y="2615184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772400" y="2615184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2주째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300216" y="285292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이서연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059168" y="285292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772400" y="2852928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1개월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300216" y="309067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박지훈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059168" y="309067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772400" y="3090672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3일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190488" y="3383280"/>
            <a:ext cx="2926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6300216" y="349300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철수 임박 (30일 이내)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236208" y="3785616"/>
            <a:ext cx="288036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6345936" y="37856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최유나  /  A금융  →  철수 06.15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236208" y="4078224"/>
            <a:ext cx="288036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/>
          <p:nvPr/>
        </p:nvSpPr>
        <p:spPr>
          <a:xfrm>
            <a:off x="6345936" y="4078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정다은  /  B공공  →  철수 06.28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5892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도메인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목록 (투입 프로젝트 컬럼 추가)  ·  /employees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87968" y="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1417320" cy="479602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4173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0" y="347472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Peoplify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" y="100584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0" y="1563624"/>
            <a:ext cx="14173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0" y="1563624"/>
            <a:ext cx="36576" cy="5120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" y="1609344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직원관리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" y="221284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" y="2816352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근태관리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" y="3419856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17320" y="347472"/>
            <a:ext cx="7726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572768" y="448056"/>
            <a:ext cx="2926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609344" y="448056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검색...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관리자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833104" y="448056"/>
            <a:ext cx="237744" cy="23774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833104" y="448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417320" y="786384"/>
            <a:ext cx="7726680" cy="435711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572768" y="8778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직원 관리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66176" y="877824"/>
            <a:ext cx="713232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266176" y="87782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직원 등록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572768" y="1207008"/>
            <a:ext cx="7406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1682496" y="1316736"/>
            <a:ext cx="1828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737360" y="131673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검색...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39312" y="1316736"/>
            <a:ext cx="1060704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694176" y="1316736"/>
            <a:ext cx="969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 ▾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1316736"/>
            <a:ext cx="1060704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809744" y="1316736"/>
            <a:ext cx="969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재직상태 ▾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870448" y="1316736"/>
            <a:ext cx="1060704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925312" y="1316736"/>
            <a:ext cx="969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투입상태 ▾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572768" y="1719072"/>
            <a:ext cx="740664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1627632" y="1737360"/>
            <a:ext cx="768096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1664208" y="17373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359152" y="1737360"/>
            <a:ext cx="630936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2395728" y="17373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953512" y="1737360"/>
            <a:ext cx="585216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990088" y="17373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502152" y="1737360"/>
            <a:ext cx="2048256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3538728" y="1737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투입 프로젝트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513832" y="1737360"/>
            <a:ext cx="585216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550408" y="17373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투입률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062472" y="1737360"/>
            <a:ext cx="630936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099048" y="17373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재직상태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656832" y="1737360"/>
            <a:ext cx="676656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6693408" y="17373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액션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572768" y="2029968"/>
            <a:ext cx="740664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1664208" y="202996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김민준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395728" y="202996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개발팀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990088" y="202996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과장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538728" y="2029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A금융 차세대 코어뱅킹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550408" y="202996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099048" y="2112264"/>
            <a:ext cx="566928" cy="1828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6099048" y="211226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재직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729984" y="2112264"/>
            <a:ext cx="256032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6729984" y="2112264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664208" y="23774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이서연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395728" y="237744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990088" y="23774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대리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538728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 (미투입)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550408" y="23774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099048" y="2459736"/>
            <a:ext cx="566928" cy="1828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6099048" y="245973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재직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729984" y="2459736"/>
            <a:ext cx="256032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6729984" y="2459736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572768" y="2724912"/>
            <a:ext cx="740664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1664208" y="272491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박지훈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2395728" y="272491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2990088" y="272491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사원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538728" y="27249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C제조 MES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550408" y="272491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099048" y="2807208"/>
            <a:ext cx="566928" cy="1828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/>
          <p:nvPr/>
        </p:nvSpPr>
        <p:spPr>
          <a:xfrm>
            <a:off x="6099048" y="280720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재직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729984" y="2807208"/>
            <a:ext cx="256032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6729984" y="280720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1664208" y="307238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최유나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2395728" y="3072384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2990088" y="307238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차장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3538728" y="3072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A금융 차세대 코어뱅킹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550408" y="307238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099048" y="3154680"/>
            <a:ext cx="566928" cy="1828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Text 83"/>
          <p:cNvSpPr/>
          <p:nvPr/>
        </p:nvSpPr>
        <p:spPr>
          <a:xfrm>
            <a:off x="6099048" y="31546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재직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729984" y="3154680"/>
            <a:ext cx="256032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Text 85"/>
          <p:cNvSpPr/>
          <p:nvPr/>
        </p:nvSpPr>
        <p:spPr>
          <a:xfrm>
            <a:off x="6729984" y="31546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1572768" y="3419856"/>
            <a:ext cx="740664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Text 87"/>
          <p:cNvSpPr/>
          <p:nvPr/>
        </p:nvSpPr>
        <p:spPr>
          <a:xfrm>
            <a:off x="1664208" y="341985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정다은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2395728" y="341985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개발팀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2990088" y="341985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사원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3538728" y="34198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B공공기관 ERP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5550408" y="341985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099048" y="3502152"/>
            <a:ext cx="566928" cy="1828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Text 93"/>
          <p:cNvSpPr/>
          <p:nvPr/>
        </p:nvSpPr>
        <p:spPr>
          <a:xfrm>
            <a:off x="6099048" y="350215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재직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6729984" y="3502152"/>
            <a:ext cx="256032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Text 95"/>
          <p:cNvSpPr/>
          <p:nvPr/>
        </p:nvSpPr>
        <p:spPr>
          <a:xfrm>
            <a:off x="6729984" y="350215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1664208" y="376732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홍길동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2395728" y="376732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2990088" y="376732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부장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3538728" y="37673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 (미투입)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5550408" y="376732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6099048" y="3849624"/>
            <a:ext cx="566928" cy="1828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/>
          <p:nvPr/>
        </p:nvSpPr>
        <p:spPr>
          <a:xfrm>
            <a:off x="6099048" y="384962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휴직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6729984" y="3849624"/>
            <a:ext cx="256032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Text 104"/>
          <p:cNvSpPr/>
          <p:nvPr/>
        </p:nvSpPr>
        <p:spPr>
          <a:xfrm>
            <a:off x="6729984" y="3849624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99371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" y="0"/>
            <a:ext cx="9143771" cy="397764"/>
          </a:xfrm>
          <a:prstGeom prst="rect">
            <a:avLst/>
          </a:prstGeom>
          <a:solidFill>
            <a:srgbClr val="13233D"/>
          </a:solidFill>
          <a:ln w="8890">
            <a:solidFill>
              <a:srgbClr val="132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1752" y="82296"/>
            <a:ext cx="1371600" cy="1920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78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Peoplify UI 기획서</a:t>
            </a:r>
            <a:endParaRPr lang="en-US" sz="788" dirty="0"/>
          </a:p>
        </p:txBody>
      </p:sp>
      <p:sp>
        <p:nvSpPr>
          <p:cNvPr id="4" name="Text 2"/>
          <p:cNvSpPr/>
          <p:nvPr/>
        </p:nvSpPr>
        <p:spPr>
          <a:xfrm>
            <a:off x="2" y="68580"/>
            <a:ext cx="9143771" cy="24688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23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상세 화면 설계</a:t>
            </a:r>
            <a:endParaRPr lang="en-US" sz="1238" dirty="0"/>
          </a:p>
        </p:txBody>
      </p:sp>
      <p:sp>
        <p:nvSpPr>
          <p:cNvPr id="5" name="Text 3"/>
          <p:cNvSpPr/>
          <p:nvPr/>
        </p:nvSpPr>
        <p:spPr>
          <a:xfrm>
            <a:off x="6665976" y="96012"/>
            <a:ext cx="2023110" cy="16459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r"/>
            <a:r>
              <a:rPr lang="en-US" sz="555" dirty="0">
                <a:solidFill>
                  <a:srgbClr val="D8E0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employee 도메인 · /employees/employee-detail/:id</a:t>
            </a:r>
            <a:endParaRPr lang="en-US" sz="555" dirty="0"/>
          </a:p>
        </p:txBody>
      </p:sp>
      <p:sp>
        <p:nvSpPr>
          <p:cNvPr id="6" name="Text 4"/>
          <p:cNvSpPr/>
          <p:nvPr/>
        </p:nvSpPr>
        <p:spPr>
          <a:xfrm>
            <a:off x="8833104" y="96012"/>
            <a:ext cx="150876" cy="16459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r"/>
            <a:r>
              <a:rPr lang="en-US" sz="63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638" dirty="0"/>
          </a:p>
        </p:txBody>
      </p:sp>
      <p:sp>
        <p:nvSpPr>
          <p:cNvPr id="7" name="Text 5"/>
          <p:cNvSpPr/>
          <p:nvPr/>
        </p:nvSpPr>
        <p:spPr>
          <a:xfrm>
            <a:off x="377190" y="576072"/>
            <a:ext cx="822960" cy="16459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825" b="1" dirty="0">
                <a:solidFill>
                  <a:srgbClr val="132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설계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227064" y="562356"/>
            <a:ext cx="1234440" cy="1920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380476" y="624078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63" b="1" dirty="0">
                <a:solidFill>
                  <a:srgbClr val="0057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검토용</a:t>
            </a:r>
            <a:endParaRPr lang="en-US" sz="563" dirty="0"/>
          </a:p>
        </p:txBody>
      </p:sp>
      <p:sp>
        <p:nvSpPr>
          <p:cNvPr id="10" name="Shape 8"/>
          <p:cNvSpPr/>
          <p:nvPr/>
        </p:nvSpPr>
        <p:spPr>
          <a:xfrm>
            <a:off x="356616" y="740664"/>
            <a:ext cx="5719572" cy="3922776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8890">
            <a:solidFill>
              <a:srgbClr val="D5DD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" y="850392"/>
            <a:ext cx="5500116" cy="3703320"/>
          </a:xfrm>
          <a:prstGeom prst="rect">
            <a:avLst/>
          </a:prstGeom>
          <a:solidFill>
            <a:srgbClr val="1F1E3A"/>
          </a:solidFill>
          <a:ln w="8890">
            <a:solidFill>
              <a:srgbClr val="1F1E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" y="850392"/>
            <a:ext cx="5500116" cy="370332"/>
          </a:xfrm>
          <a:prstGeom prst="rect">
            <a:avLst/>
          </a:prstGeom>
          <a:solidFill>
            <a:srgbClr val="302F50"/>
          </a:solidFill>
          <a:ln w="8890">
            <a:solidFill>
              <a:srgbClr val="302F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" y="850392"/>
            <a:ext cx="1062990" cy="3703320"/>
          </a:xfrm>
          <a:prstGeom prst="rect">
            <a:avLst/>
          </a:prstGeom>
          <a:solidFill>
            <a:srgbClr val="2F2E4F"/>
          </a:solidFill>
          <a:ln w="8890">
            <a:solidFill>
              <a:srgbClr val="2F2E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939546"/>
            <a:ext cx="857250" cy="10972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  인력관리 시스템</a:t>
            </a:r>
            <a:endParaRPr lang="en-US" sz="540" dirty="0"/>
          </a:p>
        </p:txBody>
      </p:sp>
      <p:sp>
        <p:nvSpPr>
          <p:cNvPr id="15" name="Text 13"/>
          <p:cNvSpPr/>
          <p:nvPr/>
        </p:nvSpPr>
        <p:spPr>
          <a:xfrm>
            <a:off x="665226" y="1056132"/>
            <a:ext cx="548640" cy="6858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360" dirty="0">
                <a:solidFill>
                  <a:srgbClr val="C9C7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Peoplify v1.0</a:t>
            </a:r>
            <a:endParaRPr lang="en-US" sz="360" dirty="0"/>
          </a:p>
        </p:txBody>
      </p:sp>
      <p:sp>
        <p:nvSpPr>
          <p:cNvPr id="16" name="Text 14"/>
          <p:cNvSpPr/>
          <p:nvPr/>
        </p:nvSpPr>
        <p:spPr>
          <a:xfrm>
            <a:off x="555498" y="1330452"/>
            <a:ext cx="514350" cy="8229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375" dirty="0">
                <a:solidFill>
                  <a:srgbClr val="B6B4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메뉴</a:t>
            </a:r>
            <a:endParaRPr lang="en-US" sz="375" dirty="0"/>
          </a:p>
        </p:txBody>
      </p:sp>
      <p:sp>
        <p:nvSpPr>
          <p:cNvPr id="17" name="Text 15"/>
          <p:cNvSpPr/>
          <p:nvPr/>
        </p:nvSpPr>
        <p:spPr>
          <a:xfrm>
            <a:off x="569214" y="1508760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▦  대시보드</a:t>
            </a:r>
            <a:endParaRPr lang="en-US" sz="450" dirty="0"/>
          </a:p>
        </p:txBody>
      </p:sp>
      <p:sp>
        <p:nvSpPr>
          <p:cNvPr id="18" name="Text 16"/>
          <p:cNvSpPr/>
          <p:nvPr/>
        </p:nvSpPr>
        <p:spPr>
          <a:xfrm>
            <a:off x="569214" y="1776222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♙  직원관리     ˅</a:t>
            </a:r>
            <a:endParaRPr lang="en-US" sz="450" dirty="0"/>
          </a:p>
        </p:txBody>
      </p:sp>
      <p:sp>
        <p:nvSpPr>
          <p:cNvPr id="19" name="Text 17"/>
          <p:cNvSpPr/>
          <p:nvPr/>
        </p:nvSpPr>
        <p:spPr>
          <a:xfrm>
            <a:off x="569214" y="2043684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▣  프로젝트      ˅</a:t>
            </a:r>
            <a:endParaRPr lang="en-US" sz="450" dirty="0"/>
          </a:p>
        </p:txBody>
      </p:sp>
      <p:sp>
        <p:nvSpPr>
          <p:cNvPr id="20" name="Text 18"/>
          <p:cNvSpPr/>
          <p:nvPr/>
        </p:nvSpPr>
        <p:spPr>
          <a:xfrm>
            <a:off x="569214" y="2311146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◴  근태관리      ˅</a:t>
            </a:r>
            <a:endParaRPr lang="en-US" sz="450" dirty="0"/>
          </a:p>
        </p:txBody>
      </p:sp>
      <p:sp>
        <p:nvSpPr>
          <p:cNvPr id="21" name="Text 19"/>
          <p:cNvSpPr/>
          <p:nvPr/>
        </p:nvSpPr>
        <p:spPr>
          <a:xfrm>
            <a:off x="569214" y="2578608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▥  리포트</a:t>
            </a:r>
            <a:endParaRPr lang="en-US" sz="450" dirty="0"/>
          </a:p>
        </p:txBody>
      </p:sp>
      <p:sp>
        <p:nvSpPr>
          <p:cNvPr id="22" name="Text 20"/>
          <p:cNvSpPr/>
          <p:nvPr/>
        </p:nvSpPr>
        <p:spPr>
          <a:xfrm>
            <a:off x="569214" y="2846070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375" dirty="0">
                <a:solidFill>
                  <a:srgbClr val="A8A6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패럴링(임시)</a:t>
            </a:r>
            <a:endParaRPr lang="en-US" sz="375" dirty="0"/>
          </a:p>
        </p:txBody>
      </p:sp>
      <p:sp>
        <p:nvSpPr>
          <p:cNvPr id="23" name="Text 21"/>
          <p:cNvSpPr/>
          <p:nvPr/>
        </p:nvSpPr>
        <p:spPr>
          <a:xfrm>
            <a:off x="569214" y="3051810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▦  대시보드</a:t>
            </a:r>
            <a:endParaRPr lang="en-US" sz="450" dirty="0"/>
          </a:p>
        </p:txBody>
      </p:sp>
      <p:sp>
        <p:nvSpPr>
          <p:cNvPr id="24" name="Text 22"/>
          <p:cNvSpPr/>
          <p:nvPr/>
        </p:nvSpPr>
        <p:spPr>
          <a:xfrm>
            <a:off x="569214" y="3319272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♙  직원관리     ˅</a:t>
            </a:r>
            <a:endParaRPr lang="en-US" sz="450" dirty="0"/>
          </a:p>
        </p:txBody>
      </p:sp>
      <p:sp>
        <p:nvSpPr>
          <p:cNvPr id="25" name="Text 23"/>
          <p:cNvSpPr/>
          <p:nvPr/>
        </p:nvSpPr>
        <p:spPr>
          <a:xfrm>
            <a:off x="569214" y="3586734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▣  프로젝트      ˅</a:t>
            </a:r>
            <a:endParaRPr lang="en-US" sz="450" dirty="0"/>
          </a:p>
        </p:txBody>
      </p:sp>
      <p:sp>
        <p:nvSpPr>
          <p:cNvPr id="26" name="Text 24"/>
          <p:cNvSpPr/>
          <p:nvPr/>
        </p:nvSpPr>
        <p:spPr>
          <a:xfrm>
            <a:off x="569214" y="3854196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◴  근태관리      ˅</a:t>
            </a:r>
            <a:endParaRPr lang="en-US" sz="450" dirty="0"/>
          </a:p>
        </p:txBody>
      </p:sp>
      <p:sp>
        <p:nvSpPr>
          <p:cNvPr id="27" name="Text 25"/>
          <p:cNvSpPr/>
          <p:nvPr/>
        </p:nvSpPr>
        <p:spPr>
          <a:xfrm>
            <a:off x="569214" y="4121658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▥  리포트</a:t>
            </a:r>
            <a:endParaRPr lang="en-US" sz="450" dirty="0"/>
          </a:p>
        </p:txBody>
      </p:sp>
      <p:sp>
        <p:nvSpPr>
          <p:cNvPr id="28" name="Text 26"/>
          <p:cNvSpPr/>
          <p:nvPr/>
        </p:nvSpPr>
        <p:spPr>
          <a:xfrm>
            <a:off x="569214" y="4389120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↪  로그인</a:t>
            </a:r>
            <a:endParaRPr lang="en-US" sz="450" dirty="0"/>
          </a:p>
        </p:txBody>
      </p:sp>
      <p:sp>
        <p:nvSpPr>
          <p:cNvPr id="29" name="Shape 27"/>
          <p:cNvSpPr/>
          <p:nvPr/>
        </p:nvSpPr>
        <p:spPr>
          <a:xfrm>
            <a:off x="1632204" y="932688"/>
            <a:ext cx="192024" cy="205740"/>
          </a:xfrm>
          <a:prstGeom prst="roundRect">
            <a:avLst>
              <a:gd name="adj" fmla="val 14286"/>
            </a:avLst>
          </a:prstGeom>
          <a:solidFill>
            <a:srgbClr val="292848"/>
          </a:solidFill>
          <a:ln w="8890">
            <a:solidFill>
              <a:srgbClr val="3F3E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52778" y="960120"/>
            <a:ext cx="150876" cy="9601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☰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1885950" y="918972"/>
            <a:ext cx="2023110" cy="233172"/>
          </a:xfrm>
          <a:prstGeom prst="roundRect">
            <a:avLst>
              <a:gd name="adj" fmla="val 14706"/>
            </a:avLst>
          </a:prstGeom>
          <a:solidFill>
            <a:srgbClr val="39385C"/>
          </a:solidFill>
          <a:ln w="8890">
            <a:solidFill>
              <a:srgbClr val="626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54530" y="960120"/>
            <a:ext cx="1543050" cy="8915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65" dirty="0">
                <a:solidFill>
                  <a:srgbClr val="AFAE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⌕  Search or type command...</a:t>
            </a:r>
            <a:endParaRPr lang="en-US" sz="465" dirty="0"/>
          </a:p>
        </p:txBody>
      </p:sp>
      <p:sp>
        <p:nvSpPr>
          <p:cNvPr id="33" name="Shape 31"/>
          <p:cNvSpPr/>
          <p:nvPr/>
        </p:nvSpPr>
        <p:spPr>
          <a:xfrm>
            <a:off x="5232654" y="939546"/>
            <a:ext cx="260604" cy="164592"/>
          </a:xfrm>
          <a:prstGeom prst="roundRect">
            <a:avLst>
              <a:gd name="adj" fmla="val 20833"/>
            </a:avLst>
          </a:prstGeom>
          <a:solidFill>
            <a:srgbClr val="2E2D4E"/>
          </a:solidFill>
          <a:ln w="8890">
            <a:solidFill>
              <a:srgbClr val="3C3B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2654" y="946404"/>
            <a:ext cx="260604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428" dirty="0">
                <a:solidFill>
                  <a:srgbClr val="CFC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⌘K</a:t>
            </a:r>
            <a:endParaRPr lang="en-US" sz="428" dirty="0"/>
          </a:p>
        </p:txBody>
      </p:sp>
      <p:sp>
        <p:nvSpPr>
          <p:cNvPr id="35" name="Shape 33"/>
          <p:cNvSpPr/>
          <p:nvPr/>
        </p:nvSpPr>
        <p:spPr>
          <a:xfrm>
            <a:off x="5589270" y="93268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2A2949"/>
          </a:solidFill>
          <a:ln w="8890">
            <a:solidFill>
              <a:srgbClr val="3B3A5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89270" y="939546"/>
            <a:ext cx="192024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563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☼</a:t>
            </a:r>
            <a:endParaRPr lang="en-US" sz="563" dirty="0"/>
          </a:p>
        </p:txBody>
      </p:sp>
      <p:sp>
        <p:nvSpPr>
          <p:cNvPr id="37" name="Text 35"/>
          <p:cNvSpPr/>
          <p:nvPr/>
        </p:nvSpPr>
        <p:spPr>
          <a:xfrm>
            <a:off x="1769364" y="1440180"/>
            <a:ext cx="1028700" cy="9601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dirty="0">
                <a:solidFill>
                  <a:srgbClr val="AFAE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직원관리  ›  윤지수</a:t>
            </a:r>
            <a:endParaRPr lang="en-US" sz="450" dirty="0"/>
          </a:p>
        </p:txBody>
      </p:sp>
      <p:sp>
        <p:nvSpPr>
          <p:cNvPr id="38" name="Text 36"/>
          <p:cNvSpPr/>
          <p:nvPr/>
        </p:nvSpPr>
        <p:spPr>
          <a:xfrm>
            <a:off x="1769364" y="1577340"/>
            <a:ext cx="857250" cy="17830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상세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266944" y="1570482"/>
            <a:ext cx="274320" cy="157734"/>
          </a:xfrm>
          <a:prstGeom prst="roundRect">
            <a:avLst>
              <a:gd name="adj" fmla="val 21739"/>
            </a:avLst>
          </a:prstGeom>
          <a:solidFill>
            <a:srgbClr val="302F50"/>
          </a:solidFill>
          <a:ln w="8890">
            <a:solidFill>
              <a:srgbClr val="5B597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66944" y="1570482"/>
            <a:ext cx="274320" cy="15773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5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✎ 수정</a:t>
            </a:r>
            <a:endParaRPr lang="en-US" sz="525" dirty="0"/>
          </a:p>
        </p:txBody>
      </p:sp>
      <p:sp>
        <p:nvSpPr>
          <p:cNvPr id="41" name="Shape 39"/>
          <p:cNvSpPr/>
          <p:nvPr/>
        </p:nvSpPr>
        <p:spPr>
          <a:xfrm>
            <a:off x="5596128" y="1570482"/>
            <a:ext cx="274320" cy="157734"/>
          </a:xfrm>
          <a:prstGeom prst="roundRect">
            <a:avLst>
              <a:gd name="adj" fmla="val 21739"/>
            </a:avLst>
          </a:prstGeom>
          <a:solidFill>
            <a:srgbClr val="302F50"/>
          </a:solidFill>
          <a:ln w="8890">
            <a:solidFill>
              <a:srgbClr val="5B597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96128" y="1570482"/>
            <a:ext cx="274320" cy="15773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525" b="1" dirty="0">
                <a:solidFill>
                  <a:srgbClr val="FF5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🗑 삭제</a:t>
            </a:r>
            <a:endParaRPr lang="en-US" sz="525" dirty="0"/>
          </a:p>
        </p:txBody>
      </p:sp>
      <p:sp>
        <p:nvSpPr>
          <p:cNvPr id="43" name="Text 41"/>
          <p:cNvSpPr/>
          <p:nvPr/>
        </p:nvSpPr>
        <p:spPr>
          <a:xfrm>
            <a:off x="5520690" y="1467612"/>
            <a:ext cx="150876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 fontScale="92500" lnSpcReduction="10000"/>
          </a:bodyPr>
          <a:lstStyle/>
          <a:p>
            <a:pPr algn="ctr"/>
            <a:r>
              <a:rPr lang="en-US" sz="1125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125" dirty="0"/>
          </a:p>
        </p:txBody>
      </p:sp>
      <p:sp>
        <p:nvSpPr>
          <p:cNvPr id="44" name="Shape 42"/>
          <p:cNvSpPr/>
          <p:nvPr/>
        </p:nvSpPr>
        <p:spPr>
          <a:xfrm>
            <a:off x="1769364" y="1837944"/>
            <a:ext cx="4073652" cy="493776"/>
          </a:xfrm>
          <a:prstGeom prst="roundRect">
            <a:avLst>
              <a:gd name="adj" fmla="val 9722"/>
            </a:avLst>
          </a:prstGeom>
          <a:solidFill>
            <a:srgbClr val="333253"/>
          </a:solidFill>
          <a:ln w="8890">
            <a:solidFill>
              <a:srgbClr val="55537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92808" y="1947672"/>
            <a:ext cx="294894" cy="294894"/>
          </a:xfrm>
          <a:prstGeom prst="ellipse">
            <a:avLst/>
          </a:prstGeom>
          <a:solidFill>
            <a:srgbClr val="E8E4FF"/>
          </a:solidFill>
          <a:ln w="6350">
            <a:solidFill>
              <a:srgbClr val="E8E4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92808" y="1947672"/>
            <a:ext cx="294894" cy="29489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975" b="1" dirty="0">
                <a:solidFill>
                  <a:srgbClr val="4235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2249424" y="1954530"/>
            <a:ext cx="356616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윤지수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2578608" y="1968246"/>
            <a:ext cx="651510" cy="9601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390" dirty="0">
                <a:solidFill>
                  <a:srgbClr val="B4B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기획팀 · 프로젝트 관리자</a:t>
            </a:r>
            <a:endParaRPr lang="en-US" sz="390" dirty="0"/>
          </a:p>
        </p:txBody>
      </p:sp>
      <p:sp>
        <p:nvSpPr>
          <p:cNvPr id="49" name="Text 47"/>
          <p:cNvSpPr/>
          <p:nvPr/>
        </p:nvSpPr>
        <p:spPr>
          <a:xfrm>
            <a:off x="2249424" y="2132838"/>
            <a:ext cx="1885950" cy="8915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360" dirty="0">
                <a:solidFill>
                  <a:srgbClr val="D8D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✉ jisu.yoon@peoplify.com   ☎ 010-1001-0005   ◷ 입사 2018년 9월 1일</a:t>
            </a:r>
            <a:endParaRPr lang="en-US" sz="360" dirty="0"/>
          </a:p>
        </p:txBody>
      </p:sp>
      <p:sp>
        <p:nvSpPr>
          <p:cNvPr id="50" name="Text 48"/>
          <p:cNvSpPr/>
          <p:nvPr/>
        </p:nvSpPr>
        <p:spPr>
          <a:xfrm>
            <a:off x="5184648" y="1933956"/>
            <a:ext cx="514350" cy="8229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r"/>
            <a:r>
              <a:rPr lang="en-US" sz="413" dirty="0">
                <a:solidFill>
                  <a:srgbClr val="B4B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투입 프로젝트</a:t>
            </a:r>
            <a:endParaRPr lang="en-US" sz="413" dirty="0"/>
          </a:p>
        </p:txBody>
      </p:sp>
      <p:sp>
        <p:nvSpPr>
          <p:cNvPr id="51" name="Text 49"/>
          <p:cNvSpPr/>
          <p:nvPr/>
        </p:nvSpPr>
        <p:spPr>
          <a:xfrm>
            <a:off x="4786884" y="2036826"/>
            <a:ext cx="925830" cy="9601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r"/>
            <a:r>
              <a:rPr lang="en-US" sz="5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A금융 차세대 코어뱅킹</a:t>
            </a:r>
            <a:endParaRPr lang="en-US" sz="540" dirty="0"/>
          </a:p>
        </p:txBody>
      </p:sp>
      <p:sp>
        <p:nvSpPr>
          <p:cNvPr id="52" name="Text 50"/>
          <p:cNvSpPr/>
          <p:nvPr/>
        </p:nvSpPr>
        <p:spPr>
          <a:xfrm>
            <a:off x="5239512" y="2139696"/>
            <a:ext cx="466344" cy="8229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r"/>
            <a:r>
              <a:rPr lang="en-US" sz="435" b="1" dirty="0">
                <a:solidFill>
                  <a:srgbClr val="8B7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투입률 100%</a:t>
            </a:r>
            <a:endParaRPr lang="en-US" sz="435" dirty="0"/>
          </a:p>
        </p:txBody>
      </p:sp>
      <p:sp>
        <p:nvSpPr>
          <p:cNvPr id="53" name="Text 51"/>
          <p:cNvSpPr/>
          <p:nvPr/>
        </p:nvSpPr>
        <p:spPr>
          <a:xfrm>
            <a:off x="1851660" y="2482596"/>
            <a:ext cx="34290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65" dirty="0">
                <a:solidFill>
                  <a:srgbClr val="C6C3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기본정보</a:t>
            </a:r>
            <a:endParaRPr lang="en-US" sz="465" dirty="0"/>
          </a:p>
        </p:txBody>
      </p:sp>
      <p:sp>
        <p:nvSpPr>
          <p:cNvPr id="54" name="Text 52"/>
          <p:cNvSpPr/>
          <p:nvPr/>
        </p:nvSpPr>
        <p:spPr>
          <a:xfrm>
            <a:off x="2263140" y="2482596"/>
            <a:ext cx="48006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80" b="1" dirty="0">
                <a:solidFill>
                  <a:srgbClr val="79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 이력 ★</a:t>
            </a:r>
            <a:endParaRPr lang="en-US" sz="480" dirty="0"/>
          </a:p>
        </p:txBody>
      </p:sp>
      <p:sp>
        <p:nvSpPr>
          <p:cNvPr id="55" name="Text 53"/>
          <p:cNvSpPr/>
          <p:nvPr/>
        </p:nvSpPr>
        <p:spPr>
          <a:xfrm>
            <a:off x="2798064" y="2482596"/>
            <a:ext cx="425196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65" dirty="0">
                <a:solidFill>
                  <a:srgbClr val="C6C3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기술스택</a:t>
            </a:r>
            <a:endParaRPr lang="en-US" sz="465" dirty="0"/>
          </a:p>
        </p:txBody>
      </p:sp>
      <p:sp>
        <p:nvSpPr>
          <p:cNvPr id="56" name="Text 54"/>
          <p:cNvSpPr/>
          <p:nvPr/>
        </p:nvSpPr>
        <p:spPr>
          <a:xfrm>
            <a:off x="3319272" y="2482596"/>
            <a:ext cx="425196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65" dirty="0">
                <a:solidFill>
                  <a:srgbClr val="C6C3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계약정보</a:t>
            </a:r>
            <a:endParaRPr lang="en-US" sz="465" dirty="0"/>
          </a:p>
        </p:txBody>
      </p:sp>
      <p:sp>
        <p:nvSpPr>
          <p:cNvPr id="57" name="Shape 55"/>
          <p:cNvSpPr/>
          <p:nvPr/>
        </p:nvSpPr>
        <p:spPr>
          <a:xfrm>
            <a:off x="1769364" y="2654046"/>
            <a:ext cx="4073652" cy="8230"/>
          </a:xfrm>
          <a:prstGeom prst="rect">
            <a:avLst/>
          </a:prstGeom>
          <a:solidFill>
            <a:srgbClr val="4A486B"/>
          </a:solidFill>
          <a:ln w="8890">
            <a:solidFill>
              <a:srgbClr val="4A48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28850" y="2647189"/>
            <a:ext cx="432054" cy="17145"/>
          </a:xfrm>
          <a:prstGeom prst="rect">
            <a:avLst/>
          </a:prstGeom>
          <a:solidFill>
            <a:srgbClr val="796BFF"/>
          </a:solidFill>
          <a:ln w="8890">
            <a:solidFill>
              <a:srgbClr val="796B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69364" y="2791206"/>
            <a:ext cx="4073652" cy="617220"/>
          </a:xfrm>
          <a:prstGeom prst="roundRect">
            <a:avLst>
              <a:gd name="adj" fmla="val 6667"/>
            </a:avLst>
          </a:prstGeom>
          <a:solidFill>
            <a:srgbClr val="333253"/>
          </a:solidFill>
          <a:ln w="8890">
            <a:solidFill>
              <a:srgbClr val="55537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51660" y="2859786"/>
            <a:ext cx="754380" cy="10287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투입 이력</a:t>
            </a:r>
            <a:endParaRPr lang="en-US" sz="525" dirty="0"/>
          </a:p>
        </p:txBody>
      </p:sp>
      <p:sp>
        <p:nvSpPr>
          <p:cNvPr id="61" name="Shape 59"/>
          <p:cNvSpPr/>
          <p:nvPr/>
        </p:nvSpPr>
        <p:spPr>
          <a:xfrm>
            <a:off x="1769364" y="3038094"/>
            <a:ext cx="4073652" cy="6858"/>
          </a:xfrm>
          <a:prstGeom prst="rect">
            <a:avLst/>
          </a:prstGeom>
          <a:solidFill>
            <a:srgbClr val="55537B"/>
          </a:solidFill>
          <a:ln w="8890">
            <a:solidFill>
              <a:srgbClr val="55537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58518" y="3113532"/>
            <a:ext cx="925830" cy="8229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28" dirty="0">
                <a:solidFill>
                  <a:srgbClr val="AAA7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428" dirty="0"/>
          </a:p>
        </p:txBody>
      </p:sp>
      <p:sp>
        <p:nvSpPr>
          <p:cNvPr id="63" name="Text 61"/>
          <p:cNvSpPr/>
          <p:nvPr/>
        </p:nvSpPr>
        <p:spPr>
          <a:xfrm>
            <a:off x="2832354" y="3113532"/>
            <a:ext cx="589788" cy="8229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28" dirty="0">
                <a:solidFill>
                  <a:srgbClr val="AAA7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</a:t>
            </a:r>
            <a:endParaRPr lang="en-US" sz="428" dirty="0"/>
          </a:p>
        </p:txBody>
      </p:sp>
      <p:sp>
        <p:nvSpPr>
          <p:cNvPr id="64" name="Text 62"/>
          <p:cNvSpPr/>
          <p:nvPr/>
        </p:nvSpPr>
        <p:spPr>
          <a:xfrm>
            <a:off x="3998214" y="3113532"/>
            <a:ext cx="377190" cy="8229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28" dirty="0">
                <a:solidFill>
                  <a:srgbClr val="AAA7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428" dirty="0"/>
          </a:p>
        </p:txBody>
      </p:sp>
      <p:sp>
        <p:nvSpPr>
          <p:cNvPr id="65" name="Text 63"/>
          <p:cNvSpPr/>
          <p:nvPr/>
        </p:nvSpPr>
        <p:spPr>
          <a:xfrm>
            <a:off x="4581144" y="3113532"/>
            <a:ext cx="925830" cy="8229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28" dirty="0">
                <a:solidFill>
                  <a:srgbClr val="AAA7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투입기간</a:t>
            </a:r>
            <a:endParaRPr lang="en-US" sz="428" dirty="0"/>
          </a:p>
        </p:txBody>
      </p:sp>
      <p:sp>
        <p:nvSpPr>
          <p:cNvPr id="66" name="Text 64"/>
          <p:cNvSpPr/>
          <p:nvPr/>
        </p:nvSpPr>
        <p:spPr>
          <a:xfrm>
            <a:off x="5232654" y="3113532"/>
            <a:ext cx="377190" cy="8229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28" dirty="0">
                <a:solidFill>
                  <a:srgbClr val="AAA7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투입률</a:t>
            </a:r>
            <a:endParaRPr lang="en-US" sz="428" dirty="0"/>
          </a:p>
        </p:txBody>
      </p:sp>
      <p:sp>
        <p:nvSpPr>
          <p:cNvPr id="67" name="Text 65"/>
          <p:cNvSpPr/>
          <p:nvPr/>
        </p:nvSpPr>
        <p:spPr>
          <a:xfrm>
            <a:off x="5637276" y="3113532"/>
            <a:ext cx="219456" cy="8229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28" dirty="0">
                <a:solidFill>
                  <a:srgbClr val="AAA7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428" dirty="0"/>
          </a:p>
        </p:txBody>
      </p:sp>
      <p:sp>
        <p:nvSpPr>
          <p:cNvPr id="68" name="Shape 66"/>
          <p:cNvSpPr/>
          <p:nvPr/>
        </p:nvSpPr>
        <p:spPr>
          <a:xfrm>
            <a:off x="1769364" y="3236976"/>
            <a:ext cx="4073652" cy="6858"/>
          </a:xfrm>
          <a:prstGeom prst="rect">
            <a:avLst/>
          </a:prstGeom>
          <a:solidFill>
            <a:srgbClr val="55537B"/>
          </a:solidFill>
          <a:ln w="8890">
            <a:solidFill>
              <a:srgbClr val="55537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858518" y="3284982"/>
            <a:ext cx="994410" cy="8229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A금융 차세대 코어뱅킹</a:t>
            </a:r>
            <a:endParaRPr lang="en-US" sz="450" dirty="0"/>
          </a:p>
        </p:txBody>
      </p:sp>
      <p:sp>
        <p:nvSpPr>
          <p:cNvPr id="70" name="Text 68"/>
          <p:cNvSpPr/>
          <p:nvPr/>
        </p:nvSpPr>
        <p:spPr>
          <a:xfrm>
            <a:off x="2832354" y="3284982"/>
            <a:ext cx="582930" cy="8229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35" dirty="0">
                <a:solidFill>
                  <a:srgbClr val="BEBC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A금융그룹</a:t>
            </a:r>
            <a:endParaRPr lang="en-US" sz="435" dirty="0"/>
          </a:p>
        </p:txBody>
      </p:sp>
      <p:sp>
        <p:nvSpPr>
          <p:cNvPr id="71" name="Text 69"/>
          <p:cNvSpPr/>
          <p:nvPr/>
        </p:nvSpPr>
        <p:spPr>
          <a:xfrm>
            <a:off x="3998214" y="3284982"/>
            <a:ext cx="219456" cy="8229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35" b="1" dirty="0">
                <a:solidFill>
                  <a:srgbClr val="A39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</a:t>
            </a:r>
            <a:endParaRPr lang="en-US" sz="435" dirty="0"/>
          </a:p>
        </p:txBody>
      </p:sp>
      <p:sp>
        <p:nvSpPr>
          <p:cNvPr id="72" name="Text 70"/>
          <p:cNvSpPr/>
          <p:nvPr/>
        </p:nvSpPr>
        <p:spPr>
          <a:xfrm>
            <a:off x="4232366" y="3284982"/>
            <a:ext cx="925830" cy="8229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20" dirty="0">
                <a:solidFill>
                  <a:srgbClr val="C6C3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3월 1일 ~ 2026년 6월 10일</a:t>
            </a:r>
            <a:endParaRPr lang="en-US" sz="420" dirty="0"/>
          </a:p>
        </p:txBody>
      </p:sp>
      <p:sp>
        <p:nvSpPr>
          <p:cNvPr id="73" name="Text 71"/>
          <p:cNvSpPr/>
          <p:nvPr/>
        </p:nvSpPr>
        <p:spPr>
          <a:xfrm>
            <a:off x="5232654" y="3284982"/>
            <a:ext cx="308610" cy="8229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3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435" dirty="0"/>
          </a:p>
        </p:txBody>
      </p:sp>
      <p:sp>
        <p:nvSpPr>
          <p:cNvPr id="74" name="Shape 72"/>
          <p:cNvSpPr/>
          <p:nvPr/>
        </p:nvSpPr>
        <p:spPr>
          <a:xfrm>
            <a:off x="5519712" y="3277143"/>
            <a:ext cx="288036" cy="109728"/>
          </a:xfrm>
          <a:prstGeom prst="roundRect">
            <a:avLst>
              <a:gd name="adj" fmla="val 50000"/>
            </a:avLst>
          </a:prstGeom>
          <a:solidFill>
            <a:srgbClr val="117D69"/>
          </a:solidFill>
          <a:ln w="8890">
            <a:solidFill>
              <a:srgbClr val="117D6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19712" y="3270612"/>
            <a:ext cx="288036" cy="10972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398" b="1" dirty="0">
                <a:solidFill>
                  <a:srgbClr val="ABF7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투입중</a:t>
            </a:r>
            <a:endParaRPr lang="en-US" sz="398" dirty="0"/>
          </a:p>
        </p:txBody>
      </p:sp>
      <p:sp>
        <p:nvSpPr>
          <p:cNvPr id="76" name="Text 74"/>
          <p:cNvSpPr/>
          <p:nvPr/>
        </p:nvSpPr>
        <p:spPr>
          <a:xfrm>
            <a:off x="1687068" y="3243834"/>
            <a:ext cx="150876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 fontScale="92500" lnSpcReduction="10000"/>
          </a:bodyPr>
          <a:lstStyle/>
          <a:p>
            <a:pPr algn="ctr"/>
            <a:r>
              <a:rPr lang="en-US" sz="1125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125" dirty="0"/>
          </a:p>
        </p:txBody>
      </p:sp>
      <p:sp>
        <p:nvSpPr>
          <p:cNvPr id="77" name="Shape 75"/>
          <p:cNvSpPr/>
          <p:nvPr/>
        </p:nvSpPr>
        <p:spPr>
          <a:xfrm>
            <a:off x="5596128" y="3504438"/>
            <a:ext cx="308610" cy="185166"/>
          </a:xfrm>
          <a:prstGeom prst="roundRect">
            <a:avLst>
              <a:gd name="adj" fmla="val 18519"/>
            </a:avLst>
          </a:prstGeom>
          <a:solidFill>
            <a:srgbClr val="302F50"/>
          </a:solidFill>
          <a:ln w="8890">
            <a:solidFill>
              <a:srgbClr val="5B597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596128" y="3504438"/>
            <a:ext cx="308610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5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목록으로</a:t>
            </a:r>
            <a:endParaRPr lang="en-US" sz="525" dirty="0"/>
          </a:p>
        </p:txBody>
      </p:sp>
      <p:sp>
        <p:nvSpPr>
          <p:cNvPr id="79" name="Text 77"/>
          <p:cNvSpPr/>
          <p:nvPr/>
        </p:nvSpPr>
        <p:spPr>
          <a:xfrm>
            <a:off x="5404104" y="3511296"/>
            <a:ext cx="150876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 fontScale="92500" lnSpcReduction="10000"/>
          </a:bodyPr>
          <a:lstStyle/>
          <a:p>
            <a:pPr algn="ctr"/>
            <a:r>
              <a:rPr lang="en-US" sz="1125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125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061388"/>
              </p:ext>
            </p:extLst>
          </p:nvPr>
        </p:nvGraphicFramePr>
        <p:xfrm>
          <a:off x="6172200" y="809244"/>
          <a:ext cx="2592324" cy="1796796"/>
        </p:xfrm>
        <a:graphic>
          <a:graphicData uri="http://schemas.openxmlformats.org/drawingml/2006/table">
            <a:tbl>
              <a:tblPr/>
              <a:tblGrid>
                <a:gridCol w="672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 내용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수정/삭제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버튼 클릭 시 직원 수정 화면 이동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버튼 클릭 시 삭제 확인 처리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퇴사 상태 직원은 삭제 버튼 미노출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목록으로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직원 </a:t>
                      </a:r>
                      <a:r>
                        <a:rPr lang="en-US" sz="600" dirty="0" err="1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</a:t>
                      </a: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600" dirty="0" err="1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r>
                        <a:rPr lang="en-US" sz="600" baseline="0" dirty="0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600" baseline="0" dirty="0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투입 이력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현재/과거 프로젝트 투입 이력 조회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프로젝트명·고객사·역할·투입기간·투입률·상태 표시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탭 전환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기본정보/투입 이력/기술스택/계약정보 영역 전환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탭 하단 강조선 표시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1" name="Text 78"/>
          <p:cNvSpPr/>
          <p:nvPr/>
        </p:nvSpPr>
        <p:spPr>
          <a:xfrm>
            <a:off x="384048" y="4834890"/>
            <a:ext cx="2880360" cy="10972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25" dirty="0">
                <a:solidFill>
                  <a:srgbClr val="3641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본 문서는 화면 설계 검토용이며, 실제 구현 상태와 다를 수 있습니다.</a:t>
            </a:r>
            <a:endParaRPr lang="en-US" sz="525" dirty="0"/>
          </a:p>
        </p:txBody>
      </p:sp>
      <p:sp>
        <p:nvSpPr>
          <p:cNvPr id="82" name="Text 79"/>
          <p:cNvSpPr/>
          <p:nvPr/>
        </p:nvSpPr>
        <p:spPr>
          <a:xfrm>
            <a:off x="8380476" y="4834890"/>
            <a:ext cx="480060" cy="10972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r"/>
            <a:r>
              <a:rPr lang="en-US" sz="510" dirty="0">
                <a:solidFill>
                  <a:srgbClr val="3641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51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756893"/>
              </p:ext>
            </p:extLst>
          </p:nvPr>
        </p:nvGraphicFramePr>
        <p:xfrm>
          <a:off x="6165342" y="2708910"/>
          <a:ext cx="2592324" cy="1796796"/>
        </p:xfrm>
        <a:graphic>
          <a:graphicData uri="http://schemas.openxmlformats.org/drawingml/2006/table">
            <a:tbl>
              <a:tblPr/>
              <a:tblGrid>
                <a:gridCol w="672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b="1" dirty="0" smtClean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수정 내용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</a:t>
                      </a:r>
                      <a:r>
                        <a:rPr lang="en-US" sz="600" dirty="0" err="1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600" dirty="0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퇴사 상태일 경우 상단 삭제 버튼 숨기기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</a:t>
                      </a:r>
                      <a:r>
                        <a:rPr lang="ko-KR" altLang="en-US" sz="600" dirty="0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600" dirty="0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하단 수정 버튼 삭제 </a:t>
                      </a:r>
                      <a:r>
                        <a:rPr lang="en-US" altLang="ko-KR" sz="600" dirty="0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</a:t>
                      </a:r>
                      <a:r>
                        <a:rPr lang="ko-KR" altLang="en-US" sz="600" dirty="0" err="1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수정버튼</a:t>
                      </a:r>
                      <a:r>
                        <a:rPr lang="ko-KR" altLang="en-US" sz="600" dirty="0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중복</a:t>
                      </a:r>
                      <a:r>
                        <a:rPr lang="en-US" altLang="ko-KR" sz="600" dirty="0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투입 이력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600" dirty="0" err="1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프로젝트명</a:t>
                      </a:r>
                      <a:r>
                        <a:rPr lang="ko-KR" altLang="en-US" sz="600" dirty="0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600" dirty="0" err="1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클릭시</a:t>
                      </a:r>
                      <a:r>
                        <a:rPr lang="ko-KR" altLang="en-US" sz="600" dirty="0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해당 프로젝트 상세화면이동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160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397764"/>
          </a:xfrm>
          <a:prstGeom prst="rect">
            <a:avLst/>
          </a:prstGeom>
          <a:solidFill>
            <a:srgbClr val="13233D"/>
          </a:solidFill>
          <a:ln w="8890">
            <a:solidFill>
              <a:srgbClr val="132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1752" y="82296"/>
            <a:ext cx="1371600" cy="1920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78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Peoplify UI 기획서</a:t>
            </a:r>
            <a:endParaRPr lang="en-US" sz="788" dirty="0"/>
          </a:p>
        </p:txBody>
      </p:sp>
      <p:sp>
        <p:nvSpPr>
          <p:cNvPr id="4" name="Text 2"/>
          <p:cNvSpPr/>
          <p:nvPr/>
        </p:nvSpPr>
        <p:spPr>
          <a:xfrm>
            <a:off x="1" y="68580"/>
            <a:ext cx="9143771" cy="24688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23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수정 화면 설계</a:t>
            </a:r>
            <a:endParaRPr lang="en-US" sz="1238" dirty="0"/>
          </a:p>
        </p:txBody>
      </p:sp>
      <p:sp>
        <p:nvSpPr>
          <p:cNvPr id="5" name="Text 3"/>
          <p:cNvSpPr/>
          <p:nvPr/>
        </p:nvSpPr>
        <p:spPr>
          <a:xfrm>
            <a:off x="6768846" y="96012"/>
            <a:ext cx="1920240" cy="16459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r"/>
            <a:r>
              <a:rPr lang="en-US" sz="563" dirty="0">
                <a:solidFill>
                  <a:srgbClr val="D8E0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employee 도메인 · /employee/employee-edit/:id</a:t>
            </a:r>
            <a:endParaRPr lang="en-US" sz="563" dirty="0"/>
          </a:p>
        </p:txBody>
      </p:sp>
      <p:sp>
        <p:nvSpPr>
          <p:cNvPr id="6" name="Text 4"/>
          <p:cNvSpPr/>
          <p:nvPr/>
        </p:nvSpPr>
        <p:spPr>
          <a:xfrm>
            <a:off x="8819388" y="96012"/>
            <a:ext cx="150876" cy="16459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r"/>
            <a:r>
              <a:rPr lang="en-US" sz="63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638" dirty="0"/>
          </a:p>
        </p:txBody>
      </p:sp>
      <p:sp>
        <p:nvSpPr>
          <p:cNvPr id="7" name="Text 5"/>
          <p:cNvSpPr/>
          <p:nvPr/>
        </p:nvSpPr>
        <p:spPr>
          <a:xfrm>
            <a:off x="377190" y="576072"/>
            <a:ext cx="822960" cy="16459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825" b="1" dirty="0">
                <a:solidFill>
                  <a:srgbClr val="132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설계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240780" y="562356"/>
            <a:ext cx="1234440" cy="1920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353044" y="624078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63" b="1" dirty="0">
                <a:solidFill>
                  <a:srgbClr val="0057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검토용</a:t>
            </a:r>
            <a:endParaRPr lang="en-US" sz="563" dirty="0"/>
          </a:p>
        </p:txBody>
      </p:sp>
      <p:sp>
        <p:nvSpPr>
          <p:cNvPr id="10" name="Shape 8"/>
          <p:cNvSpPr/>
          <p:nvPr/>
        </p:nvSpPr>
        <p:spPr>
          <a:xfrm>
            <a:off x="356616" y="740664"/>
            <a:ext cx="5719572" cy="3922776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8890">
            <a:solidFill>
              <a:srgbClr val="D5DD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" y="850392"/>
            <a:ext cx="5500116" cy="3703320"/>
          </a:xfrm>
          <a:prstGeom prst="rect">
            <a:avLst/>
          </a:prstGeom>
          <a:solidFill>
            <a:srgbClr val="1E1D3A"/>
          </a:solidFill>
          <a:ln w="8890">
            <a:solidFill>
              <a:srgbClr val="1E1D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" y="850392"/>
            <a:ext cx="5500116" cy="370332"/>
          </a:xfrm>
          <a:prstGeom prst="rect">
            <a:avLst/>
          </a:prstGeom>
          <a:solidFill>
            <a:srgbClr val="302F50"/>
          </a:solidFill>
          <a:ln w="8890">
            <a:solidFill>
              <a:srgbClr val="302F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" y="850392"/>
            <a:ext cx="1062990" cy="3703320"/>
          </a:xfrm>
          <a:prstGeom prst="rect">
            <a:avLst/>
          </a:prstGeom>
          <a:solidFill>
            <a:srgbClr val="2E2D4E"/>
          </a:solidFill>
          <a:ln w="8890">
            <a:solidFill>
              <a:srgbClr val="2E2D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939546"/>
            <a:ext cx="857250" cy="10972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  인력관리 시스템</a:t>
            </a:r>
            <a:endParaRPr lang="en-US" sz="540" dirty="0"/>
          </a:p>
        </p:txBody>
      </p:sp>
      <p:sp>
        <p:nvSpPr>
          <p:cNvPr id="15" name="Text 13"/>
          <p:cNvSpPr/>
          <p:nvPr/>
        </p:nvSpPr>
        <p:spPr>
          <a:xfrm>
            <a:off x="665226" y="1056132"/>
            <a:ext cx="548640" cy="6858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360" dirty="0">
                <a:solidFill>
                  <a:srgbClr val="C9C7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Peoplify v1.0</a:t>
            </a:r>
            <a:endParaRPr lang="en-US" sz="360" dirty="0"/>
          </a:p>
        </p:txBody>
      </p:sp>
      <p:sp>
        <p:nvSpPr>
          <p:cNvPr id="16" name="Text 14"/>
          <p:cNvSpPr/>
          <p:nvPr/>
        </p:nvSpPr>
        <p:spPr>
          <a:xfrm>
            <a:off x="555498" y="1330452"/>
            <a:ext cx="514350" cy="8229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375" dirty="0">
                <a:solidFill>
                  <a:srgbClr val="B6B4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메뉴</a:t>
            </a:r>
            <a:endParaRPr lang="en-US" sz="375" dirty="0"/>
          </a:p>
        </p:txBody>
      </p:sp>
      <p:sp>
        <p:nvSpPr>
          <p:cNvPr id="17" name="Text 15"/>
          <p:cNvSpPr/>
          <p:nvPr/>
        </p:nvSpPr>
        <p:spPr>
          <a:xfrm>
            <a:off x="569214" y="1508760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▦  대시보드</a:t>
            </a:r>
            <a:endParaRPr lang="en-US" sz="450" dirty="0"/>
          </a:p>
        </p:txBody>
      </p:sp>
      <p:sp>
        <p:nvSpPr>
          <p:cNvPr id="18" name="Text 16"/>
          <p:cNvSpPr/>
          <p:nvPr/>
        </p:nvSpPr>
        <p:spPr>
          <a:xfrm>
            <a:off x="569214" y="1776222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♙  직원관리  ˅</a:t>
            </a:r>
            <a:endParaRPr lang="en-US" sz="450" dirty="0"/>
          </a:p>
        </p:txBody>
      </p:sp>
      <p:sp>
        <p:nvSpPr>
          <p:cNvPr id="19" name="Text 17"/>
          <p:cNvSpPr/>
          <p:nvPr/>
        </p:nvSpPr>
        <p:spPr>
          <a:xfrm>
            <a:off x="569214" y="2043684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▣  프로젝트   ˅</a:t>
            </a:r>
            <a:endParaRPr lang="en-US" sz="450" dirty="0"/>
          </a:p>
        </p:txBody>
      </p:sp>
      <p:sp>
        <p:nvSpPr>
          <p:cNvPr id="20" name="Text 18"/>
          <p:cNvSpPr/>
          <p:nvPr/>
        </p:nvSpPr>
        <p:spPr>
          <a:xfrm>
            <a:off x="569214" y="2311146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◴  근태관리   ˅</a:t>
            </a:r>
            <a:endParaRPr lang="en-US" sz="450" dirty="0"/>
          </a:p>
        </p:txBody>
      </p:sp>
      <p:sp>
        <p:nvSpPr>
          <p:cNvPr id="21" name="Text 19"/>
          <p:cNvSpPr/>
          <p:nvPr/>
        </p:nvSpPr>
        <p:spPr>
          <a:xfrm>
            <a:off x="569214" y="2578608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▥  리포트</a:t>
            </a:r>
            <a:endParaRPr lang="en-US" sz="450" dirty="0"/>
          </a:p>
        </p:txBody>
      </p:sp>
      <p:sp>
        <p:nvSpPr>
          <p:cNvPr id="22" name="Text 20"/>
          <p:cNvSpPr/>
          <p:nvPr/>
        </p:nvSpPr>
        <p:spPr>
          <a:xfrm>
            <a:off x="569214" y="2846070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375" dirty="0">
                <a:solidFill>
                  <a:srgbClr val="A8A6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패럴링(임시)</a:t>
            </a:r>
            <a:endParaRPr lang="en-US" sz="375" dirty="0"/>
          </a:p>
        </p:txBody>
      </p:sp>
      <p:sp>
        <p:nvSpPr>
          <p:cNvPr id="23" name="Text 21"/>
          <p:cNvSpPr/>
          <p:nvPr/>
        </p:nvSpPr>
        <p:spPr>
          <a:xfrm>
            <a:off x="569214" y="3051810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▦  대시보드</a:t>
            </a:r>
            <a:endParaRPr lang="en-US" sz="450" dirty="0"/>
          </a:p>
        </p:txBody>
      </p:sp>
      <p:sp>
        <p:nvSpPr>
          <p:cNvPr id="24" name="Text 22"/>
          <p:cNvSpPr/>
          <p:nvPr/>
        </p:nvSpPr>
        <p:spPr>
          <a:xfrm>
            <a:off x="569214" y="3319272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♙  직원관리  ˅</a:t>
            </a:r>
            <a:endParaRPr lang="en-US" sz="450" dirty="0"/>
          </a:p>
        </p:txBody>
      </p:sp>
      <p:sp>
        <p:nvSpPr>
          <p:cNvPr id="25" name="Text 23"/>
          <p:cNvSpPr/>
          <p:nvPr/>
        </p:nvSpPr>
        <p:spPr>
          <a:xfrm>
            <a:off x="569214" y="3586734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▣  프로젝트   ˅</a:t>
            </a:r>
            <a:endParaRPr lang="en-US" sz="450" dirty="0"/>
          </a:p>
        </p:txBody>
      </p:sp>
      <p:sp>
        <p:nvSpPr>
          <p:cNvPr id="26" name="Text 24"/>
          <p:cNvSpPr/>
          <p:nvPr/>
        </p:nvSpPr>
        <p:spPr>
          <a:xfrm>
            <a:off x="569214" y="3854196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◴  근태관리   ˅</a:t>
            </a:r>
            <a:endParaRPr lang="en-US" sz="450" dirty="0"/>
          </a:p>
        </p:txBody>
      </p:sp>
      <p:sp>
        <p:nvSpPr>
          <p:cNvPr id="27" name="Text 25"/>
          <p:cNvSpPr/>
          <p:nvPr/>
        </p:nvSpPr>
        <p:spPr>
          <a:xfrm>
            <a:off x="569214" y="4121658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▥  리포트</a:t>
            </a:r>
            <a:endParaRPr lang="en-US" sz="450" dirty="0"/>
          </a:p>
        </p:txBody>
      </p:sp>
      <p:sp>
        <p:nvSpPr>
          <p:cNvPr id="28" name="Text 26"/>
          <p:cNvSpPr/>
          <p:nvPr/>
        </p:nvSpPr>
        <p:spPr>
          <a:xfrm>
            <a:off x="569214" y="4389120"/>
            <a:ext cx="850392" cy="11658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b="1" dirty="0">
                <a:solidFill>
                  <a:srgbClr val="F7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↪  로그인</a:t>
            </a:r>
            <a:endParaRPr lang="en-US" sz="450" dirty="0"/>
          </a:p>
        </p:txBody>
      </p:sp>
      <p:sp>
        <p:nvSpPr>
          <p:cNvPr id="29" name="Shape 27"/>
          <p:cNvSpPr/>
          <p:nvPr/>
        </p:nvSpPr>
        <p:spPr>
          <a:xfrm>
            <a:off x="1632204" y="932688"/>
            <a:ext cx="192024" cy="205740"/>
          </a:xfrm>
          <a:prstGeom prst="roundRect">
            <a:avLst>
              <a:gd name="adj" fmla="val 14286"/>
            </a:avLst>
          </a:prstGeom>
          <a:solidFill>
            <a:srgbClr val="292848"/>
          </a:solidFill>
          <a:ln w="8890">
            <a:solidFill>
              <a:srgbClr val="3F3E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52778" y="960120"/>
            <a:ext cx="150876" cy="9601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☰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1885950" y="918972"/>
            <a:ext cx="2023110" cy="233172"/>
          </a:xfrm>
          <a:prstGeom prst="roundRect">
            <a:avLst>
              <a:gd name="adj" fmla="val 14706"/>
            </a:avLst>
          </a:prstGeom>
          <a:solidFill>
            <a:srgbClr val="39385C"/>
          </a:solidFill>
          <a:ln w="8890">
            <a:solidFill>
              <a:srgbClr val="626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54530" y="960120"/>
            <a:ext cx="1543050" cy="8915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65" dirty="0">
                <a:solidFill>
                  <a:srgbClr val="AFAE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⌕  Search or type command...</a:t>
            </a:r>
            <a:endParaRPr lang="en-US" sz="465" dirty="0"/>
          </a:p>
        </p:txBody>
      </p:sp>
      <p:sp>
        <p:nvSpPr>
          <p:cNvPr id="33" name="Shape 31"/>
          <p:cNvSpPr/>
          <p:nvPr/>
        </p:nvSpPr>
        <p:spPr>
          <a:xfrm>
            <a:off x="5232654" y="939546"/>
            <a:ext cx="377190" cy="171450"/>
          </a:xfrm>
          <a:prstGeom prst="roundRect">
            <a:avLst>
              <a:gd name="adj" fmla="val 20000"/>
            </a:avLst>
          </a:prstGeom>
          <a:solidFill>
            <a:srgbClr val="2D2C4D"/>
          </a:solidFill>
          <a:ln w="8890">
            <a:solidFill>
              <a:srgbClr val="2D2C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2654" y="939546"/>
            <a:ext cx="377190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55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↗</a:t>
            </a:r>
            <a:endParaRPr lang="en-US" sz="555" dirty="0"/>
          </a:p>
        </p:txBody>
      </p:sp>
      <p:sp>
        <p:nvSpPr>
          <p:cNvPr id="35" name="Shape 33"/>
          <p:cNvSpPr/>
          <p:nvPr/>
        </p:nvSpPr>
        <p:spPr>
          <a:xfrm>
            <a:off x="5747004" y="932688"/>
            <a:ext cx="198882" cy="198882"/>
          </a:xfrm>
          <a:prstGeom prst="ellipse">
            <a:avLst/>
          </a:prstGeom>
          <a:solidFill>
            <a:srgbClr val="7C6AF3"/>
          </a:solidFill>
          <a:ln w="8890">
            <a:solidFill>
              <a:srgbClr val="7C6A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47004" y="932688"/>
            <a:ext cx="198882" cy="19888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52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</a:t>
            </a:r>
            <a:endParaRPr lang="en-US" sz="525" dirty="0"/>
          </a:p>
        </p:txBody>
      </p:sp>
      <p:sp>
        <p:nvSpPr>
          <p:cNvPr id="37" name="Text 35"/>
          <p:cNvSpPr/>
          <p:nvPr/>
        </p:nvSpPr>
        <p:spPr>
          <a:xfrm>
            <a:off x="1892808" y="1440180"/>
            <a:ext cx="960120" cy="9601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50" dirty="0">
                <a:solidFill>
                  <a:srgbClr val="AFAE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직원관리  ›  윤지수</a:t>
            </a:r>
            <a:endParaRPr lang="en-US" sz="450" dirty="0"/>
          </a:p>
        </p:txBody>
      </p:sp>
      <p:sp>
        <p:nvSpPr>
          <p:cNvPr id="38" name="Text 36"/>
          <p:cNvSpPr/>
          <p:nvPr/>
        </p:nvSpPr>
        <p:spPr>
          <a:xfrm>
            <a:off x="1892808" y="1577340"/>
            <a:ext cx="857250" cy="17830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수정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892808" y="1817370"/>
            <a:ext cx="3963924" cy="1062990"/>
          </a:xfrm>
          <a:prstGeom prst="roundRect">
            <a:avLst>
              <a:gd name="adj" fmla="val 4516"/>
            </a:avLst>
          </a:prstGeom>
          <a:solidFill>
            <a:srgbClr val="333253"/>
          </a:solidFill>
          <a:ln w="8890">
            <a:solidFill>
              <a:srgbClr val="59577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95678" y="1899666"/>
            <a:ext cx="171450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 fontScale="92500" lnSpcReduction="20000"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167128" y="1906524"/>
            <a:ext cx="548640" cy="10972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2029968" y="2105406"/>
            <a:ext cx="377190" cy="8915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*</a:t>
            </a:r>
            <a:endParaRPr lang="en-US" sz="480" dirty="0"/>
          </a:p>
        </p:txBody>
      </p:sp>
      <p:sp>
        <p:nvSpPr>
          <p:cNvPr id="43" name="Text 41"/>
          <p:cNvSpPr/>
          <p:nvPr/>
        </p:nvSpPr>
        <p:spPr>
          <a:xfrm>
            <a:off x="3915918" y="2105406"/>
            <a:ext cx="377190" cy="8915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*</a:t>
            </a:r>
            <a:endParaRPr lang="en-US" sz="480" dirty="0"/>
          </a:p>
        </p:txBody>
      </p:sp>
      <p:sp>
        <p:nvSpPr>
          <p:cNvPr id="44" name="Shape 42"/>
          <p:cNvSpPr/>
          <p:nvPr/>
        </p:nvSpPr>
        <p:spPr>
          <a:xfrm>
            <a:off x="2029968" y="2215134"/>
            <a:ext cx="1769364" cy="185166"/>
          </a:xfrm>
          <a:prstGeom prst="roundRect">
            <a:avLst>
              <a:gd name="adj" fmla="val 14815"/>
            </a:avLst>
          </a:prstGeom>
          <a:solidFill>
            <a:srgbClr val="3A395D"/>
          </a:solidFill>
          <a:ln w="8890">
            <a:solidFill>
              <a:srgbClr val="615F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77974" y="2215134"/>
            <a:ext cx="1673352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4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윤지수</a:t>
            </a:r>
            <a:endParaRPr lang="en-US" sz="540" dirty="0"/>
          </a:p>
        </p:txBody>
      </p:sp>
      <p:sp>
        <p:nvSpPr>
          <p:cNvPr id="46" name="Shape 44"/>
          <p:cNvSpPr/>
          <p:nvPr/>
        </p:nvSpPr>
        <p:spPr>
          <a:xfrm>
            <a:off x="3915918" y="2215134"/>
            <a:ext cx="1769364" cy="185166"/>
          </a:xfrm>
          <a:prstGeom prst="roundRect">
            <a:avLst>
              <a:gd name="adj" fmla="val 14815"/>
            </a:avLst>
          </a:prstGeom>
          <a:solidFill>
            <a:srgbClr val="3A395D"/>
          </a:solidFill>
          <a:ln w="8890">
            <a:solidFill>
              <a:srgbClr val="615F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63924" y="2215134"/>
            <a:ext cx="1673352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4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jisu.yoon@peoplify.com</a:t>
            </a:r>
            <a:endParaRPr lang="en-US" sz="540" dirty="0"/>
          </a:p>
        </p:txBody>
      </p:sp>
      <p:sp>
        <p:nvSpPr>
          <p:cNvPr id="48" name="Text 46"/>
          <p:cNvSpPr/>
          <p:nvPr/>
        </p:nvSpPr>
        <p:spPr>
          <a:xfrm>
            <a:off x="2029968" y="2462022"/>
            <a:ext cx="411480" cy="8915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*</a:t>
            </a:r>
            <a:endParaRPr lang="en-US" sz="480" dirty="0"/>
          </a:p>
        </p:txBody>
      </p:sp>
      <p:sp>
        <p:nvSpPr>
          <p:cNvPr id="49" name="Text 47"/>
          <p:cNvSpPr/>
          <p:nvPr/>
        </p:nvSpPr>
        <p:spPr>
          <a:xfrm>
            <a:off x="3915918" y="2462022"/>
            <a:ext cx="411480" cy="8915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입사일 *</a:t>
            </a:r>
            <a:endParaRPr lang="en-US" sz="480" dirty="0"/>
          </a:p>
        </p:txBody>
      </p:sp>
      <p:sp>
        <p:nvSpPr>
          <p:cNvPr id="50" name="Shape 48"/>
          <p:cNvSpPr/>
          <p:nvPr/>
        </p:nvSpPr>
        <p:spPr>
          <a:xfrm>
            <a:off x="2029968" y="2571750"/>
            <a:ext cx="1769364" cy="185166"/>
          </a:xfrm>
          <a:prstGeom prst="roundRect">
            <a:avLst>
              <a:gd name="adj" fmla="val 14815"/>
            </a:avLst>
          </a:prstGeom>
          <a:solidFill>
            <a:srgbClr val="3A395D"/>
          </a:solidFill>
          <a:ln w="8890">
            <a:solidFill>
              <a:srgbClr val="615F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77974" y="2571750"/>
            <a:ext cx="1673352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4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010-1001-0005</a:t>
            </a:r>
            <a:endParaRPr lang="en-US" sz="540" dirty="0"/>
          </a:p>
        </p:txBody>
      </p:sp>
      <p:sp>
        <p:nvSpPr>
          <p:cNvPr id="52" name="Shape 50"/>
          <p:cNvSpPr/>
          <p:nvPr/>
        </p:nvSpPr>
        <p:spPr>
          <a:xfrm>
            <a:off x="3915918" y="2571750"/>
            <a:ext cx="1769364" cy="185166"/>
          </a:xfrm>
          <a:prstGeom prst="roundRect">
            <a:avLst>
              <a:gd name="adj" fmla="val 14815"/>
            </a:avLst>
          </a:prstGeom>
          <a:solidFill>
            <a:srgbClr val="3A395D"/>
          </a:solidFill>
          <a:ln w="8890">
            <a:solidFill>
              <a:srgbClr val="615F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63924" y="2571750"/>
            <a:ext cx="1673352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4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2018-08-31</a:t>
            </a:r>
            <a:endParaRPr lang="en-US" sz="540" dirty="0"/>
          </a:p>
        </p:txBody>
      </p:sp>
      <p:sp>
        <p:nvSpPr>
          <p:cNvPr id="54" name="Shape 52"/>
          <p:cNvSpPr/>
          <p:nvPr/>
        </p:nvSpPr>
        <p:spPr>
          <a:xfrm>
            <a:off x="1892808" y="2914650"/>
            <a:ext cx="3963924" cy="562356"/>
          </a:xfrm>
          <a:prstGeom prst="roundRect">
            <a:avLst>
              <a:gd name="adj" fmla="val 8537"/>
            </a:avLst>
          </a:prstGeom>
          <a:solidFill>
            <a:srgbClr val="333253"/>
          </a:solidFill>
          <a:ln w="8890">
            <a:solidFill>
              <a:srgbClr val="59577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95678" y="2983230"/>
            <a:ext cx="171450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 fontScale="92500" lnSpcReduction="20000"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167128" y="2990088"/>
            <a:ext cx="582930" cy="10972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재직 상태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2029968" y="3188970"/>
            <a:ext cx="548640" cy="8915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재직 상태 *</a:t>
            </a:r>
            <a:endParaRPr lang="en-US" sz="480" dirty="0"/>
          </a:p>
        </p:txBody>
      </p:sp>
      <p:sp>
        <p:nvSpPr>
          <p:cNvPr id="58" name="Shape 56"/>
          <p:cNvSpPr/>
          <p:nvPr/>
        </p:nvSpPr>
        <p:spPr>
          <a:xfrm>
            <a:off x="2029968" y="3291840"/>
            <a:ext cx="1769364" cy="171450"/>
          </a:xfrm>
          <a:prstGeom prst="roundRect">
            <a:avLst>
              <a:gd name="adj" fmla="val 16000"/>
            </a:avLst>
          </a:prstGeom>
          <a:solidFill>
            <a:srgbClr val="3A395D"/>
          </a:solidFill>
          <a:ln w="8890">
            <a:solidFill>
              <a:srgbClr val="615F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77974" y="3291840"/>
            <a:ext cx="1673352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4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재직                                      ⌄</a:t>
            </a:r>
            <a:endParaRPr lang="en-US" sz="540" dirty="0"/>
          </a:p>
        </p:txBody>
      </p:sp>
      <p:sp>
        <p:nvSpPr>
          <p:cNvPr id="60" name="Shape 58"/>
          <p:cNvSpPr/>
          <p:nvPr/>
        </p:nvSpPr>
        <p:spPr>
          <a:xfrm>
            <a:off x="1892808" y="3518154"/>
            <a:ext cx="3963924" cy="822960"/>
          </a:xfrm>
          <a:prstGeom prst="roundRect">
            <a:avLst>
              <a:gd name="adj" fmla="val 5833"/>
            </a:avLst>
          </a:prstGeom>
          <a:solidFill>
            <a:srgbClr val="333253"/>
          </a:solidFill>
          <a:ln w="8890">
            <a:solidFill>
              <a:srgbClr val="59577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95678" y="3586734"/>
            <a:ext cx="171450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 fontScale="92500" lnSpcReduction="20000"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167128" y="3593592"/>
            <a:ext cx="514350" cy="10972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기술스택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2029968" y="3785616"/>
            <a:ext cx="3689604" cy="274320"/>
          </a:xfrm>
          <a:prstGeom prst="roundRect">
            <a:avLst>
              <a:gd name="adj" fmla="val 12500"/>
            </a:avLst>
          </a:prstGeom>
          <a:solidFill>
            <a:srgbClr val="333253"/>
          </a:solidFill>
          <a:ln w="8890">
            <a:solidFill>
              <a:srgbClr val="4F4D7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32838" y="3854196"/>
            <a:ext cx="342900" cy="137160"/>
          </a:xfrm>
          <a:prstGeom prst="roundRect">
            <a:avLst>
              <a:gd name="adj" fmla="val 40000"/>
            </a:avLst>
          </a:prstGeom>
          <a:solidFill>
            <a:srgbClr val="37365A"/>
          </a:solidFill>
          <a:ln w="8890">
            <a:solidFill>
              <a:srgbClr val="56548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32838" y="3854196"/>
            <a:ext cx="342900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435" dirty="0">
                <a:solidFill>
                  <a:srgbClr val="EF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PMP  ×</a:t>
            </a:r>
            <a:endParaRPr lang="en-US" sz="435" dirty="0"/>
          </a:p>
        </p:txBody>
      </p:sp>
      <p:sp>
        <p:nvSpPr>
          <p:cNvPr id="66" name="Shape 64"/>
          <p:cNvSpPr/>
          <p:nvPr/>
        </p:nvSpPr>
        <p:spPr>
          <a:xfrm>
            <a:off x="2633472" y="3854196"/>
            <a:ext cx="397764" cy="137160"/>
          </a:xfrm>
          <a:prstGeom prst="roundRect">
            <a:avLst>
              <a:gd name="adj" fmla="val 40000"/>
            </a:avLst>
          </a:prstGeom>
          <a:solidFill>
            <a:srgbClr val="37365A"/>
          </a:solidFill>
          <a:ln w="8890">
            <a:solidFill>
              <a:srgbClr val="56548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33472" y="3854196"/>
            <a:ext cx="397764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435" dirty="0">
                <a:solidFill>
                  <a:srgbClr val="EF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Jira  ×</a:t>
            </a:r>
            <a:endParaRPr lang="en-US" sz="435" dirty="0"/>
          </a:p>
        </p:txBody>
      </p:sp>
      <p:sp>
        <p:nvSpPr>
          <p:cNvPr id="68" name="Shape 66"/>
          <p:cNvSpPr/>
          <p:nvPr/>
        </p:nvSpPr>
        <p:spPr>
          <a:xfrm>
            <a:off x="3140964" y="3854196"/>
            <a:ext cx="589788" cy="137160"/>
          </a:xfrm>
          <a:prstGeom prst="roundRect">
            <a:avLst>
              <a:gd name="adj" fmla="val 40000"/>
            </a:avLst>
          </a:prstGeom>
          <a:solidFill>
            <a:srgbClr val="37365A"/>
          </a:solidFill>
          <a:ln w="8890">
            <a:solidFill>
              <a:srgbClr val="5654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40964" y="3854196"/>
            <a:ext cx="589788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435" dirty="0">
                <a:solidFill>
                  <a:srgbClr val="EF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Confluence  ×</a:t>
            </a:r>
            <a:endParaRPr lang="en-US" sz="435" dirty="0"/>
          </a:p>
        </p:txBody>
      </p:sp>
      <p:sp>
        <p:nvSpPr>
          <p:cNvPr id="70" name="Shape 68"/>
          <p:cNvSpPr/>
          <p:nvPr/>
        </p:nvSpPr>
        <p:spPr>
          <a:xfrm>
            <a:off x="2029968" y="4135374"/>
            <a:ext cx="3463290" cy="192024"/>
          </a:xfrm>
          <a:prstGeom prst="roundRect">
            <a:avLst>
              <a:gd name="adj" fmla="val 14286"/>
            </a:avLst>
          </a:prstGeom>
          <a:solidFill>
            <a:srgbClr val="3A395D"/>
          </a:solidFill>
          <a:ln w="8890">
            <a:solidFill>
              <a:srgbClr val="615F8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077974" y="4135374"/>
            <a:ext cx="3367278" cy="1920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4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기술스택 직접 입력...</a:t>
            </a:r>
            <a:endParaRPr lang="en-US" sz="540" dirty="0"/>
          </a:p>
        </p:txBody>
      </p:sp>
      <p:sp>
        <p:nvSpPr>
          <p:cNvPr id="72" name="Shape 70"/>
          <p:cNvSpPr/>
          <p:nvPr/>
        </p:nvSpPr>
        <p:spPr>
          <a:xfrm>
            <a:off x="5548122" y="4135374"/>
            <a:ext cx="171450" cy="192024"/>
          </a:xfrm>
          <a:prstGeom prst="roundRect">
            <a:avLst>
              <a:gd name="adj" fmla="val 16000"/>
            </a:avLst>
          </a:prstGeom>
          <a:solidFill>
            <a:srgbClr val="3A395D"/>
          </a:solidFill>
          <a:ln w="8890">
            <a:solidFill>
              <a:srgbClr val="615F8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48122" y="4142232"/>
            <a:ext cx="171450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</a:t>
            </a:r>
            <a:endParaRPr lang="en-US" sz="675" dirty="0"/>
          </a:p>
        </p:txBody>
      </p:sp>
      <p:sp>
        <p:nvSpPr>
          <p:cNvPr id="74" name="Shape 72"/>
          <p:cNvSpPr/>
          <p:nvPr/>
        </p:nvSpPr>
        <p:spPr>
          <a:xfrm>
            <a:off x="5218938" y="4299966"/>
            <a:ext cx="288036" cy="185166"/>
          </a:xfrm>
          <a:prstGeom prst="roundRect">
            <a:avLst>
              <a:gd name="adj" fmla="val 18519"/>
            </a:avLst>
          </a:prstGeom>
          <a:solidFill>
            <a:srgbClr val="302F50"/>
          </a:solidFill>
          <a:ln w="8890">
            <a:solidFill>
              <a:srgbClr val="302F5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218938" y="4299966"/>
            <a:ext cx="288036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55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555" dirty="0"/>
          </a:p>
        </p:txBody>
      </p:sp>
      <p:sp>
        <p:nvSpPr>
          <p:cNvPr id="76" name="Shape 74"/>
          <p:cNvSpPr/>
          <p:nvPr/>
        </p:nvSpPr>
        <p:spPr>
          <a:xfrm>
            <a:off x="5575554" y="4299966"/>
            <a:ext cx="288036" cy="185166"/>
          </a:xfrm>
          <a:prstGeom prst="roundRect">
            <a:avLst>
              <a:gd name="adj" fmla="val 18519"/>
            </a:avLst>
          </a:prstGeom>
          <a:solidFill>
            <a:srgbClr val="5E50D5"/>
          </a:solidFill>
          <a:ln w="8890">
            <a:solidFill>
              <a:srgbClr val="5E50D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575554" y="4299966"/>
            <a:ext cx="288036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55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555" dirty="0"/>
          </a:p>
        </p:txBody>
      </p:sp>
      <p:sp>
        <p:nvSpPr>
          <p:cNvPr id="78" name="Text 76"/>
          <p:cNvSpPr/>
          <p:nvPr/>
        </p:nvSpPr>
        <p:spPr>
          <a:xfrm>
            <a:off x="5445252" y="4162806"/>
            <a:ext cx="171450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 fontScale="92500" lnSpcReduction="20000"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2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/>
          </p:nvPr>
        </p:nvGraphicFramePr>
        <p:xfrm>
          <a:off x="6172200" y="809244"/>
          <a:ext cx="2592324" cy="1421892"/>
        </p:xfrm>
        <a:graphic>
          <a:graphicData uri="http://schemas.openxmlformats.org/drawingml/2006/table">
            <a:tbl>
              <a:tblPr/>
              <a:tblGrid>
                <a:gridCol w="672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 내용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3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기본 정보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이름/이메일/연락처/입사일/부서/직급 입력 및 수정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3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재직 상태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재직/휴직/퇴사 등 상태값 수정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퇴사 상태 선택 시 저장 전 확인 필요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3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기술스택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기술 태그 표시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입력 후 + 버튼 또는 Enter로 태그 추가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3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저장/취소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취소: 직원 상세 화면으로 복귀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저장: 수정 데이터 반영 후 상세 화면 이동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0" name="Text 77"/>
          <p:cNvSpPr/>
          <p:nvPr/>
        </p:nvSpPr>
        <p:spPr>
          <a:xfrm>
            <a:off x="384048" y="4834890"/>
            <a:ext cx="2880360" cy="10972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25" dirty="0">
                <a:solidFill>
                  <a:srgbClr val="3641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본 문서는 화면 설계 검토용이며, 실제 구현 상태와 다를 수 있습니다.</a:t>
            </a:r>
            <a:endParaRPr lang="en-US" sz="525" dirty="0"/>
          </a:p>
        </p:txBody>
      </p:sp>
      <p:sp>
        <p:nvSpPr>
          <p:cNvPr id="81" name="Text 78"/>
          <p:cNvSpPr/>
          <p:nvPr/>
        </p:nvSpPr>
        <p:spPr>
          <a:xfrm>
            <a:off x="8380476" y="4834890"/>
            <a:ext cx="480060" cy="10972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r"/>
            <a:r>
              <a:rPr lang="en-US" sz="510" dirty="0">
                <a:solidFill>
                  <a:srgbClr val="3641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51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355687"/>
              </p:ext>
            </p:extLst>
          </p:nvPr>
        </p:nvGraphicFramePr>
        <p:xfrm>
          <a:off x="6165342" y="2658781"/>
          <a:ext cx="2592324" cy="841248"/>
        </p:xfrm>
        <a:graphic>
          <a:graphicData uri="http://schemas.openxmlformats.org/drawingml/2006/table">
            <a:tbl>
              <a:tblPr/>
              <a:tblGrid>
                <a:gridCol w="672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b="1" dirty="0" smtClean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수정</a:t>
                      </a:r>
                      <a:r>
                        <a:rPr lang="en-US" altLang="ko-KR" sz="600" b="1" dirty="0" smtClean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/</a:t>
                      </a:r>
                      <a:r>
                        <a:rPr lang="ko-KR" altLang="en-US" sz="600" b="1" dirty="0" smtClean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추가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3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</a:t>
                      </a: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정보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600" dirty="0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입사일 </a:t>
                      </a:r>
                      <a:r>
                        <a:rPr lang="en-US" altLang="ko-KR" sz="600" dirty="0" err="1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datepiker</a:t>
                      </a:r>
                      <a:r>
                        <a:rPr lang="en-US" altLang="ko-KR" sz="600" dirty="0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600" dirty="0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3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600" dirty="0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 </a:t>
                      </a:r>
                      <a:r>
                        <a:rPr lang="en-US" sz="600" dirty="0" err="1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/예외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필수값 미입력 시 해당 입력값 붉은 테두리 표시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입력창 하단에 안내 문구 노출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8006" marR="48006" marT="48006" marB="48006">
                    <a:lnL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4" name="Text 38"/>
          <p:cNvSpPr/>
          <p:nvPr/>
        </p:nvSpPr>
        <p:spPr>
          <a:xfrm>
            <a:off x="3753612" y="2431161"/>
            <a:ext cx="171450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 fontScale="92500" lnSpcReduction="20000"/>
          </a:bodyPr>
          <a:lstStyle/>
          <a:p>
            <a:pPr algn="ctr"/>
            <a:r>
              <a:rPr lang="en-US" sz="1200" b="1" dirty="0" smtClean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1200" dirty="0"/>
          </a:p>
        </p:txBody>
      </p:sp>
      <p:pic>
        <p:nvPicPr>
          <p:cNvPr id="85" name="그림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570927"/>
            <a:ext cx="1928081" cy="70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4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도메인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상세 (투입 이력 탭 추가)  ·  /employees/:id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87968" y="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1417320" cy="479602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4173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0" y="347472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Peoplify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" y="100584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0" y="1563624"/>
            <a:ext cx="14173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0" y="1563624"/>
            <a:ext cx="36576" cy="5120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" y="1609344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직원관리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" y="221284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" y="2816352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근태관리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" y="3419856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17320" y="347472"/>
            <a:ext cx="7726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572768" y="448056"/>
            <a:ext cx="2926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609344" y="448056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검색...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관리자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833104" y="448056"/>
            <a:ext cx="237744" cy="23774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833104" y="448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417320" y="786384"/>
            <a:ext cx="7726680" cy="435711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572768" y="87782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직원 목록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72768" y="10607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직원 상세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863840" y="1060704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863840" y="10607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49056" y="1060704"/>
            <a:ext cx="530352" cy="2560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449056" y="1060704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삭제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572768" y="1426464"/>
            <a:ext cx="2331720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2286000" y="1591056"/>
            <a:ext cx="914400" cy="9144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286000" y="15910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김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664208" y="259689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김민준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664208" y="2852928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개발팀 · 과장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459736" y="3090672"/>
            <a:ext cx="566928" cy="1828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2459736" y="309067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재직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682496" y="3364992"/>
            <a:ext cx="2103120" cy="0"/>
          </a:xfrm>
          <a:prstGeom prst="line">
            <a:avLst/>
          </a:prstGeom>
          <a:noFill/>
          <a:ln w="635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1682496" y="3456432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350008" y="345643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kim.mj@...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682496" y="374904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연락처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350008" y="37490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010-1234-5678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682496" y="4041648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입사일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350008" y="40416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2021.03.15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682496" y="4334256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현투입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350008" y="433425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A금융 차세대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682496" y="4626864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투입률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350008" y="46268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041648" y="1426464"/>
            <a:ext cx="4983480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4041648" y="1426464"/>
            <a:ext cx="1243584" cy="29260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041648" y="1426464"/>
            <a:ext cx="1243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기본정보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85232" y="1426464"/>
            <a:ext cx="12435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5285232" y="1426464"/>
            <a:ext cx="1243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 이력 ★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85232" y="1700784"/>
            <a:ext cx="1243584" cy="27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6528816" y="1426464"/>
            <a:ext cx="1243584" cy="29260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6528816" y="1426464"/>
            <a:ext cx="1243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기술스택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72400" y="1426464"/>
            <a:ext cx="1243584" cy="29260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7772400" y="1426464"/>
            <a:ext cx="1243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계약정보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151376" y="181051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투입 이력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114800" y="2066544"/>
            <a:ext cx="1408176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4151376" y="206654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486400" y="2066544"/>
            <a:ext cx="859536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5522976" y="206654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309360" y="2066544"/>
            <a:ext cx="539496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6345936" y="2066544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812280" y="2066544"/>
            <a:ext cx="1298448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6848856" y="2066544"/>
            <a:ext cx="1261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투입기간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8074152" y="2066544"/>
            <a:ext cx="493776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8110728" y="206654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투입률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8531352" y="2066544"/>
            <a:ext cx="512064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8567928" y="206654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041648" y="2322576"/>
            <a:ext cx="498348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4151376" y="23225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A금융 차세대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522976" y="232257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A금융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345936" y="232257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848856" y="2322576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25.03~26.09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110728" y="232257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8567928" y="2404872"/>
            <a:ext cx="566928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8567928" y="240487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투입중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151376" y="26700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C제조 MES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522976" y="267004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C제조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345936" y="26700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848856" y="267004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24.01~24.12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110728" y="26700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8567928" y="2752344"/>
            <a:ext cx="566928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/>
          <p:nvPr/>
        </p:nvSpPr>
        <p:spPr>
          <a:xfrm>
            <a:off x="8567928" y="27523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041648" y="3017520"/>
            <a:ext cx="498348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/>
          <p:nvPr/>
        </p:nvSpPr>
        <p:spPr>
          <a:xfrm>
            <a:off x="4151376" y="30175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B공공 ERP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522976" y="30175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B공공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6345936" y="30175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848856" y="301752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23.03~23.12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8110728" y="301752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8567928" y="3099816"/>
            <a:ext cx="566928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Text 90"/>
          <p:cNvSpPr/>
          <p:nvPr/>
        </p:nvSpPr>
        <p:spPr>
          <a:xfrm>
            <a:off x="8567928" y="309981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4151376" y="3364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D유통 물류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5522976" y="336499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D유통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6345936" y="33649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6848856" y="336499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22.01~22.12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8110728" y="33649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8567928" y="3447288"/>
            <a:ext cx="566928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Text 97"/>
          <p:cNvSpPr/>
          <p:nvPr/>
        </p:nvSpPr>
        <p:spPr>
          <a:xfrm>
            <a:off x="8567928" y="344728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4041648" y="3712464"/>
            <a:ext cx="498348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Text 99"/>
          <p:cNvSpPr/>
          <p:nvPr/>
        </p:nvSpPr>
        <p:spPr>
          <a:xfrm>
            <a:off x="4151376" y="37124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E통신 CRM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5522976" y="371246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E통신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6345936" y="371246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6848856" y="3712464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21.03~22.12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8110728" y="371246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8567928" y="3794760"/>
            <a:ext cx="566928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Text 105"/>
          <p:cNvSpPr/>
          <p:nvPr/>
        </p:nvSpPr>
        <p:spPr>
          <a:xfrm>
            <a:off x="8567928" y="379476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90748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레이아웃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Layout  ·  모든 화면 공통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87968" y="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1417320" cy="479602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4173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0" y="347472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Peoplify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" y="100584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" y="1609344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직원관리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2167128"/>
            <a:ext cx="14173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0" y="2167128"/>
            <a:ext cx="36576" cy="5120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4864" y="221284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" y="2816352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근태관리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" y="3419856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17320" y="347472"/>
            <a:ext cx="7726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572768" y="448056"/>
            <a:ext cx="2926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609344" y="448056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검색...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관리자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833104" y="448056"/>
            <a:ext cx="237744" cy="23774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833104" y="448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417320" y="786384"/>
            <a:ext cx="7726680" cy="435711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2194560" y="960120"/>
            <a:ext cx="5212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2331720" y="107899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사이드바 메뉴 구성 (변경)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31720" y="1389888"/>
            <a:ext cx="493776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DEE2E8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423160" y="13898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49040" y="13898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 중심 KPI·프로젝트 현황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31720" y="1792224"/>
            <a:ext cx="493776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DEE2E8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2423160" y="179222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직원관리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49040" y="17922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목록·상세·등록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31720" y="2194560"/>
            <a:ext cx="493776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2423160" y="21945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49040" y="21945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목록·등록·상세·인력 배정·투입 현황 (신규)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23760" y="2267712"/>
            <a:ext cx="457200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223760" y="226771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331720" y="2596896"/>
            <a:ext cx="493776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DEE2E8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2423160" y="259689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근태관리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49040" y="25968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근무 보고·휴가 관리 (간소화)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31720" y="2999232"/>
            <a:ext cx="493776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DEE2E8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2423160" y="29992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749040" y="29992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투입률·인력 분석 통계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331720" y="3456432"/>
            <a:ext cx="4937760" cy="0"/>
          </a:xfrm>
          <a:prstGeom prst="line">
            <a:avLst/>
          </a:prstGeom>
          <a:noFill/>
          <a:ln w="635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2331720" y="3529584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헤더: 전역 검색 · 알림 · 사용자 아바타  ③ 콘텐츠 영역: 패딩 20px · 카드 그룹핑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194560" y="3950208"/>
            <a:ext cx="521208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2304288" y="395020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Login 화면은 사이드바/헤더 없이 단독 레이아웃  |  근무일정(교대 배정) 메뉴 삭제됨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도메인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목록  ·  /projects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87968" y="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1417320" cy="479602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4173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0" y="347472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Peoplify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" y="100584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" y="1609344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직원관리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2167128"/>
            <a:ext cx="14173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0" y="2167128"/>
            <a:ext cx="36576" cy="5120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4864" y="221284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" y="2816352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근태관리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" y="3419856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17320" y="347472"/>
            <a:ext cx="7726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572768" y="448056"/>
            <a:ext cx="2926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609344" y="448056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검색...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관리자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833104" y="448056"/>
            <a:ext cx="237744" cy="23774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833104" y="448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417320" y="786384"/>
            <a:ext cx="7726680" cy="435711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572768" y="8778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프로젝트 관리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66176" y="877824"/>
            <a:ext cx="713232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266176" y="87782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프로젝트 등록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572768" y="1207008"/>
            <a:ext cx="129844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572768" y="120700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(5)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572768" y="1444752"/>
            <a:ext cx="1298448" cy="27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926080" y="1207008"/>
            <a:ext cx="1298448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926080" y="120700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중 (3)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279392" y="1207008"/>
            <a:ext cx="1298448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279392" y="120700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(1)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32704" y="1207008"/>
            <a:ext cx="1298448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632704" y="120700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 (1)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572768" y="1517904"/>
            <a:ext cx="7406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1682496" y="1627632"/>
            <a:ext cx="20116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1737360" y="162763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프로젝트명·고객사 검색...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822192" y="1627632"/>
            <a:ext cx="10058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3877056" y="162763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기술스택 ▾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37760" y="1627632"/>
            <a:ext cx="9144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4992624" y="162763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▾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572768" y="2048256"/>
            <a:ext cx="7406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1700784" y="212140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A금융 차세대 코어뱅킹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700784" y="235915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A금융그룹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151376" y="212140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2025.03 ~ 2026.12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88736" y="212140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 7명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75120" y="21214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투입률 100%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151376" y="23042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Java/Spring/Oracle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680960" y="2231136"/>
            <a:ext cx="566928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7680960" y="223113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321040" y="2212848"/>
            <a:ext cx="5486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8321040" y="221284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572768" y="2688336"/>
            <a:ext cx="7406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1700784" y="276148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B공공기관 ERP 구축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700784" y="29992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B공공기관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151376" y="276148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2025.06 ~ 2026.06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888736" y="276148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 5명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675120" y="276148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투입률 100%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151376" y="294436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SAP/ABAP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680960" y="2871216"/>
            <a:ext cx="566928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7680960" y="287121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321040" y="2852928"/>
            <a:ext cx="5486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8321040" y="285292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572768" y="3328416"/>
            <a:ext cx="7406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1700784" y="340156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C제조 MES 고도화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700784" y="363931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C제조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51376" y="340156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2024.12 ~ 2026.03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888736" y="340156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 8명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675120" y="340156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투입률 100%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51376" y="358444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Java/React/MySQL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680960" y="3511296"/>
            <a:ext cx="566928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7680960" y="351129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321040" y="3493008"/>
            <a:ext cx="5486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8321040" y="349300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1572768" y="3968496"/>
            <a:ext cx="7406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6" name="Text 74"/>
          <p:cNvSpPr/>
          <p:nvPr/>
        </p:nvSpPr>
        <p:spPr>
          <a:xfrm>
            <a:off x="1700784" y="4041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D유통 물류 시스템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700784" y="427939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D유통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151376" y="404164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2026.08 ~ 2027.06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888736" y="404164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 0명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675120" y="404164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투입률 —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151376" y="422452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MSA/K8s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680960" y="4151376"/>
            <a:ext cx="566928" cy="1828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Text 81"/>
          <p:cNvSpPr/>
          <p:nvPr/>
        </p:nvSpPr>
        <p:spPr>
          <a:xfrm>
            <a:off x="7680960" y="415137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8321040" y="4133088"/>
            <a:ext cx="5486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Text 83"/>
          <p:cNvSpPr/>
          <p:nvPr/>
        </p:nvSpPr>
        <p:spPr>
          <a:xfrm>
            <a:off x="8321040" y="413308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572768" y="4608576"/>
            <a:ext cx="7406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7" name="Text 85"/>
          <p:cNvSpPr/>
          <p:nvPr/>
        </p:nvSpPr>
        <p:spPr>
          <a:xfrm>
            <a:off x="1700784" y="46817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E통신 CRM 재구축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1700784" y="491947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E통신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4151376" y="468172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2024.01 ~ 2025.12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888736" y="468172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 6명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6675120" y="468172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투입률 100%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4151376" y="486460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Python/Django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7680960" y="4791456"/>
            <a:ext cx="566928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Text 92"/>
          <p:cNvSpPr/>
          <p:nvPr/>
        </p:nvSpPr>
        <p:spPr>
          <a:xfrm>
            <a:off x="7680960" y="479145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8321040" y="4773168"/>
            <a:ext cx="5486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Text 94"/>
          <p:cNvSpPr/>
          <p:nvPr/>
        </p:nvSpPr>
        <p:spPr>
          <a:xfrm>
            <a:off x="8321040" y="477316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61722"/>
            <a:ext cx="8867394" cy="397764"/>
          </a:xfrm>
          <a:prstGeom prst="rect">
            <a:avLst/>
          </a:prstGeom>
          <a:solidFill>
            <a:srgbClr val="0F213A"/>
          </a:solidFill>
          <a:ln w="12700">
            <a:solidFill>
              <a:srgbClr val="0F2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5196" y="164592"/>
            <a:ext cx="1028700" cy="12344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8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Peoplify UI 기획서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051810" y="123444"/>
            <a:ext cx="3051810" cy="19202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목록 화면 설계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981444" y="164592"/>
            <a:ext cx="1508760" cy="9601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r"/>
            <a:r>
              <a:rPr lang="en-US" sz="54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project 도메인 · /project/project-list</a:t>
            </a:r>
            <a:endParaRPr lang="en-US" sz="540" dirty="0"/>
          </a:p>
        </p:txBody>
      </p:sp>
      <p:sp>
        <p:nvSpPr>
          <p:cNvPr id="6" name="Text 4"/>
          <p:cNvSpPr/>
          <p:nvPr/>
        </p:nvSpPr>
        <p:spPr>
          <a:xfrm>
            <a:off x="8586216" y="164592"/>
            <a:ext cx="171450" cy="9601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r"/>
            <a:r>
              <a:rPr lang="en-US" sz="61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615" dirty="0"/>
          </a:p>
        </p:txBody>
      </p:sp>
      <p:sp>
        <p:nvSpPr>
          <p:cNvPr id="7" name="Text 5"/>
          <p:cNvSpPr/>
          <p:nvPr/>
        </p:nvSpPr>
        <p:spPr>
          <a:xfrm>
            <a:off x="493776" y="665226"/>
            <a:ext cx="822960" cy="15087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975" b="1" dirty="0">
                <a:solidFill>
                  <a:srgbClr val="0F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설계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356616" y="884682"/>
            <a:ext cx="5143500" cy="339471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8890">
            <a:solidFill>
              <a:srgbClr val="D1D9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5770" y="1014984"/>
            <a:ext cx="4937760" cy="3188970"/>
          </a:xfrm>
          <a:prstGeom prst="rect">
            <a:avLst/>
          </a:prstGeom>
          <a:solidFill>
            <a:srgbClr val="1F1D3A"/>
          </a:solidFill>
          <a:ln w="12700">
            <a:solidFill>
              <a:srgbClr val="1F1D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770" y="1014984"/>
            <a:ext cx="973836" cy="3188970"/>
          </a:xfrm>
          <a:prstGeom prst="rect">
            <a:avLst/>
          </a:prstGeom>
          <a:solidFill>
            <a:srgbClr val="302E4D"/>
          </a:solidFill>
          <a:ln w="12700">
            <a:solidFill>
              <a:srgbClr val="302E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9606" y="1014984"/>
            <a:ext cx="3963924" cy="377190"/>
          </a:xfrm>
          <a:prstGeom prst="rect">
            <a:avLst/>
          </a:prstGeom>
          <a:solidFill>
            <a:srgbClr val="33314F"/>
          </a:solidFill>
          <a:ln w="12700">
            <a:solidFill>
              <a:srgbClr val="333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066" y="1110996"/>
            <a:ext cx="754380" cy="9601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51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⚙  인력관리 시스템</a:t>
            </a:r>
            <a:endParaRPr lang="en-US" sz="510" dirty="0"/>
          </a:p>
        </p:txBody>
      </p:sp>
      <p:sp>
        <p:nvSpPr>
          <p:cNvPr id="13" name="Text 11"/>
          <p:cNvSpPr/>
          <p:nvPr/>
        </p:nvSpPr>
        <p:spPr>
          <a:xfrm>
            <a:off x="637794" y="1207008"/>
            <a:ext cx="480060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53" dirty="0">
                <a:solidFill>
                  <a:srgbClr val="C8C5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Peoplify v1.0</a:t>
            </a:r>
            <a:endParaRPr lang="en-US" sz="353" dirty="0"/>
          </a:p>
        </p:txBody>
      </p:sp>
      <p:sp>
        <p:nvSpPr>
          <p:cNvPr id="14" name="Text 12"/>
          <p:cNvSpPr/>
          <p:nvPr/>
        </p:nvSpPr>
        <p:spPr>
          <a:xfrm>
            <a:off x="534924" y="1495044"/>
            <a:ext cx="342900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68" dirty="0">
                <a:solidFill>
                  <a:srgbClr val="B5B2D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 메뉴</a:t>
            </a:r>
            <a:endParaRPr lang="en-US" sz="368" dirty="0"/>
          </a:p>
        </p:txBody>
      </p:sp>
      <p:sp>
        <p:nvSpPr>
          <p:cNvPr id="15" name="Text 13"/>
          <p:cNvSpPr/>
          <p:nvPr/>
        </p:nvSpPr>
        <p:spPr>
          <a:xfrm>
            <a:off x="541782" y="1687068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▦</a:t>
            </a:r>
            <a:endParaRPr lang="en-US" sz="405" dirty="0"/>
          </a:p>
        </p:txBody>
      </p:sp>
      <p:sp>
        <p:nvSpPr>
          <p:cNvPr id="16" name="Text 14"/>
          <p:cNvSpPr/>
          <p:nvPr/>
        </p:nvSpPr>
        <p:spPr>
          <a:xfrm>
            <a:off x="665226" y="1687068"/>
            <a:ext cx="58293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</a:t>
            </a:r>
            <a:endParaRPr lang="en-US" sz="405" dirty="0"/>
          </a:p>
        </p:txBody>
      </p:sp>
      <p:sp>
        <p:nvSpPr>
          <p:cNvPr id="17" name="Text 15"/>
          <p:cNvSpPr/>
          <p:nvPr/>
        </p:nvSpPr>
        <p:spPr>
          <a:xfrm>
            <a:off x="1255014" y="1687068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18" name="Text 16"/>
          <p:cNvSpPr/>
          <p:nvPr/>
        </p:nvSpPr>
        <p:spPr>
          <a:xfrm>
            <a:off x="541782" y="1933956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♟</a:t>
            </a:r>
            <a:endParaRPr lang="en-US" sz="405" dirty="0"/>
          </a:p>
        </p:txBody>
      </p:sp>
      <p:sp>
        <p:nvSpPr>
          <p:cNvPr id="19" name="Text 17"/>
          <p:cNvSpPr/>
          <p:nvPr/>
        </p:nvSpPr>
        <p:spPr>
          <a:xfrm>
            <a:off x="665226" y="1933956"/>
            <a:ext cx="58293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직원관리</a:t>
            </a:r>
            <a:endParaRPr lang="en-US" sz="405" dirty="0"/>
          </a:p>
        </p:txBody>
      </p:sp>
      <p:sp>
        <p:nvSpPr>
          <p:cNvPr id="20" name="Text 18"/>
          <p:cNvSpPr/>
          <p:nvPr/>
        </p:nvSpPr>
        <p:spPr>
          <a:xfrm>
            <a:off x="1255014" y="1933956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21" name="Shape 19"/>
          <p:cNvSpPr/>
          <p:nvPr/>
        </p:nvSpPr>
        <p:spPr>
          <a:xfrm>
            <a:off x="507492" y="2163699"/>
            <a:ext cx="836676" cy="171450"/>
          </a:xfrm>
          <a:prstGeom prst="roundRect">
            <a:avLst>
              <a:gd name="adj" fmla="val 16000"/>
            </a:avLst>
          </a:prstGeom>
          <a:solidFill>
            <a:srgbClr val="3C395D"/>
          </a:solidFill>
          <a:ln w="12700">
            <a:solidFill>
              <a:srgbClr val="3C39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782" y="2180844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405" dirty="0"/>
          </a:p>
        </p:txBody>
      </p:sp>
      <p:sp>
        <p:nvSpPr>
          <p:cNvPr id="23" name="Text 21"/>
          <p:cNvSpPr/>
          <p:nvPr/>
        </p:nvSpPr>
        <p:spPr>
          <a:xfrm>
            <a:off x="665226" y="2180844"/>
            <a:ext cx="58293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0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</a:t>
            </a:r>
            <a:endParaRPr lang="en-US" sz="405" dirty="0"/>
          </a:p>
        </p:txBody>
      </p:sp>
      <p:sp>
        <p:nvSpPr>
          <p:cNvPr id="24" name="Text 22"/>
          <p:cNvSpPr/>
          <p:nvPr/>
        </p:nvSpPr>
        <p:spPr>
          <a:xfrm>
            <a:off x="1255014" y="2180844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25" name="Shape 23"/>
          <p:cNvSpPr/>
          <p:nvPr/>
        </p:nvSpPr>
        <p:spPr>
          <a:xfrm>
            <a:off x="651510" y="2383155"/>
            <a:ext cx="768096" cy="168021"/>
          </a:xfrm>
          <a:prstGeom prst="roundRect">
            <a:avLst>
              <a:gd name="adj" fmla="val 16000"/>
            </a:avLst>
          </a:prstGeom>
          <a:solidFill>
            <a:srgbClr val="3C395D"/>
          </a:solidFill>
          <a:ln w="12700">
            <a:solidFill>
              <a:srgbClr val="3C39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400300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≡</a:t>
            </a:r>
            <a:endParaRPr lang="en-US" sz="405" dirty="0"/>
          </a:p>
        </p:txBody>
      </p:sp>
      <p:sp>
        <p:nvSpPr>
          <p:cNvPr id="27" name="Text 25"/>
          <p:cNvSpPr/>
          <p:nvPr/>
        </p:nvSpPr>
        <p:spPr>
          <a:xfrm>
            <a:off x="809244" y="2400300"/>
            <a:ext cx="58293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0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목록</a:t>
            </a:r>
            <a:endParaRPr lang="en-US" sz="405" dirty="0"/>
          </a:p>
        </p:txBody>
      </p:sp>
      <p:sp>
        <p:nvSpPr>
          <p:cNvPr id="28" name="Text 26"/>
          <p:cNvSpPr/>
          <p:nvPr/>
        </p:nvSpPr>
        <p:spPr>
          <a:xfrm>
            <a:off x="685800" y="2606040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〽</a:t>
            </a:r>
            <a:endParaRPr lang="en-US" sz="405" dirty="0"/>
          </a:p>
        </p:txBody>
      </p:sp>
      <p:sp>
        <p:nvSpPr>
          <p:cNvPr id="29" name="Text 27"/>
          <p:cNvSpPr/>
          <p:nvPr/>
        </p:nvSpPr>
        <p:spPr>
          <a:xfrm>
            <a:off x="809244" y="2606040"/>
            <a:ext cx="58293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투입 현황</a:t>
            </a:r>
            <a:endParaRPr lang="en-US" sz="405" dirty="0"/>
          </a:p>
        </p:txBody>
      </p:sp>
      <p:sp>
        <p:nvSpPr>
          <p:cNvPr id="30" name="Text 28"/>
          <p:cNvSpPr/>
          <p:nvPr/>
        </p:nvSpPr>
        <p:spPr>
          <a:xfrm>
            <a:off x="541782" y="2852928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⊕</a:t>
            </a:r>
            <a:endParaRPr lang="en-US" sz="405" dirty="0"/>
          </a:p>
        </p:txBody>
      </p:sp>
      <p:sp>
        <p:nvSpPr>
          <p:cNvPr id="31" name="Text 29"/>
          <p:cNvSpPr/>
          <p:nvPr/>
        </p:nvSpPr>
        <p:spPr>
          <a:xfrm>
            <a:off x="665226" y="2852928"/>
            <a:ext cx="58293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근태관리</a:t>
            </a:r>
            <a:endParaRPr lang="en-US" sz="405" dirty="0"/>
          </a:p>
        </p:txBody>
      </p:sp>
      <p:sp>
        <p:nvSpPr>
          <p:cNvPr id="32" name="Text 30"/>
          <p:cNvSpPr/>
          <p:nvPr/>
        </p:nvSpPr>
        <p:spPr>
          <a:xfrm>
            <a:off x="1255014" y="2852928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33" name="Text 31"/>
          <p:cNvSpPr/>
          <p:nvPr/>
        </p:nvSpPr>
        <p:spPr>
          <a:xfrm>
            <a:off x="541782" y="3106674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▥</a:t>
            </a:r>
            <a:endParaRPr lang="en-US" sz="405" dirty="0"/>
          </a:p>
        </p:txBody>
      </p:sp>
      <p:sp>
        <p:nvSpPr>
          <p:cNvPr id="34" name="Text 32"/>
          <p:cNvSpPr/>
          <p:nvPr/>
        </p:nvSpPr>
        <p:spPr>
          <a:xfrm>
            <a:off x="665226" y="3106674"/>
            <a:ext cx="58293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리포트</a:t>
            </a:r>
            <a:endParaRPr lang="en-US" sz="405" dirty="0"/>
          </a:p>
        </p:txBody>
      </p:sp>
      <p:sp>
        <p:nvSpPr>
          <p:cNvPr id="35" name="Text 33"/>
          <p:cNvSpPr/>
          <p:nvPr/>
        </p:nvSpPr>
        <p:spPr>
          <a:xfrm>
            <a:off x="1255014" y="3106674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36" name="Text 34"/>
          <p:cNvSpPr/>
          <p:nvPr/>
        </p:nvSpPr>
        <p:spPr>
          <a:xfrm>
            <a:off x="534924" y="3360420"/>
            <a:ext cx="514350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45" dirty="0">
                <a:solidFill>
                  <a:srgbClr val="8E8BA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퍼플리싱(임시)</a:t>
            </a:r>
            <a:endParaRPr lang="en-US" sz="345" dirty="0"/>
          </a:p>
        </p:txBody>
      </p:sp>
      <p:sp>
        <p:nvSpPr>
          <p:cNvPr id="37" name="Text 35"/>
          <p:cNvSpPr/>
          <p:nvPr/>
        </p:nvSpPr>
        <p:spPr>
          <a:xfrm>
            <a:off x="541782" y="3566160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▦</a:t>
            </a:r>
            <a:endParaRPr lang="en-US" sz="405" dirty="0"/>
          </a:p>
        </p:txBody>
      </p:sp>
      <p:sp>
        <p:nvSpPr>
          <p:cNvPr id="38" name="Text 36"/>
          <p:cNvSpPr/>
          <p:nvPr/>
        </p:nvSpPr>
        <p:spPr>
          <a:xfrm>
            <a:off x="665226" y="3566160"/>
            <a:ext cx="58293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</a:t>
            </a:r>
            <a:endParaRPr lang="en-US" sz="405" dirty="0"/>
          </a:p>
        </p:txBody>
      </p:sp>
      <p:sp>
        <p:nvSpPr>
          <p:cNvPr id="39" name="Text 37"/>
          <p:cNvSpPr/>
          <p:nvPr/>
        </p:nvSpPr>
        <p:spPr>
          <a:xfrm>
            <a:off x="1255014" y="3566160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40" name="Text 38"/>
          <p:cNvSpPr/>
          <p:nvPr/>
        </p:nvSpPr>
        <p:spPr>
          <a:xfrm>
            <a:off x="541782" y="3806190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405" dirty="0"/>
          </a:p>
        </p:txBody>
      </p:sp>
      <p:sp>
        <p:nvSpPr>
          <p:cNvPr id="41" name="Text 39"/>
          <p:cNvSpPr/>
          <p:nvPr/>
        </p:nvSpPr>
        <p:spPr>
          <a:xfrm>
            <a:off x="665226" y="3806190"/>
            <a:ext cx="58293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</a:t>
            </a:r>
            <a:endParaRPr lang="en-US" sz="405" dirty="0"/>
          </a:p>
        </p:txBody>
      </p:sp>
      <p:sp>
        <p:nvSpPr>
          <p:cNvPr id="42" name="Text 40"/>
          <p:cNvSpPr/>
          <p:nvPr/>
        </p:nvSpPr>
        <p:spPr>
          <a:xfrm>
            <a:off x="1255014" y="3806190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43" name="Text 41"/>
          <p:cNvSpPr/>
          <p:nvPr/>
        </p:nvSpPr>
        <p:spPr>
          <a:xfrm>
            <a:off x="534924" y="4046220"/>
            <a:ext cx="48006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9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↪  로그인</a:t>
            </a:r>
            <a:endParaRPr lang="en-US" sz="398" dirty="0"/>
          </a:p>
        </p:txBody>
      </p:sp>
      <p:sp>
        <p:nvSpPr>
          <p:cNvPr id="44" name="Shape 42"/>
          <p:cNvSpPr/>
          <p:nvPr/>
        </p:nvSpPr>
        <p:spPr>
          <a:xfrm>
            <a:off x="1508760" y="1097280"/>
            <a:ext cx="171450" cy="192024"/>
          </a:xfrm>
          <a:prstGeom prst="roundRect">
            <a:avLst>
              <a:gd name="adj" fmla="val 14000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43050" y="1145286"/>
            <a:ext cx="82296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pPr algn="ctr"/>
            <a:r>
              <a:rPr lang="en-US" sz="43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☰</a:t>
            </a:r>
            <a:endParaRPr lang="en-US" sz="435" dirty="0"/>
          </a:p>
        </p:txBody>
      </p:sp>
      <p:sp>
        <p:nvSpPr>
          <p:cNvPr id="46" name="Shape 44"/>
          <p:cNvSpPr/>
          <p:nvPr/>
        </p:nvSpPr>
        <p:spPr>
          <a:xfrm>
            <a:off x="1762506" y="1097280"/>
            <a:ext cx="1885950" cy="192024"/>
          </a:xfrm>
          <a:prstGeom prst="roundRect">
            <a:avLst>
              <a:gd name="adj" fmla="val 12500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31086" y="1145286"/>
            <a:ext cx="109728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83" dirty="0">
                <a:solidFill>
                  <a:srgbClr val="C7C5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⌕  Search or type command...</a:t>
            </a:r>
            <a:endParaRPr lang="en-US" sz="383" dirty="0"/>
          </a:p>
        </p:txBody>
      </p:sp>
      <p:sp>
        <p:nvSpPr>
          <p:cNvPr id="48" name="Text 46"/>
          <p:cNvSpPr/>
          <p:nvPr/>
        </p:nvSpPr>
        <p:spPr>
          <a:xfrm>
            <a:off x="4594860" y="1145286"/>
            <a:ext cx="123444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pPr algn="ctr"/>
            <a:r>
              <a:rPr lang="en-US" sz="360" dirty="0">
                <a:solidFill>
                  <a:srgbClr val="B8B5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⌘K</a:t>
            </a:r>
            <a:endParaRPr lang="en-US" sz="360" dirty="0"/>
          </a:p>
        </p:txBody>
      </p:sp>
      <p:sp>
        <p:nvSpPr>
          <p:cNvPr id="49" name="Text 47"/>
          <p:cNvSpPr/>
          <p:nvPr/>
        </p:nvSpPr>
        <p:spPr>
          <a:xfrm>
            <a:off x="4807458" y="1138428"/>
            <a:ext cx="89154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pPr algn="ctr"/>
            <a:r>
              <a:rPr lang="en-US" sz="4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☼</a:t>
            </a:r>
            <a:endParaRPr lang="en-US" sz="450" dirty="0"/>
          </a:p>
        </p:txBody>
      </p:sp>
      <p:sp>
        <p:nvSpPr>
          <p:cNvPr id="50" name="Shape 48"/>
          <p:cNvSpPr/>
          <p:nvPr/>
        </p:nvSpPr>
        <p:spPr>
          <a:xfrm>
            <a:off x="4958334" y="1097280"/>
            <a:ext cx="363474" cy="192024"/>
          </a:xfrm>
          <a:prstGeom prst="roundRect">
            <a:avLst>
              <a:gd name="adj" fmla="val 21429"/>
            </a:avLst>
          </a:prstGeom>
          <a:solidFill>
            <a:srgbClr val="24223F"/>
          </a:solidFill>
          <a:ln w="12700">
            <a:solidFill>
              <a:srgbClr val="24223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78908" y="1138428"/>
            <a:ext cx="315468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3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 ↗</a:t>
            </a:r>
            <a:endParaRPr lang="en-US" sz="390" dirty="0"/>
          </a:p>
        </p:txBody>
      </p:sp>
      <p:sp>
        <p:nvSpPr>
          <p:cNvPr id="53" name="Text 51"/>
          <p:cNvSpPr/>
          <p:nvPr/>
        </p:nvSpPr>
        <p:spPr>
          <a:xfrm>
            <a:off x="5314950" y="1138428"/>
            <a:ext cx="41148" cy="3429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77500" lnSpcReduction="20000"/>
          </a:bodyPr>
          <a:lstStyle/>
          <a:p>
            <a:pPr algn="ctr"/>
            <a:r>
              <a:rPr lang="en-US" sz="31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</a:t>
            </a:r>
            <a:endParaRPr lang="en-US" sz="315" dirty="0"/>
          </a:p>
        </p:txBody>
      </p:sp>
      <p:sp>
        <p:nvSpPr>
          <p:cNvPr id="54" name="Text 52"/>
          <p:cNvSpPr/>
          <p:nvPr/>
        </p:nvSpPr>
        <p:spPr>
          <a:xfrm>
            <a:off x="1720100" y="1516458"/>
            <a:ext cx="960120" cy="13716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관리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21034" y="1502742"/>
            <a:ext cx="466344" cy="178308"/>
          </a:xfrm>
          <a:prstGeom prst="roundRect">
            <a:avLst>
              <a:gd name="adj" fmla="val 15385"/>
            </a:avLst>
          </a:prstGeom>
          <a:solidFill>
            <a:srgbClr val="6F5AE8"/>
          </a:solidFill>
          <a:ln w="12700">
            <a:solidFill>
              <a:srgbClr val="6F5A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9040" y="1550748"/>
            <a:ext cx="356616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39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 프로젝트 등록</a:t>
            </a:r>
            <a:endParaRPr lang="en-US" sz="398" dirty="0"/>
          </a:p>
        </p:txBody>
      </p:sp>
      <p:sp>
        <p:nvSpPr>
          <p:cNvPr id="57" name="Text 55"/>
          <p:cNvSpPr/>
          <p:nvPr/>
        </p:nvSpPr>
        <p:spPr>
          <a:xfrm>
            <a:off x="4552454" y="1475310"/>
            <a:ext cx="12344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754390" y="1873074"/>
            <a:ext cx="150876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420" b="1" dirty="0">
                <a:solidFill>
                  <a:srgbClr val="7E6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</a:t>
            </a:r>
            <a:endParaRPr lang="en-US" sz="420" dirty="0"/>
          </a:p>
        </p:txBody>
      </p:sp>
      <p:sp>
        <p:nvSpPr>
          <p:cNvPr id="59" name="Shape 57"/>
          <p:cNvSpPr/>
          <p:nvPr/>
        </p:nvSpPr>
        <p:spPr>
          <a:xfrm>
            <a:off x="1905266" y="1859358"/>
            <a:ext cx="109728" cy="123444"/>
          </a:xfrm>
          <a:prstGeom prst="roundRect">
            <a:avLst>
              <a:gd name="adj" fmla="val 31250"/>
            </a:avLst>
          </a:prstGeom>
          <a:solidFill>
            <a:srgbClr val="4A4770"/>
          </a:solidFill>
          <a:ln w="12700">
            <a:solidFill>
              <a:srgbClr val="4A477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32698" y="1883361"/>
            <a:ext cx="54864" cy="61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b="1" dirty="0">
                <a:solidFill>
                  <a:srgbClr val="DA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375" dirty="0"/>
          </a:p>
        </p:txBody>
      </p:sp>
      <p:sp>
        <p:nvSpPr>
          <p:cNvPr id="61" name="Text 59"/>
          <p:cNvSpPr/>
          <p:nvPr/>
        </p:nvSpPr>
        <p:spPr>
          <a:xfrm>
            <a:off x="2179586" y="1873074"/>
            <a:ext cx="260604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420" b="1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 중</a:t>
            </a:r>
            <a:endParaRPr lang="en-US" sz="420" dirty="0"/>
          </a:p>
        </p:txBody>
      </p:sp>
      <p:sp>
        <p:nvSpPr>
          <p:cNvPr id="62" name="Shape 60"/>
          <p:cNvSpPr/>
          <p:nvPr/>
        </p:nvSpPr>
        <p:spPr>
          <a:xfrm>
            <a:off x="2419616" y="1859358"/>
            <a:ext cx="109728" cy="123444"/>
          </a:xfrm>
          <a:prstGeom prst="roundRect">
            <a:avLst>
              <a:gd name="adj" fmla="val 31250"/>
            </a:avLst>
          </a:prstGeom>
          <a:solidFill>
            <a:srgbClr val="4A4770"/>
          </a:solidFill>
          <a:ln w="12700">
            <a:solidFill>
              <a:srgbClr val="4A477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47048" y="1883361"/>
            <a:ext cx="54864" cy="61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b="1" dirty="0">
                <a:solidFill>
                  <a:srgbClr val="DA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375" dirty="0"/>
          </a:p>
        </p:txBody>
      </p:sp>
      <p:sp>
        <p:nvSpPr>
          <p:cNvPr id="64" name="Text 62"/>
          <p:cNvSpPr/>
          <p:nvPr/>
        </p:nvSpPr>
        <p:spPr>
          <a:xfrm>
            <a:off x="2700794" y="1873074"/>
            <a:ext cx="171450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420" b="1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완료</a:t>
            </a:r>
            <a:endParaRPr lang="en-US" sz="420" dirty="0"/>
          </a:p>
        </p:txBody>
      </p:sp>
      <p:sp>
        <p:nvSpPr>
          <p:cNvPr id="65" name="Shape 63"/>
          <p:cNvSpPr/>
          <p:nvPr/>
        </p:nvSpPr>
        <p:spPr>
          <a:xfrm>
            <a:off x="2879102" y="1859358"/>
            <a:ext cx="109728" cy="123444"/>
          </a:xfrm>
          <a:prstGeom prst="roundRect">
            <a:avLst>
              <a:gd name="adj" fmla="val 31250"/>
            </a:avLst>
          </a:prstGeom>
          <a:solidFill>
            <a:srgbClr val="4A4770"/>
          </a:solidFill>
          <a:ln w="12700">
            <a:solidFill>
              <a:srgbClr val="4A477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06534" y="1883361"/>
            <a:ext cx="54864" cy="61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b="1" dirty="0">
                <a:solidFill>
                  <a:srgbClr val="DA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375" dirty="0"/>
          </a:p>
        </p:txBody>
      </p:sp>
      <p:sp>
        <p:nvSpPr>
          <p:cNvPr id="67" name="Text 65"/>
          <p:cNvSpPr/>
          <p:nvPr/>
        </p:nvSpPr>
        <p:spPr>
          <a:xfrm>
            <a:off x="3180854" y="1873074"/>
            <a:ext cx="171450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420" b="1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예정</a:t>
            </a:r>
            <a:endParaRPr lang="en-US" sz="420" dirty="0"/>
          </a:p>
        </p:txBody>
      </p:sp>
      <p:sp>
        <p:nvSpPr>
          <p:cNvPr id="68" name="Shape 66"/>
          <p:cNvSpPr/>
          <p:nvPr/>
        </p:nvSpPr>
        <p:spPr>
          <a:xfrm>
            <a:off x="3345446" y="1859358"/>
            <a:ext cx="109728" cy="123444"/>
          </a:xfrm>
          <a:prstGeom prst="roundRect">
            <a:avLst>
              <a:gd name="adj" fmla="val 31250"/>
            </a:avLst>
          </a:prstGeom>
          <a:solidFill>
            <a:srgbClr val="4A4770"/>
          </a:solidFill>
          <a:ln w="12700">
            <a:solidFill>
              <a:srgbClr val="4A477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72878" y="1883361"/>
            <a:ext cx="54864" cy="61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b="1" dirty="0">
                <a:solidFill>
                  <a:srgbClr val="DA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</a:t>
            </a:r>
            <a:endParaRPr lang="en-US" sz="375" dirty="0"/>
          </a:p>
        </p:txBody>
      </p:sp>
      <p:sp>
        <p:nvSpPr>
          <p:cNvPr id="70" name="Shape 68"/>
          <p:cNvSpPr/>
          <p:nvPr/>
        </p:nvSpPr>
        <p:spPr>
          <a:xfrm>
            <a:off x="1720100" y="2023950"/>
            <a:ext cx="3387852" cy="6858"/>
          </a:xfrm>
          <a:prstGeom prst="rect">
            <a:avLst/>
          </a:prstGeom>
          <a:solidFill>
            <a:srgbClr val="5D5A82"/>
          </a:solidFill>
          <a:ln w="12700">
            <a:solidFill>
              <a:srgbClr val="5D5A8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720100" y="2023950"/>
            <a:ext cx="233172" cy="10287"/>
          </a:xfrm>
          <a:prstGeom prst="rect">
            <a:avLst/>
          </a:prstGeom>
          <a:solidFill>
            <a:srgbClr val="6F5AE8"/>
          </a:solidFill>
          <a:ln w="12700">
            <a:solidFill>
              <a:srgbClr val="6F5A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637804" y="1838784"/>
            <a:ext cx="12344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720100" y="2106246"/>
            <a:ext cx="2708910" cy="192024"/>
          </a:xfrm>
          <a:prstGeom prst="roundRect">
            <a:avLst>
              <a:gd name="adj" fmla="val 14286"/>
            </a:avLst>
          </a:prstGeom>
          <a:solidFill>
            <a:srgbClr val="2C2A49"/>
          </a:solidFill>
          <a:ln w="7620">
            <a:solidFill>
              <a:srgbClr val="5D5A8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774964" y="2161110"/>
            <a:ext cx="92583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r>
              <a:rPr lang="en-US" sz="398" dirty="0">
                <a:solidFill>
                  <a:srgbClr val="BDB9E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⌕  프로젝트명·고객사 검색...</a:t>
            </a:r>
            <a:endParaRPr lang="en-US" sz="398" dirty="0"/>
          </a:p>
        </p:txBody>
      </p:sp>
      <p:sp>
        <p:nvSpPr>
          <p:cNvPr id="75" name="Shape 73"/>
          <p:cNvSpPr/>
          <p:nvPr/>
        </p:nvSpPr>
        <p:spPr>
          <a:xfrm>
            <a:off x="4463300" y="2106246"/>
            <a:ext cx="370332" cy="192024"/>
          </a:xfrm>
          <a:prstGeom prst="roundRect">
            <a:avLst>
              <a:gd name="adj" fmla="val 14286"/>
            </a:avLst>
          </a:prstGeom>
          <a:solidFill>
            <a:srgbClr val="2C2A49"/>
          </a:solidFill>
          <a:ln w="7620">
            <a:solidFill>
              <a:srgbClr val="5D5A8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90732" y="2161110"/>
            <a:ext cx="30861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기술스택 전체⌄</a:t>
            </a:r>
            <a:endParaRPr lang="en-US" sz="375" dirty="0"/>
          </a:p>
        </p:txBody>
      </p:sp>
      <p:sp>
        <p:nvSpPr>
          <p:cNvPr id="77" name="Shape 75"/>
          <p:cNvSpPr/>
          <p:nvPr/>
        </p:nvSpPr>
        <p:spPr>
          <a:xfrm>
            <a:off x="4874780" y="2106246"/>
            <a:ext cx="288036" cy="192024"/>
          </a:xfrm>
          <a:prstGeom prst="roundRect">
            <a:avLst>
              <a:gd name="adj" fmla="val 14286"/>
            </a:avLst>
          </a:prstGeom>
          <a:solidFill>
            <a:srgbClr val="2C2A49"/>
          </a:solidFill>
          <a:ln w="7620">
            <a:solidFill>
              <a:srgbClr val="5D5A8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95354" y="2161110"/>
            <a:ext cx="24003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PM 전체⌄</a:t>
            </a:r>
            <a:endParaRPr lang="en-US" sz="375" dirty="0"/>
          </a:p>
        </p:txBody>
      </p:sp>
      <p:sp>
        <p:nvSpPr>
          <p:cNvPr id="79" name="Text 77"/>
          <p:cNvSpPr/>
          <p:nvPr/>
        </p:nvSpPr>
        <p:spPr>
          <a:xfrm>
            <a:off x="4360430" y="2078814"/>
            <a:ext cx="12344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720100" y="2366850"/>
            <a:ext cx="3442716" cy="397764"/>
          </a:xfrm>
          <a:prstGeom prst="roundRect">
            <a:avLst>
              <a:gd name="adj" fmla="val 8621"/>
            </a:avLst>
          </a:prstGeom>
          <a:solidFill>
            <a:srgbClr val="33304F"/>
          </a:solidFill>
          <a:ln w="8255">
            <a:solidFill>
              <a:srgbClr val="5D5A8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802396" y="2421714"/>
            <a:ext cx="106299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5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D보험 차세대시스템</a:t>
            </a:r>
            <a:endParaRPr lang="en-US" sz="540" dirty="0"/>
          </a:p>
        </p:txBody>
      </p:sp>
      <p:sp>
        <p:nvSpPr>
          <p:cNvPr id="82" name="Shape 80"/>
          <p:cNvSpPr/>
          <p:nvPr/>
        </p:nvSpPr>
        <p:spPr>
          <a:xfrm>
            <a:off x="2474480" y="2418285"/>
            <a:ext cx="260604" cy="123444"/>
          </a:xfrm>
          <a:prstGeom prst="roundRect">
            <a:avLst>
              <a:gd name="adj" fmla="val 27778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501912" y="2442288"/>
            <a:ext cx="205740" cy="61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b="1" dirty="0">
                <a:solidFill>
                  <a:srgbClr val="80FFE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투입중</a:t>
            </a:r>
            <a:endParaRPr lang="en-US" sz="375" dirty="0"/>
          </a:p>
        </p:txBody>
      </p:sp>
      <p:sp>
        <p:nvSpPr>
          <p:cNvPr id="84" name="Text 82"/>
          <p:cNvSpPr/>
          <p:nvPr/>
        </p:nvSpPr>
        <p:spPr>
          <a:xfrm>
            <a:off x="1802396" y="2531442"/>
            <a:ext cx="58293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68" b="1" dirty="0">
                <a:solidFill>
                  <a:srgbClr val="BDB9E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D보험그룹</a:t>
            </a:r>
            <a:endParaRPr lang="en-US" sz="368" dirty="0"/>
          </a:p>
        </p:txBody>
      </p:sp>
      <p:sp>
        <p:nvSpPr>
          <p:cNvPr id="85" name="Text 83"/>
          <p:cNvSpPr/>
          <p:nvPr/>
        </p:nvSpPr>
        <p:spPr>
          <a:xfrm>
            <a:off x="1802396" y="2627454"/>
            <a:ext cx="48006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00" dirty="0">
                <a:solidFill>
                  <a:srgbClr val="A9A5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▣</a:t>
            </a:r>
            <a:endParaRPr lang="en-US" sz="300" dirty="0"/>
          </a:p>
        </p:txBody>
      </p:sp>
      <p:sp>
        <p:nvSpPr>
          <p:cNvPr id="86" name="Text 84"/>
          <p:cNvSpPr/>
          <p:nvPr/>
        </p:nvSpPr>
        <p:spPr>
          <a:xfrm>
            <a:off x="1870976" y="2620596"/>
            <a:ext cx="75438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30" dirty="0">
                <a:solidFill>
                  <a:srgbClr val="C9C5E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2026.06.16 ~ 2026.10.29</a:t>
            </a:r>
            <a:endParaRPr lang="en-US" sz="330" dirty="0"/>
          </a:p>
        </p:txBody>
      </p:sp>
      <p:sp>
        <p:nvSpPr>
          <p:cNvPr id="87" name="Text 85"/>
          <p:cNvSpPr/>
          <p:nvPr/>
        </p:nvSpPr>
        <p:spPr>
          <a:xfrm>
            <a:off x="2714510" y="2627454"/>
            <a:ext cx="54864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00" dirty="0">
                <a:solidFill>
                  <a:srgbClr val="A9A5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♧</a:t>
            </a:r>
            <a:endParaRPr lang="en-US" sz="300" dirty="0"/>
          </a:p>
        </p:txBody>
      </p:sp>
      <p:sp>
        <p:nvSpPr>
          <p:cNvPr id="88" name="Text 86"/>
          <p:cNvSpPr/>
          <p:nvPr/>
        </p:nvSpPr>
        <p:spPr>
          <a:xfrm>
            <a:off x="2783090" y="2620596"/>
            <a:ext cx="329184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30" dirty="0">
                <a:solidFill>
                  <a:srgbClr val="C9C5E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투입 6명</a:t>
            </a:r>
            <a:endParaRPr lang="en-US" sz="330" dirty="0"/>
          </a:p>
        </p:txBody>
      </p:sp>
      <p:sp>
        <p:nvSpPr>
          <p:cNvPr id="89" name="Shape 87"/>
          <p:cNvSpPr/>
          <p:nvPr/>
        </p:nvSpPr>
        <p:spPr>
          <a:xfrm>
            <a:off x="3263150" y="2613738"/>
            <a:ext cx="202997" cy="109728"/>
          </a:xfrm>
          <a:prstGeom prst="roundRect">
            <a:avLst>
              <a:gd name="adj" fmla="val 1875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90582" y="2627454"/>
            <a:ext cx="148133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D7EE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Vue</a:t>
            </a:r>
            <a:endParaRPr lang="en-US" sz="360" dirty="0"/>
          </a:p>
        </p:txBody>
      </p:sp>
      <p:sp>
        <p:nvSpPr>
          <p:cNvPr id="91" name="Shape 89"/>
          <p:cNvSpPr/>
          <p:nvPr/>
        </p:nvSpPr>
        <p:spPr>
          <a:xfrm>
            <a:off x="3493579" y="2613738"/>
            <a:ext cx="309982" cy="109728"/>
          </a:xfrm>
          <a:prstGeom prst="roundRect">
            <a:avLst>
              <a:gd name="adj" fmla="val 1875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521011" y="2627454"/>
            <a:ext cx="255118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D7EE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</a:t>
            </a:r>
            <a:endParaRPr lang="en-US" sz="360" dirty="0"/>
          </a:p>
        </p:txBody>
      </p:sp>
      <p:sp>
        <p:nvSpPr>
          <p:cNvPr id="93" name="Shape 91"/>
          <p:cNvSpPr/>
          <p:nvPr/>
        </p:nvSpPr>
        <p:spPr>
          <a:xfrm>
            <a:off x="3830993" y="2613738"/>
            <a:ext cx="309982" cy="109728"/>
          </a:xfrm>
          <a:prstGeom prst="roundRect">
            <a:avLst>
              <a:gd name="adj" fmla="val 1875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858425" y="2627454"/>
            <a:ext cx="255118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D7EE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Oracle</a:t>
            </a:r>
            <a:endParaRPr lang="en-US" sz="360" dirty="0"/>
          </a:p>
        </p:txBody>
      </p:sp>
      <p:sp>
        <p:nvSpPr>
          <p:cNvPr id="95" name="Shape 93"/>
          <p:cNvSpPr/>
          <p:nvPr/>
        </p:nvSpPr>
        <p:spPr>
          <a:xfrm>
            <a:off x="4168406" y="2613738"/>
            <a:ext cx="274320" cy="109728"/>
          </a:xfrm>
          <a:prstGeom prst="roundRect">
            <a:avLst>
              <a:gd name="adj" fmla="val 1875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195838" y="2627454"/>
            <a:ext cx="219456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D7EE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MySQL</a:t>
            </a:r>
            <a:endParaRPr lang="en-US" sz="360" dirty="0"/>
          </a:p>
        </p:txBody>
      </p:sp>
      <p:sp>
        <p:nvSpPr>
          <p:cNvPr id="97" name="Shape 95"/>
          <p:cNvSpPr/>
          <p:nvPr/>
        </p:nvSpPr>
        <p:spPr>
          <a:xfrm>
            <a:off x="4470158" y="2613738"/>
            <a:ext cx="309982" cy="109728"/>
          </a:xfrm>
          <a:prstGeom prst="roundRect">
            <a:avLst>
              <a:gd name="adj" fmla="val 1875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497590" y="2627454"/>
            <a:ext cx="255118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D7EE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Docker</a:t>
            </a:r>
            <a:endParaRPr lang="en-US" sz="360" dirty="0"/>
          </a:p>
        </p:txBody>
      </p:sp>
      <p:sp>
        <p:nvSpPr>
          <p:cNvPr id="99" name="Shape 97"/>
          <p:cNvSpPr/>
          <p:nvPr/>
        </p:nvSpPr>
        <p:spPr>
          <a:xfrm>
            <a:off x="4874780" y="2462862"/>
            <a:ext cx="205740" cy="137160"/>
          </a:xfrm>
          <a:prstGeom prst="roundRect">
            <a:avLst>
              <a:gd name="adj" fmla="val 20000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915928" y="2500581"/>
            <a:ext cx="123444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3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상세</a:t>
            </a:r>
            <a:endParaRPr lang="en-US" sz="360" dirty="0"/>
          </a:p>
        </p:txBody>
      </p:sp>
      <p:sp>
        <p:nvSpPr>
          <p:cNvPr id="101" name="Text 99"/>
          <p:cNvSpPr/>
          <p:nvPr/>
        </p:nvSpPr>
        <p:spPr>
          <a:xfrm>
            <a:off x="4819916" y="2449146"/>
            <a:ext cx="12344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1720100" y="2826336"/>
            <a:ext cx="3442716" cy="397764"/>
          </a:xfrm>
          <a:prstGeom prst="roundRect">
            <a:avLst>
              <a:gd name="adj" fmla="val 8621"/>
            </a:avLst>
          </a:prstGeom>
          <a:solidFill>
            <a:srgbClr val="33304F"/>
          </a:solidFill>
          <a:ln w="8255">
            <a:solidFill>
              <a:srgbClr val="5D5A8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802396" y="2881200"/>
            <a:ext cx="106299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5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B공공기관 ERP 구축</a:t>
            </a:r>
            <a:endParaRPr lang="en-US" sz="540" dirty="0"/>
          </a:p>
        </p:txBody>
      </p:sp>
      <p:sp>
        <p:nvSpPr>
          <p:cNvPr id="105" name="Shape 103"/>
          <p:cNvSpPr/>
          <p:nvPr/>
        </p:nvSpPr>
        <p:spPr>
          <a:xfrm>
            <a:off x="2474480" y="2877771"/>
            <a:ext cx="260604" cy="123444"/>
          </a:xfrm>
          <a:prstGeom prst="roundRect">
            <a:avLst>
              <a:gd name="adj" fmla="val 27778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501912" y="2901774"/>
            <a:ext cx="205740" cy="61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b="1" dirty="0">
                <a:solidFill>
                  <a:srgbClr val="80FFE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투입중</a:t>
            </a:r>
            <a:endParaRPr lang="en-US" sz="375" dirty="0"/>
          </a:p>
        </p:txBody>
      </p:sp>
      <p:sp>
        <p:nvSpPr>
          <p:cNvPr id="107" name="Text 105"/>
          <p:cNvSpPr/>
          <p:nvPr/>
        </p:nvSpPr>
        <p:spPr>
          <a:xfrm>
            <a:off x="1802396" y="2990928"/>
            <a:ext cx="58293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68" b="1" dirty="0">
                <a:solidFill>
                  <a:srgbClr val="BDB9E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B공공기관</a:t>
            </a:r>
            <a:endParaRPr lang="en-US" sz="368" dirty="0"/>
          </a:p>
        </p:txBody>
      </p:sp>
      <p:sp>
        <p:nvSpPr>
          <p:cNvPr id="108" name="Text 106"/>
          <p:cNvSpPr/>
          <p:nvPr/>
        </p:nvSpPr>
        <p:spPr>
          <a:xfrm>
            <a:off x="1802396" y="3086940"/>
            <a:ext cx="48006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00" dirty="0">
                <a:solidFill>
                  <a:srgbClr val="A9A5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▣</a:t>
            </a:r>
            <a:endParaRPr lang="en-US" sz="300" dirty="0"/>
          </a:p>
        </p:txBody>
      </p:sp>
      <p:sp>
        <p:nvSpPr>
          <p:cNvPr id="109" name="Text 107"/>
          <p:cNvSpPr/>
          <p:nvPr/>
        </p:nvSpPr>
        <p:spPr>
          <a:xfrm>
            <a:off x="1870976" y="3080082"/>
            <a:ext cx="75438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30" dirty="0">
                <a:solidFill>
                  <a:srgbClr val="C9C5E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2025.06.01 ~ 2026.06.30</a:t>
            </a:r>
            <a:endParaRPr lang="en-US" sz="330" dirty="0"/>
          </a:p>
        </p:txBody>
      </p:sp>
      <p:sp>
        <p:nvSpPr>
          <p:cNvPr id="110" name="Text 108"/>
          <p:cNvSpPr/>
          <p:nvPr/>
        </p:nvSpPr>
        <p:spPr>
          <a:xfrm>
            <a:off x="2714510" y="3086940"/>
            <a:ext cx="54864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00" dirty="0">
                <a:solidFill>
                  <a:srgbClr val="A9A5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♧</a:t>
            </a:r>
            <a:endParaRPr lang="en-US" sz="300" dirty="0"/>
          </a:p>
        </p:txBody>
      </p:sp>
      <p:sp>
        <p:nvSpPr>
          <p:cNvPr id="111" name="Text 109"/>
          <p:cNvSpPr/>
          <p:nvPr/>
        </p:nvSpPr>
        <p:spPr>
          <a:xfrm>
            <a:off x="2783090" y="3080082"/>
            <a:ext cx="329184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30" dirty="0">
                <a:solidFill>
                  <a:srgbClr val="C9C5E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투입 4명</a:t>
            </a:r>
            <a:endParaRPr lang="en-US" sz="330" dirty="0"/>
          </a:p>
        </p:txBody>
      </p:sp>
      <p:sp>
        <p:nvSpPr>
          <p:cNvPr id="112" name="Shape 110"/>
          <p:cNvSpPr/>
          <p:nvPr/>
        </p:nvSpPr>
        <p:spPr>
          <a:xfrm>
            <a:off x="3263151" y="3073224"/>
            <a:ext cx="238658" cy="109728"/>
          </a:xfrm>
          <a:prstGeom prst="roundRect">
            <a:avLst>
              <a:gd name="adj" fmla="val 1875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290583" y="3086940"/>
            <a:ext cx="183794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D7EE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Java</a:t>
            </a:r>
            <a:endParaRPr lang="en-US" sz="360" dirty="0"/>
          </a:p>
        </p:txBody>
      </p:sp>
      <p:sp>
        <p:nvSpPr>
          <p:cNvPr id="114" name="Shape 112"/>
          <p:cNvSpPr/>
          <p:nvPr/>
        </p:nvSpPr>
        <p:spPr>
          <a:xfrm>
            <a:off x="3529240" y="3073224"/>
            <a:ext cx="356616" cy="109728"/>
          </a:xfrm>
          <a:prstGeom prst="roundRect">
            <a:avLst>
              <a:gd name="adj" fmla="val 1875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556672" y="3086940"/>
            <a:ext cx="301752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D7EE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Spring Boot</a:t>
            </a:r>
            <a:endParaRPr lang="en-US" sz="360" dirty="0"/>
          </a:p>
        </p:txBody>
      </p:sp>
      <p:sp>
        <p:nvSpPr>
          <p:cNvPr id="116" name="Shape 114"/>
          <p:cNvSpPr/>
          <p:nvPr/>
        </p:nvSpPr>
        <p:spPr>
          <a:xfrm>
            <a:off x="3913288" y="3073224"/>
            <a:ext cx="274320" cy="109728"/>
          </a:xfrm>
          <a:prstGeom prst="roundRect">
            <a:avLst>
              <a:gd name="adj" fmla="val 1875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940720" y="3086940"/>
            <a:ext cx="219456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D7EE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React</a:t>
            </a:r>
            <a:endParaRPr lang="en-US" sz="360" dirty="0"/>
          </a:p>
        </p:txBody>
      </p:sp>
      <p:sp>
        <p:nvSpPr>
          <p:cNvPr id="118" name="Shape 116"/>
          <p:cNvSpPr/>
          <p:nvPr/>
        </p:nvSpPr>
        <p:spPr>
          <a:xfrm>
            <a:off x="4215041" y="3073224"/>
            <a:ext cx="309982" cy="109728"/>
          </a:xfrm>
          <a:prstGeom prst="roundRect">
            <a:avLst>
              <a:gd name="adj" fmla="val 1875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242473" y="3086940"/>
            <a:ext cx="255118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D7EE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Oracle</a:t>
            </a:r>
            <a:endParaRPr lang="en-US" sz="360" dirty="0"/>
          </a:p>
        </p:txBody>
      </p:sp>
      <p:sp>
        <p:nvSpPr>
          <p:cNvPr id="120" name="Shape 118"/>
          <p:cNvSpPr/>
          <p:nvPr/>
        </p:nvSpPr>
        <p:spPr>
          <a:xfrm>
            <a:off x="4874780" y="2922348"/>
            <a:ext cx="205740" cy="137160"/>
          </a:xfrm>
          <a:prstGeom prst="roundRect">
            <a:avLst>
              <a:gd name="adj" fmla="val 20000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915928" y="2960067"/>
            <a:ext cx="123444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3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상세</a:t>
            </a:r>
            <a:endParaRPr lang="en-US" sz="360" dirty="0"/>
          </a:p>
        </p:txBody>
      </p:sp>
      <p:sp>
        <p:nvSpPr>
          <p:cNvPr id="122" name="Shape 120"/>
          <p:cNvSpPr/>
          <p:nvPr/>
        </p:nvSpPr>
        <p:spPr>
          <a:xfrm>
            <a:off x="1720100" y="3285822"/>
            <a:ext cx="3442716" cy="397764"/>
          </a:xfrm>
          <a:prstGeom prst="roundRect">
            <a:avLst>
              <a:gd name="adj" fmla="val 8621"/>
            </a:avLst>
          </a:prstGeom>
          <a:solidFill>
            <a:srgbClr val="33304F"/>
          </a:solidFill>
          <a:ln w="8255">
            <a:solidFill>
              <a:srgbClr val="5D5A8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802396" y="3340686"/>
            <a:ext cx="106299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5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A금융 차세대 코어뱅킹</a:t>
            </a:r>
            <a:endParaRPr lang="en-US" sz="540" dirty="0"/>
          </a:p>
        </p:txBody>
      </p:sp>
      <p:sp>
        <p:nvSpPr>
          <p:cNvPr id="124" name="Shape 122"/>
          <p:cNvSpPr/>
          <p:nvPr/>
        </p:nvSpPr>
        <p:spPr>
          <a:xfrm>
            <a:off x="2474480" y="3337257"/>
            <a:ext cx="260604" cy="123444"/>
          </a:xfrm>
          <a:prstGeom prst="roundRect">
            <a:avLst>
              <a:gd name="adj" fmla="val 27778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501912" y="3361260"/>
            <a:ext cx="205740" cy="61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b="1" dirty="0">
                <a:solidFill>
                  <a:srgbClr val="80FFE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투입중</a:t>
            </a:r>
            <a:endParaRPr lang="en-US" sz="375" dirty="0"/>
          </a:p>
        </p:txBody>
      </p:sp>
      <p:sp>
        <p:nvSpPr>
          <p:cNvPr id="126" name="Text 124"/>
          <p:cNvSpPr/>
          <p:nvPr/>
        </p:nvSpPr>
        <p:spPr>
          <a:xfrm>
            <a:off x="1802396" y="3450414"/>
            <a:ext cx="58293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68" b="1" dirty="0">
                <a:solidFill>
                  <a:srgbClr val="BDB9E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A금융그룹</a:t>
            </a:r>
            <a:endParaRPr lang="en-US" sz="368" dirty="0"/>
          </a:p>
        </p:txBody>
      </p:sp>
      <p:sp>
        <p:nvSpPr>
          <p:cNvPr id="127" name="Text 125"/>
          <p:cNvSpPr/>
          <p:nvPr/>
        </p:nvSpPr>
        <p:spPr>
          <a:xfrm>
            <a:off x="1802396" y="3546426"/>
            <a:ext cx="48006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00" dirty="0">
                <a:solidFill>
                  <a:srgbClr val="A9A5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▣</a:t>
            </a:r>
            <a:endParaRPr lang="en-US" sz="300" dirty="0"/>
          </a:p>
        </p:txBody>
      </p:sp>
      <p:sp>
        <p:nvSpPr>
          <p:cNvPr id="128" name="Text 126"/>
          <p:cNvSpPr/>
          <p:nvPr/>
        </p:nvSpPr>
        <p:spPr>
          <a:xfrm>
            <a:off x="1870976" y="3539568"/>
            <a:ext cx="75438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30" dirty="0">
                <a:solidFill>
                  <a:srgbClr val="C9C5E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2025.03.01 ~ 2026.12.31</a:t>
            </a:r>
            <a:endParaRPr lang="en-US" sz="330" dirty="0"/>
          </a:p>
        </p:txBody>
      </p:sp>
      <p:sp>
        <p:nvSpPr>
          <p:cNvPr id="129" name="Text 127"/>
          <p:cNvSpPr/>
          <p:nvPr/>
        </p:nvSpPr>
        <p:spPr>
          <a:xfrm>
            <a:off x="2714510" y="3546426"/>
            <a:ext cx="54864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00" dirty="0">
                <a:solidFill>
                  <a:srgbClr val="A9A5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♧</a:t>
            </a:r>
            <a:endParaRPr lang="en-US" sz="300" dirty="0"/>
          </a:p>
        </p:txBody>
      </p:sp>
      <p:sp>
        <p:nvSpPr>
          <p:cNvPr id="130" name="Text 128"/>
          <p:cNvSpPr/>
          <p:nvPr/>
        </p:nvSpPr>
        <p:spPr>
          <a:xfrm>
            <a:off x="2783090" y="3539568"/>
            <a:ext cx="329184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30" dirty="0">
                <a:solidFill>
                  <a:srgbClr val="C9C5E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투입 5명</a:t>
            </a:r>
            <a:endParaRPr lang="en-US" sz="330" dirty="0"/>
          </a:p>
        </p:txBody>
      </p:sp>
      <p:sp>
        <p:nvSpPr>
          <p:cNvPr id="131" name="Shape 129"/>
          <p:cNvSpPr/>
          <p:nvPr/>
        </p:nvSpPr>
        <p:spPr>
          <a:xfrm>
            <a:off x="3263151" y="3532710"/>
            <a:ext cx="238658" cy="109728"/>
          </a:xfrm>
          <a:prstGeom prst="roundRect">
            <a:avLst>
              <a:gd name="adj" fmla="val 1875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290583" y="3546426"/>
            <a:ext cx="183794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D7EE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Java</a:t>
            </a:r>
            <a:endParaRPr lang="en-US" sz="360" dirty="0"/>
          </a:p>
        </p:txBody>
      </p:sp>
      <p:sp>
        <p:nvSpPr>
          <p:cNvPr id="133" name="Shape 131"/>
          <p:cNvSpPr/>
          <p:nvPr/>
        </p:nvSpPr>
        <p:spPr>
          <a:xfrm>
            <a:off x="3529240" y="3532710"/>
            <a:ext cx="356616" cy="109728"/>
          </a:xfrm>
          <a:prstGeom prst="roundRect">
            <a:avLst>
              <a:gd name="adj" fmla="val 1875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556672" y="3546426"/>
            <a:ext cx="301752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D7EE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Spring Boot</a:t>
            </a:r>
            <a:endParaRPr lang="en-US" sz="360" dirty="0"/>
          </a:p>
        </p:txBody>
      </p:sp>
      <p:sp>
        <p:nvSpPr>
          <p:cNvPr id="135" name="Shape 133"/>
          <p:cNvSpPr/>
          <p:nvPr/>
        </p:nvSpPr>
        <p:spPr>
          <a:xfrm>
            <a:off x="3913288" y="3532710"/>
            <a:ext cx="202997" cy="109728"/>
          </a:xfrm>
          <a:prstGeom prst="roundRect">
            <a:avLst>
              <a:gd name="adj" fmla="val 1875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940720" y="3546426"/>
            <a:ext cx="148133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D7EE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MSA</a:t>
            </a:r>
            <a:endParaRPr lang="en-US" sz="360" dirty="0"/>
          </a:p>
        </p:txBody>
      </p:sp>
      <p:sp>
        <p:nvSpPr>
          <p:cNvPr id="137" name="Shape 135"/>
          <p:cNvSpPr/>
          <p:nvPr/>
        </p:nvSpPr>
        <p:spPr>
          <a:xfrm>
            <a:off x="4143718" y="3532710"/>
            <a:ext cx="356616" cy="109728"/>
          </a:xfrm>
          <a:prstGeom prst="roundRect">
            <a:avLst>
              <a:gd name="adj" fmla="val 1875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171150" y="3546426"/>
            <a:ext cx="301752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D7EE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Kubernetes</a:t>
            </a:r>
            <a:endParaRPr lang="en-US" sz="360" dirty="0"/>
          </a:p>
        </p:txBody>
      </p:sp>
      <p:sp>
        <p:nvSpPr>
          <p:cNvPr id="139" name="Shape 137"/>
          <p:cNvSpPr/>
          <p:nvPr/>
        </p:nvSpPr>
        <p:spPr>
          <a:xfrm>
            <a:off x="4874780" y="3381834"/>
            <a:ext cx="205740" cy="137160"/>
          </a:xfrm>
          <a:prstGeom prst="roundRect">
            <a:avLst>
              <a:gd name="adj" fmla="val 20000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915928" y="3419553"/>
            <a:ext cx="123444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3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상세</a:t>
            </a:r>
            <a:endParaRPr lang="en-US" sz="360" dirty="0"/>
          </a:p>
        </p:txBody>
      </p:sp>
      <p:sp>
        <p:nvSpPr>
          <p:cNvPr id="141" name="Shape 139"/>
          <p:cNvSpPr/>
          <p:nvPr/>
        </p:nvSpPr>
        <p:spPr>
          <a:xfrm>
            <a:off x="1720100" y="3745308"/>
            <a:ext cx="3442716" cy="397764"/>
          </a:xfrm>
          <a:prstGeom prst="roundRect">
            <a:avLst>
              <a:gd name="adj" fmla="val 8621"/>
            </a:avLst>
          </a:prstGeom>
          <a:solidFill>
            <a:srgbClr val="33304F"/>
          </a:solidFill>
          <a:ln w="8255">
            <a:solidFill>
              <a:srgbClr val="5D5A8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802396" y="3800172"/>
            <a:ext cx="106299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5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C제조 MES 고도화</a:t>
            </a:r>
            <a:endParaRPr lang="en-US" sz="540" dirty="0"/>
          </a:p>
        </p:txBody>
      </p:sp>
      <p:sp>
        <p:nvSpPr>
          <p:cNvPr id="143" name="Shape 141"/>
          <p:cNvSpPr/>
          <p:nvPr/>
        </p:nvSpPr>
        <p:spPr>
          <a:xfrm>
            <a:off x="2474480" y="3796743"/>
            <a:ext cx="260604" cy="123444"/>
          </a:xfrm>
          <a:prstGeom prst="roundRect">
            <a:avLst>
              <a:gd name="adj" fmla="val 27778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501912" y="3820746"/>
            <a:ext cx="205740" cy="61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b="1" dirty="0">
                <a:solidFill>
                  <a:srgbClr val="80FFE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투입중</a:t>
            </a:r>
            <a:endParaRPr lang="en-US" sz="375" dirty="0"/>
          </a:p>
        </p:txBody>
      </p:sp>
      <p:sp>
        <p:nvSpPr>
          <p:cNvPr id="145" name="Text 143"/>
          <p:cNvSpPr/>
          <p:nvPr/>
        </p:nvSpPr>
        <p:spPr>
          <a:xfrm>
            <a:off x="1802396" y="3909900"/>
            <a:ext cx="58293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68" b="1" dirty="0">
                <a:solidFill>
                  <a:srgbClr val="BDB9E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C제조</a:t>
            </a:r>
            <a:endParaRPr lang="en-US" sz="368" dirty="0"/>
          </a:p>
        </p:txBody>
      </p:sp>
      <p:sp>
        <p:nvSpPr>
          <p:cNvPr id="146" name="Text 144"/>
          <p:cNvSpPr/>
          <p:nvPr/>
        </p:nvSpPr>
        <p:spPr>
          <a:xfrm>
            <a:off x="1802396" y="4005912"/>
            <a:ext cx="48006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00" dirty="0">
                <a:solidFill>
                  <a:srgbClr val="A9A5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▣</a:t>
            </a:r>
            <a:endParaRPr lang="en-US" sz="300" dirty="0"/>
          </a:p>
        </p:txBody>
      </p:sp>
      <p:sp>
        <p:nvSpPr>
          <p:cNvPr id="147" name="Text 145"/>
          <p:cNvSpPr/>
          <p:nvPr/>
        </p:nvSpPr>
        <p:spPr>
          <a:xfrm>
            <a:off x="1870976" y="3999054"/>
            <a:ext cx="75438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30" dirty="0">
                <a:solidFill>
                  <a:srgbClr val="C9C5E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2024.12.01 ~ 2026.07.31</a:t>
            </a:r>
            <a:endParaRPr lang="en-US" sz="330" dirty="0"/>
          </a:p>
        </p:txBody>
      </p:sp>
      <p:sp>
        <p:nvSpPr>
          <p:cNvPr id="148" name="Text 146"/>
          <p:cNvSpPr/>
          <p:nvPr/>
        </p:nvSpPr>
        <p:spPr>
          <a:xfrm>
            <a:off x="2714510" y="4005912"/>
            <a:ext cx="54864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00" dirty="0">
                <a:solidFill>
                  <a:srgbClr val="A9A5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♧</a:t>
            </a:r>
            <a:endParaRPr lang="en-US" sz="300" dirty="0"/>
          </a:p>
        </p:txBody>
      </p:sp>
      <p:sp>
        <p:nvSpPr>
          <p:cNvPr id="149" name="Text 147"/>
          <p:cNvSpPr/>
          <p:nvPr/>
        </p:nvSpPr>
        <p:spPr>
          <a:xfrm>
            <a:off x="2783090" y="3999054"/>
            <a:ext cx="329184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30" dirty="0">
                <a:solidFill>
                  <a:srgbClr val="C9C5E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투입 4명</a:t>
            </a:r>
            <a:endParaRPr lang="en-US" sz="330" dirty="0"/>
          </a:p>
        </p:txBody>
      </p:sp>
      <p:sp>
        <p:nvSpPr>
          <p:cNvPr id="150" name="Shape 148"/>
          <p:cNvSpPr/>
          <p:nvPr/>
        </p:nvSpPr>
        <p:spPr>
          <a:xfrm>
            <a:off x="3263150" y="3992196"/>
            <a:ext cx="309982" cy="109728"/>
          </a:xfrm>
          <a:prstGeom prst="roundRect">
            <a:avLst>
              <a:gd name="adj" fmla="val 1875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290582" y="4005912"/>
            <a:ext cx="255118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D7EE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</a:t>
            </a:r>
            <a:endParaRPr lang="en-US" sz="360" dirty="0"/>
          </a:p>
        </p:txBody>
      </p:sp>
      <p:sp>
        <p:nvSpPr>
          <p:cNvPr id="152" name="Shape 150"/>
          <p:cNvSpPr/>
          <p:nvPr/>
        </p:nvSpPr>
        <p:spPr>
          <a:xfrm>
            <a:off x="3600564" y="3992196"/>
            <a:ext cx="309982" cy="109728"/>
          </a:xfrm>
          <a:prstGeom prst="roundRect">
            <a:avLst>
              <a:gd name="adj" fmla="val 1875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3627996" y="4005912"/>
            <a:ext cx="255118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D7EE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Vue.js</a:t>
            </a:r>
            <a:endParaRPr lang="en-US" sz="360" dirty="0"/>
          </a:p>
        </p:txBody>
      </p:sp>
      <p:sp>
        <p:nvSpPr>
          <p:cNvPr id="154" name="Shape 152"/>
          <p:cNvSpPr/>
          <p:nvPr/>
        </p:nvSpPr>
        <p:spPr>
          <a:xfrm>
            <a:off x="3937978" y="3992196"/>
            <a:ext cx="356616" cy="109728"/>
          </a:xfrm>
          <a:prstGeom prst="roundRect">
            <a:avLst>
              <a:gd name="adj" fmla="val 1875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3965410" y="4005912"/>
            <a:ext cx="301752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D7EE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PostgreSQL</a:t>
            </a:r>
            <a:endParaRPr lang="en-US" sz="360" dirty="0"/>
          </a:p>
        </p:txBody>
      </p:sp>
      <p:sp>
        <p:nvSpPr>
          <p:cNvPr id="156" name="Shape 154"/>
          <p:cNvSpPr/>
          <p:nvPr/>
        </p:nvSpPr>
        <p:spPr>
          <a:xfrm>
            <a:off x="4322026" y="3992196"/>
            <a:ext cx="238658" cy="109728"/>
          </a:xfrm>
          <a:prstGeom prst="roundRect">
            <a:avLst>
              <a:gd name="adj" fmla="val 1875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349458" y="4005912"/>
            <a:ext cx="183794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D7EE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MQTT</a:t>
            </a:r>
            <a:endParaRPr lang="en-US" sz="360" dirty="0"/>
          </a:p>
        </p:txBody>
      </p:sp>
      <p:sp>
        <p:nvSpPr>
          <p:cNvPr id="158" name="Shape 156"/>
          <p:cNvSpPr/>
          <p:nvPr/>
        </p:nvSpPr>
        <p:spPr>
          <a:xfrm>
            <a:off x="4874780" y="3841320"/>
            <a:ext cx="205740" cy="137160"/>
          </a:xfrm>
          <a:prstGeom prst="roundRect">
            <a:avLst>
              <a:gd name="adj" fmla="val 20000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4915928" y="3879039"/>
            <a:ext cx="123444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3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상세</a:t>
            </a:r>
            <a:endParaRPr lang="en-US" sz="360" dirty="0"/>
          </a:p>
        </p:txBody>
      </p:sp>
      <p:sp>
        <p:nvSpPr>
          <p:cNvPr id="160" name="Text 158"/>
          <p:cNvSpPr/>
          <p:nvPr/>
        </p:nvSpPr>
        <p:spPr>
          <a:xfrm>
            <a:off x="2440190" y="2188542"/>
            <a:ext cx="12344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⑥</a:t>
            </a:r>
            <a:endParaRPr lang="en-US" sz="900" dirty="0"/>
          </a:p>
        </p:txBody>
      </p:sp>
      <p:sp>
        <p:nvSpPr>
          <p:cNvPr id="161" name="Text 159"/>
          <p:cNvSpPr/>
          <p:nvPr/>
        </p:nvSpPr>
        <p:spPr>
          <a:xfrm>
            <a:off x="5726430" y="678942"/>
            <a:ext cx="1028700" cy="19202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62" name="Text 160"/>
          <p:cNvSpPr/>
          <p:nvPr/>
        </p:nvSpPr>
        <p:spPr>
          <a:xfrm>
            <a:off x="8257032" y="720090"/>
            <a:ext cx="34290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pPr algn="r"/>
            <a:r>
              <a:rPr lang="en-US" sz="6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검토용</a:t>
            </a:r>
            <a:endParaRPr lang="en-US" sz="600" dirty="0"/>
          </a:p>
        </p:txBody>
      </p:sp>
      <p:graphicFrame>
        <p:nvGraphicFramePr>
          <p:cNvPr id="1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941210"/>
              </p:ext>
            </p:extLst>
          </p:nvPr>
        </p:nvGraphicFramePr>
        <p:xfrm>
          <a:off x="5657850" y="994410"/>
          <a:ext cx="2983230" cy="2455164"/>
        </p:xfrm>
        <a:graphic>
          <a:graphicData uri="http://schemas.openxmlformats.org/drawingml/2006/table">
            <a:tbl>
              <a:tblPr/>
              <a:tblGrid>
                <a:gridCol w="644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8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기획 내용</a:t>
                      </a:r>
                      <a:endParaRPr lang="en-US" sz="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 smtClean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1 </a:t>
                      </a: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상태 탭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전체/진행 중/완료/예정 상태별 목록 조회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각 탭 우측에 상태별 건수 표시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 smtClean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2 </a:t>
                      </a: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프로젝트 등록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프로젝트 등록 버튼 클릭 시 등록 화면 이동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 smtClean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3 </a:t>
                      </a: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검색/필터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프로젝트명·고객사 키워드 검색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기술스택/PM 조건으로 목록 필터링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 smtClean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4 </a:t>
                      </a: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프로젝트 목록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프로젝트명, 고객사, 기간, 투입 인원, 기술스택, 상태 표시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 smtClean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5 </a:t>
                      </a: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상세 이동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상세 버튼 클릭 시 프로젝트 상세 화면 이동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 smtClean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6 </a:t>
                      </a: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목록 정보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카드형 목록으로 프로젝트 핵심 정보를 한 화면에 요약 표시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32033"/>
              </p:ext>
            </p:extLst>
          </p:nvPr>
        </p:nvGraphicFramePr>
        <p:xfrm>
          <a:off x="5657850" y="3463290"/>
          <a:ext cx="2983230" cy="987552"/>
        </p:xfrm>
        <a:graphic>
          <a:graphicData uri="http://schemas.openxmlformats.org/drawingml/2006/table">
            <a:tbl>
              <a:tblPr/>
              <a:tblGrid>
                <a:gridCol w="644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8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수정/추가</a:t>
                      </a:r>
                      <a:endParaRPr lang="en-US" sz="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 smtClean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7 </a:t>
                      </a: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상태 관리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상태값 기준으로 목록 탭 및 배지 정보 동기화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 smtClean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8 </a:t>
                      </a: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검색 조건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검색어/필터 변경 시 목록 즉시 재조회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5" name="Text 161"/>
          <p:cNvSpPr/>
          <p:nvPr/>
        </p:nvSpPr>
        <p:spPr>
          <a:xfrm>
            <a:off x="1661421" y="2325702"/>
            <a:ext cx="3429000" cy="15087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510" dirty="0"/>
          </a:p>
        </p:txBody>
      </p:sp>
      <p:sp>
        <p:nvSpPr>
          <p:cNvPr id="166" name="Text 162"/>
          <p:cNvSpPr/>
          <p:nvPr/>
        </p:nvSpPr>
        <p:spPr>
          <a:xfrm>
            <a:off x="8469630" y="4828032"/>
            <a:ext cx="44577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r"/>
            <a:r>
              <a:rPr lang="en-US" sz="488" dirty="0">
                <a:solidFill>
                  <a:srgbClr val="0F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Confidential</a:t>
            </a:r>
            <a:endParaRPr lang="en-US" sz="488" dirty="0"/>
          </a:p>
        </p:txBody>
      </p:sp>
    </p:spTree>
    <p:extLst>
      <p:ext uri="{BB962C8B-B14F-4D97-AF65-F5344CB8AC3E}">
        <p14:creationId xmlns:p14="http://schemas.microsoft.com/office/powerpoint/2010/main" val="3801075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61722"/>
            <a:ext cx="8867394" cy="397764"/>
          </a:xfrm>
          <a:prstGeom prst="rect">
            <a:avLst/>
          </a:prstGeom>
          <a:solidFill>
            <a:srgbClr val="0F213A"/>
          </a:solidFill>
          <a:ln w="7620">
            <a:solidFill>
              <a:srgbClr val="0F2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5196" y="164592"/>
            <a:ext cx="1028700" cy="12344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8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Peoplify UI 기획서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051810" y="123444"/>
            <a:ext cx="3051810" cy="19202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등록 화면 설계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981444" y="164592"/>
            <a:ext cx="1508760" cy="9601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r"/>
            <a:r>
              <a:rPr lang="en-US" sz="54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project 도메인 · /project/project-register</a:t>
            </a:r>
            <a:endParaRPr lang="en-US" sz="540" dirty="0"/>
          </a:p>
        </p:txBody>
      </p:sp>
      <p:sp>
        <p:nvSpPr>
          <p:cNvPr id="6" name="Text 4"/>
          <p:cNvSpPr/>
          <p:nvPr/>
        </p:nvSpPr>
        <p:spPr>
          <a:xfrm>
            <a:off x="8586216" y="164592"/>
            <a:ext cx="171450" cy="9601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r"/>
            <a:r>
              <a:rPr lang="en-US" sz="61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615" dirty="0"/>
          </a:p>
        </p:txBody>
      </p:sp>
      <p:sp>
        <p:nvSpPr>
          <p:cNvPr id="7" name="Text 5"/>
          <p:cNvSpPr/>
          <p:nvPr/>
        </p:nvSpPr>
        <p:spPr>
          <a:xfrm>
            <a:off x="493776" y="665226"/>
            <a:ext cx="822960" cy="15087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975" b="1" dirty="0">
                <a:solidFill>
                  <a:srgbClr val="0F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설계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356616" y="884682"/>
            <a:ext cx="5143500" cy="339471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8890">
            <a:solidFill>
              <a:srgbClr val="D1D9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5770" y="1014984"/>
            <a:ext cx="4937760" cy="3188970"/>
          </a:xfrm>
          <a:prstGeom prst="rect">
            <a:avLst/>
          </a:prstGeom>
          <a:solidFill>
            <a:srgbClr val="1F1D3A"/>
          </a:solidFill>
          <a:ln w="7620">
            <a:solidFill>
              <a:srgbClr val="1F1D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770" y="1014984"/>
            <a:ext cx="973836" cy="3188970"/>
          </a:xfrm>
          <a:prstGeom prst="rect">
            <a:avLst/>
          </a:prstGeom>
          <a:solidFill>
            <a:srgbClr val="302E4D"/>
          </a:solidFill>
          <a:ln w="7620">
            <a:solidFill>
              <a:srgbClr val="302E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9606" y="1014984"/>
            <a:ext cx="3963924" cy="377190"/>
          </a:xfrm>
          <a:prstGeom prst="rect">
            <a:avLst/>
          </a:prstGeom>
          <a:solidFill>
            <a:srgbClr val="33314F"/>
          </a:solidFill>
          <a:ln w="7620">
            <a:solidFill>
              <a:srgbClr val="333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066" y="1110996"/>
            <a:ext cx="754380" cy="9601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51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⚙  인력관리 시스템</a:t>
            </a:r>
            <a:endParaRPr lang="en-US" sz="510" dirty="0"/>
          </a:p>
        </p:txBody>
      </p:sp>
      <p:sp>
        <p:nvSpPr>
          <p:cNvPr id="13" name="Text 11"/>
          <p:cNvSpPr/>
          <p:nvPr/>
        </p:nvSpPr>
        <p:spPr>
          <a:xfrm>
            <a:off x="637794" y="1207008"/>
            <a:ext cx="480060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53" dirty="0">
                <a:solidFill>
                  <a:srgbClr val="C8C5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Peoplify v1.0</a:t>
            </a:r>
            <a:endParaRPr lang="en-US" sz="353" dirty="0"/>
          </a:p>
        </p:txBody>
      </p:sp>
      <p:sp>
        <p:nvSpPr>
          <p:cNvPr id="14" name="Text 12"/>
          <p:cNvSpPr/>
          <p:nvPr/>
        </p:nvSpPr>
        <p:spPr>
          <a:xfrm>
            <a:off x="534924" y="1495044"/>
            <a:ext cx="342900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68" dirty="0">
                <a:solidFill>
                  <a:srgbClr val="B5B2D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 메뉴</a:t>
            </a:r>
            <a:endParaRPr lang="en-US" sz="368" dirty="0"/>
          </a:p>
        </p:txBody>
      </p:sp>
      <p:sp>
        <p:nvSpPr>
          <p:cNvPr id="15" name="Text 13"/>
          <p:cNvSpPr/>
          <p:nvPr/>
        </p:nvSpPr>
        <p:spPr>
          <a:xfrm>
            <a:off x="541782" y="1687068"/>
            <a:ext cx="89154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▦</a:t>
            </a:r>
            <a:endParaRPr lang="en-US" sz="413" dirty="0"/>
          </a:p>
        </p:txBody>
      </p:sp>
      <p:sp>
        <p:nvSpPr>
          <p:cNvPr id="16" name="Text 14"/>
          <p:cNvSpPr/>
          <p:nvPr/>
        </p:nvSpPr>
        <p:spPr>
          <a:xfrm>
            <a:off x="665226" y="1687068"/>
            <a:ext cx="562356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</a:t>
            </a:r>
            <a:endParaRPr lang="en-US" sz="413" dirty="0"/>
          </a:p>
        </p:txBody>
      </p:sp>
      <p:sp>
        <p:nvSpPr>
          <p:cNvPr id="17" name="Text 15"/>
          <p:cNvSpPr/>
          <p:nvPr/>
        </p:nvSpPr>
        <p:spPr>
          <a:xfrm>
            <a:off x="1248156" y="1687068"/>
            <a:ext cx="54864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18" name="Text 16"/>
          <p:cNvSpPr/>
          <p:nvPr/>
        </p:nvSpPr>
        <p:spPr>
          <a:xfrm>
            <a:off x="541782" y="1933956"/>
            <a:ext cx="89154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♟</a:t>
            </a:r>
            <a:endParaRPr lang="en-US" sz="413" dirty="0"/>
          </a:p>
        </p:txBody>
      </p:sp>
      <p:sp>
        <p:nvSpPr>
          <p:cNvPr id="19" name="Text 17"/>
          <p:cNvSpPr/>
          <p:nvPr/>
        </p:nvSpPr>
        <p:spPr>
          <a:xfrm>
            <a:off x="665226" y="1933956"/>
            <a:ext cx="562356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직원관리</a:t>
            </a:r>
            <a:endParaRPr lang="en-US" sz="413" dirty="0"/>
          </a:p>
        </p:txBody>
      </p:sp>
      <p:sp>
        <p:nvSpPr>
          <p:cNvPr id="20" name="Text 18"/>
          <p:cNvSpPr/>
          <p:nvPr/>
        </p:nvSpPr>
        <p:spPr>
          <a:xfrm>
            <a:off x="1248156" y="1933956"/>
            <a:ext cx="54864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21" name="Shape 19"/>
          <p:cNvSpPr/>
          <p:nvPr/>
        </p:nvSpPr>
        <p:spPr>
          <a:xfrm>
            <a:off x="507492" y="2170557"/>
            <a:ext cx="857250" cy="164592"/>
          </a:xfrm>
          <a:prstGeom prst="roundRect">
            <a:avLst>
              <a:gd name="adj" fmla="val 16667"/>
            </a:avLst>
          </a:prstGeom>
          <a:solidFill>
            <a:srgbClr val="3C395D"/>
          </a:solidFill>
          <a:ln w="8890">
            <a:solidFill>
              <a:srgbClr val="3C39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782" y="2180844"/>
            <a:ext cx="89154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413" dirty="0"/>
          </a:p>
        </p:txBody>
      </p:sp>
      <p:sp>
        <p:nvSpPr>
          <p:cNvPr id="23" name="Text 21"/>
          <p:cNvSpPr/>
          <p:nvPr/>
        </p:nvSpPr>
        <p:spPr>
          <a:xfrm>
            <a:off x="665226" y="2180844"/>
            <a:ext cx="562356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13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</a:t>
            </a:r>
            <a:endParaRPr lang="en-US" sz="413" dirty="0"/>
          </a:p>
        </p:txBody>
      </p:sp>
      <p:sp>
        <p:nvSpPr>
          <p:cNvPr id="24" name="Text 22"/>
          <p:cNvSpPr/>
          <p:nvPr/>
        </p:nvSpPr>
        <p:spPr>
          <a:xfrm>
            <a:off x="1248156" y="2180844"/>
            <a:ext cx="54864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25" name="Text 23"/>
          <p:cNvSpPr/>
          <p:nvPr/>
        </p:nvSpPr>
        <p:spPr>
          <a:xfrm>
            <a:off x="541782" y="2434590"/>
            <a:ext cx="89154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⊕</a:t>
            </a:r>
            <a:endParaRPr lang="en-US" sz="413" dirty="0"/>
          </a:p>
        </p:txBody>
      </p:sp>
      <p:sp>
        <p:nvSpPr>
          <p:cNvPr id="26" name="Text 24"/>
          <p:cNvSpPr/>
          <p:nvPr/>
        </p:nvSpPr>
        <p:spPr>
          <a:xfrm>
            <a:off x="665226" y="2434590"/>
            <a:ext cx="562356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근태관리</a:t>
            </a:r>
            <a:endParaRPr lang="en-US" sz="413" dirty="0"/>
          </a:p>
        </p:txBody>
      </p:sp>
      <p:sp>
        <p:nvSpPr>
          <p:cNvPr id="27" name="Text 25"/>
          <p:cNvSpPr/>
          <p:nvPr/>
        </p:nvSpPr>
        <p:spPr>
          <a:xfrm>
            <a:off x="1248156" y="2434590"/>
            <a:ext cx="54864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28" name="Text 26"/>
          <p:cNvSpPr/>
          <p:nvPr/>
        </p:nvSpPr>
        <p:spPr>
          <a:xfrm>
            <a:off x="541782" y="2681478"/>
            <a:ext cx="89154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▥</a:t>
            </a:r>
            <a:endParaRPr lang="en-US" sz="413" dirty="0"/>
          </a:p>
        </p:txBody>
      </p:sp>
      <p:sp>
        <p:nvSpPr>
          <p:cNvPr id="29" name="Text 27"/>
          <p:cNvSpPr/>
          <p:nvPr/>
        </p:nvSpPr>
        <p:spPr>
          <a:xfrm>
            <a:off x="665226" y="2681478"/>
            <a:ext cx="562356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리포트</a:t>
            </a:r>
            <a:endParaRPr lang="en-US" sz="413" dirty="0"/>
          </a:p>
        </p:txBody>
      </p:sp>
      <p:sp>
        <p:nvSpPr>
          <p:cNvPr id="30" name="Text 28"/>
          <p:cNvSpPr/>
          <p:nvPr/>
        </p:nvSpPr>
        <p:spPr>
          <a:xfrm>
            <a:off x="1248156" y="2681478"/>
            <a:ext cx="54864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31" name="Text 29"/>
          <p:cNvSpPr/>
          <p:nvPr/>
        </p:nvSpPr>
        <p:spPr>
          <a:xfrm>
            <a:off x="534924" y="2935224"/>
            <a:ext cx="514350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45" dirty="0">
                <a:solidFill>
                  <a:srgbClr val="8E8BA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퍼플리싱(임시)</a:t>
            </a:r>
            <a:endParaRPr lang="en-US" sz="345" dirty="0"/>
          </a:p>
        </p:txBody>
      </p:sp>
      <p:sp>
        <p:nvSpPr>
          <p:cNvPr id="32" name="Text 30"/>
          <p:cNvSpPr/>
          <p:nvPr/>
        </p:nvSpPr>
        <p:spPr>
          <a:xfrm>
            <a:off x="541782" y="3127248"/>
            <a:ext cx="89154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▦</a:t>
            </a:r>
            <a:endParaRPr lang="en-US" sz="413" dirty="0"/>
          </a:p>
        </p:txBody>
      </p:sp>
      <p:sp>
        <p:nvSpPr>
          <p:cNvPr id="33" name="Text 31"/>
          <p:cNvSpPr/>
          <p:nvPr/>
        </p:nvSpPr>
        <p:spPr>
          <a:xfrm>
            <a:off x="665226" y="3127248"/>
            <a:ext cx="562356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</a:t>
            </a:r>
            <a:endParaRPr lang="en-US" sz="413" dirty="0"/>
          </a:p>
        </p:txBody>
      </p:sp>
      <p:sp>
        <p:nvSpPr>
          <p:cNvPr id="34" name="Text 32"/>
          <p:cNvSpPr/>
          <p:nvPr/>
        </p:nvSpPr>
        <p:spPr>
          <a:xfrm>
            <a:off x="1248156" y="3127248"/>
            <a:ext cx="54864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35" name="Text 33"/>
          <p:cNvSpPr/>
          <p:nvPr/>
        </p:nvSpPr>
        <p:spPr>
          <a:xfrm>
            <a:off x="541782" y="3374136"/>
            <a:ext cx="89154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413" dirty="0"/>
          </a:p>
        </p:txBody>
      </p:sp>
      <p:sp>
        <p:nvSpPr>
          <p:cNvPr id="36" name="Text 34"/>
          <p:cNvSpPr/>
          <p:nvPr/>
        </p:nvSpPr>
        <p:spPr>
          <a:xfrm>
            <a:off x="665226" y="3374136"/>
            <a:ext cx="562356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</a:t>
            </a:r>
            <a:endParaRPr lang="en-US" sz="413" dirty="0"/>
          </a:p>
        </p:txBody>
      </p:sp>
      <p:sp>
        <p:nvSpPr>
          <p:cNvPr id="37" name="Text 35"/>
          <p:cNvSpPr/>
          <p:nvPr/>
        </p:nvSpPr>
        <p:spPr>
          <a:xfrm>
            <a:off x="1248156" y="3374136"/>
            <a:ext cx="54864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38" name="Text 36"/>
          <p:cNvSpPr/>
          <p:nvPr/>
        </p:nvSpPr>
        <p:spPr>
          <a:xfrm>
            <a:off x="534924" y="3675888"/>
            <a:ext cx="48006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9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↪  로그인</a:t>
            </a:r>
            <a:endParaRPr lang="en-US" sz="398" dirty="0"/>
          </a:p>
        </p:txBody>
      </p:sp>
      <p:sp>
        <p:nvSpPr>
          <p:cNvPr id="39" name="Shape 37"/>
          <p:cNvSpPr/>
          <p:nvPr/>
        </p:nvSpPr>
        <p:spPr>
          <a:xfrm>
            <a:off x="1508760" y="1097280"/>
            <a:ext cx="171450" cy="192024"/>
          </a:xfrm>
          <a:prstGeom prst="roundRect">
            <a:avLst>
              <a:gd name="adj" fmla="val 14000"/>
            </a:avLst>
          </a:prstGeom>
          <a:solidFill>
            <a:srgbClr val="2C2A49"/>
          </a:solidFill>
          <a:ln w="8890">
            <a:solidFill>
              <a:srgbClr val="5D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43050" y="1145286"/>
            <a:ext cx="82296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pPr algn="ctr"/>
            <a:r>
              <a:rPr lang="en-US" sz="43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☰</a:t>
            </a:r>
            <a:endParaRPr lang="en-US" sz="435" dirty="0"/>
          </a:p>
        </p:txBody>
      </p:sp>
      <p:sp>
        <p:nvSpPr>
          <p:cNvPr id="41" name="Shape 39"/>
          <p:cNvSpPr/>
          <p:nvPr/>
        </p:nvSpPr>
        <p:spPr>
          <a:xfrm>
            <a:off x="1762506" y="1097280"/>
            <a:ext cx="1885950" cy="192024"/>
          </a:xfrm>
          <a:prstGeom prst="roundRect">
            <a:avLst>
              <a:gd name="adj" fmla="val 12500"/>
            </a:avLst>
          </a:prstGeom>
          <a:solidFill>
            <a:srgbClr val="2C2A49"/>
          </a:solidFill>
          <a:ln w="8890">
            <a:solidFill>
              <a:srgbClr val="5D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31086" y="1145286"/>
            <a:ext cx="109728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83" dirty="0">
                <a:solidFill>
                  <a:srgbClr val="C7C5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⌕  Search or type command...</a:t>
            </a:r>
            <a:endParaRPr lang="en-US" sz="383" dirty="0"/>
          </a:p>
        </p:txBody>
      </p:sp>
      <p:sp>
        <p:nvSpPr>
          <p:cNvPr id="43" name="Text 41"/>
          <p:cNvSpPr/>
          <p:nvPr/>
        </p:nvSpPr>
        <p:spPr>
          <a:xfrm>
            <a:off x="4594860" y="1145286"/>
            <a:ext cx="123444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pPr algn="ctr"/>
            <a:r>
              <a:rPr lang="en-US" sz="360" dirty="0">
                <a:solidFill>
                  <a:srgbClr val="B8B5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⌘K</a:t>
            </a:r>
            <a:endParaRPr lang="en-US" sz="360" dirty="0"/>
          </a:p>
        </p:txBody>
      </p:sp>
      <p:sp>
        <p:nvSpPr>
          <p:cNvPr id="44" name="Text 42"/>
          <p:cNvSpPr/>
          <p:nvPr/>
        </p:nvSpPr>
        <p:spPr>
          <a:xfrm>
            <a:off x="4807458" y="1138428"/>
            <a:ext cx="89154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pPr algn="ctr"/>
            <a:r>
              <a:rPr lang="en-US" sz="4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☼</a:t>
            </a:r>
            <a:endParaRPr lang="en-US" sz="450" dirty="0"/>
          </a:p>
        </p:txBody>
      </p:sp>
      <p:sp>
        <p:nvSpPr>
          <p:cNvPr id="45" name="Shape 43"/>
          <p:cNvSpPr/>
          <p:nvPr/>
        </p:nvSpPr>
        <p:spPr>
          <a:xfrm>
            <a:off x="4958334" y="1097280"/>
            <a:ext cx="363474" cy="192024"/>
          </a:xfrm>
          <a:prstGeom prst="roundRect">
            <a:avLst>
              <a:gd name="adj" fmla="val 21429"/>
            </a:avLst>
          </a:prstGeom>
          <a:solidFill>
            <a:srgbClr val="24223F"/>
          </a:solidFill>
          <a:ln w="8890">
            <a:solidFill>
              <a:srgbClr val="24223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78908" y="1138428"/>
            <a:ext cx="315468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3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 ↗</a:t>
            </a:r>
            <a:endParaRPr lang="en-US" sz="390" dirty="0"/>
          </a:p>
        </p:txBody>
      </p:sp>
      <p:sp>
        <p:nvSpPr>
          <p:cNvPr id="48" name="Text 46"/>
          <p:cNvSpPr/>
          <p:nvPr/>
        </p:nvSpPr>
        <p:spPr>
          <a:xfrm>
            <a:off x="5314950" y="1138428"/>
            <a:ext cx="41148" cy="3429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77500" lnSpcReduction="20000"/>
          </a:bodyPr>
          <a:lstStyle/>
          <a:p>
            <a:pPr algn="ctr"/>
            <a:r>
              <a:rPr lang="en-US" sz="31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</a:t>
            </a:r>
            <a:endParaRPr lang="en-US" sz="315" dirty="0"/>
          </a:p>
        </p:txBody>
      </p:sp>
      <p:sp>
        <p:nvSpPr>
          <p:cNvPr id="49" name="Text 47"/>
          <p:cNvSpPr/>
          <p:nvPr/>
        </p:nvSpPr>
        <p:spPr>
          <a:xfrm>
            <a:off x="1556766" y="1438870"/>
            <a:ext cx="89154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90" dirty="0">
                <a:solidFill>
                  <a:srgbClr val="B8B5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 ›  프로젝트 등록</a:t>
            </a:r>
            <a:endParaRPr lang="en-US" sz="390" dirty="0"/>
          </a:p>
        </p:txBody>
      </p:sp>
      <p:sp>
        <p:nvSpPr>
          <p:cNvPr id="50" name="Text 48"/>
          <p:cNvSpPr/>
          <p:nvPr/>
        </p:nvSpPr>
        <p:spPr>
          <a:xfrm>
            <a:off x="1556766" y="1548598"/>
            <a:ext cx="1097280" cy="12344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863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등록</a:t>
            </a:r>
            <a:endParaRPr lang="en-US" sz="863" dirty="0"/>
          </a:p>
        </p:txBody>
      </p:sp>
      <p:sp>
        <p:nvSpPr>
          <p:cNvPr id="51" name="Shape 49"/>
          <p:cNvSpPr/>
          <p:nvPr/>
        </p:nvSpPr>
        <p:spPr>
          <a:xfrm>
            <a:off x="4608576" y="1528024"/>
            <a:ext cx="288036" cy="144018"/>
          </a:xfrm>
          <a:prstGeom prst="roundRect">
            <a:avLst>
              <a:gd name="adj" fmla="val 16667"/>
            </a:avLst>
          </a:prstGeom>
          <a:solidFill>
            <a:srgbClr val="2C2A49"/>
          </a:solidFill>
          <a:ln w="8890">
            <a:solidFill>
              <a:srgbClr val="5D5A8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49724" y="1569172"/>
            <a:ext cx="198882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pPr algn="ctr"/>
            <a:r>
              <a:rPr lang="en-US" sz="36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×  취소</a:t>
            </a:r>
            <a:endParaRPr lang="en-US" sz="360" dirty="0"/>
          </a:p>
        </p:txBody>
      </p:sp>
      <p:sp>
        <p:nvSpPr>
          <p:cNvPr id="53" name="Shape 51"/>
          <p:cNvSpPr/>
          <p:nvPr/>
        </p:nvSpPr>
        <p:spPr>
          <a:xfrm>
            <a:off x="4937760" y="1528024"/>
            <a:ext cx="288036" cy="144018"/>
          </a:xfrm>
          <a:prstGeom prst="roundRect">
            <a:avLst>
              <a:gd name="adj" fmla="val 16667"/>
            </a:avLst>
          </a:prstGeom>
          <a:solidFill>
            <a:srgbClr val="6F5AE8"/>
          </a:solidFill>
          <a:ln w="8890">
            <a:solidFill>
              <a:srgbClr val="6F5A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1569172"/>
            <a:ext cx="233172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pPr algn="ctr"/>
            <a:r>
              <a:rPr lang="en-US" sz="3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▣  등록</a:t>
            </a:r>
            <a:endParaRPr lang="en-US" sz="360" dirty="0"/>
          </a:p>
        </p:txBody>
      </p:sp>
      <p:sp>
        <p:nvSpPr>
          <p:cNvPr id="55" name="Shape 53"/>
          <p:cNvSpPr/>
          <p:nvPr/>
        </p:nvSpPr>
        <p:spPr>
          <a:xfrm>
            <a:off x="4533138" y="1433322"/>
            <a:ext cx="109728" cy="109728"/>
          </a:xfrm>
          <a:prstGeom prst="ellipse">
            <a:avLst/>
          </a:prstGeom>
          <a:solidFill>
            <a:srgbClr val="FFFFFF">
              <a:alpha val="0"/>
            </a:srgbClr>
          </a:solidFill>
          <a:ln w="20320">
            <a:solidFill>
              <a:srgbClr val="FF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39996" y="1437724"/>
            <a:ext cx="109728" cy="109728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525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525" dirty="0"/>
          </a:p>
        </p:txBody>
      </p:sp>
      <p:sp>
        <p:nvSpPr>
          <p:cNvPr id="57" name="Shape 55"/>
          <p:cNvSpPr/>
          <p:nvPr/>
        </p:nvSpPr>
        <p:spPr>
          <a:xfrm>
            <a:off x="1556766" y="1781770"/>
            <a:ext cx="3689604" cy="1392174"/>
          </a:xfrm>
          <a:prstGeom prst="roundRect">
            <a:avLst>
              <a:gd name="adj" fmla="val 2632"/>
            </a:avLst>
          </a:prstGeom>
          <a:solidFill>
            <a:srgbClr val="33304F"/>
          </a:solidFill>
          <a:ln w="8890">
            <a:solidFill>
              <a:srgbClr val="5D5A8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39062" y="1850350"/>
            <a:ext cx="54864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85000" lnSpcReduction="20000"/>
          </a:bodyPr>
          <a:lstStyle/>
          <a:p>
            <a:pPr algn="ctr"/>
            <a:r>
              <a:rPr lang="en-US" sz="450" dirty="0">
                <a:solidFill>
                  <a:srgbClr val="7E6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</a:t>
            </a:r>
            <a:endParaRPr lang="en-US" sz="450" dirty="0"/>
          </a:p>
        </p:txBody>
      </p:sp>
      <p:sp>
        <p:nvSpPr>
          <p:cNvPr id="59" name="Text 57"/>
          <p:cNvSpPr/>
          <p:nvPr/>
        </p:nvSpPr>
        <p:spPr>
          <a:xfrm>
            <a:off x="1645920" y="1850350"/>
            <a:ext cx="41148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34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345" dirty="0"/>
          </a:p>
        </p:txBody>
      </p:sp>
      <p:sp>
        <p:nvSpPr>
          <p:cNvPr id="60" name="Text 58"/>
          <p:cNvSpPr/>
          <p:nvPr/>
        </p:nvSpPr>
        <p:spPr>
          <a:xfrm>
            <a:off x="1741932" y="1843492"/>
            <a:ext cx="48006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6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기본정보</a:t>
            </a:r>
            <a:endParaRPr lang="en-US" sz="465" dirty="0"/>
          </a:p>
        </p:txBody>
      </p:sp>
      <p:sp>
        <p:nvSpPr>
          <p:cNvPr id="61" name="Shape 59"/>
          <p:cNvSpPr/>
          <p:nvPr/>
        </p:nvSpPr>
        <p:spPr>
          <a:xfrm>
            <a:off x="1584198" y="1836634"/>
            <a:ext cx="109728" cy="109728"/>
          </a:xfrm>
          <a:prstGeom prst="ellipse">
            <a:avLst/>
          </a:prstGeom>
          <a:solidFill>
            <a:srgbClr val="FFFFFF">
              <a:alpha val="0"/>
            </a:srgbClr>
          </a:solidFill>
          <a:ln w="20320">
            <a:solidFill>
              <a:srgbClr val="FF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84198" y="1833205"/>
            <a:ext cx="109728" cy="109728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525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525" dirty="0"/>
          </a:p>
        </p:txBody>
      </p:sp>
      <p:sp>
        <p:nvSpPr>
          <p:cNvPr id="63" name="Text 61"/>
          <p:cNvSpPr/>
          <p:nvPr/>
        </p:nvSpPr>
        <p:spPr>
          <a:xfrm>
            <a:off x="1666494" y="2014942"/>
            <a:ext cx="905256" cy="8915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2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프로젝트명 *</a:t>
            </a:r>
            <a:endParaRPr lang="en-US" sz="428" dirty="0"/>
          </a:p>
        </p:txBody>
      </p:sp>
      <p:sp>
        <p:nvSpPr>
          <p:cNvPr id="64" name="Shape 62"/>
          <p:cNvSpPr/>
          <p:nvPr/>
        </p:nvSpPr>
        <p:spPr>
          <a:xfrm>
            <a:off x="1666494" y="2131528"/>
            <a:ext cx="905256" cy="150876"/>
          </a:xfrm>
          <a:prstGeom prst="roundRect">
            <a:avLst>
              <a:gd name="adj" fmla="val 11364"/>
            </a:avLst>
          </a:prstGeom>
          <a:solidFill>
            <a:srgbClr val="2C2A49"/>
          </a:solidFill>
          <a:ln w="8890">
            <a:solidFill>
              <a:srgbClr val="5D5A8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07642" y="2152102"/>
            <a:ext cx="836676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프로젝트명을 입력하세요</a:t>
            </a:r>
            <a:endParaRPr lang="en-US" sz="405" dirty="0"/>
          </a:p>
        </p:txBody>
      </p:sp>
      <p:sp>
        <p:nvSpPr>
          <p:cNvPr id="66" name="Text 64"/>
          <p:cNvSpPr/>
          <p:nvPr/>
        </p:nvSpPr>
        <p:spPr>
          <a:xfrm>
            <a:off x="2667762" y="2014942"/>
            <a:ext cx="905256" cy="8915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2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고객사 *</a:t>
            </a:r>
            <a:endParaRPr lang="en-US" sz="428" dirty="0"/>
          </a:p>
        </p:txBody>
      </p:sp>
      <p:sp>
        <p:nvSpPr>
          <p:cNvPr id="67" name="Shape 65"/>
          <p:cNvSpPr/>
          <p:nvPr/>
        </p:nvSpPr>
        <p:spPr>
          <a:xfrm>
            <a:off x="2667762" y="2131528"/>
            <a:ext cx="905256" cy="150876"/>
          </a:xfrm>
          <a:prstGeom prst="roundRect">
            <a:avLst>
              <a:gd name="adj" fmla="val 11364"/>
            </a:avLst>
          </a:prstGeom>
          <a:solidFill>
            <a:srgbClr val="2C2A49"/>
          </a:solidFill>
          <a:ln w="8890">
            <a:solidFill>
              <a:srgbClr val="5D5A8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08910" y="2152102"/>
            <a:ext cx="836676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고객사를 입력하세요</a:t>
            </a:r>
            <a:endParaRPr lang="en-US" sz="405" dirty="0"/>
          </a:p>
        </p:txBody>
      </p:sp>
      <p:sp>
        <p:nvSpPr>
          <p:cNvPr id="69" name="Text 67"/>
          <p:cNvSpPr/>
          <p:nvPr/>
        </p:nvSpPr>
        <p:spPr>
          <a:xfrm>
            <a:off x="3669030" y="2014942"/>
            <a:ext cx="781812" cy="8915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2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시작일 *</a:t>
            </a:r>
            <a:endParaRPr lang="en-US" sz="428" dirty="0"/>
          </a:p>
        </p:txBody>
      </p:sp>
      <p:sp>
        <p:nvSpPr>
          <p:cNvPr id="70" name="Shape 68"/>
          <p:cNvSpPr/>
          <p:nvPr/>
        </p:nvSpPr>
        <p:spPr>
          <a:xfrm>
            <a:off x="3669030" y="2131528"/>
            <a:ext cx="781812" cy="150876"/>
          </a:xfrm>
          <a:prstGeom prst="roundRect">
            <a:avLst>
              <a:gd name="adj" fmla="val 11364"/>
            </a:avLst>
          </a:prstGeom>
          <a:solidFill>
            <a:srgbClr val="2C2A49"/>
          </a:solidFill>
          <a:ln w="8890">
            <a:solidFill>
              <a:srgbClr val="5D5A8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10178" y="2152102"/>
            <a:ext cx="713232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날짜 선택</a:t>
            </a:r>
            <a:endParaRPr lang="en-US" sz="405" dirty="0"/>
          </a:p>
        </p:txBody>
      </p:sp>
      <p:sp>
        <p:nvSpPr>
          <p:cNvPr id="72" name="Text 70"/>
          <p:cNvSpPr/>
          <p:nvPr/>
        </p:nvSpPr>
        <p:spPr>
          <a:xfrm>
            <a:off x="4560570" y="2014942"/>
            <a:ext cx="576072" cy="8915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2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종료일 *</a:t>
            </a:r>
            <a:endParaRPr lang="en-US" sz="428" dirty="0"/>
          </a:p>
        </p:txBody>
      </p:sp>
      <p:sp>
        <p:nvSpPr>
          <p:cNvPr id="73" name="Shape 71"/>
          <p:cNvSpPr/>
          <p:nvPr/>
        </p:nvSpPr>
        <p:spPr>
          <a:xfrm>
            <a:off x="4560570" y="2131528"/>
            <a:ext cx="576072" cy="150876"/>
          </a:xfrm>
          <a:prstGeom prst="roundRect">
            <a:avLst>
              <a:gd name="adj" fmla="val 11364"/>
            </a:avLst>
          </a:prstGeom>
          <a:solidFill>
            <a:srgbClr val="2C2A49"/>
          </a:solidFill>
          <a:ln w="8890">
            <a:solidFill>
              <a:srgbClr val="5D5A8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01718" y="2152102"/>
            <a:ext cx="507492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날짜 선택</a:t>
            </a:r>
            <a:endParaRPr lang="en-US" sz="405" dirty="0"/>
          </a:p>
        </p:txBody>
      </p:sp>
      <p:sp>
        <p:nvSpPr>
          <p:cNvPr id="75" name="Shape 73"/>
          <p:cNvSpPr/>
          <p:nvPr/>
        </p:nvSpPr>
        <p:spPr>
          <a:xfrm>
            <a:off x="4512564" y="1987510"/>
            <a:ext cx="109728" cy="109728"/>
          </a:xfrm>
          <a:prstGeom prst="ellipse">
            <a:avLst/>
          </a:prstGeom>
          <a:solidFill>
            <a:srgbClr val="FFFFFF">
              <a:alpha val="0"/>
            </a:srgbClr>
          </a:solidFill>
          <a:ln w="20320">
            <a:solidFill>
              <a:srgbClr val="FF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12564" y="1984081"/>
            <a:ext cx="109728" cy="109728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525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525" dirty="0"/>
          </a:p>
        </p:txBody>
      </p:sp>
      <p:sp>
        <p:nvSpPr>
          <p:cNvPr id="77" name="Text 75"/>
          <p:cNvSpPr/>
          <p:nvPr/>
        </p:nvSpPr>
        <p:spPr>
          <a:xfrm>
            <a:off x="1666494" y="2371558"/>
            <a:ext cx="905256" cy="8915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2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 *</a:t>
            </a:r>
            <a:endParaRPr lang="en-US" sz="428" dirty="0"/>
          </a:p>
        </p:txBody>
      </p:sp>
      <p:sp>
        <p:nvSpPr>
          <p:cNvPr id="78" name="Shape 76"/>
          <p:cNvSpPr/>
          <p:nvPr/>
        </p:nvSpPr>
        <p:spPr>
          <a:xfrm>
            <a:off x="1666494" y="2488144"/>
            <a:ext cx="905256" cy="150876"/>
          </a:xfrm>
          <a:prstGeom prst="roundRect">
            <a:avLst>
              <a:gd name="adj" fmla="val 11364"/>
            </a:avLst>
          </a:prstGeom>
          <a:solidFill>
            <a:srgbClr val="2C2A49"/>
          </a:solidFill>
          <a:ln w="8890">
            <a:solidFill>
              <a:srgbClr val="5D5A8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707642" y="2508718"/>
            <a:ext cx="836676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예정</a:t>
            </a:r>
            <a:endParaRPr lang="en-US" sz="405" dirty="0"/>
          </a:p>
        </p:txBody>
      </p:sp>
      <p:sp>
        <p:nvSpPr>
          <p:cNvPr id="80" name="Text 78"/>
          <p:cNvSpPr/>
          <p:nvPr/>
        </p:nvSpPr>
        <p:spPr>
          <a:xfrm>
            <a:off x="2667762" y="2371558"/>
            <a:ext cx="905256" cy="8915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2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진척도</a:t>
            </a:r>
            <a:endParaRPr lang="en-US" sz="428" dirty="0"/>
          </a:p>
        </p:txBody>
      </p:sp>
      <p:sp>
        <p:nvSpPr>
          <p:cNvPr id="81" name="Shape 79"/>
          <p:cNvSpPr/>
          <p:nvPr/>
        </p:nvSpPr>
        <p:spPr>
          <a:xfrm>
            <a:off x="2667762" y="2488144"/>
            <a:ext cx="905256" cy="150876"/>
          </a:xfrm>
          <a:prstGeom prst="roundRect">
            <a:avLst>
              <a:gd name="adj" fmla="val 11364"/>
            </a:avLst>
          </a:prstGeom>
          <a:solidFill>
            <a:srgbClr val="2C2A49"/>
          </a:solidFill>
          <a:ln w="8890">
            <a:solidFill>
              <a:srgbClr val="5D5A8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08910" y="2508718"/>
            <a:ext cx="836676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</a:t>
            </a:r>
            <a:endParaRPr lang="en-US" sz="405" dirty="0"/>
          </a:p>
        </p:txBody>
      </p:sp>
      <p:sp>
        <p:nvSpPr>
          <p:cNvPr id="83" name="Text 81"/>
          <p:cNvSpPr/>
          <p:nvPr/>
        </p:nvSpPr>
        <p:spPr>
          <a:xfrm>
            <a:off x="3614166" y="2591014"/>
            <a:ext cx="54864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75" b="1" dirty="0">
                <a:solidFill>
                  <a:srgbClr val="7E6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%</a:t>
            </a:r>
            <a:endParaRPr lang="en-US" sz="375" dirty="0"/>
          </a:p>
        </p:txBody>
      </p:sp>
      <p:sp>
        <p:nvSpPr>
          <p:cNvPr id="84" name="Text 82"/>
          <p:cNvSpPr/>
          <p:nvPr/>
        </p:nvSpPr>
        <p:spPr>
          <a:xfrm>
            <a:off x="1666494" y="2687026"/>
            <a:ext cx="685800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2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설명</a:t>
            </a:r>
            <a:endParaRPr lang="en-US" sz="428" dirty="0"/>
          </a:p>
        </p:txBody>
      </p:sp>
      <p:sp>
        <p:nvSpPr>
          <p:cNvPr id="85" name="Shape 83"/>
          <p:cNvSpPr/>
          <p:nvPr/>
        </p:nvSpPr>
        <p:spPr>
          <a:xfrm>
            <a:off x="1640367" y="2769644"/>
            <a:ext cx="3470148" cy="150876"/>
          </a:xfrm>
          <a:prstGeom prst="roundRect">
            <a:avLst>
              <a:gd name="adj" fmla="val 11364"/>
            </a:avLst>
          </a:prstGeom>
          <a:solidFill>
            <a:srgbClr val="2C2A49"/>
          </a:solidFill>
          <a:ln w="8890">
            <a:solidFill>
              <a:srgbClr val="5D5A8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688373" y="2803934"/>
            <a:ext cx="822960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85000" lnSpcReduction="10000"/>
          </a:bodyPr>
          <a:lstStyle/>
          <a:p>
            <a:r>
              <a:rPr lang="en-US" sz="383" dirty="0">
                <a:solidFill>
                  <a:srgbClr val="B7B5D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설명을 입력하세요</a:t>
            </a:r>
            <a:endParaRPr lang="en-US" sz="383" dirty="0"/>
          </a:p>
        </p:txBody>
      </p:sp>
      <p:sp>
        <p:nvSpPr>
          <p:cNvPr id="87" name="Text 85"/>
          <p:cNvSpPr/>
          <p:nvPr/>
        </p:nvSpPr>
        <p:spPr>
          <a:xfrm>
            <a:off x="1640367" y="2971469"/>
            <a:ext cx="445770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83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진척도</a:t>
            </a:r>
            <a:endParaRPr lang="en-US" sz="383" dirty="0"/>
          </a:p>
        </p:txBody>
      </p:sp>
      <p:sp>
        <p:nvSpPr>
          <p:cNvPr id="88" name="Shape 86"/>
          <p:cNvSpPr/>
          <p:nvPr/>
        </p:nvSpPr>
        <p:spPr>
          <a:xfrm>
            <a:off x="1640367" y="3067481"/>
            <a:ext cx="3470148" cy="34290"/>
          </a:xfrm>
          <a:prstGeom prst="rect">
            <a:avLst/>
          </a:prstGeom>
          <a:solidFill>
            <a:srgbClr val="484568"/>
          </a:solidFill>
          <a:ln w="7620">
            <a:solidFill>
              <a:srgbClr val="48456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640367" y="3115487"/>
            <a:ext cx="192024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r>
              <a:rPr lang="en-US" sz="360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0%</a:t>
            </a:r>
            <a:endParaRPr lang="en-US" sz="360" dirty="0"/>
          </a:p>
        </p:txBody>
      </p:sp>
      <p:sp>
        <p:nvSpPr>
          <p:cNvPr id="90" name="Text 88"/>
          <p:cNvSpPr/>
          <p:nvPr/>
        </p:nvSpPr>
        <p:spPr>
          <a:xfrm>
            <a:off x="3519459" y="3115487"/>
            <a:ext cx="192024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pPr algn="ctr"/>
            <a:r>
              <a:rPr lang="en-US" sz="360" dirty="0">
                <a:solidFill>
                  <a:srgbClr val="7E6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0%</a:t>
            </a:r>
            <a:endParaRPr lang="en-US" sz="360" dirty="0"/>
          </a:p>
        </p:txBody>
      </p:sp>
      <p:sp>
        <p:nvSpPr>
          <p:cNvPr id="91" name="Text 89"/>
          <p:cNvSpPr/>
          <p:nvPr/>
        </p:nvSpPr>
        <p:spPr>
          <a:xfrm>
            <a:off x="4843053" y="3115487"/>
            <a:ext cx="240030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pPr algn="r"/>
            <a:r>
              <a:rPr lang="en-US" sz="360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</a:t>
            </a:r>
            <a:endParaRPr lang="en-US" sz="360" dirty="0"/>
          </a:p>
        </p:txBody>
      </p:sp>
      <p:sp>
        <p:nvSpPr>
          <p:cNvPr id="92" name="Shape 90"/>
          <p:cNvSpPr/>
          <p:nvPr/>
        </p:nvSpPr>
        <p:spPr>
          <a:xfrm>
            <a:off x="1530639" y="2841004"/>
            <a:ext cx="109728" cy="109728"/>
          </a:xfrm>
          <a:prstGeom prst="ellipse">
            <a:avLst/>
          </a:prstGeom>
          <a:solidFill>
            <a:srgbClr val="FFFFFF">
              <a:alpha val="0"/>
            </a:srgbClr>
          </a:solidFill>
          <a:ln w="20320">
            <a:solidFill>
              <a:srgbClr val="FF000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530639" y="2837575"/>
            <a:ext cx="109728" cy="109728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525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525" dirty="0"/>
          </a:p>
        </p:txBody>
      </p:sp>
      <p:sp>
        <p:nvSpPr>
          <p:cNvPr id="94" name="Shape 92"/>
          <p:cNvSpPr/>
          <p:nvPr/>
        </p:nvSpPr>
        <p:spPr>
          <a:xfrm>
            <a:off x="1556766" y="3208234"/>
            <a:ext cx="3689604" cy="603504"/>
          </a:xfrm>
          <a:prstGeom prst="roundRect">
            <a:avLst>
              <a:gd name="adj" fmla="val 4545"/>
            </a:avLst>
          </a:prstGeom>
          <a:solidFill>
            <a:srgbClr val="33304F"/>
          </a:solidFill>
          <a:ln w="8890">
            <a:solidFill>
              <a:srgbClr val="5D5A8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639062" y="3276814"/>
            <a:ext cx="54864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85000" lnSpcReduction="20000"/>
          </a:bodyPr>
          <a:lstStyle/>
          <a:p>
            <a:pPr algn="ctr"/>
            <a:r>
              <a:rPr lang="en-US" sz="450" dirty="0">
                <a:solidFill>
                  <a:srgbClr val="7E6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</a:t>
            </a:r>
            <a:endParaRPr lang="en-US" sz="450" dirty="0"/>
          </a:p>
        </p:txBody>
      </p:sp>
      <p:sp>
        <p:nvSpPr>
          <p:cNvPr id="96" name="Text 94"/>
          <p:cNvSpPr/>
          <p:nvPr/>
        </p:nvSpPr>
        <p:spPr>
          <a:xfrm>
            <a:off x="1645920" y="3276814"/>
            <a:ext cx="41148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34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345" dirty="0"/>
          </a:p>
        </p:txBody>
      </p:sp>
      <p:sp>
        <p:nvSpPr>
          <p:cNvPr id="97" name="Text 95"/>
          <p:cNvSpPr/>
          <p:nvPr/>
        </p:nvSpPr>
        <p:spPr>
          <a:xfrm>
            <a:off x="1741932" y="3269956"/>
            <a:ext cx="425196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6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기술스택</a:t>
            </a:r>
            <a:endParaRPr lang="en-US" sz="465" dirty="0"/>
          </a:p>
        </p:txBody>
      </p:sp>
      <p:sp>
        <p:nvSpPr>
          <p:cNvPr id="98" name="Text 96"/>
          <p:cNvSpPr/>
          <p:nvPr/>
        </p:nvSpPr>
        <p:spPr>
          <a:xfrm>
            <a:off x="2119122" y="3269956"/>
            <a:ext cx="24003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75" dirty="0">
                <a:solidFill>
                  <a:srgbClr val="7E6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신규</a:t>
            </a:r>
            <a:endParaRPr lang="en-US" sz="375" dirty="0"/>
          </a:p>
        </p:txBody>
      </p:sp>
      <p:sp>
        <p:nvSpPr>
          <p:cNvPr id="99" name="Shape 97"/>
          <p:cNvSpPr/>
          <p:nvPr/>
        </p:nvSpPr>
        <p:spPr>
          <a:xfrm>
            <a:off x="1584198" y="3263098"/>
            <a:ext cx="109728" cy="109728"/>
          </a:xfrm>
          <a:prstGeom prst="ellipse">
            <a:avLst/>
          </a:prstGeom>
          <a:solidFill>
            <a:srgbClr val="FFFFFF">
              <a:alpha val="0"/>
            </a:srgbClr>
          </a:solidFill>
          <a:ln w="20320">
            <a:solidFill>
              <a:srgbClr val="FF000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584198" y="3259669"/>
            <a:ext cx="109728" cy="109728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525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525" dirty="0"/>
          </a:p>
        </p:txBody>
      </p:sp>
      <p:sp>
        <p:nvSpPr>
          <p:cNvPr id="101" name="Shape 99"/>
          <p:cNvSpPr/>
          <p:nvPr/>
        </p:nvSpPr>
        <p:spPr>
          <a:xfrm>
            <a:off x="1666494" y="3420832"/>
            <a:ext cx="3470148" cy="178308"/>
          </a:xfrm>
          <a:prstGeom prst="roundRect">
            <a:avLst>
              <a:gd name="adj" fmla="val 11538"/>
            </a:avLst>
          </a:prstGeom>
          <a:solidFill>
            <a:srgbClr val="FFFFFF">
              <a:alpha val="0"/>
            </a:srgbClr>
          </a:solidFill>
          <a:ln w="8890">
            <a:solidFill>
              <a:srgbClr val="48456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41932" y="3455122"/>
            <a:ext cx="246888" cy="123444"/>
          </a:xfrm>
          <a:prstGeom prst="roundRect">
            <a:avLst>
              <a:gd name="adj" fmla="val 22222"/>
            </a:avLst>
          </a:prstGeom>
          <a:solidFill>
            <a:srgbClr val="2C2A49"/>
          </a:solidFill>
          <a:ln w="8890">
            <a:solidFill>
              <a:srgbClr val="5D5A8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769364" y="3461980"/>
            <a:ext cx="192024" cy="8915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405" dirty="0">
                <a:solidFill>
                  <a:srgbClr val="DA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Java  ×</a:t>
            </a:r>
            <a:endParaRPr lang="en-US" sz="405" dirty="0"/>
          </a:p>
        </p:txBody>
      </p:sp>
      <p:sp>
        <p:nvSpPr>
          <p:cNvPr id="104" name="Shape 102"/>
          <p:cNvSpPr/>
          <p:nvPr/>
        </p:nvSpPr>
        <p:spPr>
          <a:xfrm>
            <a:off x="2071116" y="3455122"/>
            <a:ext cx="438912" cy="123444"/>
          </a:xfrm>
          <a:prstGeom prst="roundRect">
            <a:avLst>
              <a:gd name="adj" fmla="val 22222"/>
            </a:avLst>
          </a:prstGeom>
          <a:solidFill>
            <a:srgbClr val="2C2A49"/>
          </a:solidFill>
          <a:ln w="8890">
            <a:solidFill>
              <a:srgbClr val="5D5A8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098548" y="3461980"/>
            <a:ext cx="384048" cy="8915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405" dirty="0">
                <a:solidFill>
                  <a:srgbClr val="DA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Spring Boot  ×</a:t>
            </a:r>
            <a:endParaRPr lang="en-US" sz="405" dirty="0"/>
          </a:p>
        </p:txBody>
      </p:sp>
      <p:sp>
        <p:nvSpPr>
          <p:cNvPr id="106" name="Shape 104"/>
          <p:cNvSpPr/>
          <p:nvPr/>
        </p:nvSpPr>
        <p:spPr>
          <a:xfrm>
            <a:off x="2585466" y="3455122"/>
            <a:ext cx="315468" cy="123444"/>
          </a:xfrm>
          <a:prstGeom prst="roundRect">
            <a:avLst>
              <a:gd name="adj" fmla="val 22222"/>
            </a:avLst>
          </a:prstGeom>
          <a:solidFill>
            <a:srgbClr val="2C2A49"/>
          </a:solidFill>
          <a:ln w="8890">
            <a:solidFill>
              <a:srgbClr val="5D5A8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612898" y="3461980"/>
            <a:ext cx="260604" cy="8915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405" dirty="0">
                <a:solidFill>
                  <a:srgbClr val="DA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React  ×</a:t>
            </a:r>
            <a:endParaRPr lang="en-US" sz="405" dirty="0"/>
          </a:p>
        </p:txBody>
      </p:sp>
      <p:sp>
        <p:nvSpPr>
          <p:cNvPr id="108" name="Shape 106"/>
          <p:cNvSpPr/>
          <p:nvPr/>
        </p:nvSpPr>
        <p:spPr>
          <a:xfrm>
            <a:off x="1666494" y="3640288"/>
            <a:ext cx="3312414" cy="116586"/>
          </a:xfrm>
          <a:prstGeom prst="roundRect">
            <a:avLst>
              <a:gd name="adj" fmla="val 14706"/>
            </a:avLst>
          </a:prstGeom>
          <a:solidFill>
            <a:srgbClr val="2C2A49"/>
          </a:solidFill>
          <a:ln w="8890">
            <a:solidFill>
              <a:srgbClr val="5D5A8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707642" y="3667720"/>
            <a:ext cx="685800" cy="41148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85000" lnSpcReduction="20000"/>
          </a:bodyPr>
          <a:lstStyle/>
          <a:p>
            <a:r>
              <a:rPr lang="en-US" sz="383" dirty="0">
                <a:solidFill>
                  <a:srgbClr val="B7B5D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기술스택 직접 입력...</a:t>
            </a:r>
            <a:endParaRPr lang="en-US" sz="383" dirty="0"/>
          </a:p>
        </p:txBody>
      </p:sp>
      <p:sp>
        <p:nvSpPr>
          <p:cNvPr id="110" name="Shape 108"/>
          <p:cNvSpPr/>
          <p:nvPr/>
        </p:nvSpPr>
        <p:spPr>
          <a:xfrm>
            <a:off x="5013198" y="3640288"/>
            <a:ext cx="123444" cy="116586"/>
          </a:xfrm>
          <a:prstGeom prst="roundRect">
            <a:avLst>
              <a:gd name="adj" fmla="val 14706"/>
            </a:avLst>
          </a:prstGeom>
          <a:solidFill>
            <a:srgbClr val="2C2A49"/>
          </a:solidFill>
          <a:ln w="8890">
            <a:solidFill>
              <a:srgbClr val="5D5A8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040630" y="3667720"/>
            <a:ext cx="54864" cy="41148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77500" lnSpcReduction="20000"/>
          </a:bodyPr>
          <a:lstStyle/>
          <a:p>
            <a:pPr algn="ctr"/>
            <a:r>
              <a:rPr lang="en-US" sz="4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</a:t>
            </a:r>
            <a:endParaRPr lang="en-US" sz="450" dirty="0"/>
          </a:p>
        </p:txBody>
      </p:sp>
      <p:sp>
        <p:nvSpPr>
          <p:cNvPr id="112" name="Shape 110"/>
          <p:cNvSpPr/>
          <p:nvPr/>
        </p:nvSpPr>
        <p:spPr>
          <a:xfrm>
            <a:off x="5167993" y="4528562"/>
            <a:ext cx="109728" cy="109728"/>
          </a:xfrm>
          <a:prstGeom prst="ellipse">
            <a:avLst/>
          </a:prstGeom>
          <a:solidFill>
            <a:srgbClr val="FFFFFF">
              <a:alpha val="0"/>
            </a:srgbClr>
          </a:solidFill>
          <a:ln w="20320">
            <a:solidFill>
              <a:srgbClr val="FF000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168645" y="4534117"/>
            <a:ext cx="109728" cy="109728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525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525" dirty="0"/>
          </a:p>
        </p:txBody>
      </p:sp>
      <p:sp>
        <p:nvSpPr>
          <p:cNvPr id="116" name="Shape 114"/>
          <p:cNvSpPr/>
          <p:nvPr/>
        </p:nvSpPr>
        <p:spPr>
          <a:xfrm>
            <a:off x="1556766" y="3855496"/>
            <a:ext cx="3689604" cy="342900"/>
          </a:xfrm>
          <a:prstGeom prst="roundRect">
            <a:avLst>
              <a:gd name="adj" fmla="val 8000"/>
            </a:avLst>
          </a:prstGeom>
          <a:solidFill>
            <a:srgbClr val="33304F"/>
          </a:solidFill>
          <a:ln w="8890">
            <a:solidFill>
              <a:srgbClr val="5D5A8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639062" y="3910360"/>
            <a:ext cx="548640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43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등록 정보 미리보기</a:t>
            </a:r>
            <a:endParaRPr lang="en-US" sz="435" dirty="0"/>
          </a:p>
        </p:txBody>
      </p:sp>
      <p:sp>
        <p:nvSpPr>
          <p:cNvPr id="118" name="Text 116"/>
          <p:cNvSpPr/>
          <p:nvPr/>
        </p:nvSpPr>
        <p:spPr>
          <a:xfrm>
            <a:off x="1666494" y="4026946"/>
            <a:ext cx="342900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r>
              <a:rPr lang="en-US" sz="353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프로젝트명</a:t>
            </a:r>
            <a:endParaRPr lang="en-US" sz="353" dirty="0"/>
          </a:p>
        </p:txBody>
      </p:sp>
      <p:sp>
        <p:nvSpPr>
          <p:cNvPr id="119" name="Text 117"/>
          <p:cNvSpPr/>
          <p:nvPr/>
        </p:nvSpPr>
        <p:spPr>
          <a:xfrm>
            <a:off x="1666494" y="4116100"/>
            <a:ext cx="137160" cy="3429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62500" lnSpcReduction="20000"/>
          </a:bodyPr>
          <a:lstStyle/>
          <a:p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</a:t>
            </a:r>
            <a:endParaRPr lang="en-US" sz="375" dirty="0"/>
          </a:p>
        </p:txBody>
      </p:sp>
      <p:sp>
        <p:nvSpPr>
          <p:cNvPr id="120" name="Text 118"/>
          <p:cNvSpPr/>
          <p:nvPr/>
        </p:nvSpPr>
        <p:spPr>
          <a:xfrm>
            <a:off x="2859786" y="4026946"/>
            <a:ext cx="274320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r>
              <a:rPr lang="en-US" sz="353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고객사</a:t>
            </a:r>
            <a:endParaRPr lang="en-US" sz="353" dirty="0"/>
          </a:p>
        </p:txBody>
      </p:sp>
      <p:sp>
        <p:nvSpPr>
          <p:cNvPr id="121" name="Text 119"/>
          <p:cNvSpPr/>
          <p:nvPr/>
        </p:nvSpPr>
        <p:spPr>
          <a:xfrm>
            <a:off x="2859786" y="4116100"/>
            <a:ext cx="137160" cy="3429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62500" lnSpcReduction="20000"/>
          </a:bodyPr>
          <a:lstStyle/>
          <a:p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</a:t>
            </a:r>
            <a:endParaRPr lang="en-US" sz="375" dirty="0"/>
          </a:p>
        </p:txBody>
      </p:sp>
      <p:sp>
        <p:nvSpPr>
          <p:cNvPr id="122" name="Text 120"/>
          <p:cNvSpPr/>
          <p:nvPr/>
        </p:nvSpPr>
        <p:spPr>
          <a:xfrm>
            <a:off x="3717036" y="4026946"/>
            <a:ext cx="445770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r>
              <a:rPr lang="en-US" sz="353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기간</a:t>
            </a:r>
            <a:endParaRPr lang="en-US" sz="353" dirty="0"/>
          </a:p>
        </p:txBody>
      </p:sp>
      <p:sp>
        <p:nvSpPr>
          <p:cNvPr id="123" name="Text 121"/>
          <p:cNvSpPr/>
          <p:nvPr/>
        </p:nvSpPr>
        <p:spPr>
          <a:xfrm>
            <a:off x="3717036" y="4116100"/>
            <a:ext cx="137160" cy="3429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62500" lnSpcReduction="20000"/>
          </a:bodyPr>
          <a:lstStyle/>
          <a:p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</a:t>
            </a:r>
            <a:endParaRPr lang="en-US" sz="375" dirty="0"/>
          </a:p>
        </p:txBody>
      </p:sp>
      <p:sp>
        <p:nvSpPr>
          <p:cNvPr id="124" name="Text 122"/>
          <p:cNvSpPr/>
          <p:nvPr/>
        </p:nvSpPr>
        <p:spPr>
          <a:xfrm>
            <a:off x="4677156" y="4026946"/>
            <a:ext cx="205740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r>
              <a:rPr lang="en-US" sz="353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</a:t>
            </a:r>
            <a:endParaRPr lang="en-US" sz="353" dirty="0"/>
          </a:p>
        </p:txBody>
      </p:sp>
      <p:sp>
        <p:nvSpPr>
          <p:cNvPr id="125" name="Shape 123"/>
          <p:cNvSpPr/>
          <p:nvPr/>
        </p:nvSpPr>
        <p:spPr>
          <a:xfrm>
            <a:off x="4677156" y="4109242"/>
            <a:ext cx="150876" cy="68580"/>
          </a:xfrm>
          <a:prstGeom prst="roundRect">
            <a:avLst>
              <a:gd name="adj" fmla="val 20000"/>
            </a:avLst>
          </a:prstGeom>
          <a:solidFill>
            <a:srgbClr val="256D9A"/>
          </a:solidFill>
          <a:ln w="8890">
            <a:solidFill>
              <a:srgbClr val="256D9A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694301" y="4119529"/>
            <a:ext cx="116586" cy="51435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278" dirty="0">
                <a:solidFill>
                  <a:srgbClr val="A8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예정</a:t>
            </a:r>
            <a:endParaRPr lang="en-US" sz="278" dirty="0"/>
          </a:p>
        </p:txBody>
      </p:sp>
      <p:sp>
        <p:nvSpPr>
          <p:cNvPr id="127" name="Shape 125"/>
          <p:cNvSpPr/>
          <p:nvPr/>
        </p:nvSpPr>
        <p:spPr>
          <a:xfrm>
            <a:off x="1522476" y="3903502"/>
            <a:ext cx="109728" cy="109728"/>
          </a:xfrm>
          <a:prstGeom prst="ellipse">
            <a:avLst/>
          </a:prstGeom>
          <a:solidFill>
            <a:srgbClr val="FFFFFF">
              <a:alpha val="0"/>
            </a:srgbClr>
          </a:solidFill>
          <a:ln w="20320">
            <a:solidFill>
              <a:srgbClr val="FF000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522476" y="3900073"/>
            <a:ext cx="109728" cy="109728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525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525" dirty="0"/>
          </a:p>
        </p:txBody>
      </p:sp>
      <p:sp>
        <p:nvSpPr>
          <p:cNvPr id="129" name="Text 127"/>
          <p:cNvSpPr/>
          <p:nvPr/>
        </p:nvSpPr>
        <p:spPr>
          <a:xfrm>
            <a:off x="5726430" y="678942"/>
            <a:ext cx="1028700" cy="19202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30" name="Text 128"/>
          <p:cNvSpPr/>
          <p:nvPr/>
        </p:nvSpPr>
        <p:spPr>
          <a:xfrm>
            <a:off x="8257032" y="720090"/>
            <a:ext cx="34290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pPr algn="r"/>
            <a:r>
              <a:rPr lang="en-US" sz="6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검토용</a:t>
            </a:r>
            <a:endParaRPr lang="en-US" sz="600" dirty="0"/>
          </a:p>
        </p:txBody>
      </p:sp>
      <p:sp>
        <p:nvSpPr>
          <p:cNvPr id="131" name="Shape 129"/>
          <p:cNvSpPr/>
          <p:nvPr/>
        </p:nvSpPr>
        <p:spPr>
          <a:xfrm>
            <a:off x="5657850" y="994410"/>
            <a:ext cx="644652" cy="219456"/>
          </a:xfrm>
          <a:prstGeom prst="rect">
            <a:avLst/>
          </a:prstGeom>
          <a:solidFill>
            <a:srgbClr val="0F213A"/>
          </a:solidFill>
          <a:ln w="7620">
            <a:solidFill>
              <a:srgbClr val="D1D9E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685282" y="1008126"/>
            <a:ext cx="589788" cy="1920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</a:t>
            </a:r>
            <a:endParaRPr lang="en-US" sz="675" dirty="0"/>
          </a:p>
        </p:txBody>
      </p:sp>
      <p:sp>
        <p:nvSpPr>
          <p:cNvPr id="133" name="Shape 131"/>
          <p:cNvSpPr/>
          <p:nvPr/>
        </p:nvSpPr>
        <p:spPr>
          <a:xfrm>
            <a:off x="6302502" y="994410"/>
            <a:ext cx="2338578" cy="219456"/>
          </a:xfrm>
          <a:prstGeom prst="rect">
            <a:avLst/>
          </a:prstGeom>
          <a:solidFill>
            <a:srgbClr val="0F213A"/>
          </a:solidFill>
          <a:ln w="7620">
            <a:solidFill>
              <a:srgbClr val="D1D9E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329934" y="1008126"/>
            <a:ext cx="2283714" cy="1920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기획 내용</a:t>
            </a:r>
            <a:endParaRPr lang="en-US" sz="675" dirty="0"/>
          </a:p>
        </p:txBody>
      </p:sp>
      <p:sp>
        <p:nvSpPr>
          <p:cNvPr id="135" name="Shape 133"/>
          <p:cNvSpPr/>
          <p:nvPr/>
        </p:nvSpPr>
        <p:spPr>
          <a:xfrm>
            <a:off x="5657850" y="1213866"/>
            <a:ext cx="644652" cy="377190"/>
          </a:xfrm>
          <a:prstGeom prst="rect">
            <a:avLst/>
          </a:prstGeom>
          <a:solidFill>
            <a:srgbClr val="FFFFFF"/>
          </a:solidFill>
          <a:ln w="7620">
            <a:solidFill>
              <a:srgbClr val="D1D9E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685282" y="1227582"/>
            <a:ext cx="589788" cy="34975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00" dirty="0" smtClean="0">
                <a:latin typeface="+mn-ea"/>
                <a:cs typeface="Noto Sans CJK KR" pitchFamily="34" charset="-120"/>
              </a:rPr>
              <a:t>1 </a:t>
            </a:r>
            <a:r>
              <a:rPr lang="en-US" sz="500" dirty="0" err="1" smtClean="0">
                <a:solidFill>
                  <a:srgbClr val="111827"/>
                </a:solidFill>
                <a:latin typeface="+mn-ea"/>
                <a:cs typeface="Noto Sans CJK KR" pitchFamily="34" charset="-120"/>
              </a:rPr>
              <a:t>기본</a:t>
            </a:r>
            <a:r>
              <a:rPr lang="en-US" sz="500" dirty="0" smtClean="0">
                <a:solidFill>
                  <a:srgbClr val="111827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sz="500" dirty="0">
                <a:solidFill>
                  <a:srgbClr val="111827"/>
                </a:solidFill>
                <a:latin typeface="+mn-ea"/>
                <a:cs typeface="Noto Sans CJK KR" pitchFamily="34" charset="-120"/>
              </a:rPr>
              <a:t>정보</a:t>
            </a:r>
            <a:endParaRPr lang="en-US" sz="500" dirty="0">
              <a:latin typeface="+mn-ea"/>
            </a:endParaRPr>
          </a:p>
        </p:txBody>
      </p:sp>
      <p:sp>
        <p:nvSpPr>
          <p:cNvPr id="137" name="Shape 135"/>
          <p:cNvSpPr/>
          <p:nvPr/>
        </p:nvSpPr>
        <p:spPr>
          <a:xfrm>
            <a:off x="6302502" y="1213866"/>
            <a:ext cx="2338578" cy="377190"/>
          </a:xfrm>
          <a:prstGeom prst="rect">
            <a:avLst/>
          </a:prstGeom>
          <a:solidFill>
            <a:srgbClr val="FFFFFF"/>
          </a:solidFill>
          <a:ln w="7620">
            <a:solidFill>
              <a:srgbClr val="D1D9E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329934" y="1227582"/>
            <a:ext cx="2283714" cy="34975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00" dirty="0">
                <a:solidFill>
                  <a:srgbClr val="111827"/>
                </a:solidFill>
                <a:latin typeface="+mn-ea"/>
                <a:cs typeface="Noto Sans CJK KR" pitchFamily="34" charset="-120"/>
              </a:rPr>
              <a:t>프로젝트명/고객사/시작일/종료일/상태/진척도/설명 입력 및 등록</a:t>
            </a:r>
            <a:endParaRPr lang="en-US" sz="500" dirty="0">
              <a:latin typeface="+mn-ea"/>
            </a:endParaRPr>
          </a:p>
        </p:txBody>
      </p:sp>
      <p:sp>
        <p:nvSpPr>
          <p:cNvPr id="139" name="Shape 137"/>
          <p:cNvSpPr/>
          <p:nvPr/>
        </p:nvSpPr>
        <p:spPr>
          <a:xfrm>
            <a:off x="5657850" y="1591056"/>
            <a:ext cx="644652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1D9E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655580" y="1591810"/>
            <a:ext cx="617220" cy="43891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15" dirty="0" smtClean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2 </a:t>
            </a:r>
            <a:r>
              <a:rPr lang="en-US" sz="615" dirty="0" err="1" smtClean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진척도</a:t>
            </a:r>
            <a:endParaRPr lang="en-US" sz="615" dirty="0"/>
          </a:p>
        </p:txBody>
      </p:sp>
      <p:sp>
        <p:nvSpPr>
          <p:cNvPr id="141" name="Shape 139"/>
          <p:cNvSpPr/>
          <p:nvPr/>
        </p:nvSpPr>
        <p:spPr>
          <a:xfrm>
            <a:off x="6302502" y="1591056"/>
            <a:ext cx="2338578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1D9EA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329934" y="1604772"/>
            <a:ext cx="2283714" cy="43891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15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진척도 수치 입력</a:t>
            </a:r>
            <a:endParaRPr lang="en-US" sz="615" dirty="0"/>
          </a:p>
          <a:p>
            <a:r>
              <a:rPr lang="en-US" sz="615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진척도 바 및 하단 미리보기 동시 반영</a:t>
            </a:r>
            <a:endParaRPr lang="en-US" sz="615" dirty="0"/>
          </a:p>
        </p:txBody>
      </p:sp>
      <p:sp>
        <p:nvSpPr>
          <p:cNvPr id="143" name="Shape 141"/>
          <p:cNvSpPr/>
          <p:nvPr/>
        </p:nvSpPr>
        <p:spPr>
          <a:xfrm>
            <a:off x="5657850" y="2057400"/>
            <a:ext cx="644652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1D9EA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685282" y="2071116"/>
            <a:ext cx="589788" cy="39776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15" dirty="0" smtClean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</a:t>
            </a:r>
            <a:r>
              <a:rPr lang="en-US" sz="615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날짜 입력</a:t>
            </a:r>
            <a:endParaRPr lang="en-US" sz="615" dirty="0"/>
          </a:p>
        </p:txBody>
      </p:sp>
      <p:sp>
        <p:nvSpPr>
          <p:cNvPr id="145" name="Shape 143"/>
          <p:cNvSpPr/>
          <p:nvPr/>
        </p:nvSpPr>
        <p:spPr>
          <a:xfrm>
            <a:off x="6302502" y="2057400"/>
            <a:ext cx="2338578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1D9EA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329934" y="2071116"/>
            <a:ext cx="2283714" cy="39776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15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시작일/종료일 datepicker 적용</a:t>
            </a:r>
            <a:endParaRPr lang="en-US" sz="615" dirty="0"/>
          </a:p>
          <a:p>
            <a:r>
              <a:rPr lang="en-US" sz="615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기간 기초값으로 저장</a:t>
            </a:r>
            <a:endParaRPr lang="en-US" sz="615" dirty="0"/>
          </a:p>
        </p:txBody>
      </p:sp>
      <p:sp>
        <p:nvSpPr>
          <p:cNvPr id="147" name="Shape 145"/>
          <p:cNvSpPr/>
          <p:nvPr/>
        </p:nvSpPr>
        <p:spPr>
          <a:xfrm>
            <a:off x="5657850" y="2482596"/>
            <a:ext cx="644652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1D9EA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5685282" y="2496312"/>
            <a:ext cx="589788" cy="57607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altLang="ko-KR" sz="615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r>
              <a:rPr lang="en-US" altLang="ko-KR" sz="615" dirty="0" smtClean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615" dirty="0" err="1" smtClean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기술스택</a:t>
            </a:r>
            <a:endParaRPr lang="en-US" sz="615" dirty="0"/>
          </a:p>
        </p:txBody>
      </p:sp>
      <p:sp>
        <p:nvSpPr>
          <p:cNvPr id="149" name="Shape 147"/>
          <p:cNvSpPr/>
          <p:nvPr/>
        </p:nvSpPr>
        <p:spPr>
          <a:xfrm>
            <a:off x="6302502" y="2482596"/>
            <a:ext cx="2338578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1D9EA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329934" y="2496312"/>
            <a:ext cx="2283714" cy="57607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15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보유 기술 태그 표시</a:t>
            </a:r>
            <a:endParaRPr lang="en-US" sz="615" dirty="0"/>
          </a:p>
          <a:p>
            <a:r>
              <a:rPr lang="en-US" sz="615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입력 후 + 버튼 또는 Enter로 태그 추가</a:t>
            </a:r>
            <a:endParaRPr lang="en-US" sz="615" dirty="0"/>
          </a:p>
          <a:p>
            <a:r>
              <a:rPr lang="en-US" sz="615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 기술 버튼으로 빠른 추가</a:t>
            </a:r>
            <a:endParaRPr lang="en-US" sz="615" dirty="0"/>
          </a:p>
        </p:txBody>
      </p:sp>
      <p:sp>
        <p:nvSpPr>
          <p:cNvPr id="151" name="Shape 149"/>
          <p:cNvSpPr/>
          <p:nvPr/>
        </p:nvSpPr>
        <p:spPr>
          <a:xfrm>
            <a:off x="5657850" y="3086100"/>
            <a:ext cx="644652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1D9E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685282" y="3099816"/>
            <a:ext cx="589788" cy="43891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15" dirty="0" smtClean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 </a:t>
            </a:r>
            <a:r>
              <a:rPr lang="en-US" sz="615" dirty="0" err="1" smtClean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저장</a:t>
            </a:r>
            <a:r>
              <a:rPr lang="en-US" sz="615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/취소</a:t>
            </a:r>
            <a:endParaRPr lang="en-US" sz="615" dirty="0"/>
          </a:p>
        </p:txBody>
      </p:sp>
      <p:sp>
        <p:nvSpPr>
          <p:cNvPr id="153" name="Shape 151"/>
          <p:cNvSpPr/>
          <p:nvPr/>
        </p:nvSpPr>
        <p:spPr>
          <a:xfrm>
            <a:off x="6302502" y="3086100"/>
            <a:ext cx="2338578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1D9EA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329934" y="3099816"/>
            <a:ext cx="2283714" cy="43891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00" dirty="0">
                <a:solidFill>
                  <a:srgbClr val="111827"/>
                </a:solidFill>
                <a:latin typeface="+mn-ea"/>
                <a:cs typeface="Noto Sans CJK KR" pitchFamily="34" charset="-120"/>
              </a:rPr>
              <a:t>취소: 이전 화면 또는 목록으로 복귀</a:t>
            </a:r>
            <a:endParaRPr lang="en-US" sz="500" dirty="0">
              <a:latin typeface="+mn-ea"/>
            </a:endParaRPr>
          </a:p>
          <a:p>
            <a:r>
              <a:rPr lang="en-US" sz="500" dirty="0">
                <a:solidFill>
                  <a:srgbClr val="111827"/>
                </a:solidFill>
                <a:latin typeface="+mn-ea"/>
                <a:cs typeface="Noto Sans CJK KR" pitchFamily="34" charset="-120"/>
              </a:rPr>
              <a:t>등록: 입력 데이터 저장 후 상세 화면 이동</a:t>
            </a:r>
            <a:endParaRPr lang="en-US" sz="500" dirty="0">
              <a:latin typeface="+mn-ea"/>
            </a:endParaRPr>
          </a:p>
        </p:txBody>
      </p:sp>
      <p:sp>
        <p:nvSpPr>
          <p:cNvPr id="155" name="Shape 153"/>
          <p:cNvSpPr/>
          <p:nvPr/>
        </p:nvSpPr>
        <p:spPr>
          <a:xfrm>
            <a:off x="5657850" y="3552444"/>
            <a:ext cx="644652" cy="219456"/>
          </a:xfrm>
          <a:prstGeom prst="rect">
            <a:avLst/>
          </a:prstGeom>
          <a:solidFill>
            <a:srgbClr val="0F213A"/>
          </a:solidFill>
          <a:ln w="7620">
            <a:solidFill>
              <a:srgbClr val="D1D9EA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685282" y="3566160"/>
            <a:ext cx="589788" cy="1920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</a:t>
            </a:r>
            <a:endParaRPr lang="en-US" sz="675" dirty="0"/>
          </a:p>
        </p:txBody>
      </p:sp>
      <p:sp>
        <p:nvSpPr>
          <p:cNvPr id="157" name="Shape 155"/>
          <p:cNvSpPr/>
          <p:nvPr/>
        </p:nvSpPr>
        <p:spPr>
          <a:xfrm>
            <a:off x="6302502" y="3552444"/>
            <a:ext cx="2338578" cy="219456"/>
          </a:xfrm>
          <a:prstGeom prst="rect">
            <a:avLst/>
          </a:prstGeom>
          <a:solidFill>
            <a:srgbClr val="0F213A"/>
          </a:solidFill>
          <a:ln w="7620">
            <a:solidFill>
              <a:srgbClr val="D1D9EA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329934" y="3566160"/>
            <a:ext cx="2283714" cy="1920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수정/추가</a:t>
            </a:r>
            <a:endParaRPr lang="en-US" sz="675" dirty="0"/>
          </a:p>
        </p:txBody>
      </p:sp>
      <p:sp>
        <p:nvSpPr>
          <p:cNvPr id="159" name="Shape 157"/>
          <p:cNvSpPr/>
          <p:nvPr/>
        </p:nvSpPr>
        <p:spPr>
          <a:xfrm>
            <a:off x="5657850" y="3771900"/>
            <a:ext cx="644652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1D9EA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685282" y="3785616"/>
            <a:ext cx="589788" cy="39776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00" dirty="0">
                <a:solidFill>
                  <a:srgbClr val="111827"/>
                </a:solidFill>
                <a:latin typeface="+mn-ea"/>
                <a:cs typeface="Noto Sans CJK KR" pitchFamily="34" charset="-120"/>
              </a:rPr>
              <a:t>6</a:t>
            </a:r>
            <a:r>
              <a:rPr lang="en-US" sz="500" dirty="0" smtClean="0">
                <a:solidFill>
                  <a:srgbClr val="111827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sz="500" dirty="0">
                <a:solidFill>
                  <a:srgbClr val="111827"/>
                </a:solidFill>
                <a:latin typeface="+mn-ea"/>
                <a:cs typeface="Noto Sans CJK KR" pitchFamily="34" charset="-120"/>
              </a:rPr>
              <a:t>검증/예외</a:t>
            </a:r>
            <a:endParaRPr lang="en-US" sz="500" dirty="0">
              <a:latin typeface="+mn-ea"/>
            </a:endParaRPr>
          </a:p>
        </p:txBody>
      </p:sp>
      <p:sp>
        <p:nvSpPr>
          <p:cNvPr id="161" name="Shape 159"/>
          <p:cNvSpPr/>
          <p:nvPr/>
        </p:nvSpPr>
        <p:spPr>
          <a:xfrm>
            <a:off x="6302502" y="3771900"/>
            <a:ext cx="2338578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1D9EA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6329934" y="3785616"/>
            <a:ext cx="2283714" cy="39776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00" dirty="0">
                <a:solidFill>
                  <a:srgbClr val="111827"/>
                </a:solidFill>
                <a:latin typeface="+mn-ea"/>
                <a:cs typeface="Noto Sans CJK KR" pitchFamily="34" charset="-120"/>
              </a:rPr>
              <a:t>필수값 미입력 시 해당 입력칸 붉은 테두리 표시</a:t>
            </a:r>
            <a:endParaRPr lang="en-US" sz="500" dirty="0">
              <a:latin typeface="+mn-ea"/>
            </a:endParaRPr>
          </a:p>
          <a:p>
            <a:r>
              <a:rPr lang="en-US" sz="500" dirty="0">
                <a:solidFill>
                  <a:srgbClr val="111827"/>
                </a:solidFill>
                <a:latin typeface="+mn-ea"/>
                <a:cs typeface="Noto Sans CJK KR" pitchFamily="34" charset="-120"/>
              </a:rPr>
              <a:t>입력창 하단 안내 문구 노출</a:t>
            </a:r>
            <a:endParaRPr lang="en-US" sz="500" dirty="0">
              <a:latin typeface="+mn-ea"/>
            </a:endParaRPr>
          </a:p>
        </p:txBody>
      </p:sp>
      <p:sp>
        <p:nvSpPr>
          <p:cNvPr id="163" name="Shape 161"/>
          <p:cNvSpPr/>
          <p:nvPr/>
        </p:nvSpPr>
        <p:spPr>
          <a:xfrm>
            <a:off x="5657850" y="4197096"/>
            <a:ext cx="644652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1D9EA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685282" y="4210812"/>
            <a:ext cx="589788" cy="39776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00" dirty="0">
                <a:solidFill>
                  <a:srgbClr val="111827"/>
                </a:solidFill>
                <a:latin typeface="+mn-ea"/>
                <a:cs typeface="Noto Sans CJK KR" pitchFamily="34" charset="-120"/>
              </a:rPr>
              <a:t>7</a:t>
            </a:r>
            <a:r>
              <a:rPr lang="en-US" sz="500" dirty="0" smtClean="0">
                <a:solidFill>
                  <a:srgbClr val="111827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sz="500" dirty="0">
                <a:solidFill>
                  <a:srgbClr val="111827"/>
                </a:solidFill>
                <a:latin typeface="+mn-ea"/>
                <a:cs typeface="Noto Sans CJK KR" pitchFamily="34" charset="-120"/>
              </a:rPr>
              <a:t>등록 정보 미리보기</a:t>
            </a:r>
            <a:endParaRPr lang="en-US" sz="500" dirty="0">
              <a:latin typeface="+mn-ea"/>
            </a:endParaRPr>
          </a:p>
        </p:txBody>
      </p:sp>
      <p:sp>
        <p:nvSpPr>
          <p:cNvPr id="165" name="Shape 163"/>
          <p:cNvSpPr/>
          <p:nvPr/>
        </p:nvSpPr>
        <p:spPr>
          <a:xfrm>
            <a:off x="6302502" y="4197096"/>
            <a:ext cx="2338578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1D9EA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329934" y="4210812"/>
            <a:ext cx="2283714" cy="39776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00" dirty="0">
                <a:solidFill>
                  <a:srgbClr val="111827"/>
                </a:solidFill>
                <a:latin typeface="+mn-ea"/>
                <a:cs typeface="Noto Sans CJK KR" pitchFamily="34" charset="-120"/>
              </a:rPr>
              <a:t>입력값 변경 시 하단 미리보기 즉시 반영</a:t>
            </a:r>
            <a:endParaRPr lang="en-US" sz="500" dirty="0">
              <a:latin typeface="+mn-ea"/>
            </a:endParaRPr>
          </a:p>
          <a:p>
            <a:r>
              <a:rPr lang="en-US" sz="500" dirty="0">
                <a:solidFill>
                  <a:srgbClr val="111827"/>
                </a:solidFill>
                <a:latin typeface="+mn-ea"/>
                <a:cs typeface="Noto Sans CJK KR" pitchFamily="34" charset="-120"/>
              </a:rPr>
              <a:t>상태는 배지 형태로 표시</a:t>
            </a:r>
            <a:endParaRPr lang="en-US" sz="500" dirty="0">
              <a:latin typeface="+mn-ea"/>
            </a:endParaRPr>
          </a:p>
        </p:txBody>
      </p:sp>
      <p:sp>
        <p:nvSpPr>
          <p:cNvPr id="169" name="Text 167"/>
          <p:cNvSpPr/>
          <p:nvPr/>
        </p:nvSpPr>
        <p:spPr>
          <a:xfrm>
            <a:off x="425196" y="4848606"/>
            <a:ext cx="288036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510" dirty="0">
                <a:solidFill>
                  <a:srgbClr val="0F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* 본 문서는 화면 설계 검토용이며, 실제 구현 상태와 다를 수 있습니다.</a:t>
            </a:r>
            <a:endParaRPr lang="en-US" sz="510" dirty="0"/>
          </a:p>
        </p:txBody>
      </p:sp>
      <p:pic>
        <p:nvPicPr>
          <p:cNvPr id="171" name="그림 1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139" y="4638290"/>
            <a:ext cx="2160096" cy="463494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7471791" y="4697586"/>
            <a:ext cx="1169289" cy="287387"/>
          </a:xfrm>
          <a:prstGeom prst="rect">
            <a:avLst/>
          </a:prstGeom>
          <a:noFill/>
        </p:spPr>
        <p:txBody>
          <a:bodyPr wrap="square" lIns="10287" tIns="5144" rIns="10287" bIns="5144">
            <a:spAutoFit/>
          </a:bodyPr>
          <a:lstStyle/>
          <a:p>
            <a:pPr algn="l">
              <a:defRPr sz="700" b="0">
                <a:solidFill>
                  <a:srgbClr val="111C31"/>
                </a:solidFill>
                <a:latin typeface="Noto Sans CJK KR"/>
              </a:defRPr>
            </a:pPr>
            <a:r>
              <a:rPr sz="600" dirty="0" err="1"/>
              <a:t>검증</a:t>
            </a:r>
            <a:r>
              <a:rPr sz="600" dirty="0"/>
              <a:t> </a:t>
            </a:r>
            <a:r>
              <a:rPr sz="600" dirty="0" err="1"/>
              <a:t>상태</a:t>
            </a:r>
            <a:r>
              <a:rPr sz="600" dirty="0"/>
              <a:t> </a:t>
            </a:r>
            <a:r>
              <a:rPr sz="600" dirty="0" err="1"/>
              <a:t>예시</a:t>
            </a:r>
            <a:r>
              <a:rPr sz="600" dirty="0"/>
              <a:t/>
            </a:r>
            <a:br>
              <a:rPr sz="600" dirty="0"/>
            </a:br>
            <a:r>
              <a:rPr sz="600" dirty="0" err="1"/>
              <a:t>필수값</a:t>
            </a:r>
            <a:r>
              <a:rPr sz="600" dirty="0"/>
              <a:t> </a:t>
            </a:r>
            <a:r>
              <a:rPr sz="600" dirty="0" err="1"/>
              <a:t>누락</a:t>
            </a:r>
            <a:r>
              <a:rPr sz="600" dirty="0"/>
              <a:t> 시 </a:t>
            </a:r>
            <a:r>
              <a:rPr sz="600" dirty="0" err="1"/>
              <a:t>입력</a:t>
            </a:r>
            <a:r>
              <a:rPr sz="600" dirty="0"/>
              <a:t> </a:t>
            </a:r>
            <a:r>
              <a:rPr sz="600" dirty="0" err="1"/>
              <a:t>영역과</a:t>
            </a:r>
            <a:r>
              <a:rPr sz="600" dirty="0"/>
              <a:t> </a:t>
            </a:r>
            <a:r>
              <a:rPr sz="600" dirty="0" err="1"/>
              <a:t>안내</a:t>
            </a:r>
            <a:r>
              <a:rPr sz="600" dirty="0"/>
              <a:t> </a:t>
            </a:r>
            <a:r>
              <a:rPr sz="600" dirty="0" err="1"/>
              <a:t>문구를</a:t>
            </a:r>
            <a:r>
              <a:rPr sz="600" dirty="0"/>
              <a:t> </a:t>
            </a:r>
            <a:r>
              <a:rPr sz="600" dirty="0" err="1"/>
              <a:t>동시에</a:t>
            </a:r>
            <a:r>
              <a:rPr sz="600" dirty="0"/>
              <a:t> </a:t>
            </a:r>
            <a:r>
              <a:rPr sz="600" dirty="0" err="1"/>
              <a:t>노출</a:t>
            </a:r>
            <a:endParaRPr sz="600" dirty="0"/>
          </a:p>
        </p:txBody>
      </p:sp>
    </p:spTree>
    <p:extLst>
      <p:ext uri="{BB962C8B-B14F-4D97-AF65-F5344CB8AC3E}">
        <p14:creationId xmlns:p14="http://schemas.microsoft.com/office/powerpoint/2010/main" val="115004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61722"/>
            <a:ext cx="8867394" cy="397764"/>
          </a:xfrm>
          <a:prstGeom prst="rect">
            <a:avLst/>
          </a:prstGeom>
          <a:solidFill>
            <a:srgbClr val="0F213A"/>
          </a:solidFill>
          <a:ln w="12700">
            <a:solidFill>
              <a:srgbClr val="0F2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5196" y="164592"/>
            <a:ext cx="1028700" cy="12344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8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Peoplify UI 기획서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051810" y="123444"/>
            <a:ext cx="3051810" cy="19202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수정 화면 설계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981444" y="164592"/>
            <a:ext cx="1508760" cy="9601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r"/>
            <a:r>
              <a:rPr lang="en-US" sz="54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project 도메인 · /project/project-edit/:id</a:t>
            </a:r>
            <a:endParaRPr lang="en-US" sz="540" dirty="0"/>
          </a:p>
        </p:txBody>
      </p:sp>
      <p:sp>
        <p:nvSpPr>
          <p:cNvPr id="6" name="Text 4"/>
          <p:cNvSpPr/>
          <p:nvPr/>
        </p:nvSpPr>
        <p:spPr>
          <a:xfrm>
            <a:off x="8586216" y="164592"/>
            <a:ext cx="171450" cy="9601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r"/>
            <a:r>
              <a:rPr lang="en-US" sz="61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615" dirty="0"/>
          </a:p>
        </p:txBody>
      </p:sp>
      <p:sp>
        <p:nvSpPr>
          <p:cNvPr id="7" name="Text 5"/>
          <p:cNvSpPr/>
          <p:nvPr/>
        </p:nvSpPr>
        <p:spPr>
          <a:xfrm>
            <a:off x="493776" y="665226"/>
            <a:ext cx="822960" cy="15087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975" b="1" dirty="0">
                <a:solidFill>
                  <a:srgbClr val="0F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설계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356616" y="884682"/>
            <a:ext cx="5143500" cy="339471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8890">
            <a:solidFill>
              <a:srgbClr val="D1D9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5770" y="1014984"/>
            <a:ext cx="4937760" cy="3188970"/>
          </a:xfrm>
          <a:prstGeom prst="rect">
            <a:avLst/>
          </a:prstGeom>
          <a:solidFill>
            <a:srgbClr val="1F1D3A"/>
          </a:solidFill>
          <a:ln w="12700">
            <a:solidFill>
              <a:srgbClr val="1F1D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770" y="1014984"/>
            <a:ext cx="973836" cy="3188970"/>
          </a:xfrm>
          <a:prstGeom prst="rect">
            <a:avLst/>
          </a:prstGeom>
          <a:solidFill>
            <a:srgbClr val="302E4D"/>
          </a:solidFill>
          <a:ln w="12700">
            <a:solidFill>
              <a:srgbClr val="302E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9606" y="1014984"/>
            <a:ext cx="3963924" cy="377190"/>
          </a:xfrm>
          <a:prstGeom prst="rect">
            <a:avLst/>
          </a:prstGeom>
          <a:solidFill>
            <a:srgbClr val="33314F"/>
          </a:solidFill>
          <a:ln w="12700">
            <a:solidFill>
              <a:srgbClr val="333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066" y="1110996"/>
            <a:ext cx="754380" cy="9601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51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⚙  인력관리 시스템</a:t>
            </a:r>
            <a:endParaRPr lang="en-US" sz="510" dirty="0"/>
          </a:p>
        </p:txBody>
      </p:sp>
      <p:sp>
        <p:nvSpPr>
          <p:cNvPr id="13" name="Text 11"/>
          <p:cNvSpPr/>
          <p:nvPr/>
        </p:nvSpPr>
        <p:spPr>
          <a:xfrm>
            <a:off x="637794" y="1207008"/>
            <a:ext cx="480060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53" dirty="0">
                <a:solidFill>
                  <a:srgbClr val="C8C5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Peoplify v1.0</a:t>
            </a:r>
            <a:endParaRPr lang="en-US" sz="353" dirty="0"/>
          </a:p>
        </p:txBody>
      </p:sp>
      <p:sp>
        <p:nvSpPr>
          <p:cNvPr id="14" name="Text 12"/>
          <p:cNvSpPr/>
          <p:nvPr/>
        </p:nvSpPr>
        <p:spPr>
          <a:xfrm>
            <a:off x="534924" y="1495044"/>
            <a:ext cx="342900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68" dirty="0">
                <a:solidFill>
                  <a:srgbClr val="B5B2D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 메뉴</a:t>
            </a:r>
            <a:endParaRPr lang="en-US" sz="368" dirty="0"/>
          </a:p>
        </p:txBody>
      </p:sp>
      <p:sp>
        <p:nvSpPr>
          <p:cNvPr id="15" name="Text 13"/>
          <p:cNvSpPr/>
          <p:nvPr/>
        </p:nvSpPr>
        <p:spPr>
          <a:xfrm>
            <a:off x="541782" y="1687068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▦</a:t>
            </a:r>
            <a:endParaRPr lang="en-US" sz="413" dirty="0"/>
          </a:p>
        </p:txBody>
      </p:sp>
      <p:sp>
        <p:nvSpPr>
          <p:cNvPr id="16" name="Text 14"/>
          <p:cNvSpPr/>
          <p:nvPr/>
        </p:nvSpPr>
        <p:spPr>
          <a:xfrm>
            <a:off x="665226" y="1687068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</a:t>
            </a:r>
            <a:endParaRPr lang="en-US" sz="413" dirty="0"/>
          </a:p>
        </p:txBody>
      </p:sp>
      <p:sp>
        <p:nvSpPr>
          <p:cNvPr id="17" name="Text 15"/>
          <p:cNvSpPr/>
          <p:nvPr/>
        </p:nvSpPr>
        <p:spPr>
          <a:xfrm>
            <a:off x="1248156" y="1687068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18" name="Shape 16"/>
          <p:cNvSpPr/>
          <p:nvPr/>
        </p:nvSpPr>
        <p:spPr>
          <a:xfrm>
            <a:off x="507492" y="1923669"/>
            <a:ext cx="857250" cy="164592"/>
          </a:xfrm>
          <a:prstGeom prst="roundRect">
            <a:avLst>
              <a:gd name="adj" fmla="val 16667"/>
            </a:avLst>
          </a:prstGeom>
          <a:solidFill>
            <a:srgbClr val="3C395D"/>
          </a:solidFill>
          <a:ln w="12700">
            <a:solidFill>
              <a:srgbClr val="3C39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782" y="1933956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♟</a:t>
            </a:r>
            <a:endParaRPr lang="en-US" sz="413" dirty="0"/>
          </a:p>
        </p:txBody>
      </p:sp>
      <p:sp>
        <p:nvSpPr>
          <p:cNvPr id="20" name="Text 18"/>
          <p:cNvSpPr/>
          <p:nvPr/>
        </p:nvSpPr>
        <p:spPr>
          <a:xfrm>
            <a:off x="665226" y="1933956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직원관리</a:t>
            </a:r>
            <a:endParaRPr lang="en-US" sz="413" dirty="0"/>
          </a:p>
        </p:txBody>
      </p:sp>
      <p:sp>
        <p:nvSpPr>
          <p:cNvPr id="21" name="Text 19"/>
          <p:cNvSpPr/>
          <p:nvPr/>
        </p:nvSpPr>
        <p:spPr>
          <a:xfrm>
            <a:off x="1248156" y="1933956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22" name="Text 20"/>
          <p:cNvSpPr/>
          <p:nvPr/>
        </p:nvSpPr>
        <p:spPr>
          <a:xfrm>
            <a:off x="541782" y="2180844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413" dirty="0"/>
          </a:p>
        </p:txBody>
      </p:sp>
      <p:sp>
        <p:nvSpPr>
          <p:cNvPr id="23" name="Text 21"/>
          <p:cNvSpPr/>
          <p:nvPr/>
        </p:nvSpPr>
        <p:spPr>
          <a:xfrm>
            <a:off x="665226" y="2180844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</a:t>
            </a:r>
            <a:endParaRPr lang="en-US" sz="413" dirty="0"/>
          </a:p>
        </p:txBody>
      </p:sp>
      <p:sp>
        <p:nvSpPr>
          <p:cNvPr id="24" name="Text 22"/>
          <p:cNvSpPr/>
          <p:nvPr/>
        </p:nvSpPr>
        <p:spPr>
          <a:xfrm>
            <a:off x="1248156" y="2180844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25" name="Text 23"/>
          <p:cNvSpPr/>
          <p:nvPr/>
        </p:nvSpPr>
        <p:spPr>
          <a:xfrm>
            <a:off x="541782" y="2434590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⊕</a:t>
            </a:r>
            <a:endParaRPr lang="en-US" sz="413" dirty="0"/>
          </a:p>
        </p:txBody>
      </p:sp>
      <p:sp>
        <p:nvSpPr>
          <p:cNvPr id="26" name="Text 24"/>
          <p:cNvSpPr/>
          <p:nvPr/>
        </p:nvSpPr>
        <p:spPr>
          <a:xfrm>
            <a:off x="665226" y="2434590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근태관리</a:t>
            </a:r>
            <a:endParaRPr lang="en-US" sz="413" dirty="0"/>
          </a:p>
        </p:txBody>
      </p:sp>
      <p:sp>
        <p:nvSpPr>
          <p:cNvPr id="27" name="Text 25"/>
          <p:cNvSpPr/>
          <p:nvPr/>
        </p:nvSpPr>
        <p:spPr>
          <a:xfrm>
            <a:off x="1248156" y="2434590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28" name="Text 26"/>
          <p:cNvSpPr/>
          <p:nvPr/>
        </p:nvSpPr>
        <p:spPr>
          <a:xfrm>
            <a:off x="541782" y="2681478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▥</a:t>
            </a:r>
            <a:endParaRPr lang="en-US" sz="413" dirty="0"/>
          </a:p>
        </p:txBody>
      </p:sp>
      <p:sp>
        <p:nvSpPr>
          <p:cNvPr id="29" name="Text 27"/>
          <p:cNvSpPr/>
          <p:nvPr/>
        </p:nvSpPr>
        <p:spPr>
          <a:xfrm>
            <a:off x="665226" y="2681478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리포트</a:t>
            </a:r>
            <a:endParaRPr lang="en-US" sz="413" dirty="0"/>
          </a:p>
        </p:txBody>
      </p:sp>
      <p:sp>
        <p:nvSpPr>
          <p:cNvPr id="30" name="Text 28"/>
          <p:cNvSpPr/>
          <p:nvPr/>
        </p:nvSpPr>
        <p:spPr>
          <a:xfrm>
            <a:off x="1248156" y="2681478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31" name="Text 29"/>
          <p:cNvSpPr/>
          <p:nvPr/>
        </p:nvSpPr>
        <p:spPr>
          <a:xfrm>
            <a:off x="534924" y="2935224"/>
            <a:ext cx="514350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45" dirty="0">
                <a:solidFill>
                  <a:srgbClr val="8E8BA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퍼플리싱(임시)</a:t>
            </a:r>
            <a:endParaRPr lang="en-US" sz="345" dirty="0"/>
          </a:p>
        </p:txBody>
      </p:sp>
      <p:sp>
        <p:nvSpPr>
          <p:cNvPr id="32" name="Text 30"/>
          <p:cNvSpPr/>
          <p:nvPr/>
        </p:nvSpPr>
        <p:spPr>
          <a:xfrm>
            <a:off x="541782" y="3127248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▦</a:t>
            </a:r>
            <a:endParaRPr lang="en-US" sz="413" dirty="0"/>
          </a:p>
        </p:txBody>
      </p:sp>
      <p:sp>
        <p:nvSpPr>
          <p:cNvPr id="33" name="Text 31"/>
          <p:cNvSpPr/>
          <p:nvPr/>
        </p:nvSpPr>
        <p:spPr>
          <a:xfrm>
            <a:off x="665226" y="3127248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</a:t>
            </a:r>
            <a:endParaRPr lang="en-US" sz="413" dirty="0"/>
          </a:p>
        </p:txBody>
      </p:sp>
      <p:sp>
        <p:nvSpPr>
          <p:cNvPr id="34" name="Text 32"/>
          <p:cNvSpPr/>
          <p:nvPr/>
        </p:nvSpPr>
        <p:spPr>
          <a:xfrm>
            <a:off x="1248156" y="3127248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35" name="Text 33"/>
          <p:cNvSpPr/>
          <p:nvPr/>
        </p:nvSpPr>
        <p:spPr>
          <a:xfrm>
            <a:off x="541782" y="3374136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413" dirty="0"/>
          </a:p>
        </p:txBody>
      </p:sp>
      <p:sp>
        <p:nvSpPr>
          <p:cNvPr id="36" name="Text 34"/>
          <p:cNvSpPr/>
          <p:nvPr/>
        </p:nvSpPr>
        <p:spPr>
          <a:xfrm>
            <a:off x="665226" y="3374136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</a:t>
            </a:r>
            <a:endParaRPr lang="en-US" sz="413" dirty="0"/>
          </a:p>
        </p:txBody>
      </p:sp>
      <p:sp>
        <p:nvSpPr>
          <p:cNvPr id="37" name="Text 35"/>
          <p:cNvSpPr/>
          <p:nvPr/>
        </p:nvSpPr>
        <p:spPr>
          <a:xfrm>
            <a:off x="1248156" y="3374136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38" name="Text 36"/>
          <p:cNvSpPr/>
          <p:nvPr/>
        </p:nvSpPr>
        <p:spPr>
          <a:xfrm>
            <a:off x="541782" y="3621024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⊕</a:t>
            </a:r>
            <a:endParaRPr lang="en-US" sz="413" dirty="0"/>
          </a:p>
        </p:txBody>
      </p:sp>
      <p:sp>
        <p:nvSpPr>
          <p:cNvPr id="39" name="Text 37"/>
          <p:cNvSpPr/>
          <p:nvPr/>
        </p:nvSpPr>
        <p:spPr>
          <a:xfrm>
            <a:off x="665226" y="3621024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근태관리</a:t>
            </a:r>
            <a:endParaRPr lang="en-US" sz="413" dirty="0"/>
          </a:p>
        </p:txBody>
      </p:sp>
      <p:sp>
        <p:nvSpPr>
          <p:cNvPr id="40" name="Text 38"/>
          <p:cNvSpPr/>
          <p:nvPr/>
        </p:nvSpPr>
        <p:spPr>
          <a:xfrm>
            <a:off x="1248156" y="3621024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41" name="Text 39"/>
          <p:cNvSpPr/>
          <p:nvPr/>
        </p:nvSpPr>
        <p:spPr>
          <a:xfrm>
            <a:off x="534924" y="3929634"/>
            <a:ext cx="48006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9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↪  로그인</a:t>
            </a:r>
            <a:endParaRPr lang="en-US" sz="398" dirty="0"/>
          </a:p>
        </p:txBody>
      </p:sp>
      <p:sp>
        <p:nvSpPr>
          <p:cNvPr id="42" name="Shape 40"/>
          <p:cNvSpPr/>
          <p:nvPr/>
        </p:nvSpPr>
        <p:spPr>
          <a:xfrm>
            <a:off x="1508760" y="1097280"/>
            <a:ext cx="171450" cy="192024"/>
          </a:xfrm>
          <a:prstGeom prst="roundRect">
            <a:avLst>
              <a:gd name="adj" fmla="val 14000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43050" y="1145286"/>
            <a:ext cx="82296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pPr algn="ctr"/>
            <a:r>
              <a:rPr lang="en-US" sz="43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☰</a:t>
            </a:r>
            <a:endParaRPr lang="en-US" sz="435" dirty="0"/>
          </a:p>
        </p:txBody>
      </p:sp>
      <p:sp>
        <p:nvSpPr>
          <p:cNvPr id="44" name="Shape 42"/>
          <p:cNvSpPr/>
          <p:nvPr/>
        </p:nvSpPr>
        <p:spPr>
          <a:xfrm>
            <a:off x="1762506" y="1097280"/>
            <a:ext cx="1885950" cy="192024"/>
          </a:xfrm>
          <a:prstGeom prst="roundRect">
            <a:avLst>
              <a:gd name="adj" fmla="val 12500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31086" y="1145286"/>
            <a:ext cx="109728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83" dirty="0">
                <a:solidFill>
                  <a:srgbClr val="C7C5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⌕  Search or type command...</a:t>
            </a:r>
            <a:endParaRPr lang="en-US" sz="383" dirty="0"/>
          </a:p>
        </p:txBody>
      </p:sp>
      <p:sp>
        <p:nvSpPr>
          <p:cNvPr id="46" name="Text 44"/>
          <p:cNvSpPr/>
          <p:nvPr/>
        </p:nvSpPr>
        <p:spPr>
          <a:xfrm>
            <a:off x="4594860" y="1145286"/>
            <a:ext cx="123444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pPr algn="ctr"/>
            <a:r>
              <a:rPr lang="en-US" sz="360" dirty="0">
                <a:solidFill>
                  <a:srgbClr val="B8B5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⌘K</a:t>
            </a:r>
            <a:endParaRPr lang="en-US" sz="360" dirty="0"/>
          </a:p>
        </p:txBody>
      </p:sp>
      <p:sp>
        <p:nvSpPr>
          <p:cNvPr id="47" name="Text 45"/>
          <p:cNvSpPr/>
          <p:nvPr/>
        </p:nvSpPr>
        <p:spPr>
          <a:xfrm>
            <a:off x="4807458" y="1138428"/>
            <a:ext cx="89154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pPr algn="ctr"/>
            <a:r>
              <a:rPr lang="en-US" sz="4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☼</a:t>
            </a:r>
            <a:endParaRPr lang="en-US" sz="450" dirty="0"/>
          </a:p>
        </p:txBody>
      </p:sp>
      <p:sp>
        <p:nvSpPr>
          <p:cNvPr id="48" name="Shape 46"/>
          <p:cNvSpPr/>
          <p:nvPr/>
        </p:nvSpPr>
        <p:spPr>
          <a:xfrm>
            <a:off x="4958334" y="1097280"/>
            <a:ext cx="363474" cy="192024"/>
          </a:xfrm>
          <a:prstGeom prst="roundRect">
            <a:avLst>
              <a:gd name="adj" fmla="val 21429"/>
            </a:avLst>
          </a:prstGeom>
          <a:solidFill>
            <a:srgbClr val="24223F"/>
          </a:solidFill>
          <a:ln w="12700">
            <a:solidFill>
              <a:srgbClr val="24223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78908" y="1138428"/>
            <a:ext cx="315468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3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 ↗</a:t>
            </a:r>
            <a:endParaRPr lang="en-US" sz="390" dirty="0"/>
          </a:p>
        </p:txBody>
      </p:sp>
      <p:sp>
        <p:nvSpPr>
          <p:cNvPr id="50" name="Shape 48"/>
          <p:cNvSpPr/>
          <p:nvPr/>
        </p:nvSpPr>
        <p:spPr>
          <a:xfrm>
            <a:off x="5280660" y="1097280"/>
            <a:ext cx="171450" cy="171450"/>
          </a:xfrm>
          <a:prstGeom prst="ellipse">
            <a:avLst/>
          </a:prstGeom>
          <a:solidFill>
            <a:srgbClr val="7E6CF4"/>
          </a:solidFill>
          <a:ln w="12700">
            <a:solidFill>
              <a:srgbClr val="7E6C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14950" y="1138428"/>
            <a:ext cx="41148" cy="3429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77500" lnSpcReduction="20000"/>
          </a:bodyPr>
          <a:lstStyle/>
          <a:p>
            <a:pPr algn="ctr"/>
            <a:r>
              <a:rPr lang="en-US" sz="31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</a:t>
            </a:r>
            <a:endParaRPr lang="en-US" sz="315" dirty="0"/>
          </a:p>
        </p:txBody>
      </p:sp>
      <p:sp>
        <p:nvSpPr>
          <p:cNvPr id="52" name="Text 50"/>
          <p:cNvSpPr/>
          <p:nvPr/>
        </p:nvSpPr>
        <p:spPr>
          <a:xfrm>
            <a:off x="1556766" y="1549908"/>
            <a:ext cx="161163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90" dirty="0">
                <a:solidFill>
                  <a:srgbClr val="B8B5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 ›  D보험 차세대시스템  ›  프로젝트 수정</a:t>
            </a:r>
            <a:endParaRPr lang="en-US" sz="390" dirty="0"/>
          </a:p>
        </p:txBody>
      </p:sp>
      <p:sp>
        <p:nvSpPr>
          <p:cNvPr id="53" name="Text 51"/>
          <p:cNvSpPr/>
          <p:nvPr/>
        </p:nvSpPr>
        <p:spPr>
          <a:xfrm>
            <a:off x="1556766" y="1659636"/>
            <a:ext cx="1097280" cy="12344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863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수정</a:t>
            </a:r>
            <a:endParaRPr lang="en-US" sz="863" dirty="0"/>
          </a:p>
        </p:txBody>
      </p:sp>
      <p:sp>
        <p:nvSpPr>
          <p:cNvPr id="54" name="Shape 52"/>
          <p:cNvSpPr/>
          <p:nvPr/>
        </p:nvSpPr>
        <p:spPr>
          <a:xfrm>
            <a:off x="4608576" y="1639062"/>
            <a:ext cx="288036" cy="144018"/>
          </a:xfrm>
          <a:prstGeom prst="roundRect">
            <a:avLst>
              <a:gd name="adj" fmla="val 16667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49724" y="1680210"/>
            <a:ext cx="198882" cy="10287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pPr algn="ctr"/>
            <a:r>
              <a:rPr lang="en-US" sz="4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×  취소</a:t>
            </a:r>
            <a:endParaRPr lang="en-US" sz="450" dirty="0"/>
          </a:p>
        </p:txBody>
      </p:sp>
      <p:sp>
        <p:nvSpPr>
          <p:cNvPr id="56" name="Shape 54"/>
          <p:cNvSpPr/>
          <p:nvPr/>
        </p:nvSpPr>
        <p:spPr>
          <a:xfrm>
            <a:off x="4937760" y="1639062"/>
            <a:ext cx="288036" cy="144018"/>
          </a:xfrm>
          <a:prstGeom prst="roundRect">
            <a:avLst>
              <a:gd name="adj" fmla="val 16667"/>
            </a:avLst>
          </a:prstGeom>
          <a:solidFill>
            <a:srgbClr val="6F5AE8"/>
          </a:solidFill>
          <a:ln w="12700">
            <a:solidFill>
              <a:srgbClr val="6F5A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65192" y="1680210"/>
            <a:ext cx="233172" cy="96011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▣  수정</a:t>
            </a:r>
            <a:endParaRPr lang="en-US" sz="450" dirty="0"/>
          </a:p>
        </p:txBody>
      </p:sp>
      <p:sp>
        <p:nvSpPr>
          <p:cNvPr id="58" name="Shape 56"/>
          <p:cNvSpPr/>
          <p:nvPr/>
        </p:nvSpPr>
        <p:spPr>
          <a:xfrm>
            <a:off x="4560570" y="1597914"/>
            <a:ext cx="108585" cy="108585"/>
          </a:xfrm>
          <a:prstGeom prst="ellipse">
            <a:avLst/>
          </a:prstGeom>
          <a:solidFill>
            <a:srgbClr val="FFFFFF">
              <a:alpha val="0"/>
            </a:srgbClr>
          </a:solidFill>
          <a:ln w="16510">
            <a:solidFill>
              <a:srgbClr val="FF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60570" y="1599971"/>
            <a:ext cx="108585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22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522" dirty="0"/>
          </a:p>
        </p:txBody>
      </p:sp>
      <p:sp>
        <p:nvSpPr>
          <p:cNvPr id="60" name="Shape 58"/>
          <p:cNvSpPr/>
          <p:nvPr/>
        </p:nvSpPr>
        <p:spPr>
          <a:xfrm>
            <a:off x="1556766" y="1824226"/>
            <a:ext cx="3689604" cy="1374717"/>
          </a:xfrm>
          <a:prstGeom prst="roundRect">
            <a:avLst>
              <a:gd name="adj" fmla="val 2632"/>
            </a:avLst>
          </a:prstGeom>
          <a:solidFill>
            <a:srgbClr val="33304F"/>
          </a:solidFill>
          <a:ln w="7620">
            <a:solidFill>
              <a:srgbClr val="5D5A8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639062" y="1892807"/>
            <a:ext cx="54864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85000" lnSpcReduction="20000"/>
          </a:bodyPr>
          <a:lstStyle/>
          <a:p>
            <a:pPr algn="ctr"/>
            <a:r>
              <a:rPr lang="en-US" sz="450" dirty="0">
                <a:solidFill>
                  <a:srgbClr val="7E6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</a:t>
            </a:r>
            <a:endParaRPr lang="en-US" sz="450" dirty="0"/>
          </a:p>
        </p:txBody>
      </p:sp>
      <p:sp>
        <p:nvSpPr>
          <p:cNvPr id="62" name="Text 60"/>
          <p:cNvSpPr/>
          <p:nvPr/>
        </p:nvSpPr>
        <p:spPr>
          <a:xfrm>
            <a:off x="1645920" y="1892807"/>
            <a:ext cx="41148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34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345" dirty="0"/>
          </a:p>
        </p:txBody>
      </p:sp>
      <p:sp>
        <p:nvSpPr>
          <p:cNvPr id="63" name="Text 61"/>
          <p:cNvSpPr/>
          <p:nvPr/>
        </p:nvSpPr>
        <p:spPr>
          <a:xfrm>
            <a:off x="1741932" y="1885949"/>
            <a:ext cx="48006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6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정보</a:t>
            </a:r>
            <a:endParaRPr lang="en-US" sz="465" dirty="0"/>
          </a:p>
        </p:txBody>
      </p:sp>
      <p:sp>
        <p:nvSpPr>
          <p:cNvPr id="64" name="Shape 62"/>
          <p:cNvSpPr/>
          <p:nvPr/>
        </p:nvSpPr>
        <p:spPr>
          <a:xfrm>
            <a:off x="1584198" y="1879091"/>
            <a:ext cx="108585" cy="108585"/>
          </a:xfrm>
          <a:prstGeom prst="ellipse">
            <a:avLst/>
          </a:prstGeom>
          <a:solidFill>
            <a:srgbClr val="FFFFFF">
              <a:alpha val="0"/>
            </a:srgbClr>
          </a:solidFill>
          <a:ln w="16510">
            <a:solidFill>
              <a:srgbClr val="FF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584198" y="1881149"/>
            <a:ext cx="108585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22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522" dirty="0"/>
          </a:p>
        </p:txBody>
      </p:sp>
      <p:sp>
        <p:nvSpPr>
          <p:cNvPr id="66" name="Text 64"/>
          <p:cNvSpPr/>
          <p:nvPr/>
        </p:nvSpPr>
        <p:spPr>
          <a:xfrm>
            <a:off x="1666494" y="2057399"/>
            <a:ext cx="905256" cy="8915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2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프로젝트명 *</a:t>
            </a:r>
            <a:endParaRPr lang="en-US" sz="428" dirty="0"/>
          </a:p>
        </p:txBody>
      </p:sp>
      <p:sp>
        <p:nvSpPr>
          <p:cNvPr id="67" name="Shape 65"/>
          <p:cNvSpPr/>
          <p:nvPr/>
        </p:nvSpPr>
        <p:spPr>
          <a:xfrm>
            <a:off x="1666494" y="2173985"/>
            <a:ext cx="905256" cy="150876"/>
          </a:xfrm>
          <a:prstGeom prst="roundRect">
            <a:avLst>
              <a:gd name="adj" fmla="val 11364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07642" y="2194559"/>
            <a:ext cx="8366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D보험 차세대시스템</a:t>
            </a:r>
            <a:endParaRPr lang="en-US" sz="405" dirty="0"/>
          </a:p>
        </p:txBody>
      </p:sp>
      <p:sp>
        <p:nvSpPr>
          <p:cNvPr id="69" name="Text 67"/>
          <p:cNvSpPr/>
          <p:nvPr/>
        </p:nvSpPr>
        <p:spPr>
          <a:xfrm>
            <a:off x="2667762" y="2057399"/>
            <a:ext cx="905256" cy="8915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2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고객사 *</a:t>
            </a:r>
            <a:endParaRPr lang="en-US" sz="428" dirty="0"/>
          </a:p>
        </p:txBody>
      </p:sp>
      <p:sp>
        <p:nvSpPr>
          <p:cNvPr id="70" name="Shape 68"/>
          <p:cNvSpPr/>
          <p:nvPr/>
        </p:nvSpPr>
        <p:spPr>
          <a:xfrm>
            <a:off x="2667762" y="2173985"/>
            <a:ext cx="905256" cy="150876"/>
          </a:xfrm>
          <a:prstGeom prst="roundRect">
            <a:avLst>
              <a:gd name="adj" fmla="val 11364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08910" y="2194559"/>
            <a:ext cx="8366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D보험그룹</a:t>
            </a:r>
            <a:endParaRPr lang="en-US" sz="405" dirty="0"/>
          </a:p>
        </p:txBody>
      </p:sp>
      <p:sp>
        <p:nvSpPr>
          <p:cNvPr id="72" name="Text 70"/>
          <p:cNvSpPr/>
          <p:nvPr/>
        </p:nvSpPr>
        <p:spPr>
          <a:xfrm>
            <a:off x="3669030" y="2057399"/>
            <a:ext cx="781812" cy="8915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2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시작일 *</a:t>
            </a:r>
            <a:endParaRPr lang="en-US" sz="428" dirty="0"/>
          </a:p>
        </p:txBody>
      </p:sp>
      <p:sp>
        <p:nvSpPr>
          <p:cNvPr id="73" name="Shape 71"/>
          <p:cNvSpPr/>
          <p:nvPr/>
        </p:nvSpPr>
        <p:spPr>
          <a:xfrm>
            <a:off x="3669030" y="2173985"/>
            <a:ext cx="781812" cy="150876"/>
          </a:xfrm>
          <a:prstGeom prst="roundRect">
            <a:avLst>
              <a:gd name="adj" fmla="val 11364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710178" y="2194559"/>
            <a:ext cx="7132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2026-06-16</a:t>
            </a:r>
            <a:endParaRPr lang="en-US" sz="405" dirty="0"/>
          </a:p>
        </p:txBody>
      </p:sp>
      <p:sp>
        <p:nvSpPr>
          <p:cNvPr id="75" name="Text 73"/>
          <p:cNvSpPr/>
          <p:nvPr/>
        </p:nvSpPr>
        <p:spPr>
          <a:xfrm>
            <a:off x="4560570" y="2057399"/>
            <a:ext cx="576072" cy="8915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2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종료일 *</a:t>
            </a:r>
            <a:endParaRPr lang="en-US" sz="428" dirty="0"/>
          </a:p>
        </p:txBody>
      </p:sp>
      <p:sp>
        <p:nvSpPr>
          <p:cNvPr id="76" name="Shape 74"/>
          <p:cNvSpPr/>
          <p:nvPr/>
        </p:nvSpPr>
        <p:spPr>
          <a:xfrm>
            <a:off x="4560570" y="2173985"/>
            <a:ext cx="576072" cy="150876"/>
          </a:xfrm>
          <a:prstGeom prst="roundRect">
            <a:avLst>
              <a:gd name="adj" fmla="val 11364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01718" y="2194559"/>
            <a:ext cx="50749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2026-10-29</a:t>
            </a:r>
            <a:endParaRPr lang="en-US" sz="405" dirty="0"/>
          </a:p>
        </p:txBody>
      </p:sp>
      <p:sp>
        <p:nvSpPr>
          <p:cNvPr id="78" name="Text 76"/>
          <p:cNvSpPr/>
          <p:nvPr/>
        </p:nvSpPr>
        <p:spPr>
          <a:xfrm>
            <a:off x="1666494" y="2414015"/>
            <a:ext cx="905256" cy="8915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2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 *</a:t>
            </a:r>
            <a:endParaRPr lang="en-US" sz="428" dirty="0"/>
          </a:p>
        </p:txBody>
      </p:sp>
      <p:sp>
        <p:nvSpPr>
          <p:cNvPr id="79" name="Shape 77"/>
          <p:cNvSpPr/>
          <p:nvPr/>
        </p:nvSpPr>
        <p:spPr>
          <a:xfrm>
            <a:off x="1666494" y="2530601"/>
            <a:ext cx="905256" cy="150876"/>
          </a:xfrm>
          <a:prstGeom prst="roundRect">
            <a:avLst>
              <a:gd name="adj" fmla="val 11364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707642" y="2551175"/>
            <a:ext cx="8366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05" dirty="0">
                <a:solidFill>
                  <a:srgbClr val="C4C1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 선택</a:t>
            </a:r>
            <a:endParaRPr lang="en-US" sz="405" dirty="0"/>
          </a:p>
        </p:txBody>
      </p:sp>
      <p:sp>
        <p:nvSpPr>
          <p:cNvPr id="81" name="Text 79"/>
          <p:cNvSpPr/>
          <p:nvPr/>
        </p:nvSpPr>
        <p:spPr>
          <a:xfrm>
            <a:off x="2667762" y="2414015"/>
            <a:ext cx="905256" cy="8915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42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진척도</a:t>
            </a:r>
            <a:endParaRPr lang="en-US" sz="428" dirty="0"/>
          </a:p>
        </p:txBody>
      </p:sp>
      <p:sp>
        <p:nvSpPr>
          <p:cNvPr id="82" name="Shape 80"/>
          <p:cNvSpPr/>
          <p:nvPr/>
        </p:nvSpPr>
        <p:spPr>
          <a:xfrm>
            <a:off x="2667762" y="2530601"/>
            <a:ext cx="905256" cy="150876"/>
          </a:xfrm>
          <a:prstGeom prst="roundRect">
            <a:avLst>
              <a:gd name="adj" fmla="val 11364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708910" y="2551175"/>
            <a:ext cx="8366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0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79</a:t>
            </a:r>
            <a:endParaRPr lang="en-US" sz="405" dirty="0"/>
          </a:p>
        </p:txBody>
      </p:sp>
      <p:sp>
        <p:nvSpPr>
          <p:cNvPr id="84" name="Text 82"/>
          <p:cNvSpPr/>
          <p:nvPr/>
        </p:nvSpPr>
        <p:spPr>
          <a:xfrm>
            <a:off x="3614166" y="2633471"/>
            <a:ext cx="54864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75" b="1" dirty="0">
                <a:solidFill>
                  <a:srgbClr val="7E6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%</a:t>
            </a:r>
            <a:endParaRPr lang="en-US" sz="375" dirty="0"/>
          </a:p>
        </p:txBody>
      </p:sp>
      <p:sp>
        <p:nvSpPr>
          <p:cNvPr id="85" name="Text 83"/>
          <p:cNvSpPr/>
          <p:nvPr/>
        </p:nvSpPr>
        <p:spPr>
          <a:xfrm>
            <a:off x="1666494" y="2729483"/>
            <a:ext cx="685800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2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설명</a:t>
            </a:r>
            <a:endParaRPr lang="en-US" sz="428" dirty="0"/>
          </a:p>
        </p:txBody>
      </p:sp>
      <p:sp>
        <p:nvSpPr>
          <p:cNvPr id="86" name="Shape 84"/>
          <p:cNvSpPr/>
          <p:nvPr/>
        </p:nvSpPr>
        <p:spPr>
          <a:xfrm>
            <a:off x="1666494" y="2818637"/>
            <a:ext cx="3470148" cy="150876"/>
          </a:xfrm>
          <a:prstGeom prst="roundRect">
            <a:avLst>
              <a:gd name="adj" fmla="val 11364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714500" y="2852927"/>
            <a:ext cx="1028700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85000" lnSpcReduction="10000"/>
          </a:bodyPr>
          <a:lstStyle/>
          <a:p>
            <a:r>
              <a:rPr lang="en-US" sz="38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차세대 보험코어 시스템 구축</a:t>
            </a:r>
            <a:endParaRPr lang="en-US" sz="383" dirty="0"/>
          </a:p>
        </p:txBody>
      </p:sp>
      <p:sp>
        <p:nvSpPr>
          <p:cNvPr id="88" name="Text 86"/>
          <p:cNvSpPr/>
          <p:nvPr/>
        </p:nvSpPr>
        <p:spPr>
          <a:xfrm>
            <a:off x="1666494" y="2981267"/>
            <a:ext cx="445770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83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진척도</a:t>
            </a:r>
            <a:endParaRPr lang="en-US" sz="383" dirty="0"/>
          </a:p>
        </p:txBody>
      </p:sp>
      <p:sp>
        <p:nvSpPr>
          <p:cNvPr id="89" name="Shape 87"/>
          <p:cNvSpPr/>
          <p:nvPr/>
        </p:nvSpPr>
        <p:spPr>
          <a:xfrm>
            <a:off x="1666494" y="3038093"/>
            <a:ext cx="3470148" cy="34290"/>
          </a:xfrm>
          <a:prstGeom prst="rect">
            <a:avLst/>
          </a:prstGeom>
          <a:solidFill>
            <a:srgbClr val="484568"/>
          </a:solidFill>
          <a:ln w="12700">
            <a:solidFill>
              <a:srgbClr val="48456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666495" y="3077279"/>
            <a:ext cx="2741417" cy="34290"/>
          </a:xfrm>
          <a:prstGeom prst="rect">
            <a:avLst/>
          </a:prstGeom>
          <a:solidFill>
            <a:srgbClr val="6F5AE8"/>
          </a:solidFill>
          <a:ln w="12700">
            <a:solidFill>
              <a:srgbClr val="6F5A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666494" y="3125285"/>
            <a:ext cx="192024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r>
              <a:rPr lang="en-US" sz="360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0%</a:t>
            </a:r>
            <a:endParaRPr lang="en-US" sz="360" dirty="0"/>
          </a:p>
        </p:txBody>
      </p:sp>
      <p:sp>
        <p:nvSpPr>
          <p:cNvPr id="92" name="Text 90"/>
          <p:cNvSpPr/>
          <p:nvPr/>
        </p:nvSpPr>
        <p:spPr>
          <a:xfrm>
            <a:off x="3545586" y="3125285"/>
            <a:ext cx="192024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pPr algn="ctr"/>
            <a:r>
              <a:rPr lang="en-US" sz="360" dirty="0">
                <a:solidFill>
                  <a:srgbClr val="7E6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79%</a:t>
            </a:r>
            <a:endParaRPr lang="en-US" sz="360" dirty="0"/>
          </a:p>
        </p:txBody>
      </p:sp>
      <p:sp>
        <p:nvSpPr>
          <p:cNvPr id="93" name="Text 91"/>
          <p:cNvSpPr/>
          <p:nvPr/>
        </p:nvSpPr>
        <p:spPr>
          <a:xfrm>
            <a:off x="4869180" y="3125285"/>
            <a:ext cx="240030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pPr algn="r"/>
            <a:r>
              <a:rPr lang="en-US" sz="360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</a:t>
            </a:r>
            <a:endParaRPr lang="en-US" sz="360" dirty="0"/>
          </a:p>
        </p:txBody>
      </p:sp>
      <p:sp>
        <p:nvSpPr>
          <p:cNvPr id="94" name="Shape 92"/>
          <p:cNvSpPr/>
          <p:nvPr/>
        </p:nvSpPr>
        <p:spPr>
          <a:xfrm>
            <a:off x="4094226" y="2942081"/>
            <a:ext cx="108585" cy="108585"/>
          </a:xfrm>
          <a:prstGeom prst="ellipse">
            <a:avLst/>
          </a:prstGeom>
          <a:solidFill>
            <a:srgbClr val="FFFFFF">
              <a:alpha val="0"/>
            </a:srgbClr>
          </a:solidFill>
          <a:ln w="16510">
            <a:solidFill>
              <a:srgbClr val="FF000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094226" y="2944139"/>
            <a:ext cx="108585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22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522" dirty="0"/>
          </a:p>
        </p:txBody>
      </p:sp>
      <p:sp>
        <p:nvSpPr>
          <p:cNvPr id="96" name="Shape 94"/>
          <p:cNvSpPr/>
          <p:nvPr/>
        </p:nvSpPr>
        <p:spPr>
          <a:xfrm>
            <a:off x="1556766" y="3219518"/>
            <a:ext cx="3689604" cy="603504"/>
          </a:xfrm>
          <a:prstGeom prst="roundRect">
            <a:avLst>
              <a:gd name="adj" fmla="val 4545"/>
            </a:avLst>
          </a:prstGeom>
          <a:solidFill>
            <a:srgbClr val="33304F"/>
          </a:solidFill>
          <a:ln w="7620">
            <a:solidFill>
              <a:srgbClr val="5D5A8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639062" y="3288098"/>
            <a:ext cx="54864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85000" lnSpcReduction="20000"/>
          </a:bodyPr>
          <a:lstStyle/>
          <a:p>
            <a:pPr algn="ctr"/>
            <a:r>
              <a:rPr lang="en-US" sz="450" dirty="0">
                <a:solidFill>
                  <a:srgbClr val="7E6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</a:t>
            </a:r>
            <a:endParaRPr lang="en-US" sz="450" dirty="0"/>
          </a:p>
        </p:txBody>
      </p:sp>
      <p:sp>
        <p:nvSpPr>
          <p:cNvPr id="98" name="Text 96"/>
          <p:cNvSpPr/>
          <p:nvPr/>
        </p:nvSpPr>
        <p:spPr>
          <a:xfrm>
            <a:off x="1645920" y="3288098"/>
            <a:ext cx="41148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34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345" dirty="0"/>
          </a:p>
        </p:txBody>
      </p:sp>
      <p:sp>
        <p:nvSpPr>
          <p:cNvPr id="99" name="Text 97"/>
          <p:cNvSpPr/>
          <p:nvPr/>
        </p:nvSpPr>
        <p:spPr>
          <a:xfrm>
            <a:off x="1741932" y="3281240"/>
            <a:ext cx="425196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6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기술스택</a:t>
            </a:r>
            <a:endParaRPr lang="en-US" sz="465" dirty="0"/>
          </a:p>
        </p:txBody>
      </p:sp>
      <p:sp>
        <p:nvSpPr>
          <p:cNvPr id="100" name="Text 98"/>
          <p:cNvSpPr/>
          <p:nvPr/>
        </p:nvSpPr>
        <p:spPr>
          <a:xfrm>
            <a:off x="2119122" y="3281240"/>
            <a:ext cx="24003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75" dirty="0">
                <a:solidFill>
                  <a:srgbClr val="7E6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수정</a:t>
            </a:r>
            <a:endParaRPr lang="en-US" sz="375" dirty="0"/>
          </a:p>
        </p:txBody>
      </p:sp>
      <p:sp>
        <p:nvSpPr>
          <p:cNvPr id="101" name="Shape 99"/>
          <p:cNvSpPr/>
          <p:nvPr/>
        </p:nvSpPr>
        <p:spPr>
          <a:xfrm>
            <a:off x="1584198" y="3274382"/>
            <a:ext cx="108585" cy="108585"/>
          </a:xfrm>
          <a:prstGeom prst="ellipse">
            <a:avLst/>
          </a:prstGeom>
          <a:solidFill>
            <a:srgbClr val="FFFFFF">
              <a:alpha val="0"/>
            </a:srgbClr>
          </a:solidFill>
          <a:ln w="16510">
            <a:solidFill>
              <a:srgbClr val="FF000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584198" y="3276439"/>
            <a:ext cx="108585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22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522" dirty="0"/>
          </a:p>
        </p:txBody>
      </p:sp>
      <p:sp>
        <p:nvSpPr>
          <p:cNvPr id="103" name="Shape 101"/>
          <p:cNvSpPr/>
          <p:nvPr/>
        </p:nvSpPr>
        <p:spPr>
          <a:xfrm>
            <a:off x="1666494" y="3432116"/>
            <a:ext cx="3470148" cy="178308"/>
          </a:xfrm>
          <a:prstGeom prst="roundRect">
            <a:avLst>
              <a:gd name="adj" fmla="val 11538"/>
            </a:avLst>
          </a:prstGeom>
          <a:solidFill>
            <a:srgbClr val="FFFFFF">
              <a:alpha val="0"/>
            </a:srgbClr>
          </a:solidFill>
          <a:ln w="6985">
            <a:solidFill>
              <a:srgbClr val="48456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741932" y="3466406"/>
            <a:ext cx="246888" cy="123444"/>
          </a:xfrm>
          <a:prstGeom prst="roundRect">
            <a:avLst>
              <a:gd name="adj" fmla="val 22222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769364" y="3480122"/>
            <a:ext cx="1920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98" dirty="0">
                <a:solidFill>
                  <a:srgbClr val="DA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Vue  ×</a:t>
            </a:r>
            <a:endParaRPr lang="en-US" sz="398" dirty="0"/>
          </a:p>
        </p:txBody>
      </p:sp>
      <p:sp>
        <p:nvSpPr>
          <p:cNvPr id="106" name="Shape 104"/>
          <p:cNvSpPr/>
          <p:nvPr/>
        </p:nvSpPr>
        <p:spPr>
          <a:xfrm>
            <a:off x="2071116" y="3466406"/>
            <a:ext cx="370332" cy="123444"/>
          </a:xfrm>
          <a:prstGeom prst="roundRect">
            <a:avLst>
              <a:gd name="adj" fmla="val 22222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098548" y="3480122"/>
            <a:ext cx="31546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98" dirty="0">
                <a:solidFill>
                  <a:srgbClr val="DA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 ×</a:t>
            </a:r>
            <a:endParaRPr lang="en-US" sz="398" dirty="0"/>
          </a:p>
        </p:txBody>
      </p:sp>
      <p:sp>
        <p:nvSpPr>
          <p:cNvPr id="108" name="Shape 106"/>
          <p:cNvSpPr/>
          <p:nvPr/>
        </p:nvSpPr>
        <p:spPr>
          <a:xfrm>
            <a:off x="2516886" y="3466406"/>
            <a:ext cx="329184" cy="123444"/>
          </a:xfrm>
          <a:prstGeom prst="roundRect">
            <a:avLst>
              <a:gd name="adj" fmla="val 22222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544318" y="3480122"/>
            <a:ext cx="274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98" dirty="0">
                <a:solidFill>
                  <a:srgbClr val="DA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Oracle  ×</a:t>
            </a:r>
            <a:endParaRPr lang="en-US" sz="398" dirty="0"/>
          </a:p>
        </p:txBody>
      </p:sp>
      <p:sp>
        <p:nvSpPr>
          <p:cNvPr id="110" name="Shape 108"/>
          <p:cNvSpPr/>
          <p:nvPr/>
        </p:nvSpPr>
        <p:spPr>
          <a:xfrm>
            <a:off x="2921508" y="3466406"/>
            <a:ext cx="329184" cy="123444"/>
          </a:xfrm>
          <a:prstGeom prst="roundRect">
            <a:avLst>
              <a:gd name="adj" fmla="val 22222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948940" y="3480122"/>
            <a:ext cx="274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98" dirty="0">
                <a:solidFill>
                  <a:srgbClr val="DA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MySQL  ×</a:t>
            </a:r>
            <a:endParaRPr lang="en-US" sz="398" dirty="0"/>
          </a:p>
        </p:txBody>
      </p:sp>
      <p:sp>
        <p:nvSpPr>
          <p:cNvPr id="112" name="Shape 110"/>
          <p:cNvSpPr/>
          <p:nvPr/>
        </p:nvSpPr>
        <p:spPr>
          <a:xfrm>
            <a:off x="3326130" y="3466406"/>
            <a:ext cx="356616" cy="123444"/>
          </a:xfrm>
          <a:prstGeom prst="roundRect">
            <a:avLst>
              <a:gd name="adj" fmla="val 22222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353562" y="3480122"/>
            <a:ext cx="3017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98" dirty="0">
                <a:solidFill>
                  <a:srgbClr val="DA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Docker  ×</a:t>
            </a:r>
            <a:endParaRPr lang="en-US" sz="398" dirty="0"/>
          </a:p>
        </p:txBody>
      </p:sp>
      <p:sp>
        <p:nvSpPr>
          <p:cNvPr id="114" name="Shape 112"/>
          <p:cNvSpPr/>
          <p:nvPr/>
        </p:nvSpPr>
        <p:spPr>
          <a:xfrm>
            <a:off x="3751326" y="3466406"/>
            <a:ext cx="246888" cy="123444"/>
          </a:xfrm>
          <a:prstGeom prst="roundRect">
            <a:avLst>
              <a:gd name="adj" fmla="val 22222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778758" y="3480122"/>
            <a:ext cx="1920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98" dirty="0">
                <a:solidFill>
                  <a:srgbClr val="DA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  ×</a:t>
            </a:r>
            <a:endParaRPr lang="en-US" sz="398" dirty="0"/>
          </a:p>
        </p:txBody>
      </p:sp>
      <p:sp>
        <p:nvSpPr>
          <p:cNvPr id="116" name="Shape 114"/>
          <p:cNvSpPr/>
          <p:nvPr/>
        </p:nvSpPr>
        <p:spPr>
          <a:xfrm>
            <a:off x="1666494" y="3651572"/>
            <a:ext cx="3312414" cy="116586"/>
          </a:xfrm>
          <a:prstGeom prst="roundRect">
            <a:avLst>
              <a:gd name="adj" fmla="val 14706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707642" y="3679004"/>
            <a:ext cx="685800" cy="41148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85000" lnSpcReduction="20000"/>
          </a:bodyPr>
          <a:lstStyle/>
          <a:p>
            <a:r>
              <a:rPr lang="en-US" sz="383" dirty="0">
                <a:solidFill>
                  <a:srgbClr val="B7B5D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기술스택 직접 입력...</a:t>
            </a:r>
            <a:endParaRPr lang="en-US" sz="383" dirty="0"/>
          </a:p>
        </p:txBody>
      </p:sp>
      <p:sp>
        <p:nvSpPr>
          <p:cNvPr id="118" name="Shape 116"/>
          <p:cNvSpPr/>
          <p:nvPr/>
        </p:nvSpPr>
        <p:spPr>
          <a:xfrm>
            <a:off x="5013198" y="3651572"/>
            <a:ext cx="123444" cy="116586"/>
          </a:xfrm>
          <a:prstGeom prst="roundRect">
            <a:avLst>
              <a:gd name="adj" fmla="val 14706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040630" y="3679004"/>
            <a:ext cx="54864" cy="41148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77500" lnSpcReduction="20000"/>
          </a:bodyPr>
          <a:lstStyle/>
          <a:p>
            <a:pPr algn="ctr"/>
            <a:r>
              <a:rPr lang="en-US" sz="4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</a:t>
            </a:r>
            <a:endParaRPr lang="en-US" sz="450" dirty="0"/>
          </a:p>
        </p:txBody>
      </p:sp>
      <p:sp>
        <p:nvSpPr>
          <p:cNvPr id="120" name="Shape 118"/>
          <p:cNvSpPr/>
          <p:nvPr/>
        </p:nvSpPr>
        <p:spPr>
          <a:xfrm>
            <a:off x="4958334" y="3637856"/>
            <a:ext cx="108585" cy="108585"/>
          </a:xfrm>
          <a:prstGeom prst="ellipse">
            <a:avLst/>
          </a:prstGeom>
          <a:solidFill>
            <a:srgbClr val="FFFFFF">
              <a:alpha val="0"/>
            </a:srgbClr>
          </a:solidFill>
          <a:ln w="16510">
            <a:solidFill>
              <a:srgbClr val="FF000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958334" y="3639913"/>
            <a:ext cx="108585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22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522" dirty="0"/>
          </a:p>
        </p:txBody>
      </p:sp>
      <p:sp>
        <p:nvSpPr>
          <p:cNvPr id="122" name="Shape 120"/>
          <p:cNvSpPr/>
          <p:nvPr/>
        </p:nvSpPr>
        <p:spPr>
          <a:xfrm>
            <a:off x="1556766" y="3869156"/>
            <a:ext cx="3689604" cy="342900"/>
          </a:xfrm>
          <a:prstGeom prst="roundRect">
            <a:avLst>
              <a:gd name="adj" fmla="val 8000"/>
            </a:avLst>
          </a:prstGeom>
          <a:solidFill>
            <a:srgbClr val="33304F"/>
          </a:solidFill>
          <a:ln w="7620">
            <a:solidFill>
              <a:srgbClr val="5D5A8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639062" y="3924020"/>
            <a:ext cx="617220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43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수정 정보 미리보기</a:t>
            </a:r>
            <a:endParaRPr lang="en-US" sz="435" dirty="0"/>
          </a:p>
        </p:txBody>
      </p:sp>
      <p:sp>
        <p:nvSpPr>
          <p:cNvPr id="124" name="Shape 122"/>
          <p:cNvSpPr/>
          <p:nvPr/>
        </p:nvSpPr>
        <p:spPr>
          <a:xfrm>
            <a:off x="1522476" y="3917162"/>
            <a:ext cx="108585" cy="108585"/>
          </a:xfrm>
          <a:prstGeom prst="ellipse">
            <a:avLst/>
          </a:prstGeom>
          <a:solidFill>
            <a:srgbClr val="FFFFFF">
              <a:alpha val="0"/>
            </a:srgbClr>
          </a:solidFill>
          <a:ln w="16510">
            <a:solidFill>
              <a:srgbClr val="FF000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522476" y="3919219"/>
            <a:ext cx="108585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22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522" dirty="0"/>
          </a:p>
        </p:txBody>
      </p:sp>
      <p:sp>
        <p:nvSpPr>
          <p:cNvPr id="126" name="Text 124"/>
          <p:cNvSpPr/>
          <p:nvPr/>
        </p:nvSpPr>
        <p:spPr>
          <a:xfrm>
            <a:off x="1666494" y="4040606"/>
            <a:ext cx="342900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r>
              <a:rPr lang="en-US" sz="353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프로젝트명</a:t>
            </a:r>
            <a:endParaRPr lang="en-US" sz="353" dirty="0"/>
          </a:p>
        </p:txBody>
      </p:sp>
      <p:sp>
        <p:nvSpPr>
          <p:cNvPr id="127" name="Text 125"/>
          <p:cNvSpPr/>
          <p:nvPr/>
        </p:nvSpPr>
        <p:spPr>
          <a:xfrm>
            <a:off x="1666494" y="4129760"/>
            <a:ext cx="685800" cy="3429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62500" lnSpcReduction="20000"/>
          </a:bodyPr>
          <a:lstStyle/>
          <a:p>
            <a:r>
              <a:rPr lang="en-US" sz="37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D보험 차세대시스템</a:t>
            </a:r>
            <a:endParaRPr lang="en-US" sz="375" dirty="0"/>
          </a:p>
        </p:txBody>
      </p:sp>
      <p:sp>
        <p:nvSpPr>
          <p:cNvPr id="128" name="Text 126"/>
          <p:cNvSpPr/>
          <p:nvPr/>
        </p:nvSpPr>
        <p:spPr>
          <a:xfrm>
            <a:off x="2825496" y="4040606"/>
            <a:ext cx="274320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r>
              <a:rPr lang="en-US" sz="353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고객사</a:t>
            </a:r>
            <a:endParaRPr lang="en-US" sz="353" dirty="0"/>
          </a:p>
        </p:txBody>
      </p:sp>
      <p:sp>
        <p:nvSpPr>
          <p:cNvPr id="129" name="Text 127"/>
          <p:cNvSpPr/>
          <p:nvPr/>
        </p:nvSpPr>
        <p:spPr>
          <a:xfrm>
            <a:off x="2825496" y="4129760"/>
            <a:ext cx="445770" cy="3429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62500" lnSpcReduction="20000"/>
          </a:bodyPr>
          <a:lstStyle/>
          <a:p>
            <a:r>
              <a:rPr lang="en-US" sz="37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D보험그룹</a:t>
            </a:r>
            <a:endParaRPr lang="en-US" sz="375" dirty="0"/>
          </a:p>
        </p:txBody>
      </p:sp>
      <p:sp>
        <p:nvSpPr>
          <p:cNvPr id="130" name="Text 128"/>
          <p:cNvSpPr/>
          <p:nvPr/>
        </p:nvSpPr>
        <p:spPr>
          <a:xfrm>
            <a:off x="3682746" y="4040606"/>
            <a:ext cx="445770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r>
              <a:rPr lang="en-US" sz="353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기간</a:t>
            </a:r>
            <a:endParaRPr lang="en-US" sz="353" dirty="0"/>
          </a:p>
        </p:txBody>
      </p:sp>
      <p:sp>
        <p:nvSpPr>
          <p:cNvPr id="131" name="Text 129"/>
          <p:cNvSpPr/>
          <p:nvPr/>
        </p:nvSpPr>
        <p:spPr>
          <a:xfrm>
            <a:off x="3682746" y="4129760"/>
            <a:ext cx="857250" cy="3429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62500" lnSpcReduction="20000"/>
          </a:bodyPr>
          <a:lstStyle/>
          <a:p>
            <a:r>
              <a:rPr lang="en-US" sz="37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2026-06-16 ~ 2026-10-29</a:t>
            </a:r>
            <a:endParaRPr lang="en-US" sz="375" dirty="0"/>
          </a:p>
        </p:txBody>
      </p:sp>
      <p:sp>
        <p:nvSpPr>
          <p:cNvPr id="132" name="Text 130"/>
          <p:cNvSpPr/>
          <p:nvPr/>
        </p:nvSpPr>
        <p:spPr>
          <a:xfrm>
            <a:off x="4677156" y="4040606"/>
            <a:ext cx="205740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r>
              <a:rPr lang="en-US" sz="353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</a:t>
            </a:r>
            <a:endParaRPr lang="en-US" sz="353" dirty="0"/>
          </a:p>
        </p:txBody>
      </p:sp>
      <p:sp>
        <p:nvSpPr>
          <p:cNvPr id="133" name="Shape 131"/>
          <p:cNvSpPr/>
          <p:nvPr/>
        </p:nvSpPr>
        <p:spPr>
          <a:xfrm>
            <a:off x="4677156" y="4122902"/>
            <a:ext cx="150876" cy="68580"/>
          </a:xfrm>
          <a:prstGeom prst="roundRect">
            <a:avLst>
              <a:gd name="adj" fmla="val 20000"/>
            </a:avLst>
          </a:prstGeom>
          <a:solidFill>
            <a:srgbClr val="256D9A"/>
          </a:solidFill>
          <a:ln w="12700">
            <a:solidFill>
              <a:srgbClr val="256D9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694301" y="4133189"/>
            <a:ext cx="116586" cy="2743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85000" lnSpcReduction="20000"/>
          </a:bodyPr>
          <a:lstStyle/>
          <a:p>
            <a:pPr algn="ctr"/>
            <a:r>
              <a:rPr lang="en-US" sz="278" dirty="0">
                <a:solidFill>
                  <a:srgbClr val="A8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예정</a:t>
            </a:r>
            <a:endParaRPr lang="en-US" sz="278" dirty="0"/>
          </a:p>
        </p:txBody>
      </p:sp>
      <p:sp>
        <p:nvSpPr>
          <p:cNvPr id="135" name="Text 133"/>
          <p:cNvSpPr/>
          <p:nvPr/>
        </p:nvSpPr>
        <p:spPr>
          <a:xfrm>
            <a:off x="5726430" y="678942"/>
            <a:ext cx="1028700" cy="19202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36" name="Text 134"/>
          <p:cNvSpPr/>
          <p:nvPr/>
        </p:nvSpPr>
        <p:spPr>
          <a:xfrm>
            <a:off x="8257032" y="720090"/>
            <a:ext cx="34290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pPr algn="r"/>
            <a:r>
              <a:rPr lang="en-US" sz="6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검토용</a:t>
            </a:r>
            <a:endParaRPr lang="en-US" sz="600" dirty="0"/>
          </a:p>
        </p:txBody>
      </p:sp>
      <p:graphicFrame>
        <p:nvGraphicFramePr>
          <p:cNvPr id="1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499147"/>
              </p:ext>
            </p:extLst>
          </p:nvPr>
        </p:nvGraphicFramePr>
        <p:xfrm>
          <a:off x="5657850" y="994410"/>
          <a:ext cx="2983230" cy="2523744"/>
        </p:xfrm>
        <a:graphic>
          <a:graphicData uri="http://schemas.openxmlformats.org/drawingml/2006/table">
            <a:tbl>
              <a:tblPr/>
              <a:tblGrid>
                <a:gridCol w="644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8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기획 내용</a:t>
                      </a:r>
                      <a:endParaRPr lang="en-US" sz="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1 기본 정보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프로젝트명/고객사/기간/상태/진척도/설명 조회 및 수정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2 저장/취소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취소: 상세 화면 복귀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수정: 저장 후 상세 화면 이동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3 진척도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0~100 수치 입력, 및 하단 바 직접 수정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현재 진척도 바와 하단 수치 반영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9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4 기술스택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기존 기술스택 태그 표시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태그 x 버튼으로 삭제 가능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5 기술 추가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직접 입력 후 Enter 또는 + 버튼 추가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추천 기술 클릭 시 태그 추가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6 미리보기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수정 정보 미리보기 영역에 핵심 정보 요약 표시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3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567417"/>
              </p:ext>
            </p:extLst>
          </p:nvPr>
        </p:nvGraphicFramePr>
        <p:xfrm>
          <a:off x="5657850" y="3621024"/>
          <a:ext cx="2983230" cy="987552"/>
        </p:xfrm>
        <a:graphic>
          <a:graphicData uri="http://schemas.openxmlformats.org/drawingml/2006/table">
            <a:tbl>
              <a:tblPr/>
              <a:tblGrid>
                <a:gridCol w="644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8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수정/추가</a:t>
                      </a:r>
                      <a:endParaRPr lang="en-US" sz="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7 날짜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시작일/종료일 datepicker 적용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기존 프로젝트 기간 기본값 로딩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8 검증/예외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+mn-ea"/>
                          <a:ea typeface="+mn-ea"/>
                          <a:cs typeface="Noto Sans CJK KR" pitchFamily="34" charset="-120"/>
                        </a:rPr>
                        <a:t>필수값 미입력 시 붉은 테두리 및 안내 문구 표시</a:t>
                      </a:r>
                      <a:endParaRPr lang="en-US" sz="500" dirty="0">
                        <a:latin typeface="+mn-ea"/>
                        <a:ea typeface="+mn-ea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9" name="Text 135"/>
          <p:cNvSpPr/>
          <p:nvPr/>
        </p:nvSpPr>
        <p:spPr>
          <a:xfrm>
            <a:off x="480060" y="4828032"/>
            <a:ext cx="342900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510" dirty="0">
                <a:solidFill>
                  <a:srgbClr val="0F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* 본 문서는 화면 설계 검토용이며, 실제 구현 상태와 다를 수 있습니다.</a:t>
            </a:r>
            <a:endParaRPr lang="en-US" sz="510" dirty="0"/>
          </a:p>
        </p:txBody>
      </p:sp>
      <p:sp>
        <p:nvSpPr>
          <p:cNvPr id="140" name="Text 136"/>
          <p:cNvSpPr/>
          <p:nvPr/>
        </p:nvSpPr>
        <p:spPr>
          <a:xfrm>
            <a:off x="8469630" y="4828032"/>
            <a:ext cx="44577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r"/>
            <a:r>
              <a:rPr lang="en-US" sz="488" dirty="0">
                <a:solidFill>
                  <a:srgbClr val="0F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Confidential</a:t>
            </a:r>
            <a:endParaRPr lang="en-US" sz="488" dirty="0"/>
          </a:p>
        </p:txBody>
      </p:sp>
      <p:pic>
        <p:nvPicPr>
          <p:cNvPr id="141" name="그림 1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276" y="4442459"/>
            <a:ext cx="1958042" cy="63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042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61722"/>
            <a:ext cx="8867394" cy="397764"/>
          </a:xfrm>
          <a:prstGeom prst="rect">
            <a:avLst/>
          </a:prstGeom>
          <a:solidFill>
            <a:srgbClr val="0F213A"/>
          </a:solidFill>
          <a:ln w="12700">
            <a:solidFill>
              <a:srgbClr val="0F2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5196" y="164592"/>
            <a:ext cx="1028700" cy="12344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8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Peoplify UI 기획서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017520" y="123444"/>
            <a:ext cx="3120390" cy="19202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상세 화면 설계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892290" y="164592"/>
            <a:ext cx="1611630" cy="9601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r"/>
            <a:r>
              <a:rPr lang="en-US" sz="54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도메인 · /project/project-detail/:id</a:t>
            </a:r>
            <a:endParaRPr lang="en-US" sz="540" dirty="0"/>
          </a:p>
        </p:txBody>
      </p:sp>
      <p:sp>
        <p:nvSpPr>
          <p:cNvPr id="6" name="Text 4"/>
          <p:cNvSpPr/>
          <p:nvPr/>
        </p:nvSpPr>
        <p:spPr>
          <a:xfrm>
            <a:off x="8586216" y="164592"/>
            <a:ext cx="171450" cy="9601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r"/>
            <a:r>
              <a:rPr lang="en-US" sz="61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615" dirty="0"/>
          </a:p>
        </p:txBody>
      </p:sp>
      <p:sp>
        <p:nvSpPr>
          <p:cNvPr id="7" name="Text 5"/>
          <p:cNvSpPr/>
          <p:nvPr/>
        </p:nvSpPr>
        <p:spPr>
          <a:xfrm>
            <a:off x="493776" y="665226"/>
            <a:ext cx="822960" cy="15087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975" b="1" dirty="0">
                <a:solidFill>
                  <a:srgbClr val="0F2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설계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356616" y="884682"/>
            <a:ext cx="5143500" cy="3051810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8890">
            <a:solidFill>
              <a:srgbClr val="D1D9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5770" y="1014983"/>
            <a:ext cx="4937760" cy="2872861"/>
          </a:xfrm>
          <a:prstGeom prst="rect">
            <a:avLst/>
          </a:prstGeom>
          <a:solidFill>
            <a:srgbClr val="1F1D3A"/>
          </a:solidFill>
          <a:ln w="12700">
            <a:solidFill>
              <a:srgbClr val="1F1D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770" y="1014983"/>
            <a:ext cx="973836" cy="2872861"/>
          </a:xfrm>
          <a:prstGeom prst="rect">
            <a:avLst/>
          </a:prstGeom>
          <a:solidFill>
            <a:srgbClr val="302E4D"/>
          </a:solidFill>
          <a:ln w="12700">
            <a:solidFill>
              <a:srgbClr val="302E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9606" y="1014984"/>
            <a:ext cx="3963924" cy="329184"/>
          </a:xfrm>
          <a:prstGeom prst="rect">
            <a:avLst/>
          </a:prstGeom>
          <a:solidFill>
            <a:srgbClr val="33314F"/>
          </a:solidFill>
          <a:ln w="12700">
            <a:solidFill>
              <a:srgbClr val="333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066" y="1110996"/>
            <a:ext cx="754380" cy="9601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51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  인력관리 시스템</a:t>
            </a:r>
            <a:endParaRPr lang="en-US" sz="510" dirty="0"/>
          </a:p>
        </p:txBody>
      </p:sp>
      <p:sp>
        <p:nvSpPr>
          <p:cNvPr id="13" name="Text 11"/>
          <p:cNvSpPr/>
          <p:nvPr/>
        </p:nvSpPr>
        <p:spPr>
          <a:xfrm>
            <a:off x="637794" y="1207008"/>
            <a:ext cx="480060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53" dirty="0">
                <a:solidFill>
                  <a:srgbClr val="C8C5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Peoplify v1.0</a:t>
            </a:r>
            <a:endParaRPr lang="en-US" sz="353" dirty="0"/>
          </a:p>
        </p:txBody>
      </p:sp>
      <p:sp>
        <p:nvSpPr>
          <p:cNvPr id="14" name="Text 12"/>
          <p:cNvSpPr/>
          <p:nvPr/>
        </p:nvSpPr>
        <p:spPr>
          <a:xfrm>
            <a:off x="534924" y="1467612"/>
            <a:ext cx="342900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68" dirty="0">
                <a:solidFill>
                  <a:srgbClr val="B5B2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메뉴</a:t>
            </a:r>
            <a:endParaRPr lang="en-US" sz="368" dirty="0"/>
          </a:p>
        </p:txBody>
      </p:sp>
      <p:sp>
        <p:nvSpPr>
          <p:cNvPr id="15" name="Text 13"/>
          <p:cNvSpPr/>
          <p:nvPr/>
        </p:nvSpPr>
        <p:spPr>
          <a:xfrm>
            <a:off x="541782" y="1652778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▦</a:t>
            </a:r>
            <a:endParaRPr lang="en-US" sz="413" dirty="0"/>
          </a:p>
        </p:txBody>
      </p:sp>
      <p:sp>
        <p:nvSpPr>
          <p:cNvPr id="16" name="Text 14"/>
          <p:cNvSpPr/>
          <p:nvPr/>
        </p:nvSpPr>
        <p:spPr>
          <a:xfrm>
            <a:off x="665226" y="1652778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413" dirty="0"/>
          </a:p>
        </p:txBody>
      </p:sp>
      <p:sp>
        <p:nvSpPr>
          <p:cNvPr id="17" name="Text 15"/>
          <p:cNvSpPr/>
          <p:nvPr/>
        </p:nvSpPr>
        <p:spPr>
          <a:xfrm>
            <a:off x="1248156" y="1652778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⌄</a:t>
            </a:r>
            <a:endParaRPr lang="en-US" sz="375" dirty="0"/>
          </a:p>
        </p:txBody>
      </p:sp>
      <p:sp>
        <p:nvSpPr>
          <p:cNvPr id="18" name="Text 16"/>
          <p:cNvSpPr/>
          <p:nvPr/>
        </p:nvSpPr>
        <p:spPr>
          <a:xfrm>
            <a:off x="541782" y="1858518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♟</a:t>
            </a:r>
            <a:endParaRPr lang="en-US" sz="413" dirty="0"/>
          </a:p>
        </p:txBody>
      </p:sp>
      <p:sp>
        <p:nvSpPr>
          <p:cNvPr id="19" name="Text 17"/>
          <p:cNvSpPr/>
          <p:nvPr/>
        </p:nvSpPr>
        <p:spPr>
          <a:xfrm>
            <a:off x="665226" y="1858518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직원관리</a:t>
            </a:r>
            <a:endParaRPr lang="en-US" sz="413" dirty="0"/>
          </a:p>
        </p:txBody>
      </p:sp>
      <p:sp>
        <p:nvSpPr>
          <p:cNvPr id="20" name="Text 18"/>
          <p:cNvSpPr/>
          <p:nvPr/>
        </p:nvSpPr>
        <p:spPr>
          <a:xfrm>
            <a:off x="1248156" y="1858518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⌄</a:t>
            </a:r>
            <a:endParaRPr lang="en-US" sz="375" dirty="0"/>
          </a:p>
        </p:txBody>
      </p:sp>
      <p:sp>
        <p:nvSpPr>
          <p:cNvPr id="21" name="Shape 19"/>
          <p:cNvSpPr/>
          <p:nvPr/>
        </p:nvSpPr>
        <p:spPr>
          <a:xfrm>
            <a:off x="507492" y="2053971"/>
            <a:ext cx="857250" cy="164592"/>
          </a:xfrm>
          <a:prstGeom prst="roundRect">
            <a:avLst>
              <a:gd name="adj" fmla="val 16667"/>
            </a:avLst>
          </a:prstGeom>
          <a:solidFill>
            <a:srgbClr val="3C395D"/>
          </a:solidFill>
          <a:ln w="12700">
            <a:solidFill>
              <a:srgbClr val="3C39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782" y="2064258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▣</a:t>
            </a:r>
            <a:endParaRPr lang="en-US" sz="413" dirty="0"/>
          </a:p>
        </p:txBody>
      </p:sp>
      <p:sp>
        <p:nvSpPr>
          <p:cNvPr id="23" name="Text 21"/>
          <p:cNvSpPr/>
          <p:nvPr/>
        </p:nvSpPr>
        <p:spPr>
          <a:xfrm>
            <a:off x="665226" y="2064258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413" dirty="0"/>
          </a:p>
        </p:txBody>
      </p:sp>
      <p:sp>
        <p:nvSpPr>
          <p:cNvPr id="24" name="Text 22"/>
          <p:cNvSpPr/>
          <p:nvPr/>
        </p:nvSpPr>
        <p:spPr>
          <a:xfrm>
            <a:off x="1248156" y="2064258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⌄</a:t>
            </a:r>
            <a:endParaRPr lang="en-US" sz="375" dirty="0"/>
          </a:p>
        </p:txBody>
      </p:sp>
      <p:sp>
        <p:nvSpPr>
          <p:cNvPr id="25" name="Text 23"/>
          <p:cNvSpPr/>
          <p:nvPr/>
        </p:nvSpPr>
        <p:spPr>
          <a:xfrm>
            <a:off x="541782" y="2269998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⊕</a:t>
            </a:r>
            <a:endParaRPr lang="en-US" sz="413" dirty="0"/>
          </a:p>
        </p:txBody>
      </p:sp>
      <p:sp>
        <p:nvSpPr>
          <p:cNvPr id="26" name="Text 24"/>
          <p:cNvSpPr/>
          <p:nvPr/>
        </p:nvSpPr>
        <p:spPr>
          <a:xfrm>
            <a:off x="665226" y="2269998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근태관리</a:t>
            </a:r>
            <a:endParaRPr lang="en-US" sz="413" dirty="0"/>
          </a:p>
        </p:txBody>
      </p:sp>
      <p:sp>
        <p:nvSpPr>
          <p:cNvPr id="27" name="Text 25"/>
          <p:cNvSpPr/>
          <p:nvPr/>
        </p:nvSpPr>
        <p:spPr>
          <a:xfrm>
            <a:off x="1248156" y="2269998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⌄</a:t>
            </a:r>
            <a:endParaRPr lang="en-US" sz="375" dirty="0"/>
          </a:p>
        </p:txBody>
      </p:sp>
      <p:sp>
        <p:nvSpPr>
          <p:cNvPr id="28" name="Text 26"/>
          <p:cNvSpPr/>
          <p:nvPr/>
        </p:nvSpPr>
        <p:spPr>
          <a:xfrm>
            <a:off x="541782" y="2475738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▥</a:t>
            </a:r>
            <a:endParaRPr lang="en-US" sz="413" dirty="0"/>
          </a:p>
        </p:txBody>
      </p:sp>
      <p:sp>
        <p:nvSpPr>
          <p:cNvPr id="29" name="Text 27"/>
          <p:cNvSpPr/>
          <p:nvPr/>
        </p:nvSpPr>
        <p:spPr>
          <a:xfrm>
            <a:off x="665226" y="2475738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</a:t>
            </a:r>
            <a:endParaRPr lang="en-US" sz="413" dirty="0"/>
          </a:p>
        </p:txBody>
      </p:sp>
      <p:sp>
        <p:nvSpPr>
          <p:cNvPr id="30" name="Text 28"/>
          <p:cNvSpPr/>
          <p:nvPr/>
        </p:nvSpPr>
        <p:spPr>
          <a:xfrm>
            <a:off x="1248156" y="2475738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⌄</a:t>
            </a:r>
            <a:endParaRPr lang="en-US" sz="375" dirty="0"/>
          </a:p>
        </p:txBody>
      </p:sp>
      <p:sp>
        <p:nvSpPr>
          <p:cNvPr id="31" name="Text 29"/>
          <p:cNvSpPr/>
          <p:nvPr/>
        </p:nvSpPr>
        <p:spPr>
          <a:xfrm>
            <a:off x="534924" y="2688336"/>
            <a:ext cx="514350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45" dirty="0">
                <a:solidFill>
                  <a:srgbClr val="8E8B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퍼플리싱(임시)</a:t>
            </a:r>
            <a:endParaRPr lang="en-US" sz="345" dirty="0"/>
          </a:p>
        </p:txBody>
      </p:sp>
      <p:sp>
        <p:nvSpPr>
          <p:cNvPr id="32" name="Text 30"/>
          <p:cNvSpPr/>
          <p:nvPr/>
        </p:nvSpPr>
        <p:spPr>
          <a:xfrm>
            <a:off x="541782" y="2880360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▦</a:t>
            </a:r>
            <a:endParaRPr lang="en-US" sz="413" dirty="0"/>
          </a:p>
        </p:txBody>
      </p:sp>
      <p:sp>
        <p:nvSpPr>
          <p:cNvPr id="33" name="Text 31"/>
          <p:cNvSpPr/>
          <p:nvPr/>
        </p:nvSpPr>
        <p:spPr>
          <a:xfrm>
            <a:off x="665226" y="2880360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413" dirty="0"/>
          </a:p>
        </p:txBody>
      </p:sp>
      <p:sp>
        <p:nvSpPr>
          <p:cNvPr id="34" name="Text 32"/>
          <p:cNvSpPr/>
          <p:nvPr/>
        </p:nvSpPr>
        <p:spPr>
          <a:xfrm>
            <a:off x="1248156" y="2880360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⌄</a:t>
            </a:r>
            <a:endParaRPr lang="en-US" sz="375" dirty="0"/>
          </a:p>
        </p:txBody>
      </p:sp>
      <p:sp>
        <p:nvSpPr>
          <p:cNvPr id="35" name="Text 33"/>
          <p:cNvSpPr/>
          <p:nvPr/>
        </p:nvSpPr>
        <p:spPr>
          <a:xfrm>
            <a:off x="541782" y="3086100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</a:t>
            </a:r>
            <a:endParaRPr lang="en-US" sz="413" dirty="0"/>
          </a:p>
        </p:txBody>
      </p:sp>
      <p:sp>
        <p:nvSpPr>
          <p:cNvPr id="36" name="Text 34"/>
          <p:cNvSpPr/>
          <p:nvPr/>
        </p:nvSpPr>
        <p:spPr>
          <a:xfrm>
            <a:off x="665226" y="3086100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413" dirty="0"/>
          </a:p>
        </p:txBody>
      </p:sp>
      <p:sp>
        <p:nvSpPr>
          <p:cNvPr id="37" name="Text 35"/>
          <p:cNvSpPr/>
          <p:nvPr/>
        </p:nvSpPr>
        <p:spPr>
          <a:xfrm>
            <a:off x="1248156" y="3086100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⌄</a:t>
            </a:r>
            <a:endParaRPr lang="en-US" sz="375" dirty="0"/>
          </a:p>
        </p:txBody>
      </p:sp>
      <p:sp>
        <p:nvSpPr>
          <p:cNvPr id="38" name="Text 36"/>
          <p:cNvSpPr/>
          <p:nvPr/>
        </p:nvSpPr>
        <p:spPr>
          <a:xfrm>
            <a:off x="541782" y="3291840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⊕</a:t>
            </a:r>
            <a:endParaRPr lang="en-US" sz="413" dirty="0"/>
          </a:p>
        </p:txBody>
      </p:sp>
      <p:sp>
        <p:nvSpPr>
          <p:cNvPr id="39" name="Text 37"/>
          <p:cNvSpPr/>
          <p:nvPr/>
        </p:nvSpPr>
        <p:spPr>
          <a:xfrm>
            <a:off x="665226" y="3291840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근태관리</a:t>
            </a:r>
            <a:endParaRPr lang="en-US" sz="413" dirty="0"/>
          </a:p>
        </p:txBody>
      </p:sp>
      <p:sp>
        <p:nvSpPr>
          <p:cNvPr id="40" name="Text 38"/>
          <p:cNvSpPr/>
          <p:nvPr/>
        </p:nvSpPr>
        <p:spPr>
          <a:xfrm>
            <a:off x="1248156" y="3291840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⌄</a:t>
            </a:r>
            <a:endParaRPr lang="en-US" sz="375" dirty="0"/>
          </a:p>
        </p:txBody>
      </p:sp>
      <p:sp>
        <p:nvSpPr>
          <p:cNvPr id="41" name="Text 39"/>
          <p:cNvSpPr/>
          <p:nvPr/>
        </p:nvSpPr>
        <p:spPr>
          <a:xfrm>
            <a:off x="534924" y="3497580"/>
            <a:ext cx="48006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9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↪  로그인</a:t>
            </a:r>
            <a:endParaRPr lang="en-US" sz="398" dirty="0"/>
          </a:p>
        </p:txBody>
      </p:sp>
      <p:sp>
        <p:nvSpPr>
          <p:cNvPr id="42" name="Shape 40"/>
          <p:cNvSpPr/>
          <p:nvPr/>
        </p:nvSpPr>
        <p:spPr>
          <a:xfrm>
            <a:off x="1508760" y="1097280"/>
            <a:ext cx="171450" cy="192024"/>
          </a:xfrm>
          <a:prstGeom prst="roundRect">
            <a:avLst>
              <a:gd name="adj" fmla="val 14000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43050" y="1145286"/>
            <a:ext cx="82296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pPr algn="ctr"/>
            <a:r>
              <a:rPr lang="en-US" sz="43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☰</a:t>
            </a:r>
            <a:endParaRPr lang="en-US" sz="435" dirty="0"/>
          </a:p>
        </p:txBody>
      </p:sp>
      <p:sp>
        <p:nvSpPr>
          <p:cNvPr id="44" name="Shape 42"/>
          <p:cNvSpPr/>
          <p:nvPr/>
        </p:nvSpPr>
        <p:spPr>
          <a:xfrm>
            <a:off x="1762506" y="1097280"/>
            <a:ext cx="1885950" cy="192024"/>
          </a:xfrm>
          <a:prstGeom prst="roundRect">
            <a:avLst>
              <a:gd name="adj" fmla="val 12500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31086" y="1145286"/>
            <a:ext cx="109728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83" dirty="0">
                <a:solidFill>
                  <a:srgbClr val="C7C5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⌕  Search or type command...</a:t>
            </a:r>
            <a:endParaRPr lang="en-US" sz="383" dirty="0"/>
          </a:p>
        </p:txBody>
      </p:sp>
      <p:sp>
        <p:nvSpPr>
          <p:cNvPr id="46" name="Text 44"/>
          <p:cNvSpPr/>
          <p:nvPr/>
        </p:nvSpPr>
        <p:spPr>
          <a:xfrm>
            <a:off x="4594860" y="1145286"/>
            <a:ext cx="123444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pPr algn="ctr"/>
            <a:r>
              <a:rPr lang="en-US" sz="360" dirty="0">
                <a:solidFill>
                  <a:srgbClr val="B8B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⌘K</a:t>
            </a:r>
            <a:endParaRPr lang="en-US" sz="360" dirty="0"/>
          </a:p>
        </p:txBody>
      </p:sp>
      <p:sp>
        <p:nvSpPr>
          <p:cNvPr id="47" name="Text 45"/>
          <p:cNvSpPr/>
          <p:nvPr/>
        </p:nvSpPr>
        <p:spPr>
          <a:xfrm>
            <a:off x="4807458" y="1138428"/>
            <a:ext cx="89154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pPr algn="ctr"/>
            <a:r>
              <a:rPr lang="en-US" sz="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☼</a:t>
            </a:r>
            <a:endParaRPr lang="en-US" sz="450" dirty="0"/>
          </a:p>
        </p:txBody>
      </p:sp>
      <p:sp>
        <p:nvSpPr>
          <p:cNvPr id="48" name="Shape 46"/>
          <p:cNvSpPr/>
          <p:nvPr/>
        </p:nvSpPr>
        <p:spPr>
          <a:xfrm>
            <a:off x="4958334" y="1097280"/>
            <a:ext cx="363474" cy="192024"/>
          </a:xfrm>
          <a:prstGeom prst="roundRect">
            <a:avLst>
              <a:gd name="adj" fmla="val 21429"/>
            </a:avLst>
          </a:prstGeom>
          <a:solidFill>
            <a:srgbClr val="24223F"/>
          </a:solidFill>
          <a:ln w="12700">
            <a:solidFill>
              <a:srgbClr val="24223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78908" y="1138428"/>
            <a:ext cx="315468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39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↗</a:t>
            </a:r>
            <a:endParaRPr lang="en-US" sz="390" dirty="0"/>
          </a:p>
        </p:txBody>
      </p:sp>
      <p:sp>
        <p:nvSpPr>
          <p:cNvPr id="50" name="Shape 48"/>
          <p:cNvSpPr/>
          <p:nvPr/>
        </p:nvSpPr>
        <p:spPr>
          <a:xfrm>
            <a:off x="5280660" y="1097280"/>
            <a:ext cx="171450" cy="171450"/>
          </a:xfrm>
          <a:prstGeom prst="ellipse">
            <a:avLst/>
          </a:prstGeom>
          <a:solidFill>
            <a:srgbClr val="7E6CF4"/>
          </a:solidFill>
          <a:ln w="12700">
            <a:solidFill>
              <a:srgbClr val="7E6C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56766" y="1488186"/>
            <a:ext cx="137160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83" dirty="0">
                <a:solidFill>
                  <a:srgbClr val="B8B5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 ›  D보험 차세대시스템</a:t>
            </a:r>
            <a:endParaRPr lang="en-US" sz="383" dirty="0"/>
          </a:p>
        </p:txBody>
      </p:sp>
      <p:sp>
        <p:nvSpPr>
          <p:cNvPr id="52" name="Text 50"/>
          <p:cNvSpPr/>
          <p:nvPr/>
        </p:nvSpPr>
        <p:spPr>
          <a:xfrm>
            <a:off x="1556766" y="1604772"/>
            <a:ext cx="1234440" cy="12344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83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D보험 차세대시스템</a:t>
            </a:r>
            <a:endParaRPr lang="en-US" sz="832" dirty="0"/>
          </a:p>
        </p:txBody>
      </p:sp>
      <p:sp>
        <p:nvSpPr>
          <p:cNvPr id="53" name="Shape 51"/>
          <p:cNvSpPr/>
          <p:nvPr/>
        </p:nvSpPr>
        <p:spPr>
          <a:xfrm>
            <a:off x="4055164" y="1570482"/>
            <a:ext cx="301752" cy="150876"/>
          </a:xfrm>
          <a:prstGeom prst="roundRect">
            <a:avLst>
              <a:gd name="adj" fmla="val 15909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68880" y="1608201"/>
            <a:ext cx="2743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목록으로</a:t>
            </a:r>
            <a:endParaRPr lang="en-US" sz="360" dirty="0"/>
          </a:p>
        </p:txBody>
      </p:sp>
      <p:sp>
        <p:nvSpPr>
          <p:cNvPr id="55" name="Shape 53"/>
          <p:cNvSpPr/>
          <p:nvPr/>
        </p:nvSpPr>
        <p:spPr>
          <a:xfrm>
            <a:off x="4398064" y="1570482"/>
            <a:ext cx="233172" cy="150876"/>
          </a:xfrm>
          <a:prstGeom prst="roundRect">
            <a:avLst>
              <a:gd name="adj" fmla="val 15909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11780" y="1608201"/>
            <a:ext cx="2057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✎ 수정</a:t>
            </a:r>
            <a:endParaRPr lang="en-US" sz="360" dirty="0"/>
          </a:p>
        </p:txBody>
      </p:sp>
      <p:sp>
        <p:nvSpPr>
          <p:cNvPr id="57" name="Shape 55"/>
          <p:cNvSpPr/>
          <p:nvPr/>
        </p:nvSpPr>
        <p:spPr>
          <a:xfrm>
            <a:off x="4665526" y="1570482"/>
            <a:ext cx="390906" cy="150876"/>
          </a:xfrm>
          <a:prstGeom prst="roundRect">
            <a:avLst>
              <a:gd name="adj" fmla="val 15909"/>
            </a:avLst>
          </a:prstGeom>
          <a:solidFill>
            <a:srgbClr val="6F5AE8"/>
          </a:solidFill>
          <a:ln w="6985">
            <a:solidFill>
              <a:srgbClr val="6F5A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79242" y="1608201"/>
            <a:ext cx="36347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⚭ 인력 배정</a:t>
            </a:r>
            <a:endParaRPr lang="en-US" sz="360" dirty="0"/>
          </a:p>
        </p:txBody>
      </p:sp>
      <p:sp>
        <p:nvSpPr>
          <p:cNvPr id="59" name="Shape 57"/>
          <p:cNvSpPr/>
          <p:nvPr/>
        </p:nvSpPr>
        <p:spPr>
          <a:xfrm>
            <a:off x="5077006" y="1570482"/>
            <a:ext cx="219456" cy="150876"/>
          </a:xfrm>
          <a:prstGeom prst="roundRect">
            <a:avLst>
              <a:gd name="adj" fmla="val 15909"/>
            </a:avLst>
          </a:prstGeom>
          <a:solidFill>
            <a:srgbClr val="2C2A49"/>
          </a:solidFill>
          <a:ln w="6985">
            <a:solidFill>
              <a:srgbClr val="E11D4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90722" y="1608201"/>
            <a:ext cx="19202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6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360" dirty="0"/>
          </a:p>
        </p:txBody>
      </p:sp>
      <p:sp>
        <p:nvSpPr>
          <p:cNvPr id="61" name="Text 59"/>
          <p:cNvSpPr/>
          <p:nvPr/>
        </p:nvSpPr>
        <p:spPr>
          <a:xfrm>
            <a:off x="4315768" y="1529334"/>
            <a:ext cx="137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556766" y="1865376"/>
            <a:ext cx="3689604" cy="637794"/>
          </a:xfrm>
          <a:prstGeom prst="roundRect">
            <a:avLst>
              <a:gd name="adj" fmla="val 4651"/>
            </a:avLst>
          </a:prstGeom>
          <a:solidFill>
            <a:srgbClr val="33304F"/>
          </a:solidFill>
          <a:ln w="7620">
            <a:solidFill>
              <a:srgbClr val="5D5A8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84198" y="1906524"/>
            <a:ext cx="137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666494" y="1927098"/>
            <a:ext cx="34290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75" b="1" dirty="0">
                <a:solidFill>
                  <a:srgbClr val="C8C5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프로젝트명</a:t>
            </a:r>
            <a:endParaRPr lang="en-US" sz="375" dirty="0"/>
          </a:p>
        </p:txBody>
      </p:sp>
      <p:sp>
        <p:nvSpPr>
          <p:cNvPr id="65" name="Text 63"/>
          <p:cNvSpPr/>
          <p:nvPr/>
        </p:nvSpPr>
        <p:spPr>
          <a:xfrm>
            <a:off x="1666494" y="2029968"/>
            <a:ext cx="68580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r>
              <a:rPr lang="en-US" sz="4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D보험 차세대시스템</a:t>
            </a:r>
            <a:endParaRPr lang="en-US" sz="420" dirty="0"/>
          </a:p>
        </p:txBody>
      </p:sp>
      <p:sp>
        <p:nvSpPr>
          <p:cNvPr id="66" name="Text 64"/>
          <p:cNvSpPr/>
          <p:nvPr/>
        </p:nvSpPr>
        <p:spPr>
          <a:xfrm>
            <a:off x="2654046" y="1927098"/>
            <a:ext cx="246888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75" b="1" dirty="0">
                <a:solidFill>
                  <a:srgbClr val="C8C5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</a:t>
            </a:r>
            <a:endParaRPr lang="en-US" sz="375" dirty="0"/>
          </a:p>
        </p:txBody>
      </p:sp>
      <p:sp>
        <p:nvSpPr>
          <p:cNvPr id="67" name="Text 65"/>
          <p:cNvSpPr/>
          <p:nvPr/>
        </p:nvSpPr>
        <p:spPr>
          <a:xfrm>
            <a:off x="2654046" y="2029968"/>
            <a:ext cx="54864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r>
              <a:rPr lang="en-US" sz="4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D보험그룹</a:t>
            </a:r>
            <a:endParaRPr lang="en-US" sz="420" dirty="0"/>
          </a:p>
        </p:txBody>
      </p:sp>
      <p:sp>
        <p:nvSpPr>
          <p:cNvPr id="68" name="Text 66"/>
          <p:cNvSpPr/>
          <p:nvPr/>
        </p:nvSpPr>
        <p:spPr>
          <a:xfrm>
            <a:off x="3648456" y="1927098"/>
            <a:ext cx="44577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75" b="1" dirty="0">
                <a:solidFill>
                  <a:srgbClr val="C8C5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기간</a:t>
            </a:r>
            <a:endParaRPr lang="en-US" sz="375" dirty="0"/>
          </a:p>
        </p:txBody>
      </p:sp>
      <p:sp>
        <p:nvSpPr>
          <p:cNvPr id="69" name="Text 67"/>
          <p:cNvSpPr/>
          <p:nvPr/>
        </p:nvSpPr>
        <p:spPr>
          <a:xfrm>
            <a:off x="3648456" y="2029968"/>
            <a:ext cx="918972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r>
              <a:rPr lang="en-US" sz="4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2026.06.16 ~ 2026.10.29</a:t>
            </a:r>
            <a:endParaRPr lang="en-US" sz="420" dirty="0"/>
          </a:p>
        </p:txBody>
      </p:sp>
      <p:sp>
        <p:nvSpPr>
          <p:cNvPr id="70" name="Text 68"/>
          <p:cNvSpPr/>
          <p:nvPr/>
        </p:nvSpPr>
        <p:spPr>
          <a:xfrm>
            <a:off x="4711446" y="1927098"/>
            <a:ext cx="192024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75" b="1" dirty="0">
                <a:solidFill>
                  <a:srgbClr val="C8C5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375" dirty="0"/>
          </a:p>
        </p:txBody>
      </p:sp>
      <p:sp>
        <p:nvSpPr>
          <p:cNvPr id="71" name="Shape 69"/>
          <p:cNvSpPr/>
          <p:nvPr/>
        </p:nvSpPr>
        <p:spPr>
          <a:xfrm>
            <a:off x="4711446" y="2023110"/>
            <a:ext cx="233172" cy="96012"/>
          </a:xfrm>
          <a:prstGeom prst="roundRect">
            <a:avLst>
              <a:gd name="adj" fmla="val 21429"/>
            </a:avLst>
          </a:prstGeom>
          <a:solidFill>
            <a:srgbClr val="115B49"/>
          </a:solidFill>
          <a:ln w="12700">
            <a:solidFill>
              <a:srgbClr val="115B4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32020" y="2047113"/>
            <a:ext cx="192024" cy="3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300" b="1" dirty="0">
                <a:solidFill>
                  <a:srgbClr val="87F5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투입중</a:t>
            </a:r>
            <a:endParaRPr lang="en-US" sz="300" dirty="0"/>
          </a:p>
        </p:txBody>
      </p:sp>
      <p:sp>
        <p:nvSpPr>
          <p:cNvPr id="73" name="Text 71"/>
          <p:cNvSpPr/>
          <p:nvPr/>
        </p:nvSpPr>
        <p:spPr>
          <a:xfrm>
            <a:off x="1666494" y="2160270"/>
            <a:ext cx="246888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75" b="1" dirty="0">
                <a:solidFill>
                  <a:srgbClr val="C8C5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진척도</a:t>
            </a:r>
            <a:endParaRPr lang="en-US" sz="375" dirty="0"/>
          </a:p>
        </p:txBody>
      </p:sp>
      <p:sp>
        <p:nvSpPr>
          <p:cNvPr id="74" name="Text 72"/>
          <p:cNvSpPr/>
          <p:nvPr/>
        </p:nvSpPr>
        <p:spPr>
          <a:xfrm>
            <a:off x="1666494" y="2249424"/>
            <a:ext cx="17145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r>
              <a:rPr lang="en-US" sz="4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79%</a:t>
            </a:r>
            <a:endParaRPr lang="en-US" sz="420" dirty="0"/>
          </a:p>
        </p:txBody>
      </p:sp>
      <p:sp>
        <p:nvSpPr>
          <p:cNvPr id="75" name="Text 73"/>
          <p:cNvSpPr/>
          <p:nvPr/>
        </p:nvSpPr>
        <p:spPr>
          <a:xfrm>
            <a:off x="2654046" y="2160270"/>
            <a:ext cx="48006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75" b="1" dirty="0">
                <a:solidFill>
                  <a:srgbClr val="C8C5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설명</a:t>
            </a:r>
            <a:endParaRPr lang="en-US" sz="375" dirty="0"/>
          </a:p>
        </p:txBody>
      </p:sp>
      <p:sp>
        <p:nvSpPr>
          <p:cNvPr id="76" name="Text 74"/>
          <p:cNvSpPr/>
          <p:nvPr/>
        </p:nvSpPr>
        <p:spPr>
          <a:xfrm>
            <a:off x="2654046" y="2249424"/>
            <a:ext cx="99441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r>
              <a:rPr lang="en-US" sz="40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보험코어 시스템 구축</a:t>
            </a:r>
            <a:endParaRPr lang="en-US" sz="405" dirty="0"/>
          </a:p>
        </p:txBody>
      </p:sp>
      <p:sp>
        <p:nvSpPr>
          <p:cNvPr id="77" name="Text 75"/>
          <p:cNvSpPr/>
          <p:nvPr/>
        </p:nvSpPr>
        <p:spPr>
          <a:xfrm>
            <a:off x="1666494" y="2345436"/>
            <a:ext cx="411480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r>
              <a:rPr lang="en-US" sz="360" dirty="0">
                <a:solidFill>
                  <a:srgbClr val="C8C5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진척도</a:t>
            </a:r>
            <a:endParaRPr lang="en-US" sz="360" dirty="0"/>
          </a:p>
        </p:txBody>
      </p:sp>
      <p:sp>
        <p:nvSpPr>
          <p:cNvPr id="78" name="Shape 76"/>
          <p:cNvSpPr/>
          <p:nvPr/>
        </p:nvSpPr>
        <p:spPr>
          <a:xfrm>
            <a:off x="1666494" y="2414016"/>
            <a:ext cx="3470148" cy="34290"/>
          </a:xfrm>
          <a:prstGeom prst="rect">
            <a:avLst/>
          </a:prstGeom>
          <a:solidFill>
            <a:srgbClr val="484568"/>
          </a:solidFill>
          <a:ln w="12700">
            <a:solidFill>
              <a:srgbClr val="48456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666495" y="2414016"/>
            <a:ext cx="2741417" cy="34290"/>
          </a:xfrm>
          <a:prstGeom prst="rect">
            <a:avLst/>
          </a:prstGeom>
          <a:solidFill>
            <a:srgbClr val="6F5AE8"/>
          </a:solidFill>
          <a:ln w="12700">
            <a:solidFill>
              <a:srgbClr val="6F5A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69180" y="2345436"/>
            <a:ext cx="274320" cy="480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pPr algn="r"/>
            <a:r>
              <a:rPr lang="en-US" sz="375" b="1" dirty="0">
                <a:solidFill>
                  <a:srgbClr val="7E6C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79%</a:t>
            </a:r>
            <a:endParaRPr lang="en-US" sz="375" dirty="0"/>
          </a:p>
        </p:txBody>
      </p:sp>
      <p:sp>
        <p:nvSpPr>
          <p:cNvPr id="81" name="Text 79"/>
          <p:cNvSpPr/>
          <p:nvPr/>
        </p:nvSpPr>
        <p:spPr>
          <a:xfrm>
            <a:off x="3922776" y="2324862"/>
            <a:ext cx="137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625346" y="2564892"/>
            <a:ext cx="171450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90" dirty="0">
                <a:solidFill>
                  <a:srgbClr val="C9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390" dirty="0"/>
          </a:p>
        </p:txBody>
      </p:sp>
      <p:sp>
        <p:nvSpPr>
          <p:cNvPr id="83" name="Text 81"/>
          <p:cNvSpPr/>
          <p:nvPr/>
        </p:nvSpPr>
        <p:spPr>
          <a:xfrm>
            <a:off x="1844802" y="2564892"/>
            <a:ext cx="356616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90" b="1" dirty="0">
                <a:solidFill>
                  <a:srgbClr val="7E6C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 인력</a:t>
            </a:r>
            <a:endParaRPr lang="en-US" sz="390" dirty="0"/>
          </a:p>
        </p:txBody>
      </p:sp>
      <p:sp>
        <p:nvSpPr>
          <p:cNvPr id="84" name="Text 82"/>
          <p:cNvSpPr/>
          <p:nvPr/>
        </p:nvSpPr>
        <p:spPr>
          <a:xfrm>
            <a:off x="2276856" y="2564892"/>
            <a:ext cx="171450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90" dirty="0">
                <a:solidFill>
                  <a:srgbClr val="C9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endParaRPr lang="en-US" sz="390" dirty="0"/>
          </a:p>
        </p:txBody>
      </p:sp>
      <p:sp>
        <p:nvSpPr>
          <p:cNvPr id="85" name="Text 83"/>
          <p:cNvSpPr/>
          <p:nvPr/>
        </p:nvSpPr>
        <p:spPr>
          <a:xfrm>
            <a:off x="2530602" y="2564892"/>
            <a:ext cx="171450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90" dirty="0">
                <a:solidFill>
                  <a:srgbClr val="C9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390" dirty="0"/>
          </a:p>
        </p:txBody>
      </p:sp>
      <p:sp>
        <p:nvSpPr>
          <p:cNvPr id="86" name="Shape 84"/>
          <p:cNvSpPr/>
          <p:nvPr/>
        </p:nvSpPr>
        <p:spPr>
          <a:xfrm>
            <a:off x="1556766" y="2688336"/>
            <a:ext cx="3689604" cy="6858"/>
          </a:xfrm>
          <a:prstGeom prst="rect">
            <a:avLst/>
          </a:prstGeom>
          <a:solidFill>
            <a:srgbClr val="47445F"/>
          </a:solidFill>
          <a:ln w="12700">
            <a:solidFill>
              <a:srgbClr val="47445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837944" y="2678049"/>
            <a:ext cx="377190" cy="13716"/>
          </a:xfrm>
          <a:prstGeom prst="rect">
            <a:avLst/>
          </a:prstGeom>
          <a:solidFill>
            <a:srgbClr val="6F5AE8"/>
          </a:solidFill>
          <a:ln w="12700">
            <a:solidFill>
              <a:srgbClr val="6F5AE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748790" y="2544318"/>
            <a:ext cx="137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2393442" y="2544318"/>
            <a:ext cx="137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556766" y="2770632"/>
            <a:ext cx="3689604" cy="534924"/>
          </a:xfrm>
          <a:prstGeom prst="roundRect">
            <a:avLst>
              <a:gd name="adj" fmla="val 5128"/>
            </a:avLst>
          </a:prstGeom>
          <a:solidFill>
            <a:srgbClr val="33304F"/>
          </a:solidFill>
          <a:ln w="7620">
            <a:solidFill>
              <a:srgbClr val="5D5A8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625346" y="2825496"/>
            <a:ext cx="548640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0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 인력 (2명)</a:t>
            </a:r>
            <a:endParaRPr lang="en-US" sz="405" dirty="0"/>
          </a:p>
        </p:txBody>
      </p:sp>
      <p:sp>
        <p:nvSpPr>
          <p:cNvPr id="92" name="Text 90"/>
          <p:cNvSpPr/>
          <p:nvPr/>
        </p:nvSpPr>
        <p:spPr>
          <a:xfrm>
            <a:off x="1477899" y="2731161"/>
            <a:ext cx="137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 smtClean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556766" y="2955798"/>
            <a:ext cx="3689604" cy="123444"/>
          </a:xfrm>
          <a:prstGeom prst="rect">
            <a:avLst/>
          </a:prstGeom>
          <a:solidFill>
            <a:srgbClr val="3B3858"/>
          </a:solidFill>
          <a:ln w="12700">
            <a:solidFill>
              <a:srgbClr val="3B385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625346" y="2993517"/>
            <a:ext cx="377190" cy="3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r>
              <a:rPr lang="en-US" sz="338" b="1" dirty="0">
                <a:solidFill>
                  <a:srgbClr val="DAD7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en-US" sz="338" dirty="0"/>
          </a:p>
        </p:txBody>
      </p:sp>
      <p:sp>
        <p:nvSpPr>
          <p:cNvPr id="95" name="Text 93"/>
          <p:cNvSpPr/>
          <p:nvPr/>
        </p:nvSpPr>
        <p:spPr>
          <a:xfrm>
            <a:off x="2311146" y="2993517"/>
            <a:ext cx="445770" cy="3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r>
              <a:rPr lang="en-US" sz="338" b="1" dirty="0">
                <a:solidFill>
                  <a:srgbClr val="DAD7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338" dirty="0"/>
          </a:p>
        </p:txBody>
      </p:sp>
      <p:sp>
        <p:nvSpPr>
          <p:cNvPr id="96" name="Text 94"/>
          <p:cNvSpPr/>
          <p:nvPr/>
        </p:nvSpPr>
        <p:spPr>
          <a:xfrm>
            <a:off x="3223260" y="2993517"/>
            <a:ext cx="308610" cy="3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r>
              <a:rPr lang="en-US" sz="338" b="1" dirty="0">
                <a:solidFill>
                  <a:srgbClr val="DAD7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투입률</a:t>
            </a:r>
            <a:endParaRPr lang="en-US" sz="338" dirty="0"/>
          </a:p>
        </p:txBody>
      </p:sp>
      <p:sp>
        <p:nvSpPr>
          <p:cNvPr id="97" name="Text 95"/>
          <p:cNvSpPr/>
          <p:nvPr/>
        </p:nvSpPr>
        <p:spPr>
          <a:xfrm>
            <a:off x="3785616" y="2993517"/>
            <a:ext cx="397764" cy="3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r>
              <a:rPr lang="en-US" sz="338" b="1" dirty="0">
                <a:solidFill>
                  <a:srgbClr val="DAD7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투입일</a:t>
            </a:r>
            <a:endParaRPr lang="en-US" sz="338" dirty="0"/>
          </a:p>
        </p:txBody>
      </p:sp>
      <p:sp>
        <p:nvSpPr>
          <p:cNvPr id="98" name="Text 96"/>
          <p:cNvSpPr/>
          <p:nvPr/>
        </p:nvSpPr>
        <p:spPr>
          <a:xfrm>
            <a:off x="4368546" y="2993517"/>
            <a:ext cx="411480" cy="3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r>
              <a:rPr lang="en-US" sz="338" b="1" dirty="0">
                <a:solidFill>
                  <a:srgbClr val="DAD7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철수예정</a:t>
            </a:r>
            <a:endParaRPr lang="en-US" sz="338" dirty="0"/>
          </a:p>
        </p:txBody>
      </p:sp>
      <p:sp>
        <p:nvSpPr>
          <p:cNvPr id="99" name="Text 97"/>
          <p:cNvSpPr/>
          <p:nvPr/>
        </p:nvSpPr>
        <p:spPr>
          <a:xfrm>
            <a:off x="4834890" y="2993517"/>
            <a:ext cx="205740" cy="3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algn="ctr"/>
            <a:r>
              <a:rPr lang="en-US" sz="338" b="1" dirty="0">
                <a:solidFill>
                  <a:srgbClr val="DAD7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338" dirty="0"/>
          </a:p>
        </p:txBody>
      </p:sp>
      <p:sp>
        <p:nvSpPr>
          <p:cNvPr id="100" name="Shape 98"/>
          <p:cNvSpPr/>
          <p:nvPr/>
        </p:nvSpPr>
        <p:spPr>
          <a:xfrm>
            <a:off x="1556766" y="3079242"/>
            <a:ext cx="3689604" cy="150876"/>
          </a:xfrm>
          <a:prstGeom prst="rect">
            <a:avLst/>
          </a:prstGeom>
          <a:solidFill>
            <a:srgbClr val="33304F"/>
          </a:solidFill>
          <a:ln w="3810">
            <a:solidFill>
              <a:srgbClr val="55517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625346" y="3110103"/>
            <a:ext cx="82296" cy="82296"/>
          </a:xfrm>
          <a:prstGeom prst="ellipse">
            <a:avLst/>
          </a:prstGeom>
          <a:solidFill>
            <a:srgbClr val="E7E6FF"/>
          </a:solidFill>
          <a:ln w="12700">
            <a:solidFill>
              <a:srgbClr val="E7E6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644548" y="3125876"/>
            <a:ext cx="34290" cy="308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algn="ctr"/>
            <a:r>
              <a:rPr lang="en-US" sz="248" b="1" dirty="0">
                <a:solidFill>
                  <a:srgbClr val="6F5A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</a:t>
            </a:r>
            <a:endParaRPr lang="en-US" sz="248" dirty="0"/>
          </a:p>
        </p:txBody>
      </p:sp>
      <p:sp>
        <p:nvSpPr>
          <p:cNvPr id="103" name="Text 101"/>
          <p:cNvSpPr/>
          <p:nvPr/>
        </p:nvSpPr>
        <p:spPr>
          <a:xfrm>
            <a:off x="1728216" y="3127248"/>
            <a:ext cx="308610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33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윤지수</a:t>
            </a:r>
            <a:endParaRPr lang="en-US" sz="338" dirty="0"/>
          </a:p>
        </p:txBody>
      </p:sp>
      <p:sp>
        <p:nvSpPr>
          <p:cNvPr id="104" name="Text 102"/>
          <p:cNvSpPr/>
          <p:nvPr/>
        </p:nvSpPr>
        <p:spPr>
          <a:xfrm>
            <a:off x="2311146" y="3127248"/>
            <a:ext cx="445770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315" dirty="0">
                <a:solidFill>
                  <a:srgbClr val="7E6C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관리자</a:t>
            </a:r>
            <a:endParaRPr lang="en-US" sz="315" dirty="0"/>
          </a:p>
        </p:txBody>
      </p:sp>
      <p:sp>
        <p:nvSpPr>
          <p:cNvPr id="105" name="Text 103"/>
          <p:cNvSpPr/>
          <p:nvPr/>
        </p:nvSpPr>
        <p:spPr>
          <a:xfrm>
            <a:off x="3236976" y="3127248"/>
            <a:ext cx="226314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31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315" dirty="0"/>
          </a:p>
        </p:txBody>
      </p:sp>
      <p:sp>
        <p:nvSpPr>
          <p:cNvPr id="106" name="Text 104"/>
          <p:cNvSpPr/>
          <p:nvPr/>
        </p:nvSpPr>
        <p:spPr>
          <a:xfrm>
            <a:off x="3785616" y="3127248"/>
            <a:ext cx="411480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315" dirty="0">
                <a:solidFill>
                  <a:srgbClr val="C9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2026.06.16</a:t>
            </a:r>
            <a:endParaRPr lang="en-US" sz="315" dirty="0"/>
          </a:p>
        </p:txBody>
      </p:sp>
      <p:sp>
        <p:nvSpPr>
          <p:cNvPr id="107" name="Text 105"/>
          <p:cNvSpPr/>
          <p:nvPr/>
        </p:nvSpPr>
        <p:spPr>
          <a:xfrm>
            <a:off x="4368546" y="3127248"/>
            <a:ext cx="411480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315" dirty="0">
                <a:solidFill>
                  <a:srgbClr val="C9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2026.08.21</a:t>
            </a:r>
            <a:endParaRPr lang="en-US" sz="315" dirty="0"/>
          </a:p>
        </p:txBody>
      </p:sp>
      <p:sp>
        <p:nvSpPr>
          <p:cNvPr id="108" name="Text 106"/>
          <p:cNvSpPr/>
          <p:nvPr/>
        </p:nvSpPr>
        <p:spPr>
          <a:xfrm>
            <a:off x="4869180" y="3127248"/>
            <a:ext cx="150876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308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308" dirty="0"/>
          </a:p>
        </p:txBody>
      </p:sp>
      <p:sp>
        <p:nvSpPr>
          <p:cNvPr id="109" name="Shape 107"/>
          <p:cNvSpPr/>
          <p:nvPr/>
        </p:nvSpPr>
        <p:spPr>
          <a:xfrm>
            <a:off x="1556766" y="3236976"/>
            <a:ext cx="3689604" cy="150876"/>
          </a:xfrm>
          <a:prstGeom prst="rect">
            <a:avLst/>
          </a:prstGeom>
          <a:solidFill>
            <a:srgbClr val="33304F"/>
          </a:solidFill>
          <a:ln w="3810">
            <a:solidFill>
              <a:srgbClr val="555177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625346" y="3267837"/>
            <a:ext cx="82296" cy="82296"/>
          </a:xfrm>
          <a:prstGeom prst="ellipse">
            <a:avLst/>
          </a:prstGeom>
          <a:solidFill>
            <a:srgbClr val="E7E6FF"/>
          </a:solidFill>
          <a:ln w="12700">
            <a:solidFill>
              <a:srgbClr val="E7E6F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644548" y="3283610"/>
            <a:ext cx="34290" cy="308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algn="ctr"/>
            <a:r>
              <a:rPr lang="en-US" sz="248" b="1" dirty="0">
                <a:solidFill>
                  <a:srgbClr val="6F5A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</a:t>
            </a:r>
            <a:endParaRPr lang="en-US" sz="248" dirty="0"/>
          </a:p>
        </p:txBody>
      </p:sp>
      <p:sp>
        <p:nvSpPr>
          <p:cNvPr id="112" name="Text 110"/>
          <p:cNvSpPr/>
          <p:nvPr/>
        </p:nvSpPr>
        <p:spPr>
          <a:xfrm>
            <a:off x="1728216" y="3284982"/>
            <a:ext cx="308610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33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임동현</a:t>
            </a:r>
            <a:endParaRPr lang="en-US" sz="338" dirty="0"/>
          </a:p>
        </p:txBody>
      </p:sp>
      <p:sp>
        <p:nvSpPr>
          <p:cNvPr id="113" name="Text 111"/>
          <p:cNvSpPr/>
          <p:nvPr/>
        </p:nvSpPr>
        <p:spPr>
          <a:xfrm>
            <a:off x="2311146" y="3284982"/>
            <a:ext cx="445770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315" dirty="0">
                <a:solidFill>
                  <a:srgbClr val="7E6C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개발자</a:t>
            </a:r>
            <a:endParaRPr lang="en-US" sz="315" dirty="0"/>
          </a:p>
        </p:txBody>
      </p:sp>
      <p:sp>
        <p:nvSpPr>
          <p:cNvPr id="114" name="Text 112"/>
          <p:cNvSpPr/>
          <p:nvPr/>
        </p:nvSpPr>
        <p:spPr>
          <a:xfrm>
            <a:off x="3236976" y="3284982"/>
            <a:ext cx="226314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31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315" dirty="0"/>
          </a:p>
        </p:txBody>
      </p:sp>
      <p:sp>
        <p:nvSpPr>
          <p:cNvPr id="115" name="Text 113"/>
          <p:cNvSpPr/>
          <p:nvPr/>
        </p:nvSpPr>
        <p:spPr>
          <a:xfrm>
            <a:off x="3785616" y="3284982"/>
            <a:ext cx="411480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315" dirty="0">
                <a:solidFill>
                  <a:srgbClr val="C9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2026.06.16</a:t>
            </a:r>
            <a:endParaRPr lang="en-US" sz="315" dirty="0"/>
          </a:p>
        </p:txBody>
      </p:sp>
      <p:sp>
        <p:nvSpPr>
          <p:cNvPr id="116" name="Text 114"/>
          <p:cNvSpPr/>
          <p:nvPr/>
        </p:nvSpPr>
        <p:spPr>
          <a:xfrm>
            <a:off x="4368546" y="3284982"/>
            <a:ext cx="411480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315" dirty="0">
                <a:solidFill>
                  <a:srgbClr val="C9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2026.08.21</a:t>
            </a:r>
            <a:endParaRPr lang="en-US" sz="315" dirty="0"/>
          </a:p>
        </p:txBody>
      </p:sp>
      <p:sp>
        <p:nvSpPr>
          <p:cNvPr id="117" name="Text 115"/>
          <p:cNvSpPr/>
          <p:nvPr/>
        </p:nvSpPr>
        <p:spPr>
          <a:xfrm>
            <a:off x="4869180" y="3284982"/>
            <a:ext cx="150876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308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308" dirty="0"/>
          </a:p>
        </p:txBody>
      </p:sp>
      <p:sp>
        <p:nvSpPr>
          <p:cNvPr id="119" name="Shape 117"/>
          <p:cNvSpPr/>
          <p:nvPr/>
        </p:nvSpPr>
        <p:spPr>
          <a:xfrm>
            <a:off x="1556766" y="3387852"/>
            <a:ext cx="3689604" cy="329184"/>
          </a:xfrm>
          <a:prstGeom prst="roundRect">
            <a:avLst>
              <a:gd name="adj" fmla="val 8333"/>
            </a:avLst>
          </a:prstGeom>
          <a:solidFill>
            <a:srgbClr val="33304F"/>
          </a:solidFill>
          <a:ln w="7620">
            <a:solidFill>
              <a:srgbClr val="5D5A82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481361" y="3388954"/>
            <a:ext cx="137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1625346" y="3442716"/>
            <a:ext cx="342900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40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기술스택</a:t>
            </a:r>
            <a:endParaRPr lang="en-US" sz="405" dirty="0"/>
          </a:p>
        </p:txBody>
      </p:sp>
      <p:sp>
        <p:nvSpPr>
          <p:cNvPr id="121" name="Text 119"/>
          <p:cNvSpPr/>
          <p:nvPr/>
        </p:nvSpPr>
        <p:spPr>
          <a:xfrm>
            <a:off x="4730306" y="3185541"/>
            <a:ext cx="137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1639062" y="3559302"/>
            <a:ext cx="192024" cy="123444"/>
          </a:xfrm>
          <a:prstGeom prst="roundRect">
            <a:avLst>
              <a:gd name="adj" fmla="val 22222"/>
            </a:avLst>
          </a:prstGeom>
          <a:solidFill>
            <a:srgbClr val="13243F"/>
          </a:solidFill>
          <a:ln w="12700">
            <a:solidFill>
              <a:srgbClr val="13243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659636" y="3576447"/>
            <a:ext cx="150876" cy="75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Vue</a:t>
            </a:r>
            <a:endParaRPr lang="en-US" sz="375" dirty="0"/>
          </a:p>
        </p:txBody>
      </p:sp>
      <p:sp>
        <p:nvSpPr>
          <p:cNvPr id="124" name="Shape 122"/>
          <p:cNvSpPr/>
          <p:nvPr/>
        </p:nvSpPr>
        <p:spPr>
          <a:xfrm>
            <a:off x="1879092" y="3559302"/>
            <a:ext cx="294894" cy="123444"/>
          </a:xfrm>
          <a:prstGeom prst="roundRect">
            <a:avLst>
              <a:gd name="adj" fmla="val 22222"/>
            </a:avLst>
          </a:prstGeom>
          <a:solidFill>
            <a:srgbClr val="13243F"/>
          </a:solidFill>
          <a:ln w="12700">
            <a:solidFill>
              <a:srgbClr val="13243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899666" y="3576447"/>
            <a:ext cx="253746" cy="75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endParaRPr lang="en-US" sz="375" dirty="0"/>
          </a:p>
        </p:txBody>
      </p:sp>
      <p:sp>
        <p:nvSpPr>
          <p:cNvPr id="126" name="Shape 124"/>
          <p:cNvSpPr/>
          <p:nvPr/>
        </p:nvSpPr>
        <p:spPr>
          <a:xfrm>
            <a:off x="2221992" y="3559302"/>
            <a:ext cx="274320" cy="123444"/>
          </a:xfrm>
          <a:prstGeom prst="roundRect">
            <a:avLst>
              <a:gd name="adj" fmla="val 22222"/>
            </a:avLst>
          </a:prstGeom>
          <a:solidFill>
            <a:srgbClr val="13243F"/>
          </a:solidFill>
          <a:ln w="12700">
            <a:solidFill>
              <a:srgbClr val="13243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242566" y="3576447"/>
            <a:ext cx="233172" cy="75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</a:t>
            </a:r>
            <a:endParaRPr lang="en-US" sz="375" dirty="0"/>
          </a:p>
        </p:txBody>
      </p:sp>
      <p:sp>
        <p:nvSpPr>
          <p:cNvPr id="128" name="Shape 126"/>
          <p:cNvSpPr/>
          <p:nvPr/>
        </p:nvSpPr>
        <p:spPr>
          <a:xfrm>
            <a:off x="2544318" y="3559302"/>
            <a:ext cx="288036" cy="123444"/>
          </a:xfrm>
          <a:prstGeom prst="roundRect">
            <a:avLst>
              <a:gd name="adj" fmla="val 22222"/>
            </a:avLst>
          </a:prstGeom>
          <a:solidFill>
            <a:srgbClr val="13243F"/>
          </a:solidFill>
          <a:ln w="12700">
            <a:solidFill>
              <a:srgbClr val="13243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564892" y="3576447"/>
            <a:ext cx="246888" cy="75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</a:t>
            </a:r>
            <a:endParaRPr lang="en-US" sz="375" dirty="0"/>
          </a:p>
        </p:txBody>
      </p:sp>
      <p:sp>
        <p:nvSpPr>
          <p:cNvPr id="130" name="Shape 128"/>
          <p:cNvSpPr/>
          <p:nvPr/>
        </p:nvSpPr>
        <p:spPr>
          <a:xfrm>
            <a:off x="2880360" y="3559302"/>
            <a:ext cx="301752" cy="123444"/>
          </a:xfrm>
          <a:prstGeom prst="roundRect">
            <a:avLst>
              <a:gd name="adj" fmla="val 22222"/>
            </a:avLst>
          </a:prstGeom>
          <a:solidFill>
            <a:srgbClr val="13243F"/>
          </a:solidFill>
          <a:ln w="12700">
            <a:solidFill>
              <a:srgbClr val="13243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900934" y="3576447"/>
            <a:ext cx="260604" cy="75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</a:t>
            </a:r>
            <a:endParaRPr lang="en-US" sz="375" dirty="0"/>
          </a:p>
        </p:txBody>
      </p:sp>
      <p:sp>
        <p:nvSpPr>
          <p:cNvPr id="132" name="Shape 130"/>
          <p:cNvSpPr/>
          <p:nvPr/>
        </p:nvSpPr>
        <p:spPr>
          <a:xfrm>
            <a:off x="3230118" y="3559302"/>
            <a:ext cx="205740" cy="123444"/>
          </a:xfrm>
          <a:prstGeom prst="roundRect">
            <a:avLst>
              <a:gd name="adj" fmla="val 22222"/>
            </a:avLst>
          </a:prstGeom>
          <a:solidFill>
            <a:srgbClr val="13243F"/>
          </a:solidFill>
          <a:ln w="12700">
            <a:solidFill>
              <a:srgbClr val="13243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250692" y="3576447"/>
            <a:ext cx="164592" cy="75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</a:t>
            </a:r>
            <a:endParaRPr lang="en-US" sz="375" dirty="0"/>
          </a:p>
        </p:txBody>
      </p:sp>
      <p:sp>
        <p:nvSpPr>
          <p:cNvPr id="134" name="Text 132"/>
          <p:cNvSpPr/>
          <p:nvPr/>
        </p:nvSpPr>
        <p:spPr>
          <a:xfrm>
            <a:off x="5726430" y="678942"/>
            <a:ext cx="1028700" cy="19202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35" name="Text 133"/>
          <p:cNvSpPr/>
          <p:nvPr/>
        </p:nvSpPr>
        <p:spPr>
          <a:xfrm>
            <a:off x="8257032" y="720090"/>
            <a:ext cx="34290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pPr algn="r"/>
            <a:r>
              <a:rPr lang="en-US" sz="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검토용</a:t>
            </a:r>
            <a:endParaRPr lang="en-US" sz="600" dirty="0"/>
          </a:p>
        </p:txBody>
      </p:sp>
      <p:graphicFrame>
        <p:nvGraphicFramePr>
          <p:cNvPr id="1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885037"/>
              </p:ext>
            </p:extLst>
          </p:nvPr>
        </p:nvGraphicFramePr>
        <p:xfrm>
          <a:off x="5657850" y="960120"/>
          <a:ext cx="3044952" cy="2119122"/>
        </p:xfrm>
        <a:graphic>
          <a:graphicData uri="http://schemas.openxmlformats.org/drawingml/2006/table">
            <a:tbl>
              <a:tblPr/>
              <a:tblGrid>
                <a:gridCol w="644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 내용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기본 정보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프로젝트명/고객사/프로젝트 기간/상태 조회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설명 및 진척도 표시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액션 버튼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목록으로: 프로젝트 목록 화면 이동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수정: 프로젝트 수정 화면 이동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인력 배정: 해당 프로젝트 기준 배정 화면 이동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탭 메뉴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개요/투입 인력/일정/계약 탭 구성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탭은 강조 색상으로 표시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투입 인력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투입자 이름/역할/투입률/투입일/철수예정 표시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투입 인력 수를 섹션 제목에 표시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기술스택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보유 기술을 태그 형태로 표시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699578"/>
              </p:ext>
            </p:extLst>
          </p:nvPr>
        </p:nvGraphicFramePr>
        <p:xfrm>
          <a:off x="5657850" y="3401568"/>
          <a:ext cx="3044952" cy="1330452"/>
        </p:xfrm>
        <a:graphic>
          <a:graphicData uri="http://schemas.openxmlformats.org/drawingml/2006/table">
            <a:tbl>
              <a:tblPr/>
              <a:tblGrid>
                <a:gridCol w="644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수정/추가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삭제/제외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및 투입인력 제외 처리 시 확인 팝업 적용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성공 후 목록 또는 상세 데이터 재조회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 진척도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진척도 수치와 진행률 바 동기화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0~100% 범위 기준으로 표시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 후속 탭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일정/계약 탭은 후속 데이터 연동 영역으로 </a:t>
                      </a:r>
                      <a:r>
                        <a:rPr lang="en-US" sz="500" dirty="0" err="1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</a:t>
                      </a:r>
                      <a:r>
                        <a:rPr lang="en-US" sz="5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500" dirty="0" err="1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r>
                        <a:rPr lang="en-US" sz="500" dirty="0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</a:t>
                      </a:r>
                      <a:r>
                        <a:rPr lang="ko-KR" altLang="en-US" sz="500" dirty="0" err="1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미구현</a:t>
                      </a:r>
                      <a:r>
                        <a:rPr lang="en-US" sz="500" dirty="0" smtClean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8" name="Text 134"/>
          <p:cNvSpPr/>
          <p:nvPr/>
        </p:nvSpPr>
        <p:spPr>
          <a:xfrm>
            <a:off x="480060" y="4828032"/>
            <a:ext cx="342900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510" dirty="0">
                <a:solidFill>
                  <a:srgbClr val="0F2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본 문서는 화면 설계 검토용이며, 실제 구현 상태와 다를 수 있습니다.</a:t>
            </a:r>
            <a:endParaRPr lang="en-US" sz="510" dirty="0"/>
          </a:p>
        </p:txBody>
      </p:sp>
      <p:sp>
        <p:nvSpPr>
          <p:cNvPr id="139" name="Text 135"/>
          <p:cNvSpPr/>
          <p:nvPr/>
        </p:nvSpPr>
        <p:spPr>
          <a:xfrm>
            <a:off x="8469630" y="4828032"/>
            <a:ext cx="44577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r"/>
            <a:r>
              <a:rPr lang="en-US" sz="488" dirty="0">
                <a:solidFill>
                  <a:srgbClr val="0F2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488" dirty="0"/>
          </a:p>
        </p:txBody>
      </p:sp>
    </p:spTree>
    <p:extLst>
      <p:ext uri="{BB962C8B-B14F-4D97-AF65-F5344CB8AC3E}">
        <p14:creationId xmlns:p14="http://schemas.microsoft.com/office/powerpoint/2010/main" val="3924759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61722"/>
            <a:ext cx="8867394" cy="397764"/>
          </a:xfrm>
          <a:prstGeom prst="rect">
            <a:avLst/>
          </a:prstGeom>
          <a:solidFill>
            <a:srgbClr val="0F213A"/>
          </a:solidFill>
          <a:ln w="12700">
            <a:solidFill>
              <a:srgbClr val="0F2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5196" y="164592"/>
            <a:ext cx="1028700" cy="12344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8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Peoplify UI 기획서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2914650" y="123444"/>
            <a:ext cx="3360420" cy="19202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인력 배정 화면 설계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1645920" cy="9601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r"/>
            <a:r>
              <a:rPr lang="en-US" sz="54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project 도메인 · /project/project-assignment/:id</a:t>
            </a:r>
            <a:endParaRPr lang="en-US" sz="540" dirty="0"/>
          </a:p>
        </p:txBody>
      </p:sp>
      <p:sp>
        <p:nvSpPr>
          <p:cNvPr id="6" name="Text 4"/>
          <p:cNvSpPr/>
          <p:nvPr/>
        </p:nvSpPr>
        <p:spPr>
          <a:xfrm>
            <a:off x="8586216" y="164592"/>
            <a:ext cx="171450" cy="9601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r"/>
            <a:r>
              <a:rPr lang="en-US" sz="61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615" dirty="0"/>
          </a:p>
        </p:txBody>
      </p:sp>
      <p:sp>
        <p:nvSpPr>
          <p:cNvPr id="7" name="Text 5"/>
          <p:cNvSpPr/>
          <p:nvPr/>
        </p:nvSpPr>
        <p:spPr>
          <a:xfrm>
            <a:off x="493776" y="665226"/>
            <a:ext cx="822960" cy="15087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975" b="1" dirty="0">
                <a:solidFill>
                  <a:srgbClr val="0F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설계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356616" y="884682"/>
            <a:ext cx="5143500" cy="339471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8890">
            <a:solidFill>
              <a:srgbClr val="D1D9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5770" y="1014984"/>
            <a:ext cx="4937760" cy="3188970"/>
          </a:xfrm>
          <a:prstGeom prst="rect">
            <a:avLst/>
          </a:prstGeom>
          <a:solidFill>
            <a:srgbClr val="1F1D3A"/>
          </a:solidFill>
          <a:ln w="12700">
            <a:solidFill>
              <a:srgbClr val="1F1D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770" y="1014984"/>
            <a:ext cx="973836" cy="3188970"/>
          </a:xfrm>
          <a:prstGeom prst="rect">
            <a:avLst/>
          </a:prstGeom>
          <a:solidFill>
            <a:srgbClr val="302E4D"/>
          </a:solidFill>
          <a:ln w="12700">
            <a:solidFill>
              <a:srgbClr val="302E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9606" y="1014984"/>
            <a:ext cx="3963924" cy="377190"/>
          </a:xfrm>
          <a:prstGeom prst="rect">
            <a:avLst/>
          </a:prstGeom>
          <a:solidFill>
            <a:srgbClr val="33314F"/>
          </a:solidFill>
          <a:ln w="12700">
            <a:solidFill>
              <a:srgbClr val="333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066" y="1110996"/>
            <a:ext cx="754380" cy="9601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51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⚙  인력관리 시스템</a:t>
            </a:r>
            <a:endParaRPr lang="en-US" sz="510" dirty="0"/>
          </a:p>
        </p:txBody>
      </p:sp>
      <p:sp>
        <p:nvSpPr>
          <p:cNvPr id="13" name="Text 11"/>
          <p:cNvSpPr/>
          <p:nvPr/>
        </p:nvSpPr>
        <p:spPr>
          <a:xfrm>
            <a:off x="637794" y="1207008"/>
            <a:ext cx="480060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53" dirty="0">
                <a:solidFill>
                  <a:srgbClr val="C8C5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Peoplify v1.0</a:t>
            </a:r>
            <a:endParaRPr lang="en-US" sz="353" dirty="0"/>
          </a:p>
        </p:txBody>
      </p:sp>
      <p:sp>
        <p:nvSpPr>
          <p:cNvPr id="14" name="Text 12"/>
          <p:cNvSpPr/>
          <p:nvPr/>
        </p:nvSpPr>
        <p:spPr>
          <a:xfrm>
            <a:off x="534924" y="1495044"/>
            <a:ext cx="342900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68" dirty="0">
                <a:solidFill>
                  <a:srgbClr val="B5B2D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 메뉴</a:t>
            </a:r>
            <a:endParaRPr lang="en-US" sz="368" dirty="0"/>
          </a:p>
        </p:txBody>
      </p:sp>
      <p:sp>
        <p:nvSpPr>
          <p:cNvPr id="15" name="Text 13"/>
          <p:cNvSpPr/>
          <p:nvPr/>
        </p:nvSpPr>
        <p:spPr>
          <a:xfrm>
            <a:off x="541782" y="1687068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▦</a:t>
            </a:r>
            <a:endParaRPr lang="en-US" sz="413" dirty="0"/>
          </a:p>
        </p:txBody>
      </p:sp>
      <p:sp>
        <p:nvSpPr>
          <p:cNvPr id="16" name="Text 14"/>
          <p:cNvSpPr/>
          <p:nvPr/>
        </p:nvSpPr>
        <p:spPr>
          <a:xfrm>
            <a:off x="665226" y="1687068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</a:t>
            </a:r>
            <a:endParaRPr lang="en-US" sz="413" dirty="0"/>
          </a:p>
        </p:txBody>
      </p:sp>
      <p:sp>
        <p:nvSpPr>
          <p:cNvPr id="17" name="Text 15"/>
          <p:cNvSpPr/>
          <p:nvPr/>
        </p:nvSpPr>
        <p:spPr>
          <a:xfrm>
            <a:off x="1248156" y="1687068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18" name="Shape 16"/>
          <p:cNvSpPr/>
          <p:nvPr/>
        </p:nvSpPr>
        <p:spPr>
          <a:xfrm>
            <a:off x="507492" y="1923669"/>
            <a:ext cx="857250" cy="164592"/>
          </a:xfrm>
          <a:prstGeom prst="roundRect">
            <a:avLst>
              <a:gd name="adj" fmla="val 16667"/>
            </a:avLst>
          </a:prstGeom>
          <a:solidFill>
            <a:srgbClr val="3C395D"/>
          </a:solidFill>
          <a:ln w="12700">
            <a:solidFill>
              <a:srgbClr val="3C39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782" y="1933956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♟</a:t>
            </a:r>
            <a:endParaRPr lang="en-US" sz="413" dirty="0"/>
          </a:p>
        </p:txBody>
      </p:sp>
      <p:sp>
        <p:nvSpPr>
          <p:cNvPr id="20" name="Text 18"/>
          <p:cNvSpPr/>
          <p:nvPr/>
        </p:nvSpPr>
        <p:spPr>
          <a:xfrm>
            <a:off x="665226" y="1933956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직원관리</a:t>
            </a:r>
            <a:endParaRPr lang="en-US" sz="413" dirty="0"/>
          </a:p>
        </p:txBody>
      </p:sp>
      <p:sp>
        <p:nvSpPr>
          <p:cNvPr id="21" name="Text 19"/>
          <p:cNvSpPr/>
          <p:nvPr/>
        </p:nvSpPr>
        <p:spPr>
          <a:xfrm>
            <a:off x="1248156" y="1933956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22" name="Text 20"/>
          <p:cNvSpPr/>
          <p:nvPr/>
        </p:nvSpPr>
        <p:spPr>
          <a:xfrm>
            <a:off x="541782" y="2180844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413" dirty="0"/>
          </a:p>
        </p:txBody>
      </p:sp>
      <p:sp>
        <p:nvSpPr>
          <p:cNvPr id="23" name="Text 21"/>
          <p:cNvSpPr/>
          <p:nvPr/>
        </p:nvSpPr>
        <p:spPr>
          <a:xfrm>
            <a:off x="665226" y="2180844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</a:t>
            </a:r>
            <a:endParaRPr lang="en-US" sz="413" dirty="0"/>
          </a:p>
        </p:txBody>
      </p:sp>
      <p:sp>
        <p:nvSpPr>
          <p:cNvPr id="24" name="Text 22"/>
          <p:cNvSpPr/>
          <p:nvPr/>
        </p:nvSpPr>
        <p:spPr>
          <a:xfrm>
            <a:off x="1248156" y="2180844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25" name="Text 23"/>
          <p:cNvSpPr/>
          <p:nvPr/>
        </p:nvSpPr>
        <p:spPr>
          <a:xfrm>
            <a:off x="541782" y="2434590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⊕</a:t>
            </a:r>
            <a:endParaRPr lang="en-US" sz="413" dirty="0"/>
          </a:p>
        </p:txBody>
      </p:sp>
      <p:sp>
        <p:nvSpPr>
          <p:cNvPr id="26" name="Text 24"/>
          <p:cNvSpPr/>
          <p:nvPr/>
        </p:nvSpPr>
        <p:spPr>
          <a:xfrm>
            <a:off x="665226" y="2434590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근태관리</a:t>
            </a:r>
            <a:endParaRPr lang="en-US" sz="413" dirty="0"/>
          </a:p>
        </p:txBody>
      </p:sp>
      <p:sp>
        <p:nvSpPr>
          <p:cNvPr id="27" name="Text 25"/>
          <p:cNvSpPr/>
          <p:nvPr/>
        </p:nvSpPr>
        <p:spPr>
          <a:xfrm>
            <a:off x="1248156" y="2434590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28" name="Text 26"/>
          <p:cNvSpPr/>
          <p:nvPr/>
        </p:nvSpPr>
        <p:spPr>
          <a:xfrm>
            <a:off x="541782" y="2681478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▥</a:t>
            </a:r>
            <a:endParaRPr lang="en-US" sz="413" dirty="0"/>
          </a:p>
        </p:txBody>
      </p:sp>
      <p:sp>
        <p:nvSpPr>
          <p:cNvPr id="29" name="Text 27"/>
          <p:cNvSpPr/>
          <p:nvPr/>
        </p:nvSpPr>
        <p:spPr>
          <a:xfrm>
            <a:off x="665226" y="2681478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리포트</a:t>
            </a:r>
            <a:endParaRPr lang="en-US" sz="413" dirty="0"/>
          </a:p>
        </p:txBody>
      </p:sp>
      <p:sp>
        <p:nvSpPr>
          <p:cNvPr id="30" name="Text 28"/>
          <p:cNvSpPr/>
          <p:nvPr/>
        </p:nvSpPr>
        <p:spPr>
          <a:xfrm>
            <a:off x="1248156" y="2681478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31" name="Text 29"/>
          <p:cNvSpPr/>
          <p:nvPr/>
        </p:nvSpPr>
        <p:spPr>
          <a:xfrm>
            <a:off x="534924" y="2935224"/>
            <a:ext cx="514350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45" dirty="0">
                <a:solidFill>
                  <a:srgbClr val="8E8BA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퍼플리싱(임시)</a:t>
            </a:r>
            <a:endParaRPr lang="en-US" sz="345" dirty="0"/>
          </a:p>
        </p:txBody>
      </p:sp>
      <p:sp>
        <p:nvSpPr>
          <p:cNvPr id="32" name="Text 30"/>
          <p:cNvSpPr/>
          <p:nvPr/>
        </p:nvSpPr>
        <p:spPr>
          <a:xfrm>
            <a:off x="541782" y="3127248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▦</a:t>
            </a:r>
            <a:endParaRPr lang="en-US" sz="413" dirty="0"/>
          </a:p>
        </p:txBody>
      </p:sp>
      <p:sp>
        <p:nvSpPr>
          <p:cNvPr id="33" name="Text 31"/>
          <p:cNvSpPr/>
          <p:nvPr/>
        </p:nvSpPr>
        <p:spPr>
          <a:xfrm>
            <a:off x="665226" y="3127248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</a:t>
            </a:r>
            <a:endParaRPr lang="en-US" sz="413" dirty="0"/>
          </a:p>
        </p:txBody>
      </p:sp>
      <p:sp>
        <p:nvSpPr>
          <p:cNvPr id="34" name="Text 32"/>
          <p:cNvSpPr/>
          <p:nvPr/>
        </p:nvSpPr>
        <p:spPr>
          <a:xfrm>
            <a:off x="1248156" y="3127248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35" name="Text 33"/>
          <p:cNvSpPr/>
          <p:nvPr/>
        </p:nvSpPr>
        <p:spPr>
          <a:xfrm>
            <a:off x="541782" y="3374136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♟</a:t>
            </a:r>
            <a:endParaRPr lang="en-US" sz="413" dirty="0"/>
          </a:p>
        </p:txBody>
      </p:sp>
      <p:sp>
        <p:nvSpPr>
          <p:cNvPr id="36" name="Text 34"/>
          <p:cNvSpPr/>
          <p:nvPr/>
        </p:nvSpPr>
        <p:spPr>
          <a:xfrm>
            <a:off x="665226" y="3374136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직원관리</a:t>
            </a:r>
            <a:endParaRPr lang="en-US" sz="413" dirty="0"/>
          </a:p>
        </p:txBody>
      </p:sp>
      <p:sp>
        <p:nvSpPr>
          <p:cNvPr id="37" name="Text 35"/>
          <p:cNvSpPr/>
          <p:nvPr/>
        </p:nvSpPr>
        <p:spPr>
          <a:xfrm>
            <a:off x="1248156" y="3374136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38" name="Text 36"/>
          <p:cNvSpPr/>
          <p:nvPr/>
        </p:nvSpPr>
        <p:spPr>
          <a:xfrm>
            <a:off x="541782" y="3621024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413" dirty="0"/>
          </a:p>
        </p:txBody>
      </p:sp>
      <p:sp>
        <p:nvSpPr>
          <p:cNvPr id="39" name="Text 37"/>
          <p:cNvSpPr/>
          <p:nvPr/>
        </p:nvSpPr>
        <p:spPr>
          <a:xfrm>
            <a:off x="665226" y="3621024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</a:t>
            </a:r>
            <a:endParaRPr lang="en-US" sz="413" dirty="0"/>
          </a:p>
        </p:txBody>
      </p:sp>
      <p:sp>
        <p:nvSpPr>
          <p:cNvPr id="40" name="Text 38"/>
          <p:cNvSpPr/>
          <p:nvPr/>
        </p:nvSpPr>
        <p:spPr>
          <a:xfrm>
            <a:off x="1248156" y="3621024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41" name="Text 39"/>
          <p:cNvSpPr/>
          <p:nvPr/>
        </p:nvSpPr>
        <p:spPr>
          <a:xfrm>
            <a:off x="541782" y="3867912"/>
            <a:ext cx="891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⊕</a:t>
            </a:r>
            <a:endParaRPr lang="en-US" sz="413" dirty="0"/>
          </a:p>
        </p:txBody>
      </p:sp>
      <p:sp>
        <p:nvSpPr>
          <p:cNvPr id="42" name="Text 40"/>
          <p:cNvSpPr/>
          <p:nvPr/>
        </p:nvSpPr>
        <p:spPr>
          <a:xfrm>
            <a:off x="665226" y="3867912"/>
            <a:ext cx="5623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13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근태관리</a:t>
            </a:r>
            <a:endParaRPr lang="en-US" sz="413" dirty="0"/>
          </a:p>
        </p:txBody>
      </p:sp>
      <p:sp>
        <p:nvSpPr>
          <p:cNvPr id="43" name="Text 41"/>
          <p:cNvSpPr/>
          <p:nvPr/>
        </p:nvSpPr>
        <p:spPr>
          <a:xfrm>
            <a:off x="1248156" y="3867912"/>
            <a:ext cx="54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7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⌄</a:t>
            </a:r>
            <a:endParaRPr lang="en-US" sz="375" dirty="0"/>
          </a:p>
        </p:txBody>
      </p:sp>
      <p:sp>
        <p:nvSpPr>
          <p:cNvPr id="44" name="Text 42"/>
          <p:cNvSpPr/>
          <p:nvPr/>
        </p:nvSpPr>
        <p:spPr>
          <a:xfrm>
            <a:off x="534924" y="4046220"/>
            <a:ext cx="48006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9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↪  로그인</a:t>
            </a:r>
            <a:endParaRPr lang="en-US" sz="398" dirty="0"/>
          </a:p>
        </p:txBody>
      </p:sp>
      <p:sp>
        <p:nvSpPr>
          <p:cNvPr id="45" name="Shape 43"/>
          <p:cNvSpPr/>
          <p:nvPr/>
        </p:nvSpPr>
        <p:spPr>
          <a:xfrm>
            <a:off x="1508760" y="1097280"/>
            <a:ext cx="171450" cy="192024"/>
          </a:xfrm>
          <a:prstGeom prst="roundRect">
            <a:avLst>
              <a:gd name="adj" fmla="val 14000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43050" y="1145286"/>
            <a:ext cx="82296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pPr algn="ctr"/>
            <a:r>
              <a:rPr lang="en-US" sz="43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☰</a:t>
            </a:r>
            <a:endParaRPr lang="en-US" sz="435" dirty="0"/>
          </a:p>
        </p:txBody>
      </p:sp>
      <p:sp>
        <p:nvSpPr>
          <p:cNvPr id="47" name="Shape 45"/>
          <p:cNvSpPr/>
          <p:nvPr/>
        </p:nvSpPr>
        <p:spPr>
          <a:xfrm>
            <a:off x="1762506" y="1097280"/>
            <a:ext cx="1885950" cy="192024"/>
          </a:xfrm>
          <a:prstGeom prst="roundRect">
            <a:avLst>
              <a:gd name="adj" fmla="val 12500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31086" y="1145286"/>
            <a:ext cx="109728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83" dirty="0">
                <a:solidFill>
                  <a:srgbClr val="C7C5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⌕  Search or type command...</a:t>
            </a:r>
            <a:endParaRPr lang="en-US" sz="383" dirty="0"/>
          </a:p>
        </p:txBody>
      </p:sp>
      <p:sp>
        <p:nvSpPr>
          <p:cNvPr id="49" name="Text 47"/>
          <p:cNvSpPr/>
          <p:nvPr/>
        </p:nvSpPr>
        <p:spPr>
          <a:xfrm>
            <a:off x="4594860" y="1145286"/>
            <a:ext cx="123444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pPr algn="ctr"/>
            <a:r>
              <a:rPr lang="en-US" sz="360" dirty="0">
                <a:solidFill>
                  <a:srgbClr val="B8B5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⌘K</a:t>
            </a:r>
            <a:endParaRPr lang="en-US" sz="360" dirty="0"/>
          </a:p>
        </p:txBody>
      </p:sp>
      <p:sp>
        <p:nvSpPr>
          <p:cNvPr id="50" name="Text 48"/>
          <p:cNvSpPr/>
          <p:nvPr/>
        </p:nvSpPr>
        <p:spPr>
          <a:xfrm>
            <a:off x="4807458" y="1138428"/>
            <a:ext cx="89154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/>
          </a:bodyPr>
          <a:lstStyle/>
          <a:p>
            <a:pPr algn="ctr"/>
            <a:r>
              <a:rPr lang="en-US" sz="4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☼</a:t>
            </a:r>
            <a:endParaRPr lang="en-US" sz="450" dirty="0"/>
          </a:p>
        </p:txBody>
      </p:sp>
      <p:sp>
        <p:nvSpPr>
          <p:cNvPr id="51" name="Shape 49"/>
          <p:cNvSpPr/>
          <p:nvPr/>
        </p:nvSpPr>
        <p:spPr>
          <a:xfrm>
            <a:off x="4958334" y="1097280"/>
            <a:ext cx="363474" cy="192024"/>
          </a:xfrm>
          <a:prstGeom prst="roundRect">
            <a:avLst>
              <a:gd name="adj" fmla="val 21429"/>
            </a:avLst>
          </a:prstGeom>
          <a:solidFill>
            <a:srgbClr val="24223F"/>
          </a:solidFill>
          <a:ln w="12700">
            <a:solidFill>
              <a:srgbClr val="24223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78908" y="1138428"/>
            <a:ext cx="315468" cy="6172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ctr"/>
            <a:r>
              <a:rPr lang="en-US" sz="3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 ↗</a:t>
            </a:r>
            <a:endParaRPr lang="en-US" sz="390" dirty="0"/>
          </a:p>
        </p:txBody>
      </p:sp>
      <p:sp>
        <p:nvSpPr>
          <p:cNvPr id="54" name="Text 52"/>
          <p:cNvSpPr/>
          <p:nvPr/>
        </p:nvSpPr>
        <p:spPr>
          <a:xfrm>
            <a:off x="5314950" y="1138428"/>
            <a:ext cx="41148" cy="3429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77500" lnSpcReduction="20000"/>
          </a:bodyPr>
          <a:lstStyle/>
          <a:p>
            <a:pPr algn="ctr"/>
            <a:r>
              <a:rPr lang="en-US" sz="315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</a:t>
            </a:r>
            <a:endParaRPr lang="en-US" sz="315" dirty="0"/>
          </a:p>
        </p:txBody>
      </p:sp>
      <p:sp>
        <p:nvSpPr>
          <p:cNvPr id="55" name="Text 53"/>
          <p:cNvSpPr/>
          <p:nvPr/>
        </p:nvSpPr>
        <p:spPr>
          <a:xfrm>
            <a:off x="1556766" y="1549908"/>
            <a:ext cx="174879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390" dirty="0">
                <a:solidFill>
                  <a:srgbClr val="B8B5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 ›  D보험 차세대시스템  ›  인력 배정</a:t>
            </a:r>
            <a:endParaRPr lang="en-US" sz="390" dirty="0"/>
          </a:p>
        </p:txBody>
      </p:sp>
      <p:sp>
        <p:nvSpPr>
          <p:cNvPr id="56" name="Text 54"/>
          <p:cNvSpPr/>
          <p:nvPr/>
        </p:nvSpPr>
        <p:spPr>
          <a:xfrm>
            <a:off x="1556766" y="1659636"/>
            <a:ext cx="891540" cy="12344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863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인력 배정</a:t>
            </a:r>
            <a:endParaRPr lang="en-US" sz="863" dirty="0"/>
          </a:p>
        </p:txBody>
      </p:sp>
      <p:sp>
        <p:nvSpPr>
          <p:cNvPr id="57" name="Shape 55"/>
          <p:cNvSpPr/>
          <p:nvPr/>
        </p:nvSpPr>
        <p:spPr>
          <a:xfrm>
            <a:off x="1556766" y="1947672"/>
            <a:ext cx="493776" cy="150876"/>
          </a:xfrm>
          <a:prstGeom prst="roundRect">
            <a:avLst>
              <a:gd name="adj" fmla="val 15909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584198" y="1985391"/>
            <a:ext cx="438912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39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기술스택 전체 ▾</a:t>
            </a:r>
            <a:endParaRPr lang="en-US" sz="390" dirty="0"/>
          </a:p>
        </p:txBody>
      </p:sp>
      <p:sp>
        <p:nvSpPr>
          <p:cNvPr id="59" name="Text 57"/>
          <p:cNvSpPr/>
          <p:nvPr/>
        </p:nvSpPr>
        <p:spPr>
          <a:xfrm>
            <a:off x="1536192" y="1940814"/>
            <a:ext cx="12344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105406" y="1947672"/>
            <a:ext cx="480060" cy="150876"/>
          </a:xfrm>
          <a:prstGeom prst="roundRect">
            <a:avLst>
              <a:gd name="adj" fmla="val 15909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32838" y="1985391"/>
            <a:ext cx="425196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39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투입률 전체 ▾</a:t>
            </a:r>
            <a:endParaRPr lang="en-US" sz="390" dirty="0"/>
          </a:p>
        </p:txBody>
      </p:sp>
      <p:sp>
        <p:nvSpPr>
          <p:cNvPr id="62" name="Shape 60"/>
          <p:cNvSpPr/>
          <p:nvPr/>
        </p:nvSpPr>
        <p:spPr>
          <a:xfrm>
            <a:off x="2640330" y="1947672"/>
            <a:ext cx="452628" cy="150876"/>
          </a:xfrm>
          <a:prstGeom prst="roundRect">
            <a:avLst>
              <a:gd name="adj" fmla="val 15909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67762" y="1985391"/>
            <a:ext cx="397764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39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경력 전체 ▾</a:t>
            </a:r>
            <a:endParaRPr lang="en-US" sz="390" dirty="0"/>
          </a:p>
        </p:txBody>
      </p:sp>
      <p:sp>
        <p:nvSpPr>
          <p:cNvPr id="64" name="Shape 62"/>
          <p:cNvSpPr/>
          <p:nvPr/>
        </p:nvSpPr>
        <p:spPr>
          <a:xfrm>
            <a:off x="3147822" y="1947672"/>
            <a:ext cx="445770" cy="150876"/>
          </a:xfrm>
          <a:prstGeom prst="roundRect">
            <a:avLst>
              <a:gd name="adj" fmla="val 15909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75254" y="1985391"/>
            <a:ext cx="390906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39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부서 전체 ▾</a:t>
            </a:r>
            <a:endParaRPr lang="en-US" sz="390" dirty="0"/>
          </a:p>
        </p:txBody>
      </p:sp>
      <p:sp>
        <p:nvSpPr>
          <p:cNvPr id="66" name="Shape 64"/>
          <p:cNvSpPr/>
          <p:nvPr/>
        </p:nvSpPr>
        <p:spPr>
          <a:xfrm>
            <a:off x="3641598" y="1947672"/>
            <a:ext cx="342900" cy="150876"/>
          </a:xfrm>
          <a:prstGeom prst="roundRect">
            <a:avLst>
              <a:gd name="adj" fmla="val 15909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69030" y="1985391"/>
            <a:ext cx="288036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39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초기화</a:t>
            </a:r>
            <a:endParaRPr lang="en-US" sz="390" dirty="0"/>
          </a:p>
        </p:txBody>
      </p:sp>
      <p:sp>
        <p:nvSpPr>
          <p:cNvPr id="68" name="Shape 66"/>
          <p:cNvSpPr/>
          <p:nvPr/>
        </p:nvSpPr>
        <p:spPr>
          <a:xfrm>
            <a:off x="4203954" y="1947672"/>
            <a:ext cx="473202" cy="150876"/>
          </a:xfrm>
          <a:prstGeom prst="roundRect">
            <a:avLst>
              <a:gd name="adj" fmla="val 15909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32020" y="1947672"/>
            <a:ext cx="514350" cy="150876"/>
          </a:xfrm>
          <a:prstGeom prst="roundRect">
            <a:avLst>
              <a:gd name="adj" fmla="val 15909"/>
            </a:avLst>
          </a:prstGeom>
          <a:solidFill>
            <a:srgbClr val="6F5AE8"/>
          </a:solidFill>
          <a:ln w="12700">
            <a:solidFill>
              <a:srgbClr val="6F5A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31386" y="1985391"/>
            <a:ext cx="418338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39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상세</a:t>
            </a:r>
            <a:endParaRPr lang="en-US" sz="390" dirty="0"/>
          </a:p>
        </p:txBody>
      </p:sp>
      <p:sp>
        <p:nvSpPr>
          <p:cNvPr id="70" name="Text 68"/>
          <p:cNvSpPr/>
          <p:nvPr/>
        </p:nvSpPr>
        <p:spPr>
          <a:xfrm>
            <a:off x="4670298" y="1940814"/>
            <a:ext cx="12344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759452" y="1985391"/>
            <a:ext cx="459486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3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배정 설정</a:t>
            </a:r>
            <a:endParaRPr lang="en-US" sz="390" dirty="0"/>
          </a:p>
        </p:txBody>
      </p:sp>
      <p:sp>
        <p:nvSpPr>
          <p:cNvPr id="73" name="Shape 71"/>
          <p:cNvSpPr/>
          <p:nvPr/>
        </p:nvSpPr>
        <p:spPr>
          <a:xfrm>
            <a:off x="1556766" y="2180844"/>
            <a:ext cx="2592324" cy="1419606"/>
          </a:xfrm>
          <a:prstGeom prst="roundRect">
            <a:avLst>
              <a:gd name="adj" fmla="val 2041"/>
            </a:avLst>
          </a:prstGeom>
          <a:solidFill>
            <a:srgbClr val="33304F"/>
          </a:solidFill>
          <a:ln w="7620">
            <a:solidFill>
              <a:srgbClr val="5D5A8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625346" y="2242566"/>
            <a:ext cx="822960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가용 인력 목록(전체 6명)</a:t>
            </a:r>
            <a:endParaRPr lang="en-US" sz="450" dirty="0"/>
          </a:p>
        </p:txBody>
      </p:sp>
      <p:sp>
        <p:nvSpPr>
          <p:cNvPr id="75" name="Text 73"/>
          <p:cNvSpPr/>
          <p:nvPr/>
        </p:nvSpPr>
        <p:spPr>
          <a:xfrm>
            <a:off x="1570482" y="2228850"/>
            <a:ext cx="12344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625346" y="2414016"/>
            <a:ext cx="246888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75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</a:t>
            </a:r>
            <a:endParaRPr lang="en-US" sz="375" dirty="0"/>
          </a:p>
        </p:txBody>
      </p:sp>
      <p:sp>
        <p:nvSpPr>
          <p:cNvPr id="77" name="Text 75"/>
          <p:cNvSpPr/>
          <p:nvPr/>
        </p:nvSpPr>
        <p:spPr>
          <a:xfrm>
            <a:off x="1954530" y="2414016"/>
            <a:ext cx="41148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75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</a:t>
            </a:r>
            <a:endParaRPr lang="en-US" sz="375" dirty="0"/>
          </a:p>
        </p:txBody>
      </p:sp>
      <p:sp>
        <p:nvSpPr>
          <p:cNvPr id="78" name="Text 76"/>
          <p:cNvSpPr/>
          <p:nvPr/>
        </p:nvSpPr>
        <p:spPr>
          <a:xfrm>
            <a:off x="2530602" y="2414016"/>
            <a:ext cx="37719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75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부서</a:t>
            </a:r>
            <a:endParaRPr lang="en-US" sz="375" dirty="0"/>
          </a:p>
        </p:txBody>
      </p:sp>
      <p:sp>
        <p:nvSpPr>
          <p:cNvPr id="79" name="Text 77"/>
          <p:cNvSpPr/>
          <p:nvPr/>
        </p:nvSpPr>
        <p:spPr>
          <a:xfrm>
            <a:off x="3010662" y="2414016"/>
            <a:ext cx="48006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75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기술스택</a:t>
            </a:r>
            <a:endParaRPr lang="en-US" sz="375" dirty="0"/>
          </a:p>
        </p:txBody>
      </p:sp>
      <p:sp>
        <p:nvSpPr>
          <p:cNvPr id="80" name="Text 78"/>
          <p:cNvSpPr/>
          <p:nvPr/>
        </p:nvSpPr>
        <p:spPr>
          <a:xfrm>
            <a:off x="3765042" y="2414016"/>
            <a:ext cx="356616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75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 투입률</a:t>
            </a:r>
            <a:endParaRPr lang="en-US" sz="375" dirty="0"/>
          </a:p>
        </p:txBody>
      </p:sp>
      <p:sp>
        <p:nvSpPr>
          <p:cNvPr id="81" name="Shape 79"/>
          <p:cNvSpPr/>
          <p:nvPr/>
        </p:nvSpPr>
        <p:spPr>
          <a:xfrm>
            <a:off x="1556766" y="2537460"/>
            <a:ext cx="2592324" cy="0"/>
          </a:xfrm>
          <a:prstGeom prst="line">
            <a:avLst/>
          </a:prstGeom>
          <a:noFill/>
          <a:ln w="5080">
            <a:solidFill>
              <a:srgbClr val="48456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645920" y="2619756"/>
            <a:ext cx="68580" cy="6858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5D5A8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655522" y="2623871"/>
            <a:ext cx="48006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405" b="1" dirty="0">
                <a:solidFill>
                  <a:srgbClr val="7E6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405" dirty="0"/>
          </a:p>
        </p:txBody>
      </p:sp>
      <p:sp>
        <p:nvSpPr>
          <p:cNvPr id="84" name="Text 82"/>
          <p:cNvSpPr/>
          <p:nvPr/>
        </p:nvSpPr>
        <p:spPr>
          <a:xfrm>
            <a:off x="1591056" y="2599182"/>
            <a:ext cx="12344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961388" y="2606040"/>
            <a:ext cx="82296" cy="82296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978533" y="2623871"/>
            <a:ext cx="41148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285" b="1" dirty="0">
                <a:solidFill>
                  <a:srgbClr val="6F5A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</a:t>
            </a:r>
            <a:endParaRPr lang="en-US" sz="285" dirty="0"/>
          </a:p>
        </p:txBody>
      </p:sp>
      <p:sp>
        <p:nvSpPr>
          <p:cNvPr id="87" name="Text 85"/>
          <p:cNvSpPr/>
          <p:nvPr/>
        </p:nvSpPr>
        <p:spPr>
          <a:xfrm>
            <a:off x="2077974" y="2612898"/>
            <a:ext cx="30861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3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나도익</a:t>
            </a:r>
            <a:endParaRPr lang="en-US" sz="390" dirty="0"/>
          </a:p>
        </p:txBody>
      </p:sp>
      <p:sp>
        <p:nvSpPr>
          <p:cNvPr id="88" name="Text 86"/>
          <p:cNvSpPr/>
          <p:nvPr/>
        </p:nvSpPr>
        <p:spPr>
          <a:xfrm>
            <a:off x="2530602" y="2612898"/>
            <a:ext cx="4114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368" dirty="0">
                <a:solidFill>
                  <a:srgbClr val="B8B5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디자인팀</a:t>
            </a:r>
            <a:endParaRPr lang="en-US" sz="368" dirty="0"/>
          </a:p>
        </p:txBody>
      </p:sp>
      <p:sp>
        <p:nvSpPr>
          <p:cNvPr id="89" name="Text 87"/>
          <p:cNvSpPr/>
          <p:nvPr/>
        </p:nvSpPr>
        <p:spPr>
          <a:xfrm>
            <a:off x="3010662" y="2612898"/>
            <a:ext cx="6172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15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Adobe XD, Figma, Zeplin</a:t>
            </a:r>
            <a:endParaRPr lang="en-US" sz="315" dirty="0"/>
          </a:p>
        </p:txBody>
      </p:sp>
      <p:sp>
        <p:nvSpPr>
          <p:cNvPr id="90" name="Text 88"/>
          <p:cNvSpPr/>
          <p:nvPr/>
        </p:nvSpPr>
        <p:spPr>
          <a:xfrm>
            <a:off x="3799332" y="2612898"/>
            <a:ext cx="24003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368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0%</a:t>
            </a:r>
            <a:endParaRPr lang="en-US" sz="368" dirty="0"/>
          </a:p>
        </p:txBody>
      </p:sp>
      <p:sp>
        <p:nvSpPr>
          <p:cNvPr id="91" name="Shape 89"/>
          <p:cNvSpPr/>
          <p:nvPr/>
        </p:nvSpPr>
        <p:spPr>
          <a:xfrm>
            <a:off x="1556766" y="2743200"/>
            <a:ext cx="2592324" cy="0"/>
          </a:xfrm>
          <a:prstGeom prst="line">
            <a:avLst/>
          </a:prstGeom>
          <a:noFill/>
          <a:ln w="3175">
            <a:solidFill>
              <a:srgbClr val="48456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645920" y="2791206"/>
            <a:ext cx="68580" cy="6858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5D5A8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961388" y="2777490"/>
            <a:ext cx="82296" cy="82296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978533" y="2795321"/>
            <a:ext cx="41148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285" b="1" dirty="0">
                <a:solidFill>
                  <a:srgbClr val="6F5A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</a:t>
            </a:r>
            <a:endParaRPr lang="en-US" sz="285" dirty="0"/>
          </a:p>
        </p:txBody>
      </p:sp>
      <p:sp>
        <p:nvSpPr>
          <p:cNvPr id="95" name="Text 93"/>
          <p:cNvSpPr/>
          <p:nvPr/>
        </p:nvSpPr>
        <p:spPr>
          <a:xfrm>
            <a:off x="2077974" y="2784348"/>
            <a:ext cx="30861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39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정다운</a:t>
            </a:r>
            <a:endParaRPr lang="en-US" sz="390" dirty="0"/>
          </a:p>
        </p:txBody>
      </p:sp>
      <p:sp>
        <p:nvSpPr>
          <p:cNvPr id="96" name="Text 94"/>
          <p:cNvSpPr/>
          <p:nvPr/>
        </p:nvSpPr>
        <p:spPr>
          <a:xfrm>
            <a:off x="2530602" y="2784348"/>
            <a:ext cx="4114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368" dirty="0">
                <a:solidFill>
                  <a:srgbClr val="B8B5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개발팀</a:t>
            </a:r>
            <a:endParaRPr lang="en-US" sz="368" dirty="0"/>
          </a:p>
        </p:txBody>
      </p:sp>
      <p:sp>
        <p:nvSpPr>
          <p:cNvPr id="97" name="Text 95"/>
          <p:cNvSpPr/>
          <p:nvPr/>
        </p:nvSpPr>
        <p:spPr>
          <a:xfrm>
            <a:off x="3010662" y="2784348"/>
            <a:ext cx="6172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15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Angular, SCSS, TypeScript</a:t>
            </a:r>
            <a:endParaRPr lang="en-US" sz="315" dirty="0"/>
          </a:p>
        </p:txBody>
      </p:sp>
      <p:sp>
        <p:nvSpPr>
          <p:cNvPr id="98" name="Text 96"/>
          <p:cNvSpPr/>
          <p:nvPr/>
        </p:nvSpPr>
        <p:spPr>
          <a:xfrm>
            <a:off x="3799332" y="2784348"/>
            <a:ext cx="24003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368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0%</a:t>
            </a:r>
            <a:endParaRPr lang="en-US" sz="368" dirty="0"/>
          </a:p>
        </p:txBody>
      </p:sp>
      <p:sp>
        <p:nvSpPr>
          <p:cNvPr id="99" name="Shape 97"/>
          <p:cNvSpPr/>
          <p:nvPr/>
        </p:nvSpPr>
        <p:spPr>
          <a:xfrm>
            <a:off x="1556766" y="2914650"/>
            <a:ext cx="2592324" cy="0"/>
          </a:xfrm>
          <a:prstGeom prst="line">
            <a:avLst/>
          </a:prstGeom>
          <a:noFill/>
          <a:ln w="3175">
            <a:solidFill>
              <a:srgbClr val="48456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645920" y="2962656"/>
            <a:ext cx="68580" cy="6858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5D5A8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961388" y="2948940"/>
            <a:ext cx="82296" cy="82296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978533" y="2966771"/>
            <a:ext cx="41148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285" b="1" dirty="0">
                <a:solidFill>
                  <a:srgbClr val="6F5A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</a:t>
            </a:r>
            <a:endParaRPr lang="en-US" sz="285" dirty="0"/>
          </a:p>
        </p:txBody>
      </p:sp>
      <p:sp>
        <p:nvSpPr>
          <p:cNvPr id="103" name="Text 101"/>
          <p:cNvSpPr/>
          <p:nvPr/>
        </p:nvSpPr>
        <p:spPr>
          <a:xfrm>
            <a:off x="2077974" y="2955798"/>
            <a:ext cx="30861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39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테스트1</a:t>
            </a:r>
            <a:endParaRPr lang="en-US" sz="390" dirty="0"/>
          </a:p>
        </p:txBody>
      </p:sp>
      <p:sp>
        <p:nvSpPr>
          <p:cNvPr id="104" name="Text 102"/>
          <p:cNvSpPr/>
          <p:nvPr/>
        </p:nvSpPr>
        <p:spPr>
          <a:xfrm>
            <a:off x="2530602" y="2955798"/>
            <a:ext cx="4114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368" dirty="0">
                <a:solidFill>
                  <a:srgbClr val="B8B5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QA팀</a:t>
            </a:r>
            <a:endParaRPr lang="en-US" sz="368" dirty="0"/>
          </a:p>
        </p:txBody>
      </p:sp>
      <p:sp>
        <p:nvSpPr>
          <p:cNvPr id="105" name="Text 103"/>
          <p:cNvSpPr/>
          <p:nvPr/>
        </p:nvSpPr>
        <p:spPr>
          <a:xfrm>
            <a:off x="3010662" y="2955798"/>
            <a:ext cx="6172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15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Java, React, Spring Boot</a:t>
            </a:r>
            <a:endParaRPr lang="en-US" sz="315" dirty="0"/>
          </a:p>
        </p:txBody>
      </p:sp>
      <p:sp>
        <p:nvSpPr>
          <p:cNvPr id="106" name="Text 104"/>
          <p:cNvSpPr/>
          <p:nvPr/>
        </p:nvSpPr>
        <p:spPr>
          <a:xfrm>
            <a:off x="3799332" y="2955798"/>
            <a:ext cx="24003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368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0%</a:t>
            </a:r>
            <a:endParaRPr lang="en-US" sz="368" dirty="0"/>
          </a:p>
        </p:txBody>
      </p:sp>
      <p:sp>
        <p:nvSpPr>
          <p:cNvPr id="107" name="Shape 105"/>
          <p:cNvSpPr/>
          <p:nvPr/>
        </p:nvSpPr>
        <p:spPr>
          <a:xfrm>
            <a:off x="1556766" y="3086100"/>
            <a:ext cx="2592324" cy="0"/>
          </a:xfrm>
          <a:prstGeom prst="line">
            <a:avLst/>
          </a:prstGeom>
          <a:noFill/>
          <a:ln w="3175">
            <a:solidFill>
              <a:srgbClr val="48456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645920" y="3134106"/>
            <a:ext cx="68580" cy="6858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5D5A8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961388" y="3120390"/>
            <a:ext cx="82296" cy="82296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978533" y="3138221"/>
            <a:ext cx="41148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285" b="1" dirty="0">
                <a:solidFill>
                  <a:srgbClr val="6F5A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</a:t>
            </a:r>
            <a:endParaRPr lang="en-US" sz="285" dirty="0"/>
          </a:p>
        </p:txBody>
      </p:sp>
      <p:sp>
        <p:nvSpPr>
          <p:cNvPr id="111" name="Text 109"/>
          <p:cNvSpPr/>
          <p:nvPr/>
        </p:nvSpPr>
        <p:spPr>
          <a:xfrm>
            <a:off x="2077974" y="3127248"/>
            <a:ext cx="30861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39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테스트2</a:t>
            </a:r>
            <a:endParaRPr lang="en-US" sz="390" dirty="0"/>
          </a:p>
        </p:txBody>
      </p:sp>
      <p:sp>
        <p:nvSpPr>
          <p:cNvPr id="112" name="Text 110"/>
          <p:cNvSpPr/>
          <p:nvPr/>
        </p:nvSpPr>
        <p:spPr>
          <a:xfrm>
            <a:off x="2530602" y="3127248"/>
            <a:ext cx="4114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368" dirty="0">
                <a:solidFill>
                  <a:srgbClr val="B8B5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QA팀</a:t>
            </a:r>
            <a:endParaRPr lang="en-US" sz="368" dirty="0"/>
          </a:p>
        </p:txBody>
      </p:sp>
      <p:sp>
        <p:nvSpPr>
          <p:cNvPr id="113" name="Text 111"/>
          <p:cNvSpPr/>
          <p:nvPr/>
        </p:nvSpPr>
        <p:spPr>
          <a:xfrm>
            <a:off x="3010662" y="3127248"/>
            <a:ext cx="6172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15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Java, React, Spring Boot</a:t>
            </a:r>
            <a:endParaRPr lang="en-US" sz="315" dirty="0"/>
          </a:p>
        </p:txBody>
      </p:sp>
      <p:sp>
        <p:nvSpPr>
          <p:cNvPr id="114" name="Text 112"/>
          <p:cNvSpPr/>
          <p:nvPr/>
        </p:nvSpPr>
        <p:spPr>
          <a:xfrm>
            <a:off x="3799332" y="3127248"/>
            <a:ext cx="24003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368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0%</a:t>
            </a:r>
            <a:endParaRPr lang="en-US" sz="368" dirty="0"/>
          </a:p>
        </p:txBody>
      </p:sp>
      <p:sp>
        <p:nvSpPr>
          <p:cNvPr id="115" name="Shape 113"/>
          <p:cNvSpPr/>
          <p:nvPr/>
        </p:nvSpPr>
        <p:spPr>
          <a:xfrm>
            <a:off x="1556766" y="3257550"/>
            <a:ext cx="2592324" cy="0"/>
          </a:xfrm>
          <a:prstGeom prst="line">
            <a:avLst/>
          </a:prstGeom>
          <a:noFill/>
          <a:ln w="3175">
            <a:solidFill>
              <a:srgbClr val="48456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645920" y="3305556"/>
            <a:ext cx="68580" cy="6858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5D5A82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961388" y="3291840"/>
            <a:ext cx="82296" cy="82296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978533" y="3309671"/>
            <a:ext cx="41148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285" b="1" dirty="0">
                <a:solidFill>
                  <a:srgbClr val="6F5A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홍</a:t>
            </a:r>
            <a:endParaRPr lang="en-US" sz="285" dirty="0"/>
          </a:p>
        </p:txBody>
      </p:sp>
      <p:sp>
        <p:nvSpPr>
          <p:cNvPr id="119" name="Text 117"/>
          <p:cNvSpPr/>
          <p:nvPr/>
        </p:nvSpPr>
        <p:spPr>
          <a:xfrm>
            <a:off x="2077974" y="3298698"/>
            <a:ext cx="30861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39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홍길동</a:t>
            </a:r>
            <a:endParaRPr lang="en-US" sz="390" dirty="0"/>
          </a:p>
        </p:txBody>
      </p:sp>
      <p:sp>
        <p:nvSpPr>
          <p:cNvPr id="120" name="Text 118"/>
          <p:cNvSpPr/>
          <p:nvPr/>
        </p:nvSpPr>
        <p:spPr>
          <a:xfrm>
            <a:off x="2530602" y="3298698"/>
            <a:ext cx="4114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368" dirty="0">
                <a:solidFill>
                  <a:srgbClr val="B8B5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디자인팀</a:t>
            </a:r>
            <a:endParaRPr lang="en-US" sz="368" dirty="0"/>
          </a:p>
        </p:txBody>
      </p:sp>
      <p:sp>
        <p:nvSpPr>
          <p:cNvPr id="121" name="Text 119"/>
          <p:cNvSpPr/>
          <p:nvPr/>
        </p:nvSpPr>
        <p:spPr>
          <a:xfrm>
            <a:off x="3010662" y="3298698"/>
            <a:ext cx="6172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15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Java, React, Spring Boot</a:t>
            </a:r>
            <a:endParaRPr lang="en-US" sz="315" dirty="0"/>
          </a:p>
        </p:txBody>
      </p:sp>
      <p:sp>
        <p:nvSpPr>
          <p:cNvPr id="122" name="Text 120"/>
          <p:cNvSpPr/>
          <p:nvPr/>
        </p:nvSpPr>
        <p:spPr>
          <a:xfrm>
            <a:off x="3799332" y="3298698"/>
            <a:ext cx="24003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368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0%</a:t>
            </a:r>
            <a:endParaRPr lang="en-US" sz="368" dirty="0"/>
          </a:p>
        </p:txBody>
      </p:sp>
      <p:sp>
        <p:nvSpPr>
          <p:cNvPr id="123" name="Shape 121"/>
          <p:cNvSpPr/>
          <p:nvPr/>
        </p:nvSpPr>
        <p:spPr>
          <a:xfrm>
            <a:off x="1556766" y="3429000"/>
            <a:ext cx="2592324" cy="0"/>
          </a:xfrm>
          <a:prstGeom prst="line">
            <a:avLst/>
          </a:prstGeom>
          <a:noFill/>
          <a:ln w="3175">
            <a:solidFill>
              <a:srgbClr val="48456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645920" y="3477006"/>
            <a:ext cx="68580" cy="6858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5D5A8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961388" y="3463290"/>
            <a:ext cx="82296" cy="82296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978533" y="3481121"/>
            <a:ext cx="41148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285" b="1" dirty="0">
                <a:solidFill>
                  <a:srgbClr val="6F5A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황</a:t>
            </a:r>
            <a:endParaRPr lang="en-US" sz="285" dirty="0"/>
          </a:p>
        </p:txBody>
      </p:sp>
      <p:sp>
        <p:nvSpPr>
          <p:cNvPr id="127" name="Text 125"/>
          <p:cNvSpPr/>
          <p:nvPr/>
        </p:nvSpPr>
        <p:spPr>
          <a:xfrm>
            <a:off x="2077974" y="3470148"/>
            <a:ext cx="30861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39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황정우</a:t>
            </a:r>
            <a:endParaRPr lang="en-US" sz="390" dirty="0"/>
          </a:p>
        </p:txBody>
      </p:sp>
      <p:sp>
        <p:nvSpPr>
          <p:cNvPr id="128" name="Text 126"/>
          <p:cNvSpPr/>
          <p:nvPr/>
        </p:nvSpPr>
        <p:spPr>
          <a:xfrm>
            <a:off x="2530602" y="3470148"/>
            <a:ext cx="4114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368" dirty="0">
                <a:solidFill>
                  <a:srgbClr val="B8B5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개발팀</a:t>
            </a:r>
            <a:endParaRPr lang="en-US" sz="368" dirty="0"/>
          </a:p>
        </p:txBody>
      </p:sp>
      <p:sp>
        <p:nvSpPr>
          <p:cNvPr id="129" name="Text 127"/>
          <p:cNvSpPr/>
          <p:nvPr/>
        </p:nvSpPr>
        <p:spPr>
          <a:xfrm>
            <a:off x="3010662" y="3470148"/>
            <a:ext cx="6172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15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Java, UML, 시스템 분석</a:t>
            </a:r>
            <a:endParaRPr lang="en-US" sz="315" dirty="0"/>
          </a:p>
        </p:txBody>
      </p:sp>
      <p:sp>
        <p:nvSpPr>
          <p:cNvPr id="130" name="Text 128"/>
          <p:cNvSpPr/>
          <p:nvPr/>
        </p:nvSpPr>
        <p:spPr>
          <a:xfrm>
            <a:off x="3799332" y="3470148"/>
            <a:ext cx="24003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368" dirty="0">
                <a:solidFill>
                  <a:srgbClr val="C7C5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0%</a:t>
            </a:r>
            <a:endParaRPr lang="en-US" sz="368" dirty="0"/>
          </a:p>
        </p:txBody>
      </p:sp>
      <p:sp>
        <p:nvSpPr>
          <p:cNvPr id="132" name="Shape 130"/>
          <p:cNvSpPr/>
          <p:nvPr/>
        </p:nvSpPr>
        <p:spPr>
          <a:xfrm>
            <a:off x="4231386" y="2180844"/>
            <a:ext cx="1014984" cy="1933956"/>
          </a:xfrm>
          <a:prstGeom prst="roundRect">
            <a:avLst>
              <a:gd name="adj" fmla="val 2703"/>
            </a:avLst>
          </a:prstGeom>
          <a:solidFill>
            <a:srgbClr val="33304F"/>
          </a:solidFill>
          <a:ln w="7620">
            <a:solidFill>
              <a:srgbClr val="5D5A82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313682" y="2249424"/>
            <a:ext cx="356616" cy="685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458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배정 설정</a:t>
            </a:r>
            <a:endParaRPr lang="en-US" sz="458" dirty="0"/>
          </a:p>
        </p:txBody>
      </p:sp>
      <p:sp>
        <p:nvSpPr>
          <p:cNvPr id="134" name="Text 132"/>
          <p:cNvSpPr/>
          <p:nvPr/>
        </p:nvSpPr>
        <p:spPr>
          <a:xfrm>
            <a:off x="4313682" y="2455164"/>
            <a:ext cx="356616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68" dirty="0">
                <a:solidFill>
                  <a:srgbClr val="B8B5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 인력:</a:t>
            </a:r>
            <a:endParaRPr lang="en-US" sz="368" dirty="0"/>
          </a:p>
        </p:txBody>
      </p:sp>
      <p:sp>
        <p:nvSpPr>
          <p:cNvPr id="135" name="Text 133"/>
          <p:cNvSpPr/>
          <p:nvPr/>
        </p:nvSpPr>
        <p:spPr>
          <a:xfrm>
            <a:off x="4313682" y="2544318"/>
            <a:ext cx="65151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lnSpcReduction="10000"/>
          </a:bodyPr>
          <a:lstStyle/>
          <a:p>
            <a:r>
              <a:rPr lang="en-US" sz="3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선택된 인력이 없습니다</a:t>
            </a:r>
            <a:endParaRPr lang="en-US" sz="390" dirty="0"/>
          </a:p>
        </p:txBody>
      </p:sp>
      <p:sp>
        <p:nvSpPr>
          <p:cNvPr id="136" name="Text 134"/>
          <p:cNvSpPr/>
          <p:nvPr/>
        </p:nvSpPr>
        <p:spPr>
          <a:xfrm>
            <a:off x="4615434" y="2510028"/>
            <a:ext cx="12344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900" dirty="0"/>
          </a:p>
        </p:txBody>
      </p:sp>
      <p:sp>
        <p:nvSpPr>
          <p:cNvPr id="137" name="Text 135"/>
          <p:cNvSpPr/>
          <p:nvPr/>
        </p:nvSpPr>
        <p:spPr>
          <a:xfrm>
            <a:off x="4313682" y="2660904"/>
            <a:ext cx="850392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0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 *</a:t>
            </a:r>
            <a:endParaRPr lang="en-US" sz="405" dirty="0"/>
          </a:p>
        </p:txBody>
      </p:sp>
      <p:sp>
        <p:nvSpPr>
          <p:cNvPr id="138" name="Shape 136"/>
          <p:cNvSpPr/>
          <p:nvPr/>
        </p:nvSpPr>
        <p:spPr>
          <a:xfrm>
            <a:off x="4313682" y="2756916"/>
            <a:ext cx="850392" cy="157734"/>
          </a:xfrm>
          <a:prstGeom prst="roundRect">
            <a:avLst>
              <a:gd name="adj" fmla="val 10870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354830" y="2791206"/>
            <a:ext cx="781812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383" dirty="0">
                <a:solidFill>
                  <a:srgbClr val="C7C5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 선택</a:t>
            </a:r>
            <a:endParaRPr lang="en-US" sz="383" dirty="0"/>
          </a:p>
        </p:txBody>
      </p:sp>
      <p:sp>
        <p:nvSpPr>
          <p:cNvPr id="140" name="Text 138"/>
          <p:cNvSpPr/>
          <p:nvPr/>
        </p:nvSpPr>
        <p:spPr>
          <a:xfrm>
            <a:off x="4313682" y="3003804"/>
            <a:ext cx="308610" cy="5486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r>
              <a:rPr lang="en-US" sz="40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투입률 *</a:t>
            </a:r>
            <a:endParaRPr lang="en-US" sz="405" dirty="0"/>
          </a:p>
        </p:txBody>
      </p:sp>
      <p:sp>
        <p:nvSpPr>
          <p:cNvPr id="141" name="Shape 139"/>
          <p:cNvSpPr/>
          <p:nvPr/>
        </p:nvSpPr>
        <p:spPr>
          <a:xfrm>
            <a:off x="4313682" y="3099816"/>
            <a:ext cx="452628" cy="150876"/>
          </a:xfrm>
          <a:prstGeom prst="roundRect">
            <a:avLst>
              <a:gd name="adj" fmla="val 15909"/>
            </a:avLst>
          </a:prstGeom>
          <a:solidFill>
            <a:srgbClr val="6F5AE8"/>
          </a:solidFill>
          <a:ln w="12700">
            <a:solidFill>
              <a:srgbClr val="6F5AE8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341114" y="3137535"/>
            <a:ext cx="397764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3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</a:t>
            </a:r>
            <a:endParaRPr lang="en-US" sz="390" dirty="0"/>
          </a:p>
        </p:txBody>
      </p:sp>
      <p:sp>
        <p:nvSpPr>
          <p:cNvPr id="143" name="Shape 141"/>
          <p:cNvSpPr/>
          <p:nvPr/>
        </p:nvSpPr>
        <p:spPr>
          <a:xfrm>
            <a:off x="4800600" y="3099816"/>
            <a:ext cx="363474" cy="150876"/>
          </a:xfrm>
          <a:prstGeom prst="roundRect">
            <a:avLst>
              <a:gd name="adj" fmla="val 15909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828032" y="3137535"/>
            <a:ext cx="308610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39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50%</a:t>
            </a:r>
            <a:endParaRPr lang="en-US" sz="390" dirty="0"/>
          </a:p>
        </p:txBody>
      </p:sp>
      <p:sp>
        <p:nvSpPr>
          <p:cNvPr id="145" name="Text 143"/>
          <p:cNvSpPr/>
          <p:nvPr/>
        </p:nvSpPr>
        <p:spPr>
          <a:xfrm>
            <a:off x="4286250" y="3072384"/>
            <a:ext cx="12344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900" dirty="0"/>
          </a:p>
        </p:txBody>
      </p:sp>
      <p:sp>
        <p:nvSpPr>
          <p:cNvPr id="146" name="Text 144"/>
          <p:cNvSpPr/>
          <p:nvPr/>
        </p:nvSpPr>
        <p:spPr>
          <a:xfrm>
            <a:off x="4313682" y="3312414"/>
            <a:ext cx="850392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0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투입 시작일 *</a:t>
            </a:r>
            <a:endParaRPr lang="en-US" sz="405" dirty="0"/>
          </a:p>
        </p:txBody>
      </p:sp>
      <p:sp>
        <p:nvSpPr>
          <p:cNvPr id="147" name="Shape 145"/>
          <p:cNvSpPr/>
          <p:nvPr/>
        </p:nvSpPr>
        <p:spPr>
          <a:xfrm>
            <a:off x="4313682" y="3408426"/>
            <a:ext cx="850392" cy="157734"/>
          </a:xfrm>
          <a:prstGeom prst="roundRect">
            <a:avLst>
              <a:gd name="adj" fmla="val 10870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354830" y="3442716"/>
            <a:ext cx="781812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383" dirty="0">
                <a:solidFill>
                  <a:srgbClr val="C7C5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날짜 선택</a:t>
            </a:r>
            <a:endParaRPr lang="en-US" sz="383" dirty="0"/>
          </a:p>
        </p:txBody>
      </p:sp>
      <p:sp>
        <p:nvSpPr>
          <p:cNvPr id="149" name="Text 147"/>
          <p:cNvSpPr/>
          <p:nvPr/>
        </p:nvSpPr>
        <p:spPr>
          <a:xfrm>
            <a:off x="4313682" y="3600450"/>
            <a:ext cx="850392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0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종료 예정일 *</a:t>
            </a:r>
            <a:endParaRPr lang="en-US" sz="405" dirty="0"/>
          </a:p>
        </p:txBody>
      </p:sp>
      <p:sp>
        <p:nvSpPr>
          <p:cNvPr id="150" name="Shape 148"/>
          <p:cNvSpPr/>
          <p:nvPr/>
        </p:nvSpPr>
        <p:spPr>
          <a:xfrm>
            <a:off x="4313682" y="3696462"/>
            <a:ext cx="850392" cy="157734"/>
          </a:xfrm>
          <a:prstGeom prst="roundRect">
            <a:avLst>
              <a:gd name="adj" fmla="val 10870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354830" y="3730752"/>
            <a:ext cx="781812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383" dirty="0">
                <a:solidFill>
                  <a:srgbClr val="C7C5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날짜 선택</a:t>
            </a:r>
            <a:endParaRPr lang="en-US" sz="383" dirty="0"/>
          </a:p>
        </p:txBody>
      </p:sp>
      <p:sp>
        <p:nvSpPr>
          <p:cNvPr id="152" name="Text 150"/>
          <p:cNvSpPr/>
          <p:nvPr/>
        </p:nvSpPr>
        <p:spPr>
          <a:xfrm>
            <a:off x="4313682" y="3881628"/>
            <a:ext cx="836676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r>
              <a:rPr lang="en-US" sz="308" b="1" dirty="0">
                <a:solidFill>
                  <a:srgbClr val="FF4D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⚠ 배정 확정 시 투입 현황 자동 갱신·배정 제외 이메일 알림 발송</a:t>
            </a:r>
            <a:endParaRPr lang="en-US" sz="308" dirty="0"/>
          </a:p>
        </p:txBody>
      </p:sp>
      <p:sp>
        <p:nvSpPr>
          <p:cNvPr id="153" name="Text 151"/>
          <p:cNvSpPr/>
          <p:nvPr/>
        </p:nvSpPr>
        <p:spPr>
          <a:xfrm>
            <a:off x="4265676" y="3861054"/>
            <a:ext cx="12344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4313682" y="3998214"/>
            <a:ext cx="397764" cy="150876"/>
          </a:xfrm>
          <a:prstGeom prst="roundRect">
            <a:avLst>
              <a:gd name="adj" fmla="val 15909"/>
            </a:avLst>
          </a:prstGeom>
          <a:solidFill>
            <a:srgbClr val="2C2A49"/>
          </a:solidFill>
          <a:ln w="6985">
            <a:solidFill>
              <a:srgbClr val="5D5A82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341114" y="4035933"/>
            <a:ext cx="342900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39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초기화</a:t>
            </a:r>
            <a:endParaRPr lang="en-US" sz="390" dirty="0"/>
          </a:p>
        </p:txBody>
      </p:sp>
      <p:sp>
        <p:nvSpPr>
          <p:cNvPr id="156" name="Shape 154"/>
          <p:cNvSpPr/>
          <p:nvPr/>
        </p:nvSpPr>
        <p:spPr>
          <a:xfrm>
            <a:off x="4766310" y="3998214"/>
            <a:ext cx="397764" cy="150876"/>
          </a:xfrm>
          <a:prstGeom prst="roundRect">
            <a:avLst>
              <a:gd name="adj" fmla="val 15909"/>
            </a:avLst>
          </a:prstGeom>
          <a:solidFill>
            <a:srgbClr val="6F5AE8"/>
          </a:solidFill>
          <a:ln w="12700">
            <a:solidFill>
              <a:srgbClr val="6F5AE8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793742" y="4035933"/>
            <a:ext cx="342900" cy="4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39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배정 확정</a:t>
            </a:r>
            <a:endParaRPr lang="en-US" sz="390" dirty="0"/>
          </a:p>
        </p:txBody>
      </p:sp>
      <p:sp>
        <p:nvSpPr>
          <p:cNvPr id="158" name="Text 156"/>
          <p:cNvSpPr/>
          <p:nvPr/>
        </p:nvSpPr>
        <p:spPr>
          <a:xfrm>
            <a:off x="5726430" y="678942"/>
            <a:ext cx="1028700" cy="19202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59" name="Text 157"/>
          <p:cNvSpPr/>
          <p:nvPr/>
        </p:nvSpPr>
        <p:spPr>
          <a:xfrm>
            <a:off x="8257032" y="720090"/>
            <a:ext cx="34290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 fontScale="92500" lnSpcReduction="20000"/>
          </a:bodyPr>
          <a:lstStyle/>
          <a:p>
            <a:pPr algn="r"/>
            <a:r>
              <a:rPr lang="en-US" sz="6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검토용</a:t>
            </a:r>
            <a:endParaRPr lang="en-US" sz="600" dirty="0"/>
          </a:p>
        </p:txBody>
      </p:sp>
      <p:graphicFrame>
        <p:nvGraphicFramePr>
          <p:cNvPr id="160" name="Table 0"/>
          <p:cNvGraphicFramePr>
            <a:graphicFrameLocks noGrp="1"/>
          </p:cNvGraphicFramePr>
          <p:nvPr>
            <p:extLst/>
          </p:nvPr>
        </p:nvGraphicFramePr>
        <p:xfrm>
          <a:off x="5657850" y="994410"/>
          <a:ext cx="2983230" cy="2043684"/>
        </p:xfrm>
        <a:graphic>
          <a:graphicData uri="http://schemas.openxmlformats.org/drawingml/2006/table">
            <a:tbl>
              <a:tblPr/>
              <a:tblGrid>
                <a:gridCol w="644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8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기획 내용</a:t>
                      </a:r>
                      <a:endParaRPr lang="en-US" sz="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1. 필터 영역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기술스택/투입률/경력/부서 조건으로 가용 인력 검색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초기화 버튼으로 필터 조건 일괄 해제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2. 가용 인력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현재 프로젝트에 배정 가능한 직원 목록 표시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이름/부서/기술스택/현 투입률 컬럼 구성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3. 상세 이동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프로젝트 상세 버튼 클릭 시 이전 상세 화면 복귀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4. 배정 설정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선택 인력 기준으로 역할/투입률/투입 시작일/종료예정일 입력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선택 인력이 없을 경우 안내 문구 표시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5. 인력 선택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체크박스 선택 시 우측 배정 설정 영역에 선택 인력 반영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1" name="Table 1"/>
          <p:cNvGraphicFramePr>
            <a:graphicFrameLocks noGrp="1"/>
          </p:cNvGraphicFramePr>
          <p:nvPr>
            <p:extLst/>
          </p:nvPr>
        </p:nvGraphicFramePr>
        <p:xfrm>
          <a:off x="5657850" y="3099818"/>
          <a:ext cx="2983230" cy="1488186"/>
        </p:xfrm>
        <a:graphic>
          <a:graphicData uri="http://schemas.openxmlformats.org/drawingml/2006/table">
            <a:tbl>
              <a:tblPr/>
              <a:tblGrid>
                <a:gridCol w="644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8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수정/추가</a:t>
                      </a:r>
                      <a:endParaRPr lang="en-US" sz="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27432" marR="27432" marT="27432" marB="27432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6. 입력/검증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 err="1" smtClean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시작일</a:t>
                      </a: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, 종료예정일 필수 입력 검증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altLang="ko-KR" sz="500" dirty="0" err="1" smtClean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역할</a:t>
                      </a:r>
                      <a:r>
                        <a:rPr lang="en-US" altLang="ko-KR" sz="500" dirty="0" smtClean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, </a:t>
                      </a:r>
                      <a:r>
                        <a:rPr lang="en-US" sz="500" dirty="0" err="1" smtClean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투입률은</a:t>
                      </a:r>
                      <a:r>
                        <a:rPr lang="en-US" sz="500" dirty="0" smtClean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 </a:t>
                      </a: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100%/50% 버튼 선택 방식 적용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7. 저장 처리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배정 확정 클릭 시 프로젝트에 인력 배정 등록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배정 처리 후 선택 상태 초기화 및 프로젝트 상세 화면 이동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8. 알림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배정 확정 시 자동 갱신·배정 제외 이메일 알림 발송 안내 문구 노출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11827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(미구현)</a:t>
                      </a:r>
                      <a:endParaRPr lang="en-US" sz="5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1148" marR="41148" marT="41148" marB="41148">
                    <a:lnL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2" name="Text 158"/>
          <p:cNvSpPr/>
          <p:nvPr/>
        </p:nvSpPr>
        <p:spPr>
          <a:xfrm>
            <a:off x="480060" y="4828032"/>
            <a:ext cx="342900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510" dirty="0">
                <a:solidFill>
                  <a:srgbClr val="0F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* 본 문서는 화면 설계 검토용이며, 실제 구현 상태와 다를 수 있습니다.</a:t>
            </a:r>
            <a:endParaRPr lang="en-US" sz="510" dirty="0"/>
          </a:p>
        </p:txBody>
      </p:sp>
      <p:sp>
        <p:nvSpPr>
          <p:cNvPr id="163" name="Text 159"/>
          <p:cNvSpPr/>
          <p:nvPr/>
        </p:nvSpPr>
        <p:spPr>
          <a:xfrm>
            <a:off x="8469630" y="4828032"/>
            <a:ext cx="445770" cy="822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algn="r"/>
            <a:r>
              <a:rPr lang="en-US" sz="488" dirty="0">
                <a:solidFill>
                  <a:srgbClr val="0F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Confidential</a:t>
            </a:r>
            <a:endParaRPr lang="en-US" sz="488" dirty="0"/>
          </a:p>
        </p:txBody>
      </p:sp>
      <p:pic>
        <p:nvPicPr>
          <p:cNvPr id="164" name="그림 1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93" y="4463935"/>
            <a:ext cx="1041707" cy="62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9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도메인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 현황  ·  /projects/status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87968" y="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1417320" cy="479602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4173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0" y="347472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Peoplify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" y="100584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" y="1609344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직원관리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2167128"/>
            <a:ext cx="14173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0" y="2167128"/>
            <a:ext cx="36576" cy="5120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4864" y="221284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" y="2816352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근태관리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" y="3419856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17320" y="347472"/>
            <a:ext cx="7726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572768" y="448056"/>
            <a:ext cx="2926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609344" y="448056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검색...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관리자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833104" y="448056"/>
            <a:ext cx="237744" cy="23774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833104" y="448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417320" y="786384"/>
            <a:ext cx="7726680" cy="435711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572768" y="8778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전체 투입 현황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66176" y="877824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266176" y="87782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저장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572768" y="1207008"/>
            <a:ext cx="1719072" cy="347472"/>
          </a:xfrm>
          <a:prstGeom prst="rect">
            <a:avLst/>
          </a:prstGeom>
          <a:solidFill>
            <a:srgbClr val="E6F1FB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664208" y="12070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 32명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55848" y="1207008"/>
            <a:ext cx="1719072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3447288" y="12070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 중  26명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38928" y="1207008"/>
            <a:ext cx="1719072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230368" y="12070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  6명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22008" y="1207008"/>
            <a:ext cx="1719072" cy="347472"/>
          </a:xfrm>
          <a:prstGeom prst="rect">
            <a:avLst/>
          </a:prstGeom>
          <a:solidFill>
            <a:srgbClr val="F1EFE8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7013448" y="12070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휴가  1명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72768" y="1645920"/>
            <a:ext cx="7406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1682496" y="1737360"/>
            <a:ext cx="1261872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1737360" y="173736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▾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017520" y="1737360"/>
            <a:ext cx="1261872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3072384" y="173736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 ▾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352544" y="1737360"/>
            <a:ext cx="1261872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407408" y="173736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철수 임박(30일) ▾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516368" y="1737360"/>
            <a:ext cx="457200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7516368" y="173736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초기화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046720" y="1737360"/>
            <a:ext cx="914400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8046720" y="17373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572768" y="2103120"/>
            <a:ext cx="740664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1609344" y="2121408"/>
            <a:ext cx="768096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1645920" y="21214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340864" y="2121408"/>
            <a:ext cx="658368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2377440" y="2121408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962656" y="2121408"/>
            <a:ext cx="1728216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2999232" y="212140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프로젝트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654296" y="2121408"/>
            <a:ext cx="585216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4690872" y="21214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202936" y="2121408"/>
            <a:ext cx="539496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5239512" y="21214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투입률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705856" y="2121408"/>
            <a:ext cx="722376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5742432" y="212140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투입일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391656" y="2121408"/>
            <a:ext cx="813816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6428232" y="212140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철수 예정일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168896" y="2121408"/>
            <a:ext cx="585216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7205472" y="21214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572768" y="2414016"/>
            <a:ext cx="740664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1645920" y="241401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김민준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377440" y="2414016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개발팀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999232" y="241401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A금융 차세대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690872" y="241401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239512" y="241401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742432" y="241401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25.03.01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428232" y="241401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26.09.30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205472" y="2496312"/>
            <a:ext cx="566928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7205472" y="249631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투입중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1645920" y="276148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이서연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2377440" y="2761488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999232" y="276148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690872" y="276148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239512" y="276148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742432" y="276148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428232" y="276148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7205472" y="2843784"/>
            <a:ext cx="566928" cy="1828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7205472" y="284378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1572768" y="3108960"/>
            <a:ext cx="740664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1645920" y="31089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박지훈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2377440" y="3108960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2999232" y="31089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C제조 MES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4690872" y="310896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239512" y="31089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742432" y="310896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24.12.01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428232" y="310896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26.03.31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7205472" y="3191256"/>
            <a:ext cx="566928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Text 88"/>
          <p:cNvSpPr/>
          <p:nvPr/>
        </p:nvSpPr>
        <p:spPr>
          <a:xfrm>
            <a:off x="7205472" y="319125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투입중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1645920" y="345643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최유나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2377440" y="3456432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2999232" y="345643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A금융 차세대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4690872" y="345643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5239512" y="345643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5742432" y="345643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25.08.01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6428232" y="345643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26.06.15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205472" y="3538728"/>
            <a:ext cx="566928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Text 97"/>
          <p:cNvSpPr/>
          <p:nvPr/>
        </p:nvSpPr>
        <p:spPr>
          <a:xfrm>
            <a:off x="7205472" y="353872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임박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1572768" y="3803904"/>
            <a:ext cx="740664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Text 99"/>
          <p:cNvSpPr/>
          <p:nvPr/>
        </p:nvSpPr>
        <p:spPr>
          <a:xfrm>
            <a:off x="1645920" y="380390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정다은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2377440" y="3803904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개발팀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2999232" y="380390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B공공 ERP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4690872" y="380390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5239512" y="380390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5742432" y="380390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25.06.01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6428232" y="380390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26.06.28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7205472" y="3886200"/>
            <a:ext cx="566928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Text 107"/>
          <p:cNvSpPr/>
          <p:nvPr/>
        </p:nvSpPr>
        <p:spPr>
          <a:xfrm>
            <a:off x="7205472" y="3886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임박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1645920" y="41513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홍길동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2377440" y="4151376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2999232" y="415137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E통신 CRM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4690872" y="415137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5239512" y="415137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5742432" y="41513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24.01.01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6428232" y="415137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25.12.31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7205472" y="4233672"/>
            <a:ext cx="566928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Text 116"/>
          <p:cNvSpPr/>
          <p:nvPr/>
        </p:nvSpPr>
        <p:spPr>
          <a:xfrm>
            <a:off x="7205472" y="423367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도메인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근무 보고 (간소화)  ·  /attendance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87968" y="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1417320" cy="479602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4173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0" y="347472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Peoplify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" y="100584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" y="1609344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직원관리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" y="221284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2770632"/>
            <a:ext cx="14173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0" y="2770632"/>
            <a:ext cx="36576" cy="5120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864" y="2816352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근태관리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" y="3419856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17320" y="347472"/>
            <a:ext cx="7726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572768" y="448056"/>
            <a:ext cx="2926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609344" y="448056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검색...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관리자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833104" y="448056"/>
            <a:ext cx="237744" cy="23774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833104" y="448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417320" y="786384"/>
            <a:ext cx="7726680" cy="435711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572768" y="8778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월별 근무 보고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72768" y="113385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5월 기준  ·  제출 마감: 5월 31일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572768" y="1389888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682496" y="149961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이번달 내 근무 보고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82496" y="1691640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근무일수 *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682496" y="1847088"/>
            <a:ext cx="15544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737360" y="18470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83280" y="1691640"/>
            <a:ext cx="16276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초과근무(시간)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83280" y="1847088"/>
            <a:ext cx="16276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438144" y="1847088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682496" y="2267712"/>
            <a:ext cx="3291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특이사항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682496" y="2432304"/>
            <a:ext cx="3346704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1755648" y="2432304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특이사항 입력...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33088" y="2944368"/>
            <a:ext cx="9692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133088" y="2944368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 제출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572768" y="3310128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682496" y="341985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보고 이력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682496" y="369417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4월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651760" y="369417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근무 22일  초과 4시간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17136" y="3749040"/>
            <a:ext cx="566928" cy="1828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517136" y="374904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682496" y="4023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3월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651760" y="40233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근무 21일  초과 0시간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17136" y="4078224"/>
            <a:ext cx="566928" cy="1828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4517136" y="407822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682496" y="43525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2월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651760" y="435254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근무 20일  초과 12시간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17136" y="4407408"/>
            <a:ext cx="566928" cy="1828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4517136" y="440740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276088" y="1389888"/>
            <a:ext cx="36301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5385816" y="149961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보고 현황  (Manager 뷰)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276088" y="1773936"/>
            <a:ext cx="3630168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5385816" y="1773936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미제출: 2명 (박지훈, 홍길동)  —  알림 발송 가능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349240" y="2066544"/>
            <a:ext cx="722376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5385816" y="2066544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035040" y="2066544"/>
            <a:ext cx="539496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6071616" y="2066544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근무일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537960" y="2066544"/>
            <a:ext cx="539496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6574536" y="2066544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초과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040880" y="2066544"/>
            <a:ext cx="694944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7077456" y="206654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제출상태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699248" y="2066544"/>
            <a:ext cx="676656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7735824" y="2066544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276088" y="2322576"/>
            <a:ext cx="3630168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5385816" y="2322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김민준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071616" y="232257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574536" y="232257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077456" y="2404872"/>
            <a:ext cx="566928" cy="18288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7077456" y="240487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735824" y="232257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385816" y="267004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이서연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071616" y="26700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574536" y="26700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0h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077456" y="2752344"/>
            <a:ext cx="566928" cy="1828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7077456" y="27523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735824" y="267004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276088" y="3017520"/>
            <a:ext cx="3630168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5385816" y="301752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박지훈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071616" y="30175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574536" y="30175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7077456" y="3099816"/>
            <a:ext cx="566928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/>
          <p:nvPr/>
        </p:nvSpPr>
        <p:spPr>
          <a:xfrm>
            <a:off x="7077456" y="309981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미제출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7735824" y="3099816"/>
            <a:ext cx="548640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/>
          <p:nvPr/>
        </p:nvSpPr>
        <p:spPr>
          <a:xfrm>
            <a:off x="7735824" y="309981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5385816" y="336499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최유나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071616" y="33649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574536" y="33649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0h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7077456" y="3447288"/>
            <a:ext cx="566928" cy="18288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Text 89"/>
          <p:cNvSpPr/>
          <p:nvPr/>
        </p:nvSpPr>
        <p:spPr>
          <a:xfrm>
            <a:off x="7077456" y="344728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7735824" y="33649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5276088" y="3712464"/>
            <a:ext cx="3630168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Text 92"/>
          <p:cNvSpPr/>
          <p:nvPr/>
        </p:nvSpPr>
        <p:spPr>
          <a:xfrm>
            <a:off x="5385816" y="371246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정다은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6071616" y="371246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6574536" y="371246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7077456" y="3794760"/>
            <a:ext cx="566928" cy="1828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Text 96"/>
          <p:cNvSpPr/>
          <p:nvPr/>
        </p:nvSpPr>
        <p:spPr>
          <a:xfrm>
            <a:off x="7077456" y="379476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7735824" y="371246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5385816" y="405993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홍길동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071616" y="40599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6574536" y="40599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7077456" y="4142232"/>
            <a:ext cx="566928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/>
          <p:nvPr/>
        </p:nvSpPr>
        <p:spPr>
          <a:xfrm>
            <a:off x="7077456" y="414223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미제출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7735824" y="4142232"/>
            <a:ext cx="548640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Text 104"/>
          <p:cNvSpPr/>
          <p:nvPr/>
        </p:nvSpPr>
        <p:spPr>
          <a:xfrm>
            <a:off x="7735824" y="414223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도메인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휴가 관리  ·  /attendance/leave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87968" y="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1417320" cy="479602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4173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0" y="347472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Peoplify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" y="100584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" y="1609344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직원관리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" y="221284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2770632"/>
            <a:ext cx="14173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0" y="2770632"/>
            <a:ext cx="36576" cy="5120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864" y="2816352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근태관리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" y="3419856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17320" y="347472"/>
            <a:ext cx="7726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572768" y="448056"/>
            <a:ext cx="2926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609344" y="448056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검색...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관리자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833104" y="448056"/>
            <a:ext cx="237744" cy="23774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833104" y="448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417320" y="786384"/>
            <a:ext cx="7726680" cy="435711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572768" y="8778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휴가 관리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572768" y="1207008"/>
            <a:ext cx="7406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700784" y="13167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연차 현황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18688" y="129844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부여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18688" y="14813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15일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90288" y="129844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90288" y="14813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6일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961888" y="129844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61888" y="14813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9일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33488" y="129844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신청중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333488" y="14813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1일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572768" y="1956816"/>
            <a:ext cx="356616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1700784" y="206654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휴가 신청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664208" y="2322576"/>
            <a:ext cx="3383280" cy="0"/>
          </a:xfrm>
          <a:prstGeom prst="line">
            <a:avLst/>
          </a:prstGeom>
          <a:noFill/>
          <a:ln w="635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1700784" y="239572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휴가 종류 *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700784" y="2578608"/>
            <a:ext cx="621792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700784" y="2578608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연차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377440" y="2578608"/>
            <a:ext cx="62179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377440" y="2578608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반차(오전)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54096" y="2578608"/>
            <a:ext cx="62179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3054096" y="2578608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반차(오후)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730752" y="2578608"/>
            <a:ext cx="62179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3730752" y="2578608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병가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407408" y="2578608"/>
            <a:ext cx="62179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4407408" y="2578608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경조사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700784" y="2825496"/>
            <a:ext cx="16642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시작일 *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700784" y="2980944"/>
            <a:ext cx="166420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1755648" y="298094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2026.05.28 📅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493008" y="2825496"/>
            <a:ext cx="16093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종료일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2980944"/>
            <a:ext cx="160934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3547872" y="2980944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2026.05.28 📅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700784" y="33832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사유 *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700784" y="3566160"/>
            <a:ext cx="3310128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1773936" y="3566160"/>
            <a:ext cx="316382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사유 입력...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700784" y="4114800"/>
            <a:ext cx="3310128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1773936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현장 투입 중 휴가 시 프로젝트 PM에게도 알림 자동 발송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224528" y="4480560"/>
            <a:ext cx="804672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4224528" y="4480560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310128" y="4480560"/>
            <a:ext cx="8046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3310128" y="4480560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초기화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276088" y="1956816"/>
            <a:ext cx="3630168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5385816" y="206654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신청 내역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303520" y="2322576"/>
            <a:ext cx="3566160" cy="0"/>
          </a:xfrm>
          <a:prstGeom prst="line">
            <a:avLst/>
          </a:prstGeom>
          <a:noFill/>
          <a:ln w="635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5276088" y="2450592"/>
            <a:ext cx="3630168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5385816" y="24505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연차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925312" y="24505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05.28 ~ 05.28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333488" y="245059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1일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808976" y="2551176"/>
            <a:ext cx="566928" cy="1828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7808976" y="255117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승인대기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385816" y="28346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반차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925312" y="2834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05.15 ~ 05.15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333488" y="28346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0.5일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808976" y="2935224"/>
            <a:ext cx="566928" cy="1828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/>
          <p:nvPr/>
        </p:nvSpPr>
        <p:spPr>
          <a:xfrm>
            <a:off x="7808976" y="293522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276088" y="3218688"/>
            <a:ext cx="3630168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5385816" y="321868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연차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925312" y="3218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05.01 ~ 05.02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333488" y="321868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2일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808976" y="3319272"/>
            <a:ext cx="566928" cy="1828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7808976" y="331927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5385816" y="360273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병가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925312" y="36027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04.20 ~ 04.21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7333488" y="360273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2일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7808976" y="3703320"/>
            <a:ext cx="566928" cy="1828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Text 85"/>
          <p:cNvSpPr/>
          <p:nvPr/>
        </p:nvSpPr>
        <p:spPr>
          <a:xfrm>
            <a:off x="7808976" y="37033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도메인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통계/리포트 (투입 분석 중심)  ·  /reports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87968" y="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1417320" cy="479602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4173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0" y="347472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Peoplify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" y="100584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" y="1609344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직원관리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" y="221284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" y="2816352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근태관리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3374136"/>
            <a:ext cx="14173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0" y="3374136"/>
            <a:ext cx="36576" cy="5120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" y="3419856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17320" y="347472"/>
            <a:ext cx="7726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572768" y="448056"/>
            <a:ext cx="2926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609344" y="448056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검색...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관리자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833104" y="448056"/>
            <a:ext cx="237744" cy="23774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833104" y="448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417320" y="786384"/>
            <a:ext cx="7726680" cy="435711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572768" y="8778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통계 / 리포트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90688" y="877824"/>
            <a:ext cx="65836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790688" y="87782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저장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485632" y="877824"/>
            <a:ext cx="49377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485632" y="877824"/>
            <a:ext cx="493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572768" y="1207008"/>
            <a:ext cx="7406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1664208" y="1298448"/>
            <a:ext cx="749808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664208" y="129844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이번달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68880" y="1298448"/>
            <a:ext cx="749808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2468880" y="129844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지난달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73552" y="1298448"/>
            <a:ext cx="749808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3273552" y="129844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078224" y="1298448"/>
            <a:ext cx="749808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078224" y="129844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82896" y="1298448"/>
            <a:ext cx="749808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882896" y="129844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직접입력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572768" y="1664208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1682496" y="177393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프로젝트별 투입 인원 (5월)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682496" y="20665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A금융 차세대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743200" y="2121408"/>
            <a:ext cx="2029968" cy="146304"/>
          </a:xfrm>
          <a:prstGeom prst="rect">
            <a:avLst/>
          </a:prstGeom>
          <a:solidFill>
            <a:srgbClr val="F4F6F9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2743200" y="2121408"/>
            <a:ext cx="1420978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4846320" y="206654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7명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682496" y="23865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B공공 ERP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0" y="2441448"/>
            <a:ext cx="2029968" cy="146304"/>
          </a:xfrm>
          <a:prstGeom prst="rect">
            <a:avLst/>
          </a:prstGeom>
          <a:solidFill>
            <a:srgbClr val="F4F6F9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2743200" y="2441448"/>
            <a:ext cx="1014984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4846320" y="238658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5명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682496" y="27066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C제조 MES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43200" y="2761488"/>
            <a:ext cx="2029968" cy="146304"/>
          </a:xfrm>
          <a:prstGeom prst="rect">
            <a:avLst/>
          </a:prstGeom>
          <a:solidFill>
            <a:srgbClr val="F4F6F9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2743200" y="2761488"/>
            <a:ext cx="1623974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4846320" y="270662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8명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682496" y="30266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D유통 (예정)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43200" y="3081528"/>
            <a:ext cx="2029968" cy="146304"/>
          </a:xfrm>
          <a:prstGeom prst="rect">
            <a:avLst/>
          </a:prstGeom>
          <a:solidFill>
            <a:srgbClr val="F4F6F9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2743200" y="3081528"/>
            <a:ext cx="0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4846320" y="302666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0명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682496" y="33467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E통신 (완료)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43200" y="3401568"/>
            <a:ext cx="2029968" cy="146304"/>
          </a:xfrm>
          <a:prstGeom prst="rect">
            <a:avLst/>
          </a:prstGeom>
          <a:solidFill>
            <a:srgbClr val="F4F6F9"/>
          </a:solidFill>
          <a:ln w="12700">
            <a:solidFill>
              <a:srgbClr val="DE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2743200" y="3401568"/>
            <a:ext cx="1217981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4846320" y="334670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6명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276088" y="1664208"/>
            <a:ext cx="3630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5385816" y="177393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투입률 추이 (월별)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376672" y="2679192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5175504" y="3474720"/>
            <a:ext cx="5120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1월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248656" y="255117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5431536" y="2734056"/>
            <a:ext cx="662026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6038698" y="2598725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5837530" y="3474720"/>
            <a:ext cx="5120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2월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910682" y="2470709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6093562" y="2653589"/>
            <a:ext cx="662026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6700723" y="2558491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6499555" y="3474720"/>
            <a:ext cx="5120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3월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572707" y="2430475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6755587" y="2613355"/>
            <a:ext cx="662026" cy="20117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7362749" y="2578608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/>
          <p:nvPr/>
        </p:nvSpPr>
        <p:spPr>
          <a:xfrm>
            <a:off x="7161581" y="3474720"/>
            <a:ext cx="5120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7234733" y="2450592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7417613" y="2633472"/>
            <a:ext cx="662026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Shape 77"/>
          <p:cNvSpPr/>
          <p:nvPr/>
        </p:nvSpPr>
        <p:spPr>
          <a:xfrm>
            <a:off x="8024774" y="2528316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7823606" y="3474720"/>
            <a:ext cx="5120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5월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7896758" y="2400300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8079638" y="2583180"/>
            <a:ext cx="662026" cy="40234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8686800" y="2568550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/>
          <p:nvPr/>
        </p:nvSpPr>
        <p:spPr>
          <a:xfrm>
            <a:off x="8485632" y="3474720"/>
            <a:ext cx="5120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6월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8558784" y="2440534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1572768" y="3858768"/>
            <a:ext cx="7406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7" name="Text 85"/>
          <p:cNvSpPr/>
          <p:nvPr/>
        </p:nvSpPr>
        <p:spPr>
          <a:xfrm>
            <a:off x="1682496" y="39684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개인별 투입 요약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1627632" y="4169664"/>
            <a:ext cx="768096" cy="20116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Text 87"/>
          <p:cNvSpPr/>
          <p:nvPr/>
        </p:nvSpPr>
        <p:spPr>
          <a:xfrm>
            <a:off x="1664208" y="416966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2359152" y="4169664"/>
            <a:ext cx="630936" cy="20116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Text 89"/>
          <p:cNvSpPr/>
          <p:nvPr/>
        </p:nvSpPr>
        <p:spPr>
          <a:xfrm>
            <a:off x="2395728" y="416966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953512" y="4169664"/>
            <a:ext cx="1773936" cy="20116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Text 91"/>
          <p:cNvSpPr/>
          <p:nvPr/>
        </p:nvSpPr>
        <p:spPr>
          <a:xfrm>
            <a:off x="2990088" y="416966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프로젝트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690872" y="4169664"/>
            <a:ext cx="539496" cy="20116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Text 93"/>
          <p:cNvSpPr/>
          <p:nvPr/>
        </p:nvSpPr>
        <p:spPr>
          <a:xfrm>
            <a:off x="4727448" y="416966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5193792" y="4169664"/>
            <a:ext cx="493776" cy="20116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Text 95"/>
          <p:cNvSpPr/>
          <p:nvPr/>
        </p:nvSpPr>
        <p:spPr>
          <a:xfrm>
            <a:off x="5230368" y="416966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투입률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5650992" y="4169664"/>
            <a:ext cx="1042416" cy="20116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Text 97"/>
          <p:cNvSpPr/>
          <p:nvPr/>
        </p:nvSpPr>
        <p:spPr>
          <a:xfrm>
            <a:off x="5687568" y="416966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투입기간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656832" y="4169664"/>
            <a:ext cx="603504" cy="20116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Text 99"/>
          <p:cNvSpPr/>
          <p:nvPr/>
        </p:nvSpPr>
        <p:spPr>
          <a:xfrm>
            <a:off x="6693408" y="4169664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1572768" y="4370832"/>
            <a:ext cx="7406640" cy="182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101"/>
          <p:cNvSpPr/>
          <p:nvPr/>
        </p:nvSpPr>
        <p:spPr>
          <a:xfrm>
            <a:off x="1664208" y="4389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김민준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2395728" y="43891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개발팀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2990088" y="43891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A금융 차세대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4727448" y="43891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5230368" y="4389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5687568" y="43891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25.03~26.09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6693408" y="43891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투입중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1664208" y="45720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이서연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2395728" y="457200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2990088" y="45720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4727448" y="457200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5230368" y="45720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5687568" y="457200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6693408" y="45720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1572768" y="4736592"/>
            <a:ext cx="7406640" cy="182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Text 116"/>
          <p:cNvSpPr/>
          <p:nvPr/>
        </p:nvSpPr>
        <p:spPr>
          <a:xfrm>
            <a:off x="1664208" y="47548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박지훈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2395728" y="475488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2990088" y="47548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C제조 MES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4727448" y="47548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5230368" y="47548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5687568" y="475488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24.12~26.03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6693408" y="47548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투입중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1682496" y="4965192"/>
            <a:ext cx="4572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행 클릭 시 해당 직원 투입 이력 상세 팝업 표시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3501</Words>
  <Application>Microsoft Office PowerPoint</Application>
  <PresentationFormat>화면 슬라이드 쇼(16:9)</PresentationFormat>
  <Paragraphs>1422</Paragraphs>
  <Slides>18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Noto Sans CJK KR</vt:lpstr>
      <vt:lpstr>Malgun Gothic</vt:lpstr>
      <vt:lpstr>Malgun Gothic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react-app-peoplify SI UI 화면 기획서 v2</dc:title>
  <dc:subject>PptxGenJS Presentation</dc:subject>
  <dc:creator>PptxGenJS</dc:creator>
  <cp:lastModifiedBy>YongJin Lee</cp:lastModifiedBy>
  <cp:revision>44</cp:revision>
  <dcterms:created xsi:type="dcterms:W3CDTF">2026-05-26T04:49:45Z</dcterms:created>
  <dcterms:modified xsi:type="dcterms:W3CDTF">2026-06-26T02:03:28Z</dcterms:modified>
</cp:coreProperties>
</file>