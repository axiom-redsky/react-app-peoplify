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2"/>
  </p:notesMasterIdLst>
  <p:sldIdLst>
    <p:sldId id="256" r:id="rId2"/>
    <p:sldId id="269" r:id="rId3"/>
    <p:sldId id="272" r:id="rId4"/>
    <p:sldId id="270" r:id="rId5"/>
    <p:sldId id="276" r:id="rId6"/>
    <p:sldId id="274" r:id="rId7"/>
    <p:sldId id="271" r:id="rId8"/>
    <p:sldId id="257" r:id="rId9"/>
    <p:sldId id="259" r:id="rId10"/>
    <p:sldId id="286" r:id="rId11"/>
    <p:sldId id="281" r:id="rId12"/>
    <p:sldId id="287" r:id="rId13"/>
    <p:sldId id="289" r:id="rId14"/>
    <p:sldId id="284" r:id="rId15"/>
    <p:sldId id="290" r:id="rId16"/>
    <p:sldId id="285" r:id="rId17"/>
    <p:sldId id="262" r:id="rId18"/>
    <p:sldId id="265" r:id="rId19"/>
    <p:sldId id="266" r:id="rId20"/>
    <p:sldId id="267" r:id="rId21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10"/>
  </p:normalViewPr>
  <p:slideViewPr>
    <p:cSldViewPr snapToGrid="0" snapToObjects="1">
      <p:cViewPr varScale="1">
        <p:scale>
          <a:sx n="117" d="100"/>
          <a:sy n="117" d="100"/>
        </p:scale>
        <p:origin x="494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4123034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151982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403554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435362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76718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495076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2318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377438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671177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833953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329256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703183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7682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37744" cy="5143500"/>
          </a:xfrm>
          <a:prstGeom prst="rect">
            <a:avLst/>
          </a:prstGeom>
          <a:solidFill>
            <a:srgbClr val="3B9EE8"/>
          </a:solidFill>
          <a:ln w="12700">
            <a:solidFill>
              <a:srgbClr val="3B9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237744" y="3017520"/>
            <a:ext cx="8906256" cy="212598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502920" y="658368"/>
            <a:ext cx="7315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7B9C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react-app-peoplify  v2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2920" y="1042416"/>
            <a:ext cx="82296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5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UI 화면 기획서</a:t>
            </a:r>
            <a:endParaRPr lang="en-US" sz="5000" dirty="0"/>
          </a:p>
        </p:txBody>
      </p:sp>
      <p:sp>
        <p:nvSpPr>
          <p:cNvPr id="6" name="Text 4"/>
          <p:cNvSpPr/>
          <p:nvPr/>
        </p:nvSpPr>
        <p:spPr>
          <a:xfrm>
            <a:off x="502920" y="2029968"/>
            <a:ext cx="8229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7B9C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회사 맞춤형 · 프로젝트 투입 관리 중심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02920" y="3200400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13개 화면  ·  5개 도메인  ·  project 도메인 신규  ·  attendance 간소화</a:t>
            </a:r>
            <a:endParaRPr lang="en-US" sz="1100" dirty="0"/>
          </a:p>
        </p:txBody>
      </p:sp>
      <p:sp>
        <p:nvSpPr>
          <p:cNvPr id="8" name="Rounded Rectangle 7"/>
          <p:cNvSpPr/>
          <p:nvPr/>
        </p:nvSpPr>
        <p:spPr>
          <a:xfrm>
            <a:off x="502920" y="3584448"/>
            <a:ext cx="1569110" cy="329184"/>
          </a:xfrm>
          <a:prstGeom prst="roundRect">
            <a:avLst>
              <a:gd name="adj" fmla="val 18000"/>
            </a:avLst>
          </a:prstGeom>
          <a:solidFill>
            <a:srgbClr val="243260"/>
          </a:solidFill>
          <a:ln w="9525">
            <a:solidFill>
              <a:srgbClr val="2D40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02920" y="3584448"/>
            <a:ext cx="156911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00" b="0">
                <a:solidFill>
                  <a:srgbClr val="94A3B8"/>
                </a:solidFill>
                <a:latin typeface="Calibri"/>
              </a:rPr>
              <a:t>Login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200046" y="3584448"/>
            <a:ext cx="1569110" cy="329184"/>
          </a:xfrm>
          <a:prstGeom prst="roundRect">
            <a:avLst>
              <a:gd name="adj" fmla="val 18000"/>
            </a:avLst>
          </a:prstGeom>
          <a:solidFill>
            <a:srgbClr val="243260"/>
          </a:solidFill>
          <a:ln w="9525">
            <a:solidFill>
              <a:srgbClr val="2D40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200046" y="3584448"/>
            <a:ext cx="156911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00" b="0">
                <a:solidFill>
                  <a:srgbClr val="94A3B8"/>
                </a:solidFill>
                <a:latin typeface="Calibri"/>
              </a:rPr>
              <a:t>Dashboard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897172" y="3584448"/>
            <a:ext cx="1569110" cy="329184"/>
          </a:xfrm>
          <a:prstGeom prst="roundRect">
            <a:avLst>
              <a:gd name="adj" fmla="val 18000"/>
            </a:avLst>
          </a:prstGeom>
          <a:solidFill>
            <a:srgbClr val="243260"/>
          </a:solidFill>
          <a:ln w="9525">
            <a:solidFill>
              <a:srgbClr val="2D40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897172" y="3584448"/>
            <a:ext cx="156911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00" b="0">
                <a:solidFill>
                  <a:srgbClr val="94A3B8"/>
                </a:solidFill>
                <a:latin typeface="Calibri"/>
              </a:rPr>
              <a:t>직원 목록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594299" y="3584448"/>
            <a:ext cx="1569110" cy="329184"/>
          </a:xfrm>
          <a:prstGeom prst="roundRect">
            <a:avLst>
              <a:gd name="adj" fmla="val 18000"/>
            </a:avLst>
          </a:prstGeom>
          <a:solidFill>
            <a:srgbClr val="243260"/>
          </a:solidFill>
          <a:ln w="9525">
            <a:solidFill>
              <a:srgbClr val="2D40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594299" y="3584448"/>
            <a:ext cx="156911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00" b="0">
                <a:solidFill>
                  <a:srgbClr val="94A3B8"/>
                </a:solidFill>
                <a:latin typeface="Calibri"/>
              </a:rPr>
              <a:t>직원 상세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291425" y="3584448"/>
            <a:ext cx="1569110" cy="329184"/>
          </a:xfrm>
          <a:prstGeom prst="roundRect">
            <a:avLst>
              <a:gd name="adj" fmla="val 18000"/>
            </a:avLst>
          </a:prstGeom>
          <a:solidFill>
            <a:srgbClr val="243260"/>
          </a:solidFill>
          <a:ln w="9525">
            <a:solidFill>
              <a:srgbClr val="2D40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291425" y="3584448"/>
            <a:ext cx="156911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00" b="0">
                <a:solidFill>
                  <a:srgbClr val="94A3B8"/>
                </a:solidFill>
                <a:latin typeface="Calibri"/>
              </a:rPr>
              <a:t>직원 등록/수정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3986784"/>
            <a:ext cx="1569110" cy="329184"/>
          </a:xfrm>
          <a:prstGeom prst="roundRect">
            <a:avLst>
              <a:gd name="adj" fmla="val 18000"/>
            </a:avLst>
          </a:prstGeom>
          <a:solidFill>
            <a:srgbClr val="243A7A"/>
          </a:solidFill>
          <a:ln w="9525">
            <a:solidFill>
              <a:srgbClr val="2D4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02920" y="3986784"/>
            <a:ext cx="156911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00" b="0">
                <a:solidFill>
                  <a:srgbClr val="93C5FD"/>
                </a:solidFill>
                <a:latin typeface="Calibri"/>
              </a:rPr>
              <a:t>프로젝트 목록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200046" y="3986784"/>
            <a:ext cx="1569110" cy="329184"/>
          </a:xfrm>
          <a:prstGeom prst="roundRect">
            <a:avLst>
              <a:gd name="adj" fmla="val 18000"/>
            </a:avLst>
          </a:prstGeom>
          <a:solidFill>
            <a:srgbClr val="2C4A7A"/>
          </a:solidFill>
          <a:ln w="15875">
            <a:solidFill>
              <a:srgbClr val="3B9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2200046" y="3986784"/>
            <a:ext cx="156911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프로젝트 등록/수정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897172" y="3986784"/>
            <a:ext cx="1569110" cy="329184"/>
          </a:xfrm>
          <a:prstGeom prst="roundRect">
            <a:avLst>
              <a:gd name="adj" fmla="val 18000"/>
            </a:avLst>
          </a:prstGeom>
          <a:solidFill>
            <a:srgbClr val="243A7A"/>
          </a:solidFill>
          <a:ln w="9525">
            <a:solidFill>
              <a:srgbClr val="2D4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3897172" y="3986784"/>
            <a:ext cx="156911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00" b="0">
                <a:solidFill>
                  <a:srgbClr val="93C5FD"/>
                </a:solidFill>
                <a:latin typeface="Calibri"/>
              </a:rPr>
              <a:t>프로젝트 상세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594299" y="3986784"/>
            <a:ext cx="1569110" cy="329184"/>
          </a:xfrm>
          <a:prstGeom prst="roundRect">
            <a:avLst>
              <a:gd name="adj" fmla="val 18000"/>
            </a:avLst>
          </a:prstGeom>
          <a:solidFill>
            <a:srgbClr val="243A7A"/>
          </a:solidFill>
          <a:ln w="9525">
            <a:solidFill>
              <a:srgbClr val="2D4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5594299" y="3986784"/>
            <a:ext cx="156911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00" b="0">
                <a:solidFill>
                  <a:srgbClr val="93C5FD"/>
                </a:solidFill>
                <a:latin typeface="Calibri"/>
              </a:rPr>
              <a:t>인력 배정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291425" y="3986784"/>
            <a:ext cx="1569110" cy="329184"/>
          </a:xfrm>
          <a:prstGeom prst="roundRect">
            <a:avLst>
              <a:gd name="adj" fmla="val 18000"/>
            </a:avLst>
          </a:prstGeom>
          <a:solidFill>
            <a:srgbClr val="243A7A"/>
          </a:solidFill>
          <a:ln w="9525">
            <a:solidFill>
              <a:srgbClr val="2D4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7291425" y="3986784"/>
            <a:ext cx="156911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00" b="0">
                <a:solidFill>
                  <a:srgbClr val="93C5FD"/>
                </a:solidFill>
                <a:latin typeface="Calibri"/>
              </a:rPr>
              <a:t>투입 현황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4389120"/>
            <a:ext cx="1569110" cy="329184"/>
          </a:xfrm>
          <a:prstGeom prst="roundRect">
            <a:avLst>
              <a:gd name="adj" fmla="val 18000"/>
            </a:avLst>
          </a:prstGeom>
          <a:solidFill>
            <a:srgbClr val="243260"/>
          </a:solidFill>
          <a:ln w="9525">
            <a:solidFill>
              <a:srgbClr val="2D40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502920" y="4389120"/>
            <a:ext cx="156911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00" b="0">
                <a:solidFill>
                  <a:srgbClr val="94A3B8"/>
                </a:solidFill>
                <a:latin typeface="Calibri"/>
              </a:rPr>
              <a:t>월별 근무 보고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200046" y="4389120"/>
            <a:ext cx="1569110" cy="329184"/>
          </a:xfrm>
          <a:prstGeom prst="roundRect">
            <a:avLst>
              <a:gd name="adj" fmla="val 18000"/>
            </a:avLst>
          </a:prstGeom>
          <a:solidFill>
            <a:srgbClr val="243260"/>
          </a:solidFill>
          <a:ln w="9525">
            <a:solidFill>
              <a:srgbClr val="2D40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2200046" y="4389120"/>
            <a:ext cx="156911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00" b="0">
                <a:solidFill>
                  <a:srgbClr val="94A3B8"/>
                </a:solidFill>
                <a:latin typeface="Calibri"/>
              </a:rPr>
              <a:t>휴가 관리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897172" y="4389120"/>
            <a:ext cx="1569110" cy="329184"/>
          </a:xfrm>
          <a:prstGeom prst="roundRect">
            <a:avLst>
              <a:gd name="adj" fmla="val 18000"/>
            </a:avLst>
          </a:prstGeom>
          <a:solidFill>
            <a:srgbClr val="243260"/>
          </a:solidFill>
          <a:ln w="9525">
            <a:solidFill>
              <a:srgbClr val="2D40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3897172" y="4389120"/>
            <a:ext cx="156911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00" b="0">
                <a:solidFill>
                  <a:srgbClr val="94A3B8"/>
                </a:solidFill>
                <a:latin typeface="Calibri"/>
              </a:rPr>
              <a:t>통계/리포트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" y="0"/>
            <a:ext cx="9143771" cy="356616"/>
          </a:xfrm>
          <a:prstGeom prst="rect">
            <a:avLst/>
          </a:prstGeom>
          <a:solidFill>
            <a:srgbClr val="192B49"/>
          </a:solidFill>
          <a:ln w="12700">
            <a:solidFill>
              <a:srgbClr val="192B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50"/>
          </a:p>
        </p:txBody>
      </p:sp>
      <p:sp>
        <p:nvSpPr>
          <p:cNvPr id="3" name="TextBox 2"/>
          <p:cNvSpPr txBox="1"/>
          <p:nvPr/>
        </p:nvSpPr>
        <p:spPr>
          <a:xfrm>
            <a:off x="260604" y="82296"/>
            <a:ext cx="910249" cy="156966"/>
          </a:xfrm>
          <a:prstGeom prst="rect">
            <a:avLst/>
          </a:prstGeom>
          <a:noFill/>
        </p:spPr>
        <p:txBody>
          <a:bodyPr wrap="none" lIns="41148" tIns="20574" rIns="41148" bIns="20574" anchor="t">
            <a:spAutoFit/>
          </a:bodyPr>
          <a:lstStyle/>
          <a:p>
            <a:r>
              <a:rPr sz="750" b="1">
                <a:solidFill>
                  <a:srgbClr val="C0CDE2"/>
                </a:solidFill>
                <a:latin typeface="Malgun Gothic"/>
              </a:rPr>
              <a:t>Peoplify UI 기획서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71822" y="68580"/>
            <a:ext cx="583237" cy="191591"/>
          </a:xfrm>
          <a:prstGeom prst="rect">
            <a:avLst/>
          </a:prstGeom>
          <a:noFill/>
        </p:spPr>
        <p:txBody>
          <a:bodyPr wrap="none" lIns="41148" tIns="20574" rIns="41148" bIns="20574" anchor="t">
            <a:spAutoFit/>
          </a:bodyPr>
          <a:lstStyle/>
          <a:p>
            <a:pPr algn="ctr"/>
            <a:r>
              <a:rPr sz="975" b="1">
                <a:solidFill>
                  <a:srgbClr val="FFFFFF"/>
                </a:solidFill>
                <a:latin typeface="Malgun Gothic"/>
              </a:rPr>
              <a:t>개정이력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62303" y="89154"/>
            <a:ext cx="647358" cy="133883"/>
          </a:xfrm>
          <a:prstGeom prst="rect">
            <a:avLst/>
          </a:prstGeom>
          <a:noFill/>
        </p:spPr>
        <p:txBody>
          <a:bodyPr wrap="none" lIns="41148" tIns="20574" rIns="41148" bIns="20574" anchor="t">
            <a:spAutoFit/>
          </a:bodyPr>
          <a:lstStyle/>
          <a:p>
            <a:pPr algn="r"/>
            <a:r>
              <a:rPr sz="600">
                <a:solidFill>
                  <a:srgbClr val="C0CDE2"/>
                </a:solidFill>
                <a:latin typeface="Malgun Gothic"/>
              </a:rPr>
              <a:t>Revision History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835783" y="82296"/>
            <a:ext cx="182487" cy="145424"/>
          </a:xfrm>
          <a:prstGeom prst="rect">
            <a:avLst/>
          </a:prstGeom>
          <a:noFill/>
        </p:spPr>
        <p:txBody>
          <a:bodyPr wrap="none" lIns="41148" tIns="20574" rIns="41148" bIns="20574" anchor="t">
            <a:spAutoFit/>
          </a:bodyPr>
          <a:lstStyle/>
          <a:p>
            <a:pPr algn="r"/>
            <a:r>
              <a:rPr sz="675" b="1">
                <a:solidFill>
                  <a:srgbClr val="C0CDE2"/>
                </a:solidFill>
                <a:latin typeface="Malgun Gothic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5770" y="630937"/>
            <a:ext cx="1426416" cy="295466"/>
          </a:xfrm>
          <a:prstGeom prst="rect">
            <a:avLst/>
          </a:prstGeom>
          <a:noFill/>
        </p:spPr>
        <p:txBody>
          <a:bodyPr wrap="none" lIns="41148" tIns="20574" rIns="41148" bIns="20574" anchor="t">
            <a:spAutoFit/>
          </a:bodyPr>
          <a:lstStyle/>
          <a:p>
            <a:r>
              <a:rPr sz="1650" b="1">
                <a:solidFill>
                  <a:srgbClr val="192130"/>
                </a:solidFill>
                <a:latin typeface="Malgun Gothic"/>
              </a:rPr>
              <a:t>문서 개정이력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9486" y="925830"/>
            <a:ext cx="2949269" cy="156966"/>
          </a:xfrm>
          <a:prstGeom prst="rect">
            <a:avLst/>
          </a:prstGeom>
          <a:noFill/>
        </p:spPr>
        <p:txBody>
          <a:bodyPr wrap="none" lIns="41148" tIns="20574" rIns="41148" bIns="20574" anchor="t">
            <a:spAutoFit/>
          </a:bodyPr>
          <a:lstStyle/>
          <a:p>
            <a:r>
              <a:rPr sz="750">
                <a:solidFill>
                  <a:srgbClr val="5A687E"/>
                </a:solidFill>
                <a:latin typeface="Malgun Gothic"/>
              </a:rPr>
              <a:t>화면 설계 변경사항, 검토 의견 반영 내역, 확정 이력을 관리합니다.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60570" y="1556766"/>
            <a:ext cx="83164" cy="249299"/>
          </a:xfrm>
          <a:prstGeom prst="rect">
            <a:avLst/>
          </a:prstGeom>
          <a:noFill/>
        </p:spPr>
        <p:txBody>
          <a:bodyPr wrap="none" lIns="41148" tIns="20574" rIns="41148" bIns="20574" anchor="t">
            <a:spAutoFit/>
          </a:bodyPr>
          <a:lstStyle/>
          <a:p>
            <a:endParaRPr sz="1350"/>
          </a:p>
        </p:txBody>
      </p:sp>
      <p:sp>
        <p:nvSpPr>
          <p:cNvPr id="85" name="TextBox 84"/>
          <p:cNvSpPr txBox="1"/>
          <p:nvPr/>
        </p:nvSpPr>
        <p:spPr>
          <a:xfrm>
            <a:off x="308611" y="4924045"/>
            <a:ext cx="2192652" cy="122341"/>
          </a:xfrm>
          <a:prstGeom prst="rect">
            <a:avLst/>
          </a:prstGeom>
          <a:noFill/>
        </p:spPr>
        <p:txBody>
          <a:bodyPr wrap="none" lIns="41148" tIns="20574" rIns="41148" bIns="20574" anchor="t">
            <a:spAutoFit/>
          </a:bodyPr>
          <a:lstStyle/>
          <a:p>
            <a:r>
              <a:rPr sz="525">
                <a:solidFill>
                  <a:srgbClr val="5A687E"/>
                </a:solidFill>
                <a:latin typeface="Malgun Gothic"/>
              </a:rPr>
              <a:t>※ 개정이력은 주요 산출물 배포/검토/확정 시점 기준으로 작성합니다.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367151" y="4924045"/>
            <a:ext cx="445379" cy="122341"/>
          </a:xfrm>
          <a:prstGeom prst="rect">
            <a:avLst/>
          </a:prstGeom>
          <a:noFill/>
        </p:spPr>
        <p:txBody>
          <a:bodyPr wrap="none" lIns="41148" tIns="20574" rIns="41148" bIns="20574" anchor="t">
            <a:spAutoFit/>
          </a:bodyPr>
          <a:lstStyle/>
          <a:p>
            <a:pPr algn="r"/>
            <a:r>
              <a:rPr sz="525">
                <a:solidFill>
                  <a:srgbClr val="5A687E"/>
                </a:solidFill>
                <a:latin typeface="Malgun Gothic"/>
              </a:rPr>
              <a:t>Confidential</a:t>
            </a:r>
          </a:p>
        </p:txBody>
      </p:sp>
      <p:graphicFrame>
        <p:nvGraphicFramePr>
          <p:cNvPr id="89" name="표 8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06257471"/>
              </p:ext>
            </p:extLst>
          </p:nvPr>
        </p:nvGraphicFramePr>
        <p:xfrm>
          <a:off x="432706" y="1200722"/>
          <a:ext cx="8270425" cy="362687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3945">
                  <a:extLst>
                    <a:ext uri="{9D8B030D-6E8A-4147-A177-3AD203B41FA5}">
                      <a16:colId xmlns:a16="http://schemas.microsoft.com/office/drawing/2014/main" val="2991338917"/>
                    </a:ext>
                  </a:extLst>
                </a:gridCol>
                <a:gridCol w="757646">
                  <a:extLst>
                    <a:ext uri="{9D8B030D-6E8A-4147-A177-3AD203B41FA5}">
                      <a16:colId xmlns:a16="http://schemas.microsoft.com/office/drawing/2014/main" val="2614421820"/>
                    </a:ext>
                  </a:extLst>
                </a:gridCol>
                <a:gridCol w="894806">
                  <a:extLst>
                    <a:ext uri="{9D8B030D-6E8A-4147-A177-3AD203B41FA5}">
                      <a16:colId xmlns:a16="http://schemas.microsoft.com/office/drawing/2014/main" val="1128527261"/>
                    </a:ext>
                  </a:extLst>
                </a:gridCol>
                <a:gridCol w="5368834">
                  <a:extLst>
                    <a:ext uri="{9D8B030D-6E8A-4147-A177-3AD203B41FA5}">
                      <a16:colId xmlns:a16="http://schemas.microsoft.com/office/drawing/2014/main" val="3724886803"/>
                    </a:ext>
                  </a:extLst>
                </a:gridCol>
                <a:gridCol w="715194">
                  <a:extLst>
                    <a:ext uri="{9D8B030D-6E8A-4147-A177-3AD203B41FA5}">
                      <a16:colId xmlns:a16="http://schemas.microsoft.com/office/drawing/2014/main" val="1094740758"/>
                    </a:ext>
                  </a:extLst>
                </a:gridCol>
              </a:tblGrid>
              <a:tr h="41549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700" dirty="0" smtClean="0">
                          <a:latin typeface="+mn-ea"/>
                          <a:ea typeface="+mn-ea"/>
                        </a:rPr>
                        <a:t>버전</a:t>
                      </a:r>
                      <a:endParaRPr lang="ko-KR" altLang="en-US" sz="700" dirty="0">
                        <a:latin typeface="+mn-ea"/>
                        <a:ea typeface="+mn-e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700" dirty="0" smtClean="0">
                          <a:latin typeface="+mn-ea"/>
                          <a:ea typeface="+mn-ea"/>
                        </a:rPr>
                        <a:t>일자</a:t>
                      </a:r>
                      <a:endParaRPr lang="ko-KR" altLang="en-US" sz="700" dirty="0">
                        <a:latin typeface="+mn-ea"/>
                        <a:ea typeface="+mn-e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700" dirty="0" smtClean="0">
                          <a:latin typeface="+mn-ea"/>
                          <a:ea typeface="+mn-ea"/>
                        </a:rPr>
                        <a:t>작성자</a:t>
                      </a:r>
                      <a:endParaRPr lang="ko-KR" altLang="en-US" sz="700" dirty="0">
                        <a:latin typeface="+mn-ea"/>
                        <a:ea typeface="+mn-e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700" dirty="0" smtClean="0">
                          <a:latin typeface="+mn-ea"/>
                          <a:ea typeface="+mn-ea"/>
                        </a:rPr>
                        <a:t>변경내용</a:t>
                      </a:r>
                      <a:endParaRPr lang="ko-KR" altLang="en-US" sz="700" dirty="0">
                        <a:latin typeface="+mn-ea"/>
                        <a:ea typeface="+mn-e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700" dirty="0" smtClean="0">
                          <a:latin typeface="+mn-ea"/>
                          <a:ea typeface="+mn-ea"/>
                        </a:rPr>
                        <a:t>비고</a:t>
                      </a:r>
                      <a:endParaRPr lang="ko-KR" altLang="en-US" sz="700" dirty="0">
                        <a:latin typeface="+mn-ea"/>
                        <a:ea typeface="+mn-e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81575491"/>
                  </a:ext>
                </a:extLst>
              </a:tr>
              <a:tr h="41549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dirty="0" smtClean="0">
                          <a:latin typeface="+mn-ea"/>
                          <a:ea typeface="+mn-ea"/>
                        </a:rPr>
                        <a:t>v0.1</a:t>
                      </a:r>
                      <a:endParaRPr lang="ko-KR" altLang="en-US" sz="700" dirty="0">
                        <a:latin typeface="+mn-ea"/>
                        <a:ea typeface="+mn-e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dirty="0" smtClean="0">
                          <a:latin typeface="+mn-ea"/>
                          <a:ea typeface="+mn-ea"/>
                        </a:rPr>
                        <a:t>2026.06.15</a:t>
                      </a:r>
                      <a:endParaRPr lang="ko-KR" altLang="en-US" sz="700" dirty="0">
                        <a:latin typeface="+mn-ea"/>
                        <a:ea typeface="+mn-e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700" dirty="0" err="1" smtClean="0">
                          <a:latin typeface="+mn-ea"/>
                          <a:ea typeface="+mn-ea"/>
                        </a:rPr>
                        <a:t>정위현</a:t>
                      </a:r>
                      <a:endParaRPr lang="ko-KR" altLang="en-US" sz="700" dirty="0">
                        <a:latin typeface="+mn-ea"/>
                        <a:ea typeface="+mn-e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700" dirty="0" smtClean="0">
                          <a:latin typeface="+mn-ea"/>
                          <a:ea typeface="+mn-ea"/>
                        </a:rPr>
                        <a:t>초안</a:t>
                      </a:r>
                      <a:endParaRPr lang="ko-KR" altLang="en-US" sz="700" dirty="0">
                        <a:latin typeface="+mn-ea"/>
                        <a:ea typeface="+mn-e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>
                        <a:latin typeface="+mn-ea"/>
                        <a:ea typeface="+mn-e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59733972"/>
                  </a:ext>
                </a:extLst>
              </a:tr>
              <a:tr h="113390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dirty="0" smtClean="0">
                          <a:latin typeface="+mn-ea"/>
                          <a:ea typeface="+mn-ea"/>
                        </a:rPr>
                        <a:t>v0.2</a:t>
                      </a:r>
                      <a:endParaRPr lang="ko-KR" altLang="en-US" sz="700" dirty="0">
                        <a:latin typeface="+mn-ea"/>
                        <a:ea typeface="+mn-e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dirty="0" smtClean="0">
                          <a:latin typeface="+mn-ea"/>
                          <a:ea typeface="+mn-ea"/>
                        </a:rPr>
                        <a:t>2026.06.17</a:t>
                      </a:r>
                      <a:endParaRPr lang="ko-KR" altLang="en-US" sz="700" dirty="0">
                        <a:latin typeface="+mn-ea"/>
                        <a:ea typeface="+mn-e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700" dirty="0" smtClean="0">
                          <a:latin typeface="+mn-ea"/>
                          <a:ea typeface="+mn-ea"/>
                        </a:rPr>
                        <a:t>이용진</a:t>
                      </a:r>
                      <a:endParaRPr lang="ko-KR" altLang="en-US" sz="700" dirty="0">
                        <a:latin typeface="+mn-ea"/>
                        <a:ea typeface="+mn-e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700" dirty="0" smtClean="0">
                          <a:latin typeface="+mn-ea"/>
                          <a:ea typeface="+mn-ea"/>
                        </a:rPr>
                        <a:t>직원관리 수정</a:t>
                      </a:r>
                      <a:endParaRPr lang="en-US" altLang="ko-KR" sz="700" dirty="0" smtClean="0">
                        <a:latin typeface="+mn-ea"/>
                        <a:ea typeface="+mn-ea"/>
                      </a:endParaRPr>
                    </a:p>
                    <a:p>
                      <a:pPr algn="l" latinLnBrk="1"/>
                      <a:r>
                        <a:rPr lang="en-US" altLang="ko-KR" sz="700" dirty="0" smtClean="0">
                          <a:latin typeface="+mn-ea"/>
                          <a:ea typeface="+mn-ea"/>
                        </a:rPr>
                        <a:t>- </a:t>
                      </a:r>
                      <a:r>
                        <a:rPr lang="ko-KR" altLang="en-US" sz="700" dirty="0" smtClean="0">
                          <a:latin typeface="+mn-ea"/>
                          <a:ea typeface="+mn-ea"/>
                        </a:rPr>
                        <a:t>재직 상태 </a:t>
                      </a:r>
                      <a:r>
                        <a:rPr lang="en-US" altLang="ko-KR" sz="700" dirty="0" smtClean="0">
                          <a:latin typeface="+mn-ea"/>
                          <a:ea typeface="+mn-ea"/>
                        </a:rPr>
                        <a:t>'</a:t>
                      </a:r>
                      <a:r>
                        <a:rPr lang="ko-KR" altLang="en-US" sz="700" dirty="0" smtClean="0">
                          <a:latin typeface="+mn-ea"/>
                          <a:ea typeface="+mn-ea"/>
                        </a:rPr>
                        <a:t>재직</a:t>
                      </a:r>
                      <a:r>
                        <a:rPr lang="en-US" altLang="ko-KR" sz="700" dirty="0" smtClean="0">
                          <a:latin typeface="+mn-ea"/>
                          <a:ea typeface="+mn-ea"/>
                        </a:rPr>
                        <a:t>' </a:t>
                      </a:r>
                      <a:r>
                        <a:rPr lang="ko-KR" altLang="en-US" sz="700" dirty="0" smtClean="0">
                          <a:latin typeface="+mn-ea"/>
                          <a:ea typeface="+mn-ea"/>
                        </a:rPr>
                        <a:t>또는 </a:t>
                      </a:r>
                      <a:r>
                        <a:rPr lang="en-US" altLang="ko-KR" sz="700" dirty="0" smtClean="0">
                          <a:latin typeface="+mn-ea"/>
                          <a:ea typeface="+mn-ea"/>
                        </a:rPr>
                        <a:t>'</a:t>
                      </a:r>
                      <a:r>
                        <a:rPr lang="ko-KR" altLang="en-US" sz="700" dirty="0" smtClean="0">
                          <a:latin typeface="+mn-ea"/>
                          <a:ea typeface="+mn-ea"/>
                        </a:rPr>
                        <a:t>휴직</a:t>
                      </a:r>
                      <a:r>
                        <a:rPr lang="en-US" altLang="ko-KR" sz="700" dirty="0" smtClean="0">
                          <a:latin typeface="+mn-ea"/>
                          <a:ea typeface="+mn-ea"/>
                        </a:rPr>
                        <a:t>'</a:t>
                      </a:r>
                      <a:r>
                        <a:rPr lang="ko-KR" altLang="en-US" sz="700" dirty="0" smtClean="0">
                          <a:latin typeface="+mn-ea"/>
                          <a:ea typeface="+mn-ea"/>
                        </a:rPr>
                        <a:t>상태에서 </a:t>
                      </a:r>
                      <a:r>
                        <a:rPr lang="en-US" altLang="ko-KR" sz="700" dirty="0" smtClean="0">
                          <a:latin typeface="+mn-ea"/>
                          <a:ea typeface="+mn-ea"/>
                        </a:rPr>
                        <a:t>'</a:t>
                      </a:r>
                      <a:r>
                        <a:rPr lang="ko-KR" altLang="en-US" sz="700" dirty="0" smtClean="0">
                          <a:latin typeface="+mn-ea"/>
                          <a:ea typeface="+mn-ea"/>
                        </a:rPr>
                        <a:t>퇴사</a:t>
                      </a:r>
                      <a:r>
                        <a:rPr lang="en-US" altLang="ko-KR" sz="700" dirty="0" smtClean="0">
                          <a:latin typeface="+mn-ea"/>
                          <a:ea typeface="+mn-ea"/>
                        </a:rPr>
                        <a:t>'</a:t>
                      </a:r>
                      <a:r>
                        <a:rPr lang="ko-KR" altLang="en-US" sz="700" dirty="0" smtClean="0">
                          <a:latin typeface="+mn-ea"/>
                          <a:ea typeface="+mn-ea"/>
                        </a:rPr>
                        <a:t>로 변경한 경우 오늘 날짜 퇴사일 노출</a:t>
                      </a:r>
                    </a:p>
                    <a:p>
                      <a:pPr marL="0" indent="0" algn="l" latinLnBrk="1">
                        <a:buFontTx/>
                        <a:buNone/>
                      </a:pPr>
                      <a:r>
                        <a:rPr lang="en-US" altLang="ko-KR" sz="700" dirty="0" smtClean="0">
                          <a:latin typeface="+mn-ea"/>
                          <a:ea typeface="+mn-ea"/>
                        </a:rPr>
                        <a:t>- </a:t>
                      </a:r>
                      <a:r>
                        <a:rPr lang="ko-KR" altLang="en-US" sz="700" dirty="0" smtClean="0">
                          <a:latin typeface="+mn-ea"/>
                          <a:ea typeface="+mn-ea"/>
                        </a:rPr>
                        <a:t>재직 상태 </a:t>
                      </a:r>
                      <a:r>
                        <a:rPr lang="en-US" altLang="ko-KR" sz="700" dirty="0" smtClean="0">
                          <a:latin typeface="+mn-ea"/>
                          <a:ea typeface="+mn-ea"/>
                        </a:rPr>
                        <a:t>'</a:t>
                      </a:r>
                      <a:r>
                        <a:rPr lang="ko-KR" altLang="en-US" sz="700" dirty="0" smtClean="0">
                          <a:latin typeface="+mn-ea"/>
                          <a:ea typeface="+mn-ea"/>
                        </a:rPr>
                        <a:t>퇴사</a:t>
                      </a:r>
                      <a:r>
                        <a:rPr lang="en-US" altLang="ko-KR" sz="700" dirty="0" smtClean="0">
                          <a:latin typeface="+mn-ea"/>
                          <a:ea typeface="+mn-ea"/>
                        </a:rPr>
                        <a:t>'</a:t>
                      </a:r>
                      <a:r>
                        <a:rPr lang="ko-KR" altLang="en-US" sz="700" dirty="0" smtClean="0">
                          <a:latin typeface="+mn-ea"/>
                          <a:ea typeface="+mn-ea"/>
                        </a:rPr>
                        <a:t>상태에서 </a:t>
                      </a:r>
                      <a:r>
                        <a:rPr lang="en-US" altLang="ko-KR" sz="700" dirty="0" smtClean="0">
                          <a:latin typeface="+mn-ea"/>
                          <a:ea typeface="+mn-ea"/>
                        </a:rPr>
                        <a:t>'</a:t>
                      </a:r>
                      <a:r>
                        <a:rPr lang="ko-KR" altLang="en-US" sz="700" dirty="0" smtClean="0">
                          <a:latin typeface="+mn-ea"/>
                          <a:ea typeface="+mn-ea"/>
                        </a:rPr>
                        <a:t>재직</a:t>
                      </a:r>
                      <a:r>
                        <a:rPr lang="en-US" altLang="ko-KR" sz="700" dirty="0" smtClean="0">
                          <a:latin typeface="+mn-ea"/>
                          <a:ea typeface="+mn-ea"/>
                        </a:rPr>
                        <a:t>' </a:t>
                      </a:r>
                      <a:r>
                        <a:rPr lang="ko-KR" altLang="en-US" sz="700" dirty="0" smtClean="0">
                          <a:latin typeface="+mn-ea"/>
                          <a:ea typeface="+mn-ea"/>
                        </a:rPr>
                        <a:t>또는 </a:t>
                      </a:r>
                      <a:r>
                        <a:rPr lang="en-US" altLang="ko-KR" sz="700" dirty="0" smtClean="0">
                          <a:latin typeface="+mn-ea"/>
                          <a:ea typeface="+mn-ea"/>
                        </a:rPr>
                        <a:t>'</a:t>
                      </a:r>
                      <a:r>
                        <a:rPr lang="ko-KR" altLang="en-US" sz="700" dirty="0" smtClean="0">
                          <a:latin typeface="+mn-ea"/>
                          <a:ea typeface="+mn-ea"/>
                        </a:rPr>
                        <a:t>휴직</a:t>
                      </a:r>
                      <a:r>
                        <a:rPr lang="en-US" altLang="ko-KR" sz="700" dirty="0" smtClean="0">
                          <a:latin typeface="+mn-ea"/>
                          <a:ea typeface="+mn-ea"/>
                        </a:rPr>
                        <a:t>'</a:t>
                      </a:r>
                      <a:r>
                        <a:rPr lang="ko-KR" altLang="en-US" sz="700" dirty="0" smtClean="0">
                          <a:latin typeface="+mn-ea"/>
                          <a:ea typeface="+mn-ea"/>
                        </a:rPr>
                        <a:t>로 변경한 경우 퇴사일 초기화</a:t>
                      </a:r>
                      <a:endParaRPr lang="en-US" altLang="ko-KR" sz="700" dirty="0" smtClean="0">
                        <a:latin typeface="+mn-ea"/>
                        <a:ea typeface="+mn-ea"/>
                      </a:endParaRPr>
                    </a:p>
                    <a:p>
                      <a:pPr marL="0" indent="0" algn="l" latinLnBrk="1">
                        <a:buFontTx/>
                        <a:buNone/>
                      </a:pPr>
                      <a:r>
                        <a:rPr lang="en-US" altLang="ko-KR" sz="700" dirty="0" smtClean="0">
                          <a:latin typeface="+mn-ea"/>
                          <a:ea typeface="+mn-ea"/>
                        </a:rPr>
                        <a:t>- Validation </a:t>
                      </a:r>
                      <a:r>
                        <a:rPr lang="ko-KR" altLang="en-US" sz="700" dirty="0" smtClean="0">
                          <a:latin typeface="+mn-ea"/>
                          <a:ea typeface="+mn-ea"/>
                        </a:rPr>
                        <a:t>문구 추가</a:t>
                      </a:r>
                      <a:r>
                        <a:rPr lang="en-US" altLang="ko-KR" sz="700" dirty="0" smtClean="0">
                          <a:latin typeface="+mn-ea"/>
                          <a:ea typeface="+mn-ea"/>
                        </a:rPr>
                        <a:t>,</a:t>
                      </a:r>
                      <a:r>
                        <a:rPr lang="en-US" altLang="ko-KR" sz="700" baseline="0" dirty="0" smtClean="0">
                          <a:latin typeface="+mn-ea"/>
                          <a:ea typeface="+mn-ea"/>
                        </a:rPr>
                        <a:t> </a:t>
                      </a:r>
                      <a:r>
                        <a:rPr lang="ko-KR" altLang="en-US" sz="700" baseline="0" dirty="0" smtClean="0">
                          <a:latin typeface="+mn-ea"/>
                          <a:ea typeface="+mn-ea"/>
                        </a:rPr>
                        <a:t>사용자 안내 방법 변경</a:t>
                      </a:r>
                      <a:r>
                        <a:rPr lang="en-US" altLang="ko-KR" sz="700" baseline="0" dirty="0" smtClean="0">
                          <a:latin typeface="+mn-ea"/>
                          <a:ea typeface="+mn-ea"/>
                        </a:rPr>
                        <a:t>,</a:t>
                      </a:r>
                      <a:r>
                        <a:rPr lang="en-US" altLang="ko-KR" sz="700" dirty="0" smtClean="0">
                          <a:latin typeface="+mn-ea"/>
                          <a:ea typeface="+mn-ea"/>
                        </a:rPr>
                        <a:t> </a:t>
                      </a:r>
                      <a:r>
                        <a:rPr lang="ko-KR" altLang="en-US" sz="700" dirty="0" smtClean="0">
                          <a:latin typeface="+mn-ea"/>
                          <a:ea typeface="+mn-ea"/>
                        </a:rPr>
                        <a:t>날짜 입력 필드 </a:t>
                      </a:r>
                      <a:r>
                        <a:rPr lang="en-US" altLang="ko-KR" sz="700" dirty="0" err="1" smtClean="0">
                          <a:latin typeface="+mn-ea"/>
                          <a:ea typeface="+mn-ea"/>
                        </a:rPr>
                        <a:t>datepiker</a:t>
                      </a:r>
                      <a:r>
                        <a:rPr lang="en-US" altLang="ko-KR" sz="700" dirty="0" smtClean="0">
                          <a:latin typeface="+mn-ea"/>
                          <a:ea typeface="+mn-ea"/>
                        </a:rPr>
                        <a:t> </a:t>
                      </a:r>
                      <a:r>
                        <a:rPr lang="ko-KR" altLang="en-US" sz="700" dirty="0" smtClean="0">
                          <a:latin typeface="+mn-ea"/>
                          <a:ea typeface="+mn-ea"/>
                        </a:rPr>
                        <a:t>적용</a:t>
                      </a:r>
                      <a:endParaRPr lang="en-US" altLang="ko-KR" sz="700" dirty="0" smtClean="0">
                        <a:latin typeface="+mn-ea"/>
                        <a:ea typeface="+mn-ea"/>
                      </a:endParaRPr>
                    </a:p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dirty="0" smtClean="0">
                          <a:latin typeface="+mn-ea"/>
                          <a:ea typeface="+mn-ea"/>
                        </a:rPr>
                        <a:t>직원관리 등록</a:t>
                      </a:r>
                      <a:endParaRPr lang="en-US" altLang="ko-KR" sz="700" dirty="0" smtClean="0">
                        <a:latin typeface="+mn-ea"/>
                        <a:ea typeface="+mn-ea"/>
                      </a:endParaRPr>
                    </a:p>
                    <a:p>
                      <a:pPr marL="0" indent="0" algn="l" latinLnBrk="1">
                        <a:buFontTx/>
                        <a:buNone/>
                      </a:pPr>
                      <a:r>
                        <a:rPr lang="en-US" altLang="ko-KR" sz="700" dirty="0" smtClean="0">
                          <a:latin typeface="+mn-ea"/>
                          <a:ea typeface="+mn-ea"/>
                        </a:rPr>
                        <a:t>- Validation </a:t>
                      </a:r>
                      <a:r>
                        <a:rPr lang="ko-KR" altLang="en-US" sz="700" dirty="0" smtClean="0">
                          <a:latin typeface="+mn-ea"/>
                          <a:ea typeface="+mn-ea"/>
                        </a:rPr>
                        <a:t>문구 추가</a:t>
                      </a:r>
                      <a:r>
                        <a:rPr lang="en-US" altLang="ko-KR" sz="700" dirty="0" smtClean="0">
                          <a:latin typeface="+mn-ea"/>
                          <a:ea typeface="+mn-ea"/>
                        </a:rPr>
                        <a:t>,</a:t>
                      </a:r>
                      <a:r>
                        <a:rPr lang="en-US" altLang="ko-KR" sz="700" baseline="0" dirty="0" smtClean="0">
                          <a:latin typeface="+mn-ea"/>
                          <a:ea typeface="+mn-ea"/>
                        </a:rPr>
                        <a:t> </a:t>
                      </a:r>
                      <a:r>
                        <a:rPr lang="ko-KR" altLang="en-US" sz="700" baseline="0" dirty="0" smtClean="0">
                          <a:latin typeface="+mn-ea"/>
                          <a:ea typeface="+mn-ea"/>
                        </a:rPr>
                        <a:t>사용자 안내 방법 변경</a:t>
                      </a:r>
                      <a:endParaRPr lang="en-US" altLang="ko-KR" sz="700" dirty="0" smtClean="0">
                        <a:latin typeface="+mn-ea"/>
                        <a:ea typeface="+mn-ea"/>
                      </a:endParaRPr>
                    </a:p>
                    <a:p>
                      <a:pPr marL="0" indent="0" algn="l" latinLnBrk="1">
                        <a:buFontTx/>
                        <a:buNone/>
                      </a:pPr>
                      <a:r>
                        <a:rPr lang="ko-KR" altLang="en-US" sz="700" dirty="0" smtClean="0">
                          <a:latin typeface="+mn-ea"/>
                          <a:ea typeface="+mn-ea"/>
                        </a:rPr>
                        <a:t>직원관리 상세</a:t>
                      </a:r>
                      <a:endParaRPr lang="en-US" altLang="ko-KR" sz="700" dirty="0" smtClean="0">
                        <a:latin typeface="+mn-ea"/>
                        <a:ea typeface="+mn-ea"/>
                      </a:endParaRPr>
                    </a:p>
                    <a:p>
                      <a:pPr marL="0" indent="0" algn="l" latinLnBrk="1">
                        <a:buFontTx/>
                        <a:buNone/>
                      </a:pPr>
                      <a:r>
                        <a:rPr lang="en-US" altLang="ko-KR" sz="700" baseline="0" dirty="0" smtClean="0">
                          <a:latin typeface="+mn-ea"/>
                          <a:ea typeface="+mn-ea"/>
                        </a:rPr>
                        <a:t>- </a:t>
                      </a:r>
                      <a:r>
                        <a:rPr lang="ko-KR" altLang="en-US" sz="700" baseline="0" dirty="0" smtClean="0">
                          <a:latin typeface="+mn-ea"/>
                          <a:ea typeface="+mn-ea"/>
                        </a:rPr>
                        <a:t>퇴사 상태일 경우 상단 삭제 버튼 삭제</a:t>
                      </a:r>
                      <a:r>
                        <a:rPr lang="en-US" altLang="ko-KR" sz="700" baseline="0" dirty="0" smtClean="0">
                          <a:latin typeface="+mn-ea"/>
                          <a:ea typeface="+mn-ea"/>
                        </a:rPr>
                        <a:t>, </a:t>
                      </a:r>
                      <a:r>
                        <a:rPr lang="ko-KR" altLang="en-US" sz="700" baseline="0" dirty="0" smtClean="0">
                          <a:latin typeface="+mn-ea"/>
                          <a:ea typeface="+mn-ea"/>
                        </a:rPr>
                        <a:t>상단</a:t>
                      </a:r>
                      <a:r>
                        <a:rPr lang="en-US" altLang="ko-KR" sz="700" baseline="0" dirty="0" smtClean="0">
                          <a:latin typeface="+mn-ea"/>
                          <a:ea typeface="+mn-ea"/>
                        </a:rPr>
                        <a:t>,</a:t>
                      </a:r>
                      <a:r>
                        <a:rPr lang="ko-KR" altLang="en-US" sz="700" baseline="0" dirty="0" smtClean="0">
                          <a:latin typeface="+mn-ea"/>
                          <a:ea typeface="+mn-ea"/>
                        </a:rPr>
                        <a:t>하단 수정 버튼 중 하단 버튼 삭제</a:t>
                      </a:r>
                      <a:r>
                        <a:rPr lang="en-US" altLang="ko-KR" sz="700" baseline="0" dirty="0" smtClean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700" baseline="0" dirty="0" smtClean="0">
                          <a:latin typeface="+mn-ea"/>
                          <a:ea typeface="+mn-ea"/>
                        </a:rPr>
                        <a:t>중복</a:t>
                      </a:r>
                      <a:r>
                        <a:rPr lang="en-US" altLang="ko-KR" sz="700" baseline="0" dirty="0" smtClean="0">
                          <a:latin typeface="+mn-ea"/>
                          <a:ea typeface="+mn-ea"/>
                        </a:rPr>
                        <a:t>)</a:t>
                      </a:r>
                    </a:p>
                    <a:p>
                      <a:pPr marL="0" indent="0" algn="l" latinLnBrk="1">
                        <a:buFontTx/>
                        <a:buNone/>
                      </a:pPr>
                      <a:r>
                        <a:rPr lang="en-US" altLang="ko-KR" sz="700" baseline="0" dirty="0" smtClean="0">
                          <a:latin typeface="+mn-ea"/>
                          <a:ea typeface="+mn-ea"/>
                        </a:rPr>
                        <a:t>- </a:t>
                      </a:r>
                      <a:r>
                        <a:rPr lang="ko-KR" altLang="en-US" sz="700" baseline="0" dirty="0" smtClean="0">
                          <a:latin typeface="+mn-ea"/>
                          <a:ea typeface="+mn-ea"/>
                        </a:rPr>
                        <a:t>프로젝트 이력 영역 중 프로젝트 명 클릭 시 해당 프로젝트 상세 화면 이동</a:t>
                      </a:r>
                      <a:endParaRPr lang="ko-KR" altLang="en-US" sz="700" dirty="0">
                        <a:latin typeface="+mn-ea"/>
                        <a:ea typeface="+mn-e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>
                        <a:latin typeface="+mn-ea"/>
                        <a:ea typeface="+mn-e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40006999"/>
                  </a:ext>
                </a:extLst>
              </a:tr>
              <a:tr h="415496"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>
                        <a:latin typeface="+mn-ea"/>
                        <a:ea typeface="+mn-e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>
                        <a:latin typeface="+mn-ea"/>
                        <a:ea typeface="+mn-e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>
                        <a:latin typeface="+mn-ea"/>
                        <a:ea typeface="+mn-e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>
                        <a:latin typeface="+mn-ea"/>
                        <a:ea typeface="+mn-e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>
                        <a:latin typeface="+mn-ea"/>
                        <a:ea typeface="+mn-e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0555998"/>
                  </a:ext>
                </a:extLst>
              </a:tr>
              <a:tr h="415496">
                <a:tc>
                  <a:txBody>
                    <a:bodyPr/>
                    <a:lstStyle/>
                    <a:p>
                      <a:pPr algn="ctr" latinLnBrk="1"/>
                      <a:endParaRPr lang="ko-KR" altLang="en-US" sz="700">
                        <a:latin typeface="+mn-ea"/>
                        <a:ea typeface="+mn-e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>
                        <a:latin typeface="+mn-ea"/>
                        <a:ea typeface="+mn-e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>
                        <a:latin typeface="+mn-ea"/>
                        <a:ea typeface="+mn-e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>
                        <a:latin typeface="+mn-ea"/>
                        <a:ea typeface="+mn-e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>
                        <a:latin typeface="+mn-ea"/>
                        <a:ea typeface="+mn-e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75283618"/>
                  </a:ext>
                </a:extLst>
              </a:tr>
              <a:tr h="415496">
                <a:tc>
                  <a:txBody>
                    <a:bodyPr/>
                    <a:lstStyle/>
                    <a:p>
                      <a:pPr algn="ctr" latinLnBrk="1"/>
                      <a:endParaRPr lang="ko-KR" altLang="en-US" sz="700">
                        <a:latin typeface="+mn-ea"/>
                        <a:ea typeface="+mn-e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>
                        <a:latin typeface="+mn-ea"/>
                        <a:ea typeface="+mn-e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>
                        <a:latin typeface="+mn-ea"/>
                        <a:ea typeface="+mn-e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>
                        <a:latin typeface="+mn-ea"/>
                        <a:ea typeface="+mn-e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>
                        <a:latin typeface="+mn-ea"/>
                        <a:ea typeface="+mn-e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20007832"/>
                  </a:ext>
                </a:extLst>
              </a:tr>
              <a:tr h="415496">
                <a:tc>
                  <a:txBody>
                    <a:bodyPr/>
                    <a:lstStyle/>
                    <a:p>
                      <a:pPr algn="ctr" latinLnBrk="1"/>
                      <a:endParaRPr lang="ko-KR" altLang="en-US" sz="700">
                        <a:latin typeface="+mn-ea"/>
                        <a:ea typeface="+mn-e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>
                        <a:latin typeface="+mn-ea"/>
                        <a:ea typeface="+mn-e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>
                        <a:latin typeface="+mn-ea"/>
                        <a:ea typeface="+mn-e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>
                        <a:latin typeface="+mn-ea"/>
                        <a:ea typeface="+mn-e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>
                        <a:latin typeface="+mn-ea"/>
                        <a:ea typeface="+mn-e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6729588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3506034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47472"/>
          </a:xfrm>
          <a:prstGeom prst="rect">
            <a:avLst/>
          </a:prstGeom>
          <a:solidFill>
            <a:srgbClr val="1A2744"/>
          </a:solidFill>
          <a:ln w="12700">
            <a:solidFill>
              <a:srgbClr val="1A274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164592" y="0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7B9C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도메인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0" y="0"/>
            <a:ext cx="8778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대시보드 (SI 투입 중심)  ·  / 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8887968" y="0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4A6A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3/13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0" y="347472"/>
            <a:ext cx="1417320" cy="4796028"/>
          </a:xfrm>
          <a:prstGeom prst="rect">
            <a:avLst/>
          </a:prstGeom>
          <a:solidFill>
            <a:srgbClr val="1A2744"/>
          </a:solidFill>
          <a:ln w="12700">
            <a:solidFill>
              <a:srgbClr val="1A274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0" y="347472"/>
            <a:ext cx="1417320" cy="512064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0" y="347472"/>
            <a:ext cx="141732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Peoplify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0" y="960120"/>
            <a:ext cx="1417320" cy="512064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>
            <a:off x="0" y="960120"/>
            <a:ext cx="36576" cy="512064"/>
          </a:xfrm>
          <a:prstGeom prst="rect">
            <a:avLst/>
          </a:prstGeom>
          <a:solidFill>
            <a:srgbClr val="3B9EE8"/>
          </a:solidFill>
          <a:ln w="12700">
            <a:solidFill>
              <a:srgbClr val="3B9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54864" y="1005840"/>
            <a:ext cx="13167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대시보드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54864" y="1609344"/>
            <a:ext cx="13167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직원관리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54864" y="2212848"/>
            <a:ext cx="13167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프로젝트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54864" y="2816352"/>
            <a:ext cx="13167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근태관리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54864" y="3419856"/>
            <a:ext cx="13167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리포트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1417320" y="347472"/>
            <a:ext cx="772668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DEE2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Shape 15"/>
          <p:cNvSpPr/>
          <p:nvPr/>
        </p:nvSpPr>
        <p:spPr>
          <a:xfrm>
            <a:off x="1572768" y="448056"/>
            <a:ext cx="2926080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DEE2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Text 16"/>
          <p:cNvSpPr/>
          <p:nvPr/>
        </p:nvSpPr>
        <p:spPr>
          <a:xfrm>
            <a:off x="1609344" y="448056"/>
            <a:ext cx="285292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검색...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8046720" y="43891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🔔  관리자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8833104" y="448056"/>
            <a:ext cx="237744" cy="237744"/>
          </a:xfrm>
          <a:prstGeom prst="ellipse">
            <a:avLst/>
          </a:prstGeom>
          <a:solidFill>
            <a:srgbClr val="185FA5"/>
          </a:solidFill>
          <a:ln w="12700">
            <a:solidFill>
              <a:srgbClr val="185FA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Text 19"/>
          <p:cNvSpPr/>
          <p:nvPr/>
        </p:nvSpPr>
        <p:spPr>
          <a:xfrm>
            <a:off x="8833104" y="448056"/>
            <a:ext cx="23774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1417320" y="786384"/>
            <a:ext cx="7726680" cy="4357116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Text 21"/>
          <p:cNvSpPr/>
          <p:nvPr/>
        </p:nvSpPr>
        <p:spPr>
          <a:xfrm>
            <a:off x="1572768" y="877824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대시보드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1572768" y="1133856"/>
            <a:ext cx="36576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2026년 5월 26일 (화)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1572768" y="1389888"/>
            <a:ext cx="1691640" cy="731520"/>
          </a:xfrm>
          <a:prstGeom prst="rect">
            <a:avLst/>
          </a:prstGeom>
          <a:solidFill>
            <a:srgbClr val="E6F1FB"/>
          </a:solidFill>
          <a:ln w="12700">
            <a:solidFill>
              <a:srgbClr val="DEE2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24"/>
          <p:cNvSpPr/>
          <p:nvPr/>
        </p:nvSpPr>
        <p:spPr>
          <a:xfrm>
            <a:off x="1664208" y="1453896"/>
            <a:ext cx="152704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전체 인원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1664208" y="1627632"/>
            <a:ext cx="1527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85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32명</a:t>
            </a:r>
            <a:endParaRPr lang="en-US" sz="2200" dirty="0"/>
          </a:p>
        </p:txBody>
      </p:sp>
      <p:sp>
        <p:nvSpPr>
          <p:cNvPr id="28" name="Text 26"/>
          <p:cNvSpPr/>
          <p:nvPr/>
        </p:nvSpPr>
        <p:spPr>
          <a:xfrm>
            <a:off x="1664208" y="1938528"/>
            <a:ext cx="152704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재직 중 30명</a:t>
            </a:r>
            <a:endParaRPr lang="en-US" sz="750" dirty="0"/>
          </a:p>
        </p:txBody>
      </p:sp>
      <p:sp>
        <p:nvSpPr>
          <p:cNvPr id="29" name="Shape 27"/>
          <p:cNvSpPr/>
          <p:nvPr/>
        </p:nvSpPr>
        <p:spPr>
          <a:xfrm>
            <a:off x="3355848" y="1389888"/>
            <a:ext cx="1691640" cy="731520"/>
          </a:xfrm>
          <a:prstGeom prst="rect">
            <a:avLst/>
          </a:prstGeom>
          <a:solidFill>
            <a:srgbClr val="DBEAFE"/>
          </a:solidFill>
          <a:ln w="12700">
            <a:solidFill>
              <a:srgbClr val="DEE2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0" name="Text 28"/>
          <p:cNvSpPr/>
          <p:nvPr/>
        </p:nvSpPr>
        <p:spPr>
          <a:xfrm>
            <a:off x="3447288" y="1453896"/>
            <a:ext cx="152704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투입 중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3447288" y="1627632"/>
            <a:ext cx="1527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26명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3447288" y="1938528"/>
            <a:ext cx="152704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26개 프로젝트 현장</a:t>
            </a:r>
            <a:endParaRPr lang="en-US" sz="750" dirty="0"/>
          </a:p>
        </p:txBody>
      </p:sp>
      <p:sp>
        <p:nvSpPr>
          <p:cNvPr id="33" name="Shape 31"/>
          <p:cNvSpPr/>
          <p:nvPr/>
        </p:nvSpPr>
        <p:spPr>
          <a:xfrm>
            <a:off x="5138928" y="1389888"/>
            <a:ext cx="1691640" cy="731520"/>
          </a:xfrm>
          <a:prstGeom prst="rect">
            <a:avLst/>
          </a:prstGeom>
          <a:solidFill>
            <a:srgbClr val="FEF3C7"/>
          </a:solidFill>
          <a:ln w="12700">
            <a:solidFill>
              <a:srgbClr val="DEE2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4" name="Text 32"/>
          <p:cNvSpPr/>
          <p:nvPr/>
        </p:nvSpPr>
        <p:spPr>
          <a:xfrm>
            <a:off x="5230368" y="1453896"/>
            <a:ext cx="152704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벤치(가용)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5230368" y="1627632"/>
            <a:ext cx="1527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6명</a:t>
            </a:r>
            <a:endParaRPr lang="en-US" sz="2200" dirty="0"/>
          </a:p>
        </p:txBody>
      </p:sp>
      <p:sp>
        <p:nvSpPr>
          <p:cNvPr id="36" name="Text 34"/>
          <p:cNvSpPr/>
          <p:nvPr/>
        </p:nvSpPr>
        <p:spPr>
          <a:xfrm>
            <a:off x="5230368" y="1938528"/>
            <a:ext cx="152704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배정 가능 인원</a:t>
            </a:r>
            <a:endParaRPr lang="en-US" sz="750" dirty="0"/>
          </a:p>
        </p:txBody>
      </p:sp>
      <p:sp>
        <p:nvSpPr>
          <p:cNvPr id="37" name="Shape 35"/>
          <p:cNvSpPr/>
          <p:nvPr/>
        </p:nvSpPr>
        <p:spPr>
          <a:xfrm>
            <a:off x="6922008" y="1389888"/>
            <a:ext cx="1691640" cy="731520"/>
          </a:xfrm>
          <a:prstGeom prst="rect">
            <a:avLst/>
          </a:prstGeom>
          <a:solidFill>
            <a:srgbClr val="CCFBF1"/>
          </a:solidFill>
          <a:ln w="12700">
            <a:solidFill>
              <a:srgbClr val="DEE2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8" name="Text 36"/>
          <p:cNvSpPr/>
          <p:nvPr/>
        </p:nvSpPr>
        <p:spPr>
          <a:xfrm>
            <a:off x="7013448" y="1453896"/>
            <a:ext cx="152704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진행 프로젝트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7013448" y="1627632"/>
            <a:ext cx="1527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5건</a:t>
            </a:r>
            <a:endParaRPr lang="en-US" sz="2200" dirty="0"/>
          </a:p>
        </p:txBody>
      </p:sp>
      <p:sp>
        <p:nvSpPr>
          <p:cNvPr id="40" name="Text 38"/>
          <p:cNvSpPr/>
          <p:nvPr/>
        </p:nvSpPr>
        <p:spPr>
          <a:xfrm>
            <a:off x="7013448" y="1938528"/>
            <a:ext cx="152704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완료1·예정1 별도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1572768" y="2212848"/>
            <a:ext cx="448056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EE2E8"/>
            </a:solidFill>
            <a:prstDash val="solid"/>
          </a:ln>
          <a:effectLst>
            <a:outerShdw blurRad="508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42" name="Text 40"/>
          <p:cNvSpPr/>
          <p:nvPr/>
        </p:nvSpPr>
        <p:spPr>
          <a:xfrm>
            <a:off x="1682496" y="2322576"/>
            <a:ext cx="4114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진행 중 프로젝트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1645920" y="2578608"/>
            <a:ext cx="1911096" cy="219456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4" name="Text 42"/>
          <p:cNvSpPr/>
          <p:nvPr/>
        </p:nvSpPr>
        <p:spPr>
          <a:xfrm>
            <a:off x="1682496" y="2578608"/>
            <a:ext cx="1874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프로젝트명</a:t>
            </a:r>
            <a:endParaRPr lang="en-US" sz="800" dirty="0"/>
          </a:p>
        </p:txBody>
      </p:sp>
      <p:sp>
        <p:nvSpPr>
          <p:cNvPr id="45" name="Shape 43"/>
          <p:cNvSpPr/>
          <p:nvPr/>
        </p:nvSpPr>
        <p:spPr>
          <a:xfrm>
            <a:off x="3547872" y="2578608"/>
            <a:ext cx="676656" cy="219456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6" name="Text 44"/>
          <p:cNvSpPr/>
          <p:nvPr/>
        </p:nvSpPr>
        <p:spPr>
          <a:xfrm>
            <a:off x="3584448" y="2578608"/>
            <a:ext cx="6400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투입인원</a:t>
            </a:r>
            <a:endParaRPr lang="en-US" sz="800" dirty="0"/>
          </a:p>
        </p:txBody>
      </p:sp>
      <p:sp>
        <p:nvSpPr>
          <p:cNvPr id="47" name="Shape 45"/>
          <p:cNvSpPr/>
          <p:nvPr/>
        </p:nvSpPr>
        <p:spPr>
          <a:xfrm>
            <a:off x="4233672" y="2578608"/>
            <a:ext cx="1225296" cy="219456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8" name="Text 46"/>
          <p:cNvSpPr/>
          <p:nvPr/>
        </p:nvSpPr>
        <p:spPr>
          <a:xfrm>
            <a:off x="4270248" y="2578608"/>
            <a:ext cx="11887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기간</a:t>
            </a:r>
            <a:endParaRPr lang="en-US" sz="800" dirty="0"/>
          </a:p>
        </p:txBody>
      </p:sp>
      <p:sp>
        <p:nvSpPr>
          <p:cNvPr id="49" name="Shape 47"/>
          <p:cNvSpPr/>
          <p:nvPr/>
        </p:nvSpPr>
        <p:spPr>
          <a:xfrm>
            <a:off x="5486400" y="2578608"/>
            <a:ext cx="539496" cy="219456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0" name="Text 48"/>
          <p:cNvSpPr/>
          <p:nvPr/>
        </p:nvSpPr>
        <p:spPr>
          <a:xfrm>
            <a:off x="5522976" y="2578608"/>
            <a:ext cx="5029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상태</a:t>
            </a:r>
            <a:endParaRPr lang="en-US" sz="800" dirty="0"/>
          </a:p>
        </p:txBody>
      </p:sp>
      <p:sp>
        <p:nvSpPr>
          <p:cNvPr id="51" name="Shape 49"/>
          <p:cNvSpPr/>
          <p:nvPr/>
        </p:nvSpPr>
        <p:spPr>
          <a:xfrm>
            <a:off x="1572768" y="2834640"/>
            <a:ext cx="4480560" cy="329184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2" name="Text 50"/>
          <p:cNvSpPr/>
          <p:nvPr/>
        </p:nvSpPr>
        <p:spPr>
          <a:xfrm>
            <a:off x="1682496" y="2834640"/>
            <a:ext cx="1874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A금융 차세대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3584448" y="2834640"/>
            <a:ext cx="6400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7명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4270248" y="2834640"/>
            <a:ext cx="1188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2025.03~2026.12</a:t>
            </a:r>
            <a:endParaRPr lang="en-US" sz="800" dirty="0"/>
          </a:p>
        </p:txBody>
      </p:sp>
      <p:sp>
        <p:nvSpPr>
          <p:cNvPr id="55" name="Shape 53"/>
          <p:cNvSpPr/>
          <p:nvPr/>
        </p:nvSpPr>
        <p:spPr>
          <a:xfrm>
            <a:off x="5486400" y="2907792"/>
            <a:ext cx="566928" cy="18288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6" name="Text 54"/>
          <p:cNvSpPr/>
          <p:nvPr/>
        </p:nvSpPr>
        <p:spPr>
          <a:xfrm>
            <a:off x="5486400" y="2907792"/>
            <a:ext cx="56692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진행</a:t>
            </a:r>
            <a:endParaRPr lang="en-US" sz="800" dirty="0"/>
          </a:p>
        </p:txBody>
      </p:sp>
      <p:sp>
        <p:nvSpPr>
          <p:cNvPr id="57" name="Text 55"/>
          <p:cNvSpPr/>
          <p:nvPr/>
        </p:nvSpPr>
        <p:spPr>
          <a:xfrm>
            <a:off x="1682496" y="3163824"/>
            <a:ext cx="1874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B공공기관 ERP</a:t>
            </a:r>
            <a:endParaRPr lang="en-US" sz="900" dirty="0"/>
          </a:p>
        </p:txBody>
      </p:sp>
      <p:sp>
        <p:nvSpPr>
          <p:cNvPr id="58" name="Text 56"/>
          <p:cNvSpPr/>
          <p:nvPr/>
        </p:nvSpPr>
        <p:spPr>
          <a:xfrm>
            <a:off x="3584448" y="3163824"/>
            <a:ext cx="6400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5명</a:t>
            </a:r>
            <a:endParaRPr lang="en-US" sz="900" dirty="0"/>
          </a:p>
        </p:txBody>
      </p:sp>
      <p:sp>
        <p:nvSpPr>
          <p:cNvPr id="59" name="Text 57"/>
          <p:cNvSpPr/>
          <p:nvPr/>
        </p:nvSpPr>
        <p:spPr>
          <a:xfrm>
            <a:off x="4270248" y="3163824"/>
            <a:ext cx="1188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2025.06~2026.06</a:t>
            </a:r>
            <a:endParaRPr lang="en-US" sz="800" dirty="0"/>
          </a:p>
        </p:txBody>
      </p:sp>
      <p:sp>
        <p:nvSpPr>
          <p:cNvPr id="60" name="Shape 58"/>
          <p:cNvSpPr/>
          <p:nvPr/>
        </p:nvSpPr>
        <p:spPr>
          <a:xfrm>
            <a:off x="5486400" y="3236976"/>
            <a:ext cx="566928" cy="18288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ext 59"/>
          <p:cNvSpPr/>
          <p:nvPr/>
        </p:nvSpPr>
        <p:spPr>
          <a:xfrm>
            <a:off x="5486400" y="3236976"/>
            <a:ext cx="56692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진행</a:t>
            </a:r>
            <a:endParaRPr lang="en-US" sz="800" dirty="0"/>
          </a:p>
        </p:txBody>
      </p:sp>
      <p:sp>
        <p:nvSpPr>
          <p:cNvPr id="62" name="Shape 60"/>
          <p:cNvSpPr/>
          <p:nvPr/>
        </p:nvSpPr>
        <p:spPr>
          <a:xfrm>
            <a:off x="1572768" y="3493008"/>
            <a:ext cx="4480560" cy="329184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3" name="Text 61"/>
          <p:cNvSpPr/>
          <p:nvPr/>
        </p:nvSpPr>
        <p:spPr>
          <a:xfrm>
            <a:off x="1682496" y="3493008"/>
            <a:ext cx="1874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C제조 MES</a:t>
            </a:r>
            <a:endParaRPr lang="en-US" sz="900" dirty="0"/>
          </a:p>
        </p:txBody>
      </p:sp>
      <p:sp>
        <p:nvSpPr>
          <p:cNvPr id="64" name="Text 62"/>
          <p:cNvSpPr/>
          <p:nvPr/>
        </p:nvSpPr>
        <p:spPr>
          <a:xfrm>
            <a:off x="3584448" y="3493008"/>
            <a:ext cx="6400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8명</a:t>
            </a:r>
            <a:endParaRPr lang="en-US" sz="900" dirty="0"/>
          </a:p>
        </p:txBody>
      </p:sp>
      <p:sp>
        <p:nvSpPr>
          <p:cNvPr id="65" name="Text 63"/>
          <p:cNvSpPr/>
          <p:nvPr/>
        </p:nvSpPr>
        <p:spPr>
          <a:xfrm>
            <a:off x="4270248" y="3493008"/>
            <a:ext cx="1188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2024.12~2026.03</a:t>
            </a:r>
            <a:endParaRPr lang="en-US" sz="800" dirty="0"/>
          </a:p>
        </p:txBody>
      </p:sp>
      <p:sp>
        <p:nvSpPr>
          <p:cNvPr id="66" name="Shape 64"/>
          <p:cNvSpPr/>
          <p:nvPr/>
        </p:nvSpPr>
        <p:spPr>
          <a:xfrm>
            <a:off x="5486400" y="3566160"/>
            <a:ext cx="566928" cy="18288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7" name="Text 65"/>
          <p:cNvSpPr/>
          <p:nvPr/>
        </p:nvSpPr>
        <p:spPr>
          <a:xfrm>
            <a:off x="5486400" y="3566160"/>
            <a:ext cx="56692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진행</a:t>
            </a:r>
            <a:endParaRPr lang="en-US" sz="800" dirty="0"/>
          </a:p>
        </p:txBody>
      </p:sp>
      <p:sp>
        <p:nvSpPr>
          <p:cNvPr id="68" name="Shape 66"/>
          <p:cNvSpPr/>
          <p:nvPr/>
        </p:nvSpPr>
        <p:spPr>
          <a:xfrm>
            <a:off x="6190488" y="2212848"/>
            <a:ext cx="292608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DEE2E8"/>
            </a:solidFill>
            <a:prstDash val="solid"/>
          </a:ln>
          <a:effectLst>
            <a:outerShdw blurRad="508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9" name="Text 67"/>
          <p:cNvSpPr/>
          <p:nvPr/>
        </p:nvSpPr>
        <p:spPr>
          <a:xfrm>
            <a:off x="6300216" y="2322576"/>
            <a:ext cx="2743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벤치 인원 현황</a:t>
            </a:r>
            <a:endParaRPr lang="en-US" sz="1100" dirty="0"/>
          </a:p>
        </p:txBody>
      </p:sp>
      <p:sp>
        <p:nvSpPr>
          <p:cNvPr id="70" name="Text 68"/>
          <p:cNvSpPr/>
          <p:nvPr/>
        </p:nvSpPr>
        <p:spPr>
          <a:xfrm>
            <a:off x="6300216" y="2615184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김민준</a:t>
            </a:r>
            <a:endParaRPr lang="en-US" sz="900" dirty="0"/>
          </a:p>
        </p:txBody>
      </p:sp>
      <p:sp>
        <p:nvSpPr>
          <p:cNvPr id="71" name="Text 69"/>
          <p:cNvSpPr/>
          <p:nvPr/>
        </p:nvSpPr>
        <p:spPr>
          <a:xfrm>
            <a:off x="7059168" y="2615184"/>
            <a:ext cx="6400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개발</a:t>
            </a:r>
            <a:endParaRPr lang="en-US" sz="850" dirty="0"/>
          </a:p>
        </p:txBody>
      </p:sp>
      <p:sp>
        <p:nvSpPr>
          <p:cNvPr id="72" name="Text 70"/>
          <p:cNvSpPr/>
          <p:nvPr/>
        </p:nvSpPr>
        <p:spPr>
          <a:xfrm>
            <a:off x="7772400" y="2615184"/>
            <a:ext cx="124358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2주째</a:t>
            </a:r>
            <a:endParaRPr lang="en-US" sz="850" dirty="0"/>
          </a:p>
        </p:txBody>
      </p:sp>
      <p:sp>
        <p:nvSpPr>
          <p:cNvPr id="73" name="Text 71"/>
          <p:cNvSpPr/>
          <p:nvPr/>
        </p:nvSpPr>
        <p:spPr>
          <a:xfrm>
            <a:off x="6300216" y="2852928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이서연</a:t>
            </a:r>
            <a:endParaRPr lang="en-US" sz="900" dirty="0"/>
          </a:p>
        </p:txBody>
      </p:sp>
      <p:sp>
        <p:nvSpPr>
          <p:cNvPr id="74" name="Text 72"/>
          <p:cNvSpPr/>
          <p:nvPr/>
        </p:nvSpPr>
        <p:spPr>
          <a:xfrm>
            <a:off x="7059168" y="2852928"/>
            <a:ext cx="6400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디자인</a:t>
            </a:r>
            <a:endParaRPr lang="en-US" sz="850" dirty="0"/>
          </a:p>
        </p:txBody>
      </p:sp>
      <p:sp>
        <p:nvSpPr>
          <p:cNvPr id="75" name="Text 73"/>
          <p:cNvSpPr/>
          <p:nvPr/>
        </p:nvSpPr>
        <p:spPr>
          <a:xfrm>
            <a:off x="7772400" y="2852928"/>
            <a:ext cx="124358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1개월</a:t>
            </a:r>
            <a:endParaRPr lang="en-US" sz="850" dirty="0"/>
          </a:p>
        </p:txBody>
      </p:sp>
      <p:sp>
        <p:nvSpPr>
          <p:cNvPr id="76" name="Text 74"/>
          <p:cNvSpPr/>
          <p:nvPr/>
        </p:nvSpPr>
        <p:spPr>
          <a:xfrm>
            <a:off x="6300216" y="3090672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박지훈</a:t>
            </a:r>
            <a:endParaRPr lang="en-US" sz="900" dirty="0"/>
          </a:p>
        </p:txBody>
      </p:sp>
      <p:sp>
        <p:nvSpPr>
          <p:cNvPr id="77" name="Text 75"/>
          <p:cNvSpPr/>
          <p:nvPr/>
        </p:nvSpPr>
        <p:spPr>
          <a:xfrm>
            <a:off x="7059168" y="3090672"/>
            <a:ext cx="6400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마케팅</a:t>
            </a:r>
            <a:endParaRPr lang="en-US" sz="850" dirty="0"/>
          </a:p>
        </p:txBody>
      </p:sp>
      <p:sp>
        <p:nvSpPr>
          <p:cNvPr id="78" name="Text 76"/>
          <p:cNvSpPr/>
          <p:nvPr/>
        </p:nvSpPr>
        <p:spPr>
          <a:xfrm>
            <a:off x="7772400" y="3090672"/>
            <a:ext cx="124358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3일</a:t>
            </a:r>
            <a:endParaRPr lang="en-US" sz="850" dirty="0"/>
          </a:p>
        </p:txBody>
      </p:sp>
      <p:sp>
        <p:nvSpPr>
          <p:cNvPr id="79" name="Shape 77"/>
          <p:cNvSpPr/>
          <p:nvPr/>
        </p:nvSpPr>
        <p:spPr>
          <a:xfrm>
            <a:off x="6190488" y="3383280"/>
            <a:ext cx="2926080" cy="1115568"/>
          </a:xfrm>
          <a:prstGeom prst="rect">
            <a:avLst/>
          </a:prstGeom>
          <a:solidFill>
            <a:srgbClr val="FFFFFF"/>
          </a:solidFill>
          <a:ln w="12700">
            <a:solidFill>
              <a:srgbClr val="DEE2E8"/>
            </a:solidFill>
            <a:prstDash val="solid"/>
          </a:ln>
          <a:effectLst>
            <a:outerShdw blurRad="508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0" name="Text 78"/>
          <p:cNvSpPr/>
          <p:nvPr/>
        </p:nvSpPr>
        <p:spPr>
          <a:xfrm>
            <a:off x="6300216" y="3493008"/>
            <a:ext cx="2743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철수 임박 (30일 이내)</a:t>
            </a:r>
            <a:endParaRPr lang="en-US" sz="1100" dirty="0"/>
          </a:p>
        </p:txBody>
      </p:sp>
      <p:sp>
        <p:nvSpPr>
          <p:cNvPr id="81" name="Shape 79"/>
          <p:cNvSpPr/>
          <p:nvPr/>
        </p:nvSpPr>
        <p:spPr>
          <a:xfrm>
            <a:off x="6236208" y="3785616"/>
            <a:ext cx="2880360" cy="256032"/>
          </a:xfrm>
          <a:prstGeom prst="rect">
            <a:avLst/>
          </a:prstGeom>
          <a:solidFill>
            <a:srgbClr val="FEE2E2"/>
          </a:solidFill>
          <a:ln w="12700">
            <a:solidFill>
              <a:srgbClr val="B91C1C">
                <a:alpha val="50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2" name="Text 80"/>
          <p:cNvSpPr/>
          <p:nvPr/>
        </p:nvSpPr>
        <p:spPr>
          <a:xfrm>
            <a:off x="6345936" y="3785616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최유나  /  A금융  →  철수 06.15</a:t>
            </a:r>
            <a:endParaRPr lang="en-US" sz="900" dirty="0"/>
          </a:p>
        </p:txBody>
      </p:sp>
      <p:sp>
        <p:nvSpPr>
          <p:cNvPr id="83" name="Shape 81"/>
          <p:cNvSpPr/>
          <p:nvPr/>
        </p:nvSpPr>
        <p:spPr>
          <a:xfrm>
            <a:off x="6236208" y="4078224"/>
            <a:ext cx="2880360" cy="256032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>
                <a:alpha val="50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4" name="Text 82"/>
          <p:cNvSpPr/>
          <p:nvPr/>
        </p:nvSpPr>
        <p:spPr>
          <a:xfrm>
            <a:off x="6345936" y="4078224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정다은  /  B공공  →  철수 06.28</a:t>
            </a:r>
            <a:endParaRPr lang="en-US" sz="900" dirty="0"/>
          </a:p>
        </p:txBody>
      </p:sp>
    </p:spTree>
    <p:extLst>
      <p:ext uri="{BB962C8B-B14F-4D97-AF65-F5344CB8AC3E}">
        <p14:creationId xmlns:p14="http://schemas.microsoft.com/office/powerpoint/2010/main" val="323589284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47472"/>
          </a:xfrm>
          <a:prstGeom prst="rect">
            <a:avLst/>
          </a:prstGeom>
          <a:solidFill>
            <a:srgbClr val="1A2744"/>
          </a:solidFill>
          <a:ln w="12700">
            <a:solidFill>
              <a:srgbClr val="1A274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164592" y="0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7B9C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employee 도메인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0" y="0"/>
            <a:ext cx="8778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직원 목록 (투입 프로젝트 컬럼 추가)  ·  /employees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8887968" y="0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4A6A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9/13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0" y="347472"/>
            <a:ext cx="1417320" cy="4796028"/>
          </a:xfrm>
          <a:prstGeom prst="rect">
            <a:avLst/>
          </a:prstGeom>
          <a:solidFill>
            <a:srgbClr val="1A2744"/>
          </a:solidFill>
          <a:ln w="12700">
            <a:solidFill>
              <a:srgbClr val="1A274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0" y="347472"/>
            <a:ext cx="1417320" cy="512064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0" y="347472"/>
            <a:ext cx="141732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Peoplify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4864" y="1005840"/>
            <a:ext cx="13167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대시보드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0" y="1563624"/>
            <a:ext cx="1417320" cy="512064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Shape 9"/>
          <p:cNvSpPr/>
          <p:nvPr/>
        </p:nvSpPr>
        <p:spPr>
          <a:xfrm>
            <a:off x="0" y="1563624"/>
            <a:ext cx="36576" cy="512064"/>
          </a:xfrm>
          <a:prstGeom prst="rect">
            <a:avLst/>
          </a:prstGeom>
          <a:solidFill>
            <a:srgbClr val="3B9EE8"/>
          </a:solidFill>
          <a:ln w="12700">
            <a:solidFill>
              <a:srgbClr val="3B9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54864" y="1609344"/>
            <a:ext cx="13167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직원관리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54864" y="2212848"/>
            <a:ext cx="13167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프로젝트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54864" y="2816352"/>
            <a:ext cx="13167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근태관리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54864" y="3419856"/>
            <a:ext cx="13167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리포트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1417320" y="347472"/>
            <a:ext cx="772668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DEE2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Shape 15"/>
          <p:cNvSpPr/>
          <p:nvPr/>
        </p:nvSpPr>
        <p:spPr>
          <a:xfrm>
            <a:off x="1572768" y="448056"/>
            <a:ext cx="2926080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DEE2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Text 16"/>
          <p:cNvSpPr/>
          <p:nvPr/>
        </p:nvSpPr>
        <p:spPr>
          <a:xfrm>
            <a:off x="1609344" y="448056"/>
            <a:ext cx="285292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검색...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8046720" y="43891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🔔  관리자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8833104" y="448056"/>
            <a:ext cx="237744" cy="237744"/>
          </a:xfrm>
          <a:prstGeom prst="ellipse">
            <a:avLst/>
          </a:prstGeom>
          <a:solidFill>
            <a:srgbClr val="185FA5"/>
          </a:solidFill>
          <a:ln w="12700">
            <a:solidFill>
              <a:srgbClr val="185FA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Text 19"/>
          <p:cNvSpPr/>
          <p:nvPr/>
        </p:nvSpPr>
        <p:spPr>
          <a:xfrm>
            <a:off x="8833104" y="448056"/>
            <a:ext cx="23774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1417320" y="786384"/>
            <a:ext cx="7726680" cy="4357116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Text 21"/>
          <p:cNvSpPr/>
          <p:nvPr/>
        </p:nvSpPr>
        <p:spPr>
          <a:xfrm>
            <a:off x="1572768" y="877824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직원 관리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8266176" y="877824"/>
            <a:ext cx="713232" cy="256032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Text 23"/>
          <p:cNvSpPr/>
          <p:nvPr/>
        </p:nvSpPr>
        <p:spPr>
          <a:xfrm>
            <a:off x="8266176" y="877824"/>
            <a:ext cx="7132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직원 등록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1572768" y="1207008"/>
            <a:ext cx="740664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DEE2E8"/>
            </a:solidFill>
            <a:prstDash val="solid"/>
          </a:ln>
          <a:effectLst>
            <a:outerShdw blurRad="508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7" name="Shape 25"/>
          <p:cNvSpPr/>
          <p:nvPr/>
        </p:nvSpPr>
        <p:spPr>
          <a:xfrm>
            <a:off x="1682496" y="1316736"/>
            <a:ext cx="1828800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DEE2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Text 26"/>
          <p:cNvSpPr/>
          <p:nvPr/>
        </p:nvSpPr>
        <p:spPr>
          <a:xfrm>
            <a:off x="1737360" y="1316736"/>
            <a:ext cx="17373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이름 검색...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3639312" y="1316736"/>
            <a:ext cx="1060704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DEE2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0" name="Text 28"/>
          <p:cNvSpPr/>
          <p:nvPr/>
        </p:nvSpPr>
        <p:spPr>
          <a:xfrm>
            <a:off x="3694176" y="1316736"/>
            <a:ext cx="96926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부서 ▾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4754880" y="1316736"/>
            <a:ext cx="1060704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DEE2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2" name="Text 30"/>
          <p:cNvSpPr/>
          <p:nvPr/>
        </p:nvSpPr>
        <p:spPr>
          <a:xfrm>
            <a:off x="4809744" y="1316736"/>
            <a:ext cx="96926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재직상태 ▾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5870448" y="1316736"/>
            <a:ext cx="1060704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DEE2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4" name="Text 32"/>
          <p:cNvSpPr/>
          <p:nvPr/>
        </p:nvSpPr>
        <p:spPr>
          <a:xfrm>
            <a:off x="5925312" y="1316736"/>
            <a:ext cx="96926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투입상태 ▾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1572768" y="1719072"/>
            <a:ext cx="7406640" cy="3310128"/>
          </a:xfrm>
          <a:prstGeom prst="rect">
            <a:avLst/>
          </a:prstGeom>
          <a:solidFill>
            <a:srgbClr val="FFFFFF"/>
          </a:solidFill>
          <a:ln w="12700">
            <a:solidFill>
              <a:srgbClr val="DEE2E8"/>
            </a:solidFill>
            <a:prstDash val="solid"/>
          </a:ln>
          <a:effectLst>
            <a:outerShdw blurRad="508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6" name="Shape 34"/>
          <p:cNvSpPr/>
          <p:nvPr/>
        </p:nvSpPr>
        <p:spPr>
          <a:xfrm>
            <a:off x="1627632" y="1737360"/>
            <a:ext cx="768096" cy="256032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7" name="Text 35"/>
          <p:cNvSpPr/>
          <p:nvPr/>
        </p:nvSpPr>
        <p:spPr>
          <a:xfrm>
            <a:off x="1664208" y="1737360"/>
            <a:ext cx="731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이름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2359152" y="1737360"/>
            <a:ext cx="630936" cy="256032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9" name="Text 37"/>
          <p:cNvSpPr/>
          <p:nvPr/>
        </p:nvSpPr>
        <p:spPr>
          <a:xfrm>
            <a:off x="2395728" y="1737360"/>
            <a:ext cx="594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부서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2953512" y="1737360"/>
            <a:ext cx="585216" cy="256032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1" name="Text 39"/>
          <p:cNvSpPr/>
          <p:nvPr/>
        </p:nvSpPr>
        <p:spPr>
          <a:xfrm>
            <a:off x="2990088" y="1737360"/>
            <a:ext cx="548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직급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3502152" y="1737360"/>
            <a:ext cx="2048256" cy="256032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3" name="Text 41"/>
          <p:cNvSpPr/>
          <p:nvPr/>
        </p:nvSpPr>
        <p:spPr>
          <a:xfrm>
            <a:off x="3538728" y="173736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현재 투입 프로젝트</a:t>
            </a:r>
            <a:endParaRPr lang="en-US" sz="800" dirty="0"/>
          </a:p>
        </p:txBody>
      </p:sp>
      <p:sp>
        <p:nvSpPr>
          <p:cNvPr id="44" name="Shape 42"/>
          <p:cNvSpPr/>
          <p:nvPr/>
        </p:nvSpPr>
        <p:spPr>
          <a:xfrm>
            <a:off x="5513832" y="1737360"/>
            <a:ext cx="585216" cy="256032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ext 43"/>
          <p:cNvSpPr/>
          <p:nvPr/>
        </p:nvSpPr>
        <p:spPr>
          <a:xfrm>
            <a:off x="5550408" y="1737360"/>
            <a:ext cx="548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투입률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6062472" y="1737360"/>
            <a:ext cx="630936" cy="256032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ext 45"/>
          <p:cNvSpPr/>
          <p:nvPr/>
        </p:nvSpPr>
        <p:spPr>
          <a:xfrm>
            <a:off x="6099048" y="1737360"/>
            <a:ext cx="594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재직상태</a:t>
            </a:r>
            <a:endParaRPr lang="en-US" sz="800" dirty="0"/>
          </a:p>
        </p:txBody>
      </p:sp>
      <p:sp>
        <p:nvSpPr>
          <p:cNvPr id="48" name="Shape 46"/>
          <p:cNvSpPr/>
          <p:nvPr/>
        </p:nvSpPr>
        <p:spPr>
          <a:xfrm>
            <a:off x="6656832" y="1737360"/>
            <a:ext cx="676656" cy="256032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ext 47"/>
          <p:cNvSpPr/>
          <p:nvPr/>
        </p:nvSpPr>
        <p:spPr>
          <a:xfrm>
            <a:off x="6693408" y="1737360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액션</a:t>
            </a:r>
            <a:endParaRPr lang="en-US" sz="800" dirty="0"/>
          </a:p>
        </p:txBody>
      </p:sp>
      <p:sp>
        <p:nvSpPr>
          <p:cNvPr id="50" name="Shape 48"/>
          <p:cNvSpPr/>
          <p:nvPr/>
        </p:nvSpPr>
        <p:spPr>
          <a:xfrm>
            <a:off x="1572768" y="2029968"/>
            <a:ext cx="7406640" cy="347472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ext 49"/>
          <p:cNvSpPr/>
          <p:nvPr/>
        </p:nvSpPr>
        <p:spPr>
          <a:xfrm>
            <a:off x="1664208" y="2029968"/>
            <a:ext cx="7315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김민준</a:t>
            </a:r>
            <a:endParaRPr lang="en-US" sz="850" dirty="0"/>
          </a:p>
        </p:txBody>
      </p:sp>
      <p:sp>
        <p:nvSpPr>
          <p:cNvPr id="52" name="Text 50"/>
          <p:cNvSpPr/>
          <p:nvPr/>
        </p:nvSpPr>
        <p:spPr>
          <a:xfrm>
            <a:off x="2395728" y="2029968"/>
            <a:ext cx="594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개발팀</a:t>
            </a:r>
            <a:endParaRPr lang="en-US" sz="850" dirty="0"/>
          </a:p>
        </p:txBody>
      </p:sp>
      <p:sp>
        <p:nvSpPr>
          <p:cNvPr id="53" name="Text 51"/>
          <p:cNvSpPr/>
          <p:nvPr/>
        </p:nvSpPr>
        <p:spPr>
          <a:xfrm>
            <a:off x="2990088" y="2029968"/>
            <a:ext cx="548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과장</a:t>
            </a:r>
            <a:endParaRPr lang="en-US" sz="850" dirty="0"/>
          </a:p>
        </p:txBody>
      </p:sp>
      <p:sp>
        <p:nvSpPr>
          <p:cNvPr id="54" name="Text 52"/>
          <p:cNvSpPr/>
          <p:nvPr/>
        </p:nvSpPr>
        <p:spPr>
          <a:xfrm>
            <a:off x="3538728" y="2029968"/>
            <a:ext cx="20116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A금융 차세대 코어뱅킹</a:t>
            </a:r>
            <a:endParaRPr lang="en-US" sz="850" dirty="0"/>
          </a:p>
        </p:txBody>
      </p:sp>
      <p:sp>
        <p:nvSpPr>
          <p:cNvPr id="55" name="Text 53"/>
          <p:cNvSpPr/>
          <p:nvPr/>
        </p:nvSpPr>
        <p:spPr>
          <a:xfrm>
            <a:off x="5550408" y="2029968"/>
            <a:ext cx="548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850" dirty="0"/>
          </a:p>
        </p:txBody>
      </p:sp>
      <p:sp>
        <p:nvSpPr>
          <p:cNvPr id="56" name="Shape 54"/>
          <p:cNvSpPr/>
          <p:nvPr/>
        </p:nvSpPr>
        <p:spPr>
          <a:xfrm>
            <a:off x="6099048" y="2112264"/>
            <a:ext cx="566928" cy="182880"/>
          </a:xfrm>
          <a:prstGeom prst="rect">
            <a:avLst/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ext 55"/>
          <p:cNvSpPr/>
          <p:nvPr/>
        </p:nvSpPr>
        <p:spPr>
          <a:xfrm>
            <a:off x="6099048" y="2112264"/>
            <a:ext cx="56692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재직</a:t>
            </a:r>
            <a:endParaRPr lang="en-US" sz="800" dirty="0"/>
          </a:p>
        </p:txBody>
      </p:sp>
      <p:sp>
        <p:nvSpPr>
          <p:cNvPr id="58" name="Shape 56"/>
          <p:cNvSpPr/>
          <p:nvPr/>
        </p:nvSpPr>
        <p:spPr>
          <a:xfrm>
            <a:off x="6729984" y="2112264"/>
            <a:ext cx="256032" cy="182880"/>
          </a:xfrm>
          <a:prstGeom prst="rect">
            <a:avLst/>
          </a:prstGeom>
          <a:solidFill>
            <a:srgbClr val="DBEAFE"/>
          </a:solidFill>
          <a:ln w="12700">
            <a:solidFill>
              <a:srgbClr val="DEE2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ext 57"/>
          <p:cNvSpPr/>
          <p:nvPr/>
        </p:nvSpPr>
        <p:spPr>
          <a:xfrm>
            <a:off x="6729984" y="2112264"/>
            <a:ext cx="25603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상세</a:t>
            </a:r>
            <a:endParaRPr lang="en-US" sz="700" dirty="0"/>
          </a:p>
        </p:txBody>
      </p:sp>
      <p:sp>
        <p:nvSpPr>
          <p:cNvPr id="60" name="Text 58"/>
          <p:cNvSpPr/>
          <p:nvPr/>
        </p:nvSpPr>
        <p:spPr>
          <a:xfrm>
            <a:off x="1664208" y="2377440"/>
            <a:ext cx="7315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이서연</a:t>
            </a:r>
            <a:endParaRPr lang="en-US" sz="850" dirty="0"/>
          </a:p>
        </p:txBody>
      </p:sp>
      <p:sp>
        <p:nvSpPr>
          <p:cNvPr id="61" name="Text 59"/>
          <p:cNvSpPr/>
          <p:nvPr/>
        </p:nvSpPr>
        <p:spPr>
          <a:xfrm>
            <a:off x="2395728" y="2377440"/>
            <a:ext cx="594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디자인</a:t>
            </a:r>
            <a:endParaRPr lang="en-US" sz="850" dirty="0"/>
          </a:p>
        </p:txBody>
      </p:sp>
      <p:sp>
        <p:nvSpPr>
          <p:cNvPr id="62" name="Text 60"/>
          <p:cNvSpPr/>
          <p:nvPr/>
        </p:nvSpPr>
        <p:spPr>
          <a:xfrm>
            <a:off x="2990088" y="2377440"/>
            <a:ext cx="548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대리</a:t>
            </a:r>
            <a:endParaRPr lang="en-US" sz="850" dirty="0"/>
          </a:p>
        </p:txBody>
      </p:sp>
      <p:sp>
        <p:nvSpPr>
          <p:cNvPr id="63" name="Text 61"/>
          <p:cNvSpPr/>
          <p:nvPr/>
        </p:nvSpPr>
        <p:spPr>
          <a:xfrm>
            <a:off x="3538728" y="2377440"/>
            <a:ext cx="20116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벤치 (미투입)</a:t>
            </a:r>
            <a:endParaRPr lang="en-US" sz="850" dirty="0"/>
          </a:p>
        </p:txBody>
      </p:sp>
      <p:sp>
        <p:nvSpPr>
          <p:cNvPr id="64" name="Text 62"/>
          <p:cNvSpPr/>
          <p:nvPr/>
        </p:nvSpPr>
        <p:spPr>
          <a:xfrm>
            <a:off x="5550408" y="2377440"/>
            <a:ext cx="548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0%</a:t>
            </a:r>
            <a:endParaRPr lang="en-US" sz="850" dirty="0"/>
          </a:p>
        </p:txBody>
      </p:sp>
      <p:sp>
        <p:nvSpPr>
          <p:cNvPr id="65" name="Shape 63"/>
          <p:cNvSpPr/>
          <p:nvPr/>
        </p:nvSpPr>
        <p:spPr>
          <a:xfrm>
            <a:off x="6099048" y="2459736"/>
            <a:ext cx="566928" cy="182880"/>
          </a:xfrm>
          <a:prstGeom prst="rect">
            <a:avLst/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6" name="Text 64"/>
          <p:cNvSpPr/>
          <p:nvPr/>
        </p:nvSpPr>
        <p:spPr>
          <a:xfrm>
            <a:off x="6099048" y="2459736"/>
            <a:ext cx="56692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재직</a:t>
            </a:r>
            <a:endParaRPr lang="en-US" sz="800" dirty="0"/>
          </a:p>
        </p:txBody>
      </p:sp>
      <p:sp>
        <p:nvSpPr>
          <p:cNvPr id="67" name="Shape 65"/>
          <p:cNvSpPr/>
          <p:nvPr/>
        </p:nvSpPr>
        <p:spPr>
          <a:xfrm>
            <a:off x="6729984" y="2459736"/>
            <a:ext cx="256032" cy="182880"/>
          </a:xfrm>
          <a:prstGeom prst="rect">
            <a:avLst/>
          </a:prstGeom>
          <a:solidFill>
            <a:srgbClr val="DBEAFE"/>
          </a:solidFill>
          <a:ln w="12700">
            <a:solidFill>
              <a:srgbClr val="DEE2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8" name="Text 66"/>
          <p:cNvSpPr/>
          <p:nvPr/>
        </p:nvSpPr>
        <p:spPr>
          <a:xfrm>
            <a:off x="6729984" y="2459736"/>
            <a:ext cx="25603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상세</a:t>
            </a:r>
            <a:endParaRPr lang="en-US" sz="700" dirty="0"/>
          </a:p>
        </p:txBody>
      </p:sp>
      <p:sp>
        <p:nvSpPr>
          <p:cNvPr id="69" name="Shape 67"/>
          <p:cNvSpPr/>
          <p:nvPr/>
        </p:nvSpPr>
        <p:spPr>
          <a:xfrm>
            <a:off x="1572768" y="2724912"/>
            <a:ext cx="7406640" cy="347472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0" name="Text 68"/>
          <p:cNvSpPr/>
          <p:nvPr/>
        </p:nvSpPr>
        <p:spPr>
          <a:xfrm>
            <a:off x="1664208" y="2724912"/>
            <a:ext cx="7315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박지훈</a:t>
            </a:r>
            <a:endParaRPr lang="en-US" sz="850" dirty="0"/>
          </a:p>
        </p:txBody>
      </p:sp>
      <p:sp>
        <p:nvSpPr>
          <p:cNvPr id="71" name="Text 69"/>
          <p:cNvSpPr/>
          <p:nvPr/>
        </p:nvSpPr>
        <p:spPr>
          <a:xfrm>
            <a:off x="2395728" y="2724912"/>
            <a:ext cx="594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마케팅</a:t>
            </a:r>
            <a:endParaRPr lang="en-US" sz="850" dirty="0"/>
          </a:p>
        </p:txBody>
      </p:sp>
      <p:sp>
        <p:nvSpPr>
          <p:cNvPr id="72" name="Text 70"/>
          <p:cNvSpPr/>
          <p:nvPr/>
        </p:nvSpPr>
        <p:spPr>
          <a:xfrm>
            <a:off x="2990088" y="2724912"/>
            <a:ext cx="548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사원</a:t>
            </a:r>
            <a:endParaRPr lang="en-US" sz="850" dirty="0"/>
          </a:p>
        </p:txBody>
      </p:sp>
      <p:sp>
        <p:nvSpPr>
          <p:cNvPr id="73" name="Text 71"/>
          <p:cNvSpPr/>
          <p:nvPr/>
        </p:nvSpPr>
        <p:spPr>
          <a:xfrm>
            <a:off x="3538728" y="2724912"/>
            <a:ext cx="20116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C제조 MES</a:t>
            </a:r>
            <a:endParaRPr lang="en-US" sz="850" dirty="0"/>
          </a:p>
        </p:txBody>
      </p:sp>
      <p:sp>
        <p:nvSpPr>
          <p:cNvPr id="74" name="Text 72"/>
          <p:cNvSpPr/>
          <p:nvPr/>
        </p:nvSpPr>
        <p:spPr>
          <a:xfrm>
            <a:off x="5550408" y="2724912"/>
            <a:ext cx="548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850" dirty="0"/>
          </a:p>
        </p:txBody>
      </p:sp>
      <p:sp>
        <p:nvSpPr>
          <p:cNvPr id="75" name="Shape 73"/>
          <p:cNvSpPr/>
          <p:nvPr/>
        </p:nvSpPr>
        <p:spPr>
          <a:xfrm>
            <a:off x="6099048" y="2807208"/>
            <a:ext cx="566928" cy="182880"/>
          </a:xfrm>
          <a:prstGeom prst="rect">
            <a:avLst/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6" name="Text 74"/>
          <p:cNvSpPr/>
          <p:nvPr/>
        </p:nvSpPr>
        <p:spPr>
          <a:xfrm>
            <a:off x="6099048" y="2807208"/>
            <a:ext cx="56692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재직</a:t>
            </a:r>
            <a:endParaRPr lang="en-US" sz="800" dirty="0"/>
          </a:p>
        </p:txBody>
      </p:sp>
      <p:sp>
        <p:nvSpPr>
          <p:cNvPr id="77" name="Shape 75"/>
          <p:cNvSpPr/>
          <p:nvPr/>
        </p:nvSpPr>
        <p:spPr>
          <a:xfrm>
            <a:off x="6729984" y="2807208"/>
            <a:ext cx="256032" cy="182880"/>
          </a:xfrm>
          <a:prstGeom prst="rect">
            <a:avLst/>
          </a:prstGeom>
          <a:solidFill>
            <a:srgbClr val="DBEAFE"/>
          </a:solidFill>
          <a:ln w="12700">
            <a:solidFill>
              <a:srgbClr val="DEE2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8" name="Text 76"/>
          <p:cNvSpPr/>
          <p:nvPr/>
        </p:nvSpPr>
        <p:spPr>
          <a:xfrm>
            <a:off x="6729984" y="2807208"/>
            <a:ext cx="25603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상세</a:t>
            </a:r>
            <a:endParaRPr lang="en-US" sz="700" dirty="0"/>
          </a:p>
        </p:txBody>
      </p:sp>
      <p:sp>
        <p:nvSpPr>
          <p:cNvPr id="79" name="Text 77"/>
          <p:cNvSpPr/>
          <p:nvPr/>
        </p:nvSpPr>
        <p:spPr>
          <a:xfrm>
            <a:off x="1664208" y="3072384"/>
            <a:ext cx="7315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최유나</a:t>
            </a:r>
            <a:endParaRPr lang="en-US" sz="850" dirty="0"/>
          </a:p>
        </p:txBody>
      </p:sp>
      <p:sp>
        <p:nvSpPr>
          <p:cNvPr id="80" name="Text 78"/>
          <p:cNvSpPr/>
          <p:nvPr/>
        </p:nvSpPr>
        <p:spPr>
          <a:xfrm>
            <a:off x="2395728" y="3072384"/>
            <a:ext cx="594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</a:t>
            </a:r>
            <a:endParaRPr lang="en-US" sz="850" dirty="0"/>
          </a:p>
        </p:txBody>
      </p:sp>
      <p:sp>
        <p:nvSpPr>
          <p:cNvPr id="81" name="Text 79"/>
          <p:cNvSpPr/>
          <p:nvPr/>
        </p:nvSpPr>
        <p:spPr>
          <a:xfrm>
            <a:off x="2990088" y="3072384"/>
            <a:ext cx="548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차장</a:t>
            </a:r>
            <a:endParaRPr lang="en-US" sz="850" dirty="0"/>
          </a:p>
        </p:txBody>
      </p:sp>
      <p:sp>
        <p:nvSpPr>
          <p:cNvPr id="82" name="Text 80"/>
          <p:cNvSpPr/>
          <p:nvPr/>
        </p:nvSpPr>
        <p:spPr>
          <a:xfrm>
            <a:off x="3538728" y="3072384"/>
            <a:ext cx="20116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A금융 차세대 코어뱅킹</a:t>
            </a:r>
            <a:endParaRPr lang="en-US" sz="850" dirty="0"/>
          </a:p>
        </p:txBody>
      </p:sp>
      <p:sp>
        <p:nvSpPr>
          <p:cNvPr id="83" name="Text 81"/>
          <p:cNvSpPr/>
          <p:nvPr/>
        </p:nvSpPr>
        <p:spPr>
          <a:xfrm>
            <a:off x="5550408" y="3072384"/>
            <a:ext cx="548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50%</a:t>
            </a:r>
            <a:endParaRPr lang="en-US" sz="850" dirty="0"/>
          </a:p>
        </p:txBody>
      </p:sp>
      <p:sp>
        <p:nvSpPr>
          <p:cNvPr id="84" name="Shape 82"/>
          <p:cNvSpPr/>
          <p:nvPr/>
        </p:nvSpPr>
        <p:spPr>
          <a:xfrm>
            <a:off x="6099048" y="3154680"/>
            <a:ext cx="566928" cy="182880"/>
          </a:xfrm>
          <a:prstGeom prst="rect">
            <a:avLst/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5" name="Text 83"/>
          <p:cNvSpPr/>
          <p:nvPr/>
        </p:nvSpPr>
        <p:spPr>
          <a:xfrm>
            <a:off x="6099048" y="3154680"/>
            <a:ext cx="56692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재직</a:t>
            </a:r>
            <a:endParaRPr lang="en-US" sz="800" dirty="0"/>
          </a:p>
        </p:txBody>
      </p:sp>
      <p:sp>
        <p:nvSpPr>
          <p:cNvPr id="86" name="Shape 84"/>
          <p:cNvSpPr/>
          <p:nvPr/>
        </p:nvSpPr>
        <p:spPr>
          <a:xfrm>
            <a:off x="6729984" y="3154680"/>
            <a:ext cx="256032" cy="182880"/>
          </a:xfrm>
          <a:prstGeom prst="rect">
            <a:avLst/>
          </a:prstGeom>
          <a:solidFill>
            <a:srgbClr val="DBEAFE"/>
          </a:solidFill>
          <a:ln w="12700">
            <a:solidFill>
              <a:srgbClr val="DEE2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7" name="Text 85"/>
          <p:cNvSpPr/>
          <p:nvPr/>
        </p:nvSpPr>
        <p:spPr>
          <a:xfrm>
            <a:off x="6729984" y="3154680"/>
            <a:ext cx="25603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상세</a:t>
            </a:r>
            <a:endParaRPr lang="en-US" sz="700" dirty="0"/>
          </a:p>
        </p:txBody>
      </p:sp>
      <p:sp>
        <p:nvSpPr>
          <p:cNvPr id="88" name="Shape 86"/>
          <p:cNvSpPr/>
          <p:nvPr/>
        </p:nvSpPr>
        <p:spPr>
          <a:xfrm>
            <a:off x="1572768" y="3419856"/>
            <a:ext cx="7406640" cy="347472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9" name="Text 87"/>
          <p:cNvSpPr/>
          <p:nvPr/>
        </p:nvSpPr>
        <p:spPr>
          <a:xfrm>
            <a:off x="1664208" y="3419856"/>
            <a:ext cx="7315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정다은</a:t>
            </a:r>
            <a:endParaRPr lang="en-US" sz="850" dirty="0"/>
          </a:p>
        </p:txBody>
      </p:sp>
      <p:sp>
        <p:nvSpPr>
          <p:cNvPr id="90" name="Text 88"/>
          <p:cNvSpPr/>
          <p:nvPr/>
        </p:nvSpPr>
        <p:spPr>
          <a:xfrm>
            <a:off x="2395728" y="3419856"/>
            <a:ext cx="594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개발팀</a:t>
            </a:r>
            <a:endParaRPr lang="en-US" sz="850" dirty="0"/>
          </a:p>
        </p:txBody>
      </p:sp>
      <p:sp>
        <p:nvSpPr>
          <p:cNvPr id="91" name="Text 89"/>
          <p:cNvSpPr/>
          <p:nvPr/>
        </p:nvSpPr>
        <p:spPr>
          <a:xfrm>
            <a:off x="2990088" y="3419856"/>
            <a:ext cx="548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사원</a:t>
            </a:r>
            <a:endParaRPr lang="en-US" sz="850" dirty="0"/>
          </a:p>
        </p:txBody>
      </p:sp>
      <p:sp>
        <p:nvSpPr>
          <p:cNvPr id="92" name="Text 90"/>
          <p:cNvSpPr/>
          <p:nvPr/>
        </p:nvSpPr>
        <p:spPr>
          <a:xfrm>
            <a:off x="3538728" y="3419856"/>
            <a:ext cx="20116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B공공기관 ERP</a:t>
            </a:r>
            <a:endParaRPr lang="en-US" sz="850" dirty="0"/>
          </a:p>
        </p:txBody>
      </p:sp>
      <p:sp>
        <p:nvSpPr>
          <p:cNvPr id="93" name="Text 91"/>
          <p:cNvSpPr/>
          <p:nvPr/>
        </p:nvSpPr>
        <p:spPr>
          <a:xfrm>
            <a:off x="5550408" y="3419856"/>
            <a:ext cx="548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850" dirty="0"/>
          </a:p>
        </p:txBody>
      </p:sp>
      <p:sp>
        <p:nvSpPr>
          <p:cNvPr id="94" name="Shape 92"/>
          <p:cNvSpPr/>
          <p:nvPr/>
        </p:nvSpPr>
        <p:spPr>
          <a:xfrm>
            <a:off x="6099048" y="3502152"/>
            <a:ext cx="566928" cy="182880"/>
          </a:xfrm>
          <a:prstGeom prst="rect">
            <a:avLst/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5" name="Text 93"/>
          <p:cNvSpPr/>
          <p:nvPr/>
        </p:nvSpPr>
        <p:spPr>
          <a:xfrm>
            <a:off x="6099048" y="3502152"/>
            <a:ext cx="56692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재직</a:t>
            </a:r>
            <a:endParaRPr lang="en-US" sz="800" dirty="0"/>
          </a:p>
        </p:txBody>
      </p:sp>
      <p:sp>
        <p:nvSpPr>
          <p:cNvPr id="96" name="Shape 94"/>
          <p:cNvSpPr/>
          <p:nvPr/>
        </p:nvSpPr>
        <p:spPr>
          <a:xfrm>
            <a:off x="6729984" y="3502152"/>
            <a:ext cx="256032" cy="182880"/>
          </a:xfrm>
          <a:prstGeom prst="rect">
            <a:avLst/>
          </a:prstGeom>
          <a:solidFill>
            <a:srgbClr val="DBEAFE"/>
          </a:solidFill>
          <a:ln w="12700">
            <a:solidFill>
              <a:srgbClr val="DEE2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7" name="Text 95"/>
          <p:cNvSpPr/>
          <p:nvPr/>
        </p:nvSpPr>
        <p:spPr>
          <a:xfrm>
            <a:off x="6729984" y="3502152"/>
            <a:ext cx="25603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상세</a:t>
            </a:r>
            <a:endParaRPr lang="en-US" sz="700" dirty="0"/>
          </a:p>
        </p:txBody>
      </p:sp>
      <p:sp>
        <p:nvSpPr>
          <p:cNvPr id="98" name="Text 96"/>
          <p:cNvSpPr/>
          <p:nvPr/>
        </p:nvSpPr>
        <p:spPr>
          <a:xfrm>
            <a:off x="1664208" y="3767328"/>
            <a:ext cx="7315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홍길동</a:t>
            </a:r>
            <a:endParaRPr lang="en-US" sz="850" dirty="0"/>
          </a:p>
        </p:txBody>
      </p:sp>
      <p:sp>
        <p:nvSpPr>
          <p:cNvPr id="99" name="Text 97"/>
          <p:cNvSpPr/>
          <p:nvPr/>
        </p:nvSpPr>
        <p:spPr>
          <a:xfrm>
            <a:off x="2395728" y="3767328"/>
            <a:ext cx="594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영업</a:t>
            </a:r>
            <a:endParaRPr lang="en-US" sz="850" dirty="0"/>
          </a:p>
        </p:txBody>
      </p:sp>
      <p:sp>
        <p:nvSpPr>
          <p:cNvPr id="100" name="Text 98"/>
          <p:cNvSpPr/>
          <p:nvPr/>
        </p:nvSpPr>
        <p:spPr>
          <a:xfrm>
            <a:off x="2990088" y="3767328"/>
            <a:ext cx="548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부장</a:t>
            </a:r>
            <a:endParaRPr lang="en-US" sz="850" dirty="0"/>
          </a:p>
        </p:txBody>
      </p:sp>
      <p:sp>
        <p:nvSpPr>
          <p:cNvPr id="101" name="Text 99"/>
          <p:cNvSpPr/>
          <p:nvPr/>
        </p:nvSpPr>
        <p:spPr>
          <a:xfrm>
            <a:off x="3538728" y="3767328"/>
            <a:ext cx="20116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벤치 (미투입)</a:t>
            </a:r>
            <a:endParaRPr lang="en-US" sz="850" dirty="0"/>
          </a:p>
        </p:txBody>
      </p:sp>
      <p:sp>
        <p:nvSpPr>
          <p:cNvPr id="102" name="Text 100"/>
          <p:cNvSpPr/>
          <p:nvPr/>
        </p:nvSpPr>
        <p:spPr>
          <a:xfrm>
            <a:off x="5550408" y="3767328"/>
            <a:ext cx="548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0%</a:t>
            </a:r>
            <a:endParaRPr lang="en-US" sz="850" dirty="0"/>
          </a:p>
        </p:txBody>
      </p:sp>
      <p:sp>
        <p:nvSpPr>
          <p:cNvPr id="103" name="Shape 101"/>
          <p:cNvSpPr/>
          <p:nvPr/>
        </p:nvSpPr>
        <p:spPr>
          <a:xfrm>
            <a:off x="6099048" y="3849624"/>
            <a:ext cx="566928" cy="182880"/>
          </a:xfrm>
          <a:prstGeom prst="rect">
            <a:avLst/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4" name="Text 102"/>
          <p:cNvSpPr/>
          <p:nvPr/>
        </p:nvSpPr>
        <p:spPr>
          <a:xfrm>
            <a:off x="6099048" y="3849624"/>
            <a:ext cx="56692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휴직</a:t>
            </a:r>
            <a:endParaRPr lang="en-US" sz="800" dirty="0"/>
          </a:p>
        </p:txBody>
      </p:sp>
      <p:sp>
        <p:nvSpPr>
          <p:cNvPr id="105" name="Shape 103"/>
          <p:cNvSpPr/>
          <p:nvPr/>
        </p:nvSpPr>
        <p:spPr>
          <a:xfrm>
            <a:off x="6729984" y="3849624"/>
            <a:ext cx="256032" cy="182880"/>
          </a:xfrm>
          <a:prstGeom prst="rect">
            <a:avLst/>
          </a:prstGeom>
          <a:solidFill>
            <a:srgbClr val="DBEAFE"/>
          </a:solidFill>
          <a:ln w="12700">
            <a:solidFill>
              <a:srgbClr val="DEE2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6" name="Text 104"/>
          <p:cNvSpPr/>
          <p:nvPr/>
        </p:nvSpPr>
        <p:spPr>
          <a:xfrm>
            <a:off x="6729984" y="3849624"/>
            <a:ext cx="25603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상세</a:t>
            </a:r>
            <a:endParaRPr lang="en-US" sz="700" dirty="0"/>
          </a:p>
        </p:txBody>
      </p:sp>
    </p:spTree>
    <p:extLst>
      <p:ext uri="{BB962C8B-B14F-4D97-AF65-F5344CB8AC3E}">
        <p14:creationId xmlns:p14="http://schemas.microsoft.com/office/powerpoint/2010/main" val="399371452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" y="0"/>
            <a:ext cx="9143771" cy="397764"/>
          </a:xfrm>
          <a:prstGeom prst="rect">
            <a:avLst/>
          </a:prstGeom>
          <a:solidFill>
            <a:srgbClr val="13233D"/>
          </a:solidFill>
          <a:ln w="8890">
            <a:solidFill>
              <a:srgbClr val="13233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01752" y="82296"/>
            <a:ext cx="1371600" cy="192024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788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Peoplify UI 기획서</a:t>
            </a:r>
            <a:endParaRPr lang="en-US" sz="788" dirty="0"/>
          </a:p>
        </p:txBody>
      </p:sp>
      <p:sp>
        <p:nvSpPr>
          <p:cNvPr id="4" name="Text 2"/>
          <p:cNvSpPr/>
          <p:nvPr/>
        </p:nvSpPr>
        <p:spPr>
          <a:xfrm>
            <a:off x="2" y="68580"/>
            <a:ext cx="9143771" cy="246888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pPr algn="ctr"/>
            <a:r>
              <a:rPr lang="en-US" sz="1238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직원 상세 화면 설계</a:t>
            </a:r>
            <a:endParaRPr lang="en-US" sz="1238" dirty="0"/>
          </a:p>
        </p:txBody>
      </p:sp>
      <p:sp>
        <p:nvSpPr>
          <p:cNvPr id="5" name="Text 3"/>
          <p:cNvSpPr/>
          <p:nvPr/>
        </p:nvSpPr>
        <p:spPr>
          <a:xfrm>
            <a:off x="6665976" y="96012"/>
            <a:ext cx="2023110" cy="164592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pPr algn="r"/>
            <a:r>
              <a:rPr lang="en-US" sz="555" dirty="0">
                <a:solidFill>
                  <a:srgbClr val="D8E0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employee 도메인 · /employees/employee-detail/:id</a:t>
            </a:r>
            <a:endParaRPr lang="en-US" sz="555" dirty="0"/>
          </a:p>
        </p:txBody>
      </p:sp>
      <p:sp>
        <p:nvSpPr>
          <p:cNvPr id="6" name="Text 4"/>
          <p:cNvSpPr/>
          <p:nvPr/>
        </p:nvSpPr>
        <p:spPr>
          <a:xfrm>
            <a:off x="8833104" y="96012"/>
            <a:ext cx="150876" cy="164592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pPr algn="r"/>
            <a:r>
              <a:rPr lang="en-US" sz="638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638" dirty="0"/>
          </a:p>
        </p:txBody>
      </p:sp>
      <p:sp>
        <p:nvSpPr>
          <p:cNvPr id="7" name="Text 5"/>
          <p:cNvSpPr/>
          <p:nvPr/>
        </p:nvSpPr>
        <p:spPr>
          <a:xfrm>
            <a:off x="377190" y="576072"/>
            <a:ext cx="822960" cy="164592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825" b="1" dirty="0">
                <a:solidFill>
                  <a:srgbClr val="1323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설계</a:t>
            </a:r>
            <a:endParaRPr lang="en-US" sz="825" dirty="0"/>
          </a:p>
        </p:txBody>
      </p:sp>
      <p:sp>
        <p:nvSpPr>
          <p:cNvPr id="8" name="Text 6"/>
          <p:cNvSpPr/>
          <p:nvPr/>
        </p:nvSpPr>
        <p:spPr>
          <a:xfrm>
            <a:off x="6227064" y="562356"/>
            <a:ext cx="1234440" cy="192024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1050" b="1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Description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8380476" y="624078"/>
            <a:ext cx="377190" cy="123444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563" b="1" dirty="0">
                <a:solidFill>
                  <a:srgbClr val="0057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검토용</a:t>
            </a:r>
            <a:endParaRPr lang="en-US" sz="563" dirty="0"/>
          </a:p>
        </p:txBody>
      </p:sp>
      <p:sp>
        <p:nvSpPr>
          <p:cNvPr id="10" name="Shape 8"/>
          <p:cNvSpPr/>
          <p:nvPr/>
        </p:nvSpPr>
        <p:spPr>
          <a:xfrm>
            <a:off x="356616" y="740664"/>
            <a:ext cx="5719572" cy="3922776"/>
          </a:xfrm>
          <a:prstGeom prst="roundRect">
            <a:avLst>
              <a:gd name="adj" fmla="val 1224"/>
            </a:avLst>
          </a:prstGeom>
          <a:solidFill>
            <a:srgbClr val="FFFFFF"/>
          </a:solidFill>
          <a:ln w="8890">
            <a:solidFill>
              <a:srgbClr val="D5DDE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6344" y="850392"/>
            <a:ext cx="5500116" cy="3703320"/>
          </a:xfrm>
          <a:prstGeom prst="rect">
            <a:avLst/>
          </a:prstGeom>
          <a:solidFill>
            <a:srgbClr val="1F1E3A"/>
          </a:solidFill>
          <a:ln w="8890">
            <a:solidFill>
              <a:srgbClr val="1F1E3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66344" y="850392"/>
            <a:ext cx="5500116" cy="370332"/>
          </a:xfrm>
          <a:prstGeom prst="rect">
            <a:avLst/>
          </a:prstGeom>
          <a:solidFill>
            <a:srgbClr val="302F50"/>
          </a:solidFill>
          <a:ln w="8890">
            <a:solidFill>
              <a:srgbClr val="302F5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66344" y="850392"/>
            <a:ext cx="1062990" cy="3703320"/>
          </a:xfrm>
          <a:prstGeom prst="rect">
            <a:avLst/>
          </a:prstGeom>
          <a:solidFill>
            <a:srgbClr val="2F2E4F"/>
          </a:solidFill>
          <a:ln w="8890">
            <a:solidFill>
              <a:srgbClr val="2F2E4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0" y="939546"/>
            <a:ext cx="857250" cy="109728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54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⚙  인력관리 시스템</a:t>
            </a:r>
            <a:endParaRPr lang="en-US" sz="540" dirty="0"/>
          </a:p>
        </p:txBody>
      </p:sp>
      <p:sp>
        <p:nvSpPr>
          <p:cNvPr id="15" name="Text 13"/>
          <p:cNvSpPr/>
          <p:nvPr/>
        </p:nvSpPr>
        <p:spPr>
          <a:xfrm>
            <a:off x="665226" y="1056132"/>
            <a:ext cx="548640" cy="68580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360" dirty="0">
                <a:solidFill>
                  <a:srgbClr val="C9C7E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Peoplify v1.0</a:t>
            </a:r>
            <a:endParaRPr lang="en-US" sz="360" dirty="0"/>
          </a:p>
        </p:txBody>
      </p:sp>
      <p:sp>
        <p:nvSpPr>
          <p:cNvPr id="16" name="Text 14"/>
          <p:cNvSpPr/>
          <p:nvPr/>
        </p:nvSpPr>
        <p:spPr>
          <a:xfrm>
            <a:off x="555498" y="1330452"/>
            <a:ext cx="514350" cy="82296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375" dirty="0">
                <a:solidFill>
                  <a:srgbClr val="B6B4D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메인 메뉴</a:t>
            </a:r>
            <a:endParaRPr lang="en-US" sz="375" dirty="0"/>
          </a:p>
        </p:txBody>
      </p:sp>
      <p:sp>
        <p:nvSpPr>
          <p:cNvPr id="17" name="Text 15"/>
          <p:cNvSpPr/>
          <p:nvPr/>
        </p:nvSpPr>
        <p:spPr>
          <a:xfrm>
            <a:off x="569214" y="1508760"/>
            <a:ext cx="850392" cy="116586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450" b="1" dirty="0">
                <a:solidFill>
                  <a:srgbClr val="F7F7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▦  대시보드</a:t>
            </a:r>
            <a:endParaRPr lang="en-US" sz="450" dirty="0"/>
          </a:p>
        </p:txBody>
      </p:sp>
      <p:sp>
        <p:nvSpPr>
          <p:cNvPr id="18" name="Text 16"/>
          <p:cNvSpPr/>
          <p:nvPr/>
        </p:nvSpPr>
        <p:spPr>
          <a:xfrm>
            <a:off x="569214" y="1776222"/>
            <a:ext cx="850392" cy="116586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450" b="1" dirty="0">
                <a:solidFill>
                  <a:srgbClr val="F7F7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♙  직원관리     ˅</a:t>
            </a:r>
            <a:endParaRPr lang="en-US" sz="450" dirty="0"/>
          </a:p>
        </p:txBody>
      </p:sp>
      <p:sp>
        <p:nvSpPr>
          <p:cNvPr id="19" name="Text 17"/>
          <p:cNvSpPr/>
          <p:nvPr/>
        </p:nvSpPr>
        <p:spPr>
          <a:xfrm>
            <a:off x="569214" y="2043684"/>
            <a:ext cx="850392" cy="116586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450" b="1" dirty="0">
                <a:solidFill>
                  <a:srgbClr val="F7F7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▣  프로젝트      ˅</a:t>
            </a:r>
            <a:endParaRPr lang="en-US" sz="450" dirty="0"/>
          </a:p>
        </p:txBody>
      </p:sp>
      <p:sp>
        <p:nvSpPr>
          <p:cNvPr id="20" name="Text 18"/>
          <p:cNvSpPr/>
          <p:nvPr/>
        </p:nvSpPr>
        <p:spPr>
          <a:xfrm>
            <a:off x="569214" y="2311146"/>
            <a:ext cx="850392" cy="116586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450" b="1" dirty="0">
                <a:solidFill>
                  <a:srgbClr val="F7F7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◴  근태관리      ˅</a:t>
            </a:r>
            <a:endParaRPr lang="en-US" sz="450" dirty="0"/>
          </a:p>
        </p:txBody>
      </p:sp>
      <p:sp>
        <p:nvSpPr>
          <p:cNvPr id="21" name="Text 19"/>
          <p:cNvSpPr/>
          <p:nvPr/>
        </p:nvSpPr>
        <p:spPr>
          <a:xfrm>
            <a:off x="569214" y="2578608"/>
            <a:ext cx="850392" cy="116586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450" b="1" dirty="0">
                <a:solidFill>
                  <a:srgbClr val="F7F7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▥  리포트</a:t>
            </a:r>
            <a:endParaRPr lang="en-US" sz="450" dirty="0"/>
          </a:p>
        </p:txBody>
      </p:sp>
      <p:sp>
        <p:nvSpPr>
          <p:cNvPr id="22" name="Text 20"/>
          <p:cNvSpPr/>
          <p:nvPr/>
        </p:nvSpPr>
        <p:spPr>
          <a:xfrm>
            <a:off x="569214" y="2846070"/>
            <a:ext cx="850392" cy="116586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375" dirty="0">
                <a:solidFill>
                  <a:srgbClr val="A8A6C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패럴링(임시)</a:t>
            </a:r>
            <a:endParaRPr lang="en-US" sz="375" dirty="0"/>
          </a:p>
        </p:txBody>
      </p:sp>
      <p:sp>
        <p:nvSpPr>
          <p:cNvPr id="23" name="Text 21"/>
          <p:cNvSpPr/>
          <p:nvPr/>
        </p:nvSpPr>
        <p:spPr>
          <a:xfrm>
            <a:off x="569214" y="3051810"/>
            <a:ext cx="850392" cy="116586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450" b="1" dirty="0">
                <a:solidFill>
                  <a:srgbClr val="F7F7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▦  대시보드</a:t>
            </a:r>
            <a:endParaRPr lang="en-US" sz="450" dirty="0"/>
          </a:p>
        </p:txBody>
      </p:sp>
      <p:sp>
        <p:nvSpPr>
          <p:cNvPr id="24" name="Text 22"/>
          <p:cNvSpPr/>
          <p:nvPr/>
        </p:nvSpPr>
        <p:spPr>
          <a:xfrm>
            <a:off x="569214" y="3319272"/>
            <a:ext cx="850392" cy="116586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450" b="1" dirty="0">
                <a:solidFill>
                  <a:srgbClr val="F7F7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♙  직원관리     ˅</a:t>
            </a:r>
            <a:endParaRPr lang="en-US" sz="450" dirty="0"/>
          </a:p>
        </p:txBody>
      </p:sp>
      <p:sp>
        <p:nvSpPr>
          <p:cNvPr id="25" name="Text 23"/>
          <p:cNvSpPr/>
          <p:nvPr/>
        </p:nvSpPr>
        <p:spPr>
          <a:xfrm>
            <a:off x="569214" y="3586734"/>
            <a:ext cx="850392" cy="116586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450" b="1" dirty="0">
                <a:solidFill>
                  <a:srgbClr val="F7F7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▣  프로젝트      ˅</a:t>
            </a:r>
            <a:endParaRPr lang="en-US" sz="450" dirty="0"/>
          </a:p>
        </p:txBody>
      </p:sp>
      <p:sp>
        <p:nvSpPr>
          <p:cNvPr id="26" name="Text 24"/>
          <p:cNvSpPr/>
          <p:nvPr/>
        </p:nvSpPr>
        <p:spPr>
          <a:xfrm>
            <a:off x="569214" y="3854196"/>
            <a:ext cx="850392" cy="116586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450" b="1" dirty="0">
                <a:solidFill>
                  <a:srgbClr val="F7F7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◴  근태관리      ˅</a:t>
            </a:r>
            <a:endParaRPr lang="en-US" sz="450" dirty="0"/>
          </a:p>
        </p:txBody>
      </p:sp>
      <p:sp>
        <p:nvSpPr>
          <p:cNvPr id="27" name="Text 25"/>
          <p:cNvSpPr/>
          <p:nvPr/>
        </p:nvSpPr>
        <p:spPr>
          <a:xfrm>
            <a:off x="569214" y="4121658"/>
            <a:ext cx="850392" cy="116586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450" b="1" dirty="0">
                <a:solidFill>
                  <a:srgbClr val="F7F7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▥  리포트</a:t>
            </a:r>
            <a:endParaRPr lang="en-US" sz="450" dirty="0"/>
          </a:p>
        </p:txBody>
      </p:sp>
      <p:sp>
        <p:nvSpPr>
          <p:cNvPr id="28" name="Text 26"/>
          <p:cNvSpPr/>
          <p:nvPr/>
        </p:nvSpPr>
        <p:spPr>
          <a:xfrm>
            <a:off x="569214" y="4389120"/>
            <a:ext cx="850392" cy="116586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450" b="1" dirty="0">
                <a:solidFill>
                  <a:srgbClr val="F7F7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↪  로그인</a:t>
            </a:r>
            <a:endParaRPr lang="en-US" sz="450" dirty="0"/>
          </a:p>
        </p:txBody>
      </p:sp>
      <p:sp>
        <p:nvSpPr>
          <p:cNvPr id="29" name="Shape 27"/>
          <p:cNvSpPr/>
          <p:nvPr/>
        </p:nvSpPr>
        <p:spPr>
          <a:xfrm>
            <a:off x="1632204" y="932688"/>
            <a:ext cx="192024" cy="205740"/>
          </a:xfrm>
          <a:prstGeom prst="roundRect">
            <a:avLst>
              <a:gd name="adj" fmla="val 14286"/>
            </a:avLst>
          </a:prstGeom>
          <a:solidFill>
            <a:srgbClr val="292848"/>
          </a:solidFill>
          <a:ln w="8890">
            <a:solidFill>
              <a:srgbClr val="3F3E63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652778" y="960120"/>
            <a:ext cx="150876" cy="96012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pPr algn="ctr"/>
            <a:r>
              <a:rPr lang="en-US" sz="6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☰</a:t>
            </a:r>
            <a:endParaRPr lang="en-US" sz="600" dirty="0"/>
          </a:p>
        </p:txBody>
      </p:sp>
      <p:sp>
        <p:nvSpPr>
          <p:cNvPr id="31" name="Shape 29"/>
          <p:cNvSpPr/>
          <p:nvPr/>
        </p:nvSpPr>
        <p:spPr>
          <a:xfrm>
            <a:off x="1885950" y="918972"/>
            <a:ext cx="2023110" cy="233172"/>
          </a:xfrm>
          <a:prstGeom prst="roundRect">
            <a:avLst>
              <a:gd name="adj" fmla="val 14706"/>
            </a:avLst>
          </a:prstGeom>
          <a:solidFill>
            <a:srgbClr val="39385C"/>
          </a:solidFill>
          <a:ln w="8890">
            <a:solidFill>
              <a:srgbClr val="62608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54530" y="960120"/>
            <a:ext cx="1543050" cy="89154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465" dirty="0">
                <a:solidFill>
                  <a:srgbClr val="AFAED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⌕  Search or type command...</a:t>
            </a:r>
            <a:endParaRPr lang="en-US" sz="465" dirty="0"/>
          </a:p>
        </p:txBody>
      </p:sp>
      <p:sp>
        <p:nvSpPr>
          <p:cNvPr id="33" name="Shape 31"/>
          <p:cNvSpPr/>
          <p:nvPr/>
        </p:nvSpPr>
        <p:spPr>
          <a:xfrm>
            <a:off x="5232654" y="939546"/>
            <a:ext cx="260604" cy="164592"/>
          </a:xfrm>
          <a:prstGeom prst="roundRect">
            <a:avLst>
              <a:gd name="adj" fmla="val 20833"/>
            </a:avLst>
          </a:prstGeom>
          <a:solidFill>
            <a:srgbClr val="2E2D4E"/>
          </a:solidFill>
          <a:ln w="8890">
            <a:solidFill>
              <a:srgbClr val="3C3B5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232654" y="946404"/>
            <a:ext cx="260604" cy="137160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pPr algn="ctr"/>
            <a:r>
              <a:rPr lang="en-US" sz="428" dirty="0">
                <a:solidFill>
                  <a:srgbClr val="CFCD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⌘K</a:t>
            </a:r>
            <a:endParaRPr lang="en-US" sz="428" dirty="0"/>
          </a:p>
        </p:txBody>
      </p:sp>
      <p:sp>
        <p:nvSpPr>
          <p:cNvPr id="35" name="Shape 33"/>
          <p:cNvSpPr/>
          <p:nvPr/>
        </p:nvSpPr>
        <p:spPr>
          <a:xfrm>
            <a:off x="5589270" y="932688"/>
            <a:ext cx="192024" cy="192024"/>
          </a:xfrm>
          <a:prstGeom prst="roundRect">
            <a:avLst>
              <a:gd name="adj" fmla="val 50000"/>
            </a:avLst>
          </a:prstGeom>
          <a:solidFill>
            <a:srgbClr val="2A2949"/>
          </a:solidFill>
          <a:ln w="8890">
            <a:solidFill>
              <a:srgbClr val="3B3A5D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589270" y="939546"/>
            <a:ext cx="192024" cy="171450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pPr algn="ctr"/>
            <a:r>
              <a:rPr lang="en-US" sz="563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☼</a:t>
            </a:r>
            <a:endParaRPr lang="en-US" sz="563" dirty="0"/>
          </a:p>
        </p:txBody>
      </p:sp>
      <p:sp>
        <p:nvSpPr>
          <p:cNvPr id="37" name="Text 35"/>
          <p:cNvSpPr/>
          <p:nvPr/>
        </p:nvSpPr>
        <p:spPr>
          <a:xfrm>
            <a:off x="1769364" y="1440180"/>
            <a:ext cx="1028700" cy="96012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450" dirty="0">
                <a:solidFill>
                  <a:srgbClr val="AFAED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직원관리  ›  윤지수</a:t>
            </a:r>
            <a:endParaRPr lang="en-US" sz="450" dirty="0"/>
          </a:p>
        </p:txBody>
      </p:sp>
      <p:sp>
        <p:nvSpPr>
          <p:cNvPr id="38" name="Text 36"/>
          <p:cNvSpPr/>
          <p:nvPr/>
        </p:nvSpPr>
        <p:spPr>
          <a:xfrm>
            <a:off x="1769364" y="1577340"/>
            <a:ext cx="857250" cy="178308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직원 상세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5266944" y="1570482"/>
            <a:ext cx="274320" cy="157734"/>
          </a:xfrm>
          <a:prstGeom prst="roundRect">
            <a:avLst>
              <a:gd name="adj" fmla="val 21739"/>
            </a:avLst>
          </a:prstGeom>
          <a:solidFill>
            <a:srgbClr val="302F50"/>
          </a:solidFill>
          <a:ln w="8890">
            <a:solidFill>
              <a:srgbClr val="5B597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266944" y="1570482"/>
            <a:ext cx="274320" cy="157734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pPr algn="ctr"/>
            <a:r>
              <a:rPr lang="en-US" sz="525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✎ 수정</a:t>
            </a:r>
            <a:endParaRPr lang="en-US" sz="525" dirty="0"/>
          </a:p>
        </p:txBody>
      </p:sp>
      <p:sp>
        <p:nvSpPr>
          <p:cNvPr id="41" name="Shape 39"/>
          <p:cNvSpPr/>
          <p:nvPr/>
        </p:nvSpPr>
        <p:spPr>
          <a:xfrm>
            <a:off x="5596128" y="1570482"/>
            <a:ext cx="274320" cy="157734"/>
          </a:xfrm>
          <a:prstGeom prst="roundRect">
            <a:avLst>
              <a:gd name="adj" fmla="val 21739"/>
            </a:avLst>
          </a:prstGeom>
          <a:solidFill>
            <a:srgbClr val="302F50"/>
          </a:solidFill>
          <a:ln w="8890">
            <a:solidFill>
              <a:srgbClr val="5B597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596128" y="1570482"/>
            <a:ext cx="274320" cy="157734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pPr algn="ctr"/>
            <a:r>
              <a:rPr lang="en-US" sz="525" b="1" dirty="0">
                <a:solidFill>
                  <a:srgbClr val="FF55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🗑 삭제</a:t>
            </a:r>
            <a:endParaRPr lang="en-US" sz="525" dirty="0"/>
          </a:p>
        </p:txBody>
      </p:sp>
      <p:sp>
        <p:nvSpPr>
          <p:cNvPr id="43" name="Text 41"/>
          <p:cNvSpPr/>
          <p:nvPr/>
        </p:nvSpPr>
        <p:spPr>
          <a:xfrm>
            <a:off x="5520690" y="1467612"/>
            <a:ext cx="150876" cy="150876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 fontScale="92500" lnSpcReduction="10000"/>
          </a:bodyPr>
          <a:lstStyle/>
          <a:p>
            <a:pPr algn="ctr"/>
            <a:r>
              <a:rPr lang="en-US" sz="1125" b="1" dirty="0">
                <a:solidFill>
                  <a:srgbClr val="FF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</a:t>
            </a:r>
            <a:endParaRPr lang="en-US" sz="1125" dirty="0"/>
          </a:p>
        </p:txBody>
      </p:sp>
      <p:sp>
        <p:nvSpPr>
          <p:cNvPr id="44" name="Shape 42"/>
          <p:cNvSpPr/>
          <p:nvPr/>
        </p:nvSpPr>
        <p:spPr>
          <a:xfrm>
            <a:off x="1769364" y="1837944"/>
            <a:ext cx="4073652" cy="493776"/>
          </a:xfrm>
          <a:prstGeom prst="roundRect">
            <a:avLst>
              <a:gd name="adj" fmla="val 9722"/>
            </a:avLst>
          </a:prstGeom>
          <a:solidFill>
            <a:srgbClr val="333253"/>
          </a:solidFill>
          <a:ln w="8890">
            <a:solidFill>
              <a:srgbClr val="55537B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892808" y="1947672"/>
            <a:ext cx="294894" cy="294894"/>
          </a:xfrm>
          <a:prstGeom prst="ellipse">
            <a:avLst/>
          </a:prstGeom>
          <a:solidFill>
            <a:srgbClr val="E8E4FF"/>
          </a:solidFill>
          <a:ln w="6350">
            <a:solidFill>
              <a:srgbClr val="E8E4FF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892808" y="1947672"/>
            <a:ext cx="294894" cy="294894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pPr algn="ctr"/>
            <a:r>
              <a:rPr lang="en-US" sz="975" b="1" dirty="0">
                <a:solidFill>
                  <a:srgbClr val="4235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윤</a:t>
            </a:r>
            <a:endParaRPr lang="en-US" sz="975" dirty="0"/>
          </a:p>
        </p:txBody>
      </p:sp>
      <p:sp>
        <p:nvSpPr>
          <p:cNvPr id="47" name="Text 45"/>
          <p:cNvSpPr/>
          <p:nvPr/>
        </p:nvSpPr>
        <p:spPr>
          <a:xfrm>
            <a:off x="2249424" y="1954530"/>
            <a:ext cx="356616" cy="123444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66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윤지수</a:t>
            </a:r>
            <a:endParaRPr lang="en-US" sz="660" dirty="0"/>
          </a:p>
        </p:txBody>
      </p:sp>
      <p:sp>
        <p:nvSpPr>
          <p:cNvPr id="48" name="Text 46"/>
          <p:cNvSpPr/>
          <p:nvPr/>
        </p:nvSpPr>
        <p:spPr>
          <a:xfrm>
            <a:off x="2578608" y="1968246"/>
            <a:ext cx="651510" cy="96012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390" dirty="0">
                <a:solidFill>
                  <a:srgbClr val="B4B2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기획팀 · 프로젝트 관리자</a:t>
            </a:r>
            <a:endParaRPr lang="en-US" sz="390" dirty="0"/>
          </a:p>
        </p:txBody>
      </p:sp>
      <p:sp>
        <p:nvSpPr>
          <p:cNvPr id="49" name="Text 47"/>
          <p:cNvSpPr/>
          <p:nvPr/>
        </p:nvSpPr>
        <p:spPr>
          <a:xfrm>
            <a:off x="2249424" y="2132838"/>
            <a:ext cx="1885950" cy="89154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360" dirty="0">
                <a:solidFill>
                  <a:srgbClr val="D8D6F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✉ jisu.yoon@peoplify.com   ☎ 010-1001-0005   ◷ 입사 2018년 9월 1일</a:t>
            </a:r>
            <a:endParaRPr lang="en-US" sz="360" dirty="0"/>
          </a:p>
        </p:txBody>
      </p:sp>
      <p:sp>
        <p:nvSpPr>
          <p:cNvPr id="50" name="Text 48"/>
          <p:cNvSpPr/>
          <p:nvPr/>
        </p:nvSpPr>
        <p:spPr>
          <a:xfrm>
            <a:off x="5184648" y="1933956"/>
            <a:ext cx="514350" cy="82296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pPr algn="r"/>
            <a:r>
              <a:rPr lang="en-US" sz="413" dirty="0">
                <a:solidFill>
                  <a:srgbClr val="B4B2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 투입 프로젝트</a:t>
            </a:r>
            <a:endParaRPr lang="en-US" sz="413" dirty="0"/>
          </a:p>
        </p:txBody>
      </p:sp>
      <p:sp>
        <p:nvSpPr>
          <p:cNvPr id="51" name="Text 49"/>
          <p:cNvSpPr/>
          <p:nvPr/>
        </p:nvSpPr>
        <p:spPr>
          <a:xfrm>
            <a:off x="4786884" y="2036826"/>
            <a:ext cx="925830" cy="96012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pPr algn="r"/>
            <a:r>
              <a:rPr lang="en-US" sz="54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A금융 차세대 코어뱅킹</a:t>
            </a:r>
            <a:endParaRPr lang="en-US" sz="540" dirty="0"/>
          </a:p>
        </p:txBody>
      </p:sp>
      <p:sp>
        <p:nvSpPr>
          <p:cNvPr id="52" name="Text 50"/>
          <p:cNvSpPr/>
          <p:nvPr/>
        </p:nvSpPr>
        <p:spPr>
          <a:xfrm>
            <a:off x="5239512" y="2139696"/>
            <a:ext cx="466344" cy="82296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pPr algn="r"/>
            <a:r>
              <a:rPr lang="en-US" sz="435" b="1" dirty="0">
                <a:solidFill>
                  <a:srgbClr val="8B7C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투입률 100%</a:t>
            </a:r>
            <a:endParaRPr lang="en-US" sz="435" dirty="0"/>
          </a:p>
        </p:txBody>
      </p:sp>
      <p:sp>
        <p:nvSpPr>
          <p:cNvPr id="53" name="Text 51"/>
          <p:cNvSpPr/>
          <p:nvPr/>
        </p:nvSpPr>
        <p:spPr>
          <a:xfrm>
            <a:off x="1851660" y="2482596"/>
            <a:ext cx="342900" cy="123444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465" dirty="0">
                <a:solidFill>
                  <a:srgbClr val="C6C3E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기본정보</a:t>
            </a:r>
            <a:endParaRPr lang="en-US" sz="465" dirty="0"/>
          </a:p>
        </p:txBody>
      </p:sp>
      <p:sp>
        <p:nvSpPr>
          <p:cNvPr id="54" name="Text 52"/>
          <p:cNvSpPr/>
          <p:nvPr/>
        </p:nvSpPr>
        <p:spPr>
          <a:xfrm>
            <a:off x="2263140" y="2482596"/>
            <a:ext cx="480060" cy="123444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480" b="1" dirty="0">
                <a:solidFill>
                  <a:srgbClr val="796B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투입 이력 ★</a:t>
            </a:r>
            <a:endParaRPr lang="en-US" sz="480" dirty="0"/>
          </a:p>
        </p:txBody>
      </p:sp>
      <p:sp>
        <p:nvSpPr>
          <p:cNvPr id="55" name="Text 53"/>
          <p:cNvSpPr/>
          <p:nvPr/>
        </p:nvSpPr>
        <p:spPr>
          <a:xfrm>
            <a:off x="2798064" y="2482596"/>
            <a:ext cx="425196" cy="123444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465" dirty="0">
                <a:solidFill>
                  <a:srgbClr val="C6C3E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기술스택</a:t>
            </a:r>
            <a:endParaRPr lang="en-US" sz="465" dirty="0"/>
          </a:p>
        </p:txBody>
      </p:sp>
      <p:sp>
        <p:nvSpPr>
          <p:cNvPr id="56" name="Text 54"/>
          <p:cNvSpPr/>
          <p:nvPr/>
        </p:nvSpPr>
        <p:spPr>
          <a:xfrm>
            <a:off x="3319272" y="2482596"/>
            <a:ext cx="425196" cy="123444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465" dirty="0">
                <a:solidFill>
                  <a:srgbClr val="C6C3E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계약정보</a:t>
            </a:r>
            <a:endParaRPr lang="en-US" sz="465" dirty="0"/>
          </a:p>
        </p:txBody>
      </p:sp>
      <p:sp>
        <p:nvSpPr>
          <p:cNvPr id="57" name="Shape 55"/>
          <p:cNvSpPr/>
          <p:nvPr/>
        </p:nvSpPr>
        <p:spPr>
          <a:xfrm>
            <a:off x="1769364" y="2654046"/>
            <a:ext cx="4073652" cy="8230"/>
          </a:xfrm>
          <a:prstGeom prst="rect">
            <a:avLst/>
          </a:prstGeom>
          <a:solidFill>
            <a:srgbClr val="4A486B"/>
          </a:solidFill>
          <a:ln w="8890">
            <a:solidFill>
              <a:srgbClr val="4A486B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2228850" y="2647189"/>
            <a:ext cx="432054" cy="17145"/>
          </a:xfrm>
          <a:prstGeom prst="rect">
            <a:avLst/>
          </a:prstGeom>
          <a:solidFill>
            <a:srgbClr val="796BFF"/>
          </a:solidFill>
          <a:ln w="8890">
            <a:solidFill>
              <a:srgbClr val="796BFF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1769364" y="2791206"/>
            <a:ext cx="4073652" cy="617220"/>
          </a:xfrm>
          <a:prstGeom prst="roundRect">
            <a:avLst>
              <a:gd name="adj" fmla="val 6667"/>
            </a:avLst>
          </a:prstGeom>
          <a:solidFill>
            <a:srgbClr val="333253"/>
          </a:solidFill>
          <a:ln w="8890">
            <a:solidFill>
              <a:srgbClr val="55537B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1851660" y="2859786"/>
            <a:ext cx="754380" cy="102870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525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프로젝트 투입 이력</a:t>
            </a:r>
            <a:endParaRPr lang="en-US" sz="525" dirty="0"/>
          </a:p>
        </p:txBody>
      </p:sp>
      <p:sp>
        <p:nvSpPr>
          <p:cNvPr id="61" name="Shape 59"/>
          <p:cNvSpPr/>
          <p:nvPr/>
        </p:nvSpPr>
        <p:spPr>
          <a:xfrm>
            <a:off x="1769364" y="3038094"/>
            <a:ext cx="4073652" cy="6858"/>
          </a:xfrm>
          <a:prstGeom prst="rect">
            <a:avLst/>
          </a:prstGeom>
          <a:solidFill>
            <a:srgbClr val="55537B"/>
          </a:solidFill>
          <a:ln w="8890">
            <a:solidFill>
              <a:srgbClr val="55537B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1858518" y="3113532"/>
            <a:ext cx="925830" cy="82296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428" dirty="0">
                <a:solidFill>
                  <a:srgbClr val="AAA7C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프로젝트</a:t>
            </a:r>
            <a:endParaRPr lang="en-US" sz="428" dirty="0"/>
          </a:p>
        </p:txBody>
      </p:sp>
      <p:sp>
        <p:nvSpPr>
          <p:cNvPr id="63" name="Text 61"/>
          <p:cNvSpPr/>
          <p:nvPr/>
        </p:nvSpPr>
        <p:spPr>
          <a:xfrm>
            <a:off x="2832354" y="3113532"/>
            <a:ext cx="589788" cy="82296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428" dirty="0">
                <a:solidFill>
                  <a:srgbClr val="AAA7C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고객사</a:t>
            </a:r>
            <a:endParaRPr lang="en-US" sz="428" dirty="0"/>
          </a:p>
        </p:txBody>
      </p:sp>
      <p:sp>
        <p:nvSpPr>
          <p:cNvPr id="64" name="Text 62"/>
          <p:cNvSpPr/>
          <p:nvPr/>
        </p:nvSpPr>
        <p:spPr>
          <a:xfrm>
            <a:off x="3998214" y="3113532"/>
            <a:ext cx="377190" cy="82296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428" dirty="0">
                <a:solidFill>
                  <a:srgbClr val="AAA7C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역할</a:t>
            </a:r>
            <a:endParaRPr lang="en-US" sz="428" dirty="0"/>
          </a:p>
        </p:txBody>
      </p:sp>
      <p:sp>
        <p:nvSpPr>
          <p:cNvPr id="65" name="Text 63"/>
          <p:cNvSpPr/>
          <p:nvPr/>
        </p:nvSpPr>
        <p:spPr>
          <a:xfrm>
            <a:off x="4581144" y="3113532"/>
            <a:ext cx="925830" cy="82296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428" dirty="0">
                <a:solidFill>
                  <a:srgbClr val="AAA7C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투입기간</a:t>
            </a:r>
            <a:endParaRPr lang="en-US" sz="428" dirty="0"/>
          </a:p>
        </p:txBody>
      </p:sp>
      <p:sp>
        <p:nvSpPr>
          <p:cNvPr id="66" name="Text 64"/>
          <p:cNvSpPr/>
          <p:nvPr/>
        </p:nvSpPr>
        <p:spPr>
          <a:xfrm>
            <a:off x="5232654" y="3113532"/>
            <a:ext cx="377190" cy="82296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428" dirty="0">
                <a:solidFill>
                  <a:srgbClr val="AAA7C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투입률</a:t>
            </a:r>
            <a:endParaRPr lang="en-US" sz="428" dirty="0"/>
          </a:p>
        </p:txBody>
      </p:sp>
      <p:sp>
        <p:nvSpPr>
          <p:cNvPr id="67" name="Text 65"/>
          <p:cNvSpPr/>
          <p:nvPr/>
        </p:nvSpPr>
        <p:spPr>
          <a:xfrm>
            <a:off x="5637276" y="3113532"/>
            <a:ext cx="219456" cy="82296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428" dirty="0">
                <a:solidFill>
                  <a:srgbClr val="AAA7C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</a:t>
            </a:r>
            <a:endParaRPr lang="en-US" sz="428" dirty="0"/>
          </a:p>
        </p:txBody>
      </p:sp>
      <p:sp>
        <p:nvSpPr>
          <p:cNvPr id="68" name="Shape 66"/>
          <p:cNvSpPr/>
          <p:nvPr/>
        </p:nvSpPr>
        <p:spPr>
          <a:xfrm>
            <a:off x="1769364" y="3236976"/>
            <a:ext cx="4073652" cy="6858"/>
          </a:xfrm>
          <a:prstGeom prst="rect">
            <a:avLst/>
          </a:prstGeom>
          <a:solidFill>
            <a:srgbClr val="55537B"/>
          </a:solidFill>
          <a:ln w="8890">
            <a:solidFill>
              <a:srgbClr val="55537B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1858518" y="3284982"/>
            <a:ext cx="994410" cy="82296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4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A금융 차세대 코어뱅킹</a:t>
            </a:r>
            <a:endParaRPr lang="en-US" sz="450" dirty="0"/>
          </a:p>
        </p:txBody>
      </p:sp>
      <p:sp>
        <p:nvSpPr>
          <p:cNvPr id="70" name="Text 68"/>
          <p:cNvSpPr/>
          <p:nvPr/>
        </p:nvSpPr>
        <p:spPr>
          <a:xfrm>
            <a:off x="2832354" y="3284982"/>
            <a:ext cx="582930" cy="82296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435" dirty="0">
                <a:solidFill>
                  <a:srgbClr val="BEBCE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A금융그룹</a:t>
            </a:r>
            <a:endParaRPr lang="en-US" sz="435" dirty="0"/>
          </a:p>
        </p:txBody>
      </p:sp>
      <p:sp>
        <p:nvSpPr>
          <p:cNvPr id="71" name="Text 69"/>
          <p:cNvSpPr/>
          <p:nvPr/>
        </p:nvSpPr>
        <p:spPr>
          <a:xfrm>
            <a:off x="3998214" y="3284982"/>
            <a:ext cx="219456" cy="82296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435" b="1" dirty="0">
                <a:solidFill>
                  <a:srgbClr val="A395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PM</a:t>
            </a:r>
            <a:endParaRPr lang="en-US" sz="435" dirty="0"/>
          </a:p>
        </p:txBody>
      </p:sp>
      <p:sp>
        <p:nvSpPr>
          <p:cNvPr id="72" name="Text 70"/>
          <p:cNvSpPr/>
          <p:nvPr/>
        </p:nvSpPr>
        <p:spPr>
          <a:xfrm>
            <a:off x="4232366" y="3284982"/>
            <a:ext cx="925830" cy="82296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420" dirty="0">
                <a:solidFill>
                  <a:srgbClr val="C6C3E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2025년 3월 1일 ~ 2026년 6월 10일</a:t>
            </a:r>
            <a:endParaRPr lang="en-US" sz="420" dirty="0"/>
          </a:p>
        </p:txBody>
      </p:sp>
      <p:sp>
        <p:nvSpPr>
          <p:cNvPr id="73" name="Text 71"/>
          <p:cNvSpPr/>
          <p:nvPr/>
        </p:nvSpPr>
        <p:spPr>
          <a:xfrm>
            <a:off x="5232654" y="3284982"/>
            <a:ext cx="308610" cy="82296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435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100%</a:t>
            </a:r>
            <a:endParaRPr lang="en-US" sz="435" dirty="0"/>
          </a:p>
        </p:txBody>
      </p:sp>
      <p:sp>
        <p:nvSpPr>
          <p:cNvPr id="74" name="Shape 72"/>
          <p:cNvSpPr/>
          <p:nvPr/>
        </p:nvSpPr>
        <p:spPr>
          <a:xfrm>
            <a:off x="5519712" y="3277143"/>
            <a:ext cx="288036" cy="109728"/>
          </a:xfrm>
          <a:prstGeom prst="roundRect">
            <a:avLst>
              <a:gd name="adj" fmla="val 50000"/>
            </a:avLst>
          </a:prstGeom>
          <a:solidFill>
            <a:srgbClr val="117D69"/>
          </a:solidFill>
          <a:ln w="8890">
            <a:solidFill>
              <a:srgbClr val="117D69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5519712" y="3270612"/>
            <a:ext cx="288036" cy="109728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pPr algn="ctr"/>
            <a:r>
              <a:rPr lang="en-US" sz="398" b="1" dirty="0">
                <a:solidFill>
                  <a:srgbClr val="ABF7D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투입중</a:t>
            </a:r>
            <a:endParaRPr lang="en-US" sz="398" dirty="0"/>
          </a:p>
        </p:txBody>
      </p:sp>
      <p:sp>
        <p:nvSpPr>
          <p:cNvPr id="76" name="Text 74"/>
          <p:cNvSpPr/>
          <p:nvPr/>
        </p:nvSpPr>
        <p:spPr>
          <a:xfrm>
            <a:off x="1687068" y="3243834"/>
            <a:ext cx="150876" cy="150876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 fontScale="92500" lnSpcReduction="10000"/>
          </a:bodyPr>
          <a:lstStyle/>
          <a:p>
            <a:pPr algn="ctr"/>
            <a:r>
              <a:rPr lang="en-US" sz="1125" b="1" dirty="0">
                <a:solidFill>
                  <a:srgbClr val="FF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</a:t>
            </a:r>
            <a:endParaRPr lang="en-US" sz="1125" dirty="0"/>
          </a:p>
        </p:txBody>
      </p:sp>
      <p:sp>
        <p:nvSpPr>
          <p:cNvPr id="77" name="Shape 75"/>
          <p:cNvSpPr/>
          <p:nvPr/>
        </p:nvSpPr>
        <p:spPr>
          <a:xfrm>
            <a:off x="5596128" y="3504438"/>
            <a:ext cx="308610" cy="185166"/>
          </a:xfrm>
          <a:prstGeom prst="roundRect">
            <a:avLst>
              <a:gd name="adj" fmla="val 18519"/>
            </a:avLst>
          </a:prstGeom>
          <a:solidFill>
            <a:srgbClr val="302F50"/>
          </a:solidFill>
          <a:ln w="8890">
            <a:solidFill>
              <a:srgbClr val="5B597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5596128" y="3504438"/>
            <a:ext cx="308610" cy="185166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pPr algn="ctr"/>
            <a:r>
              <a:rPr lang="en-US" sz="525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목록으로</a:t>
            </a:r>
            <a:endParaRPr lang="en-US" sz="525" dirty="0"/>
          </a:p>
        </p:txBody>
      </p:sp>
      <p:sp>
        <p:nvSpPr>
          <p:cNvPr id="79" name="Text 77"/>
          <p:cNvSpPr/>
          <p:nvPr/>
        </p:nvSpPr>
        <p:spPr>
          <a:xfrm>
            <a:off x="5404104" y="3511296"/>
            <a:ext cx="150876" cy="150876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 fontScale="92500" lnSpcReduction="10000"/>
          </a:bodyPr>
          <a:lstStyle/>
          <a:p>
            <a:pPr algn="ctr"/>
            <a:r>
              <a:rPr lang="en-US" sz="1125" b="1" dirty="0">
                <a:solidFill>
                  <a:srgbClr val="FF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</a:t>
            </a:r>
            <a:endParaRPr lang="en-US" sz="1125" dirty="0"/>
          </a:p>
        </p:txBody>
      </p:sp>
      <p:graphicFrame>
        <p:nvGraphicFramePr>
          <p:cNvPr id="8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73061388"/>
              </p:ext>
            </p:extLst>
          </p:nvPr>
        </p:nvGraphicFramePr>
        <p:xfrm>
          <a:off x="6172200" y="809244"/>
          <a:ext cx="2592324" cy="1796796"/>
        </p:xfrm>
        <a:graphic>
          <a:graphicData uri="http://schemas.openxmlformats.org/drawingml/2006/table">
            <a:tbl>
              <a:tblPr/>
              <a:tblGrid>
                <a:gridCol w="6720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6060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6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구분</a:t>
                      </a:r>
                      <a:endParaRPr lang="en-US" sz="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8006" marR="48006" marT="48006" marB="48006">
                    <a:lnL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33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6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기획 내용</a:t>
                      </a:r>
                      <a:endParaRPr lang="en-US" sz="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8006" marR="48006" marT="48006" marB="48006">
                    <a:lnL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33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00" dirty="0">
                          <a:solidFill>
                            <a:srgbClr val="1118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① 수정/삭제</a:t>
                      </a:r>
                      <a:endParaRPr lang="en-US" sz="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8006" marR="48006" marT="48006" marB="48006">
                    <a:lnL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00" dirty="0">
                          <a:solidFill>
                            <a:srgbClr val="1118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수정 버튼 클릭 시 직원 수정 화면 이동</a:t>
                      </a:r>
                      <a:endParaRPr lang="en-US" sz="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600" dirty="0">
                          <a:solidFill>
                            <a:srgbClr val="1118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삭제 버튼 클릭 시 삭제 확인 처리</a:t>
                      </a:r>
                      <a:endParaRPr lang="en-US" sz="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600" dirty="0">
                          <a:solidFill>
                            <a:srgbClr val="1118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퇴사 상태 직원은 삭제 버튼 미노출</a:t>
                      </a:r>
                      <a:endParaRPr lang="en-US" sz="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8006" marR="48006" marT="48006" marB="48006">
                    <a:lnL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80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00" dirty="0">
                          <a:solidFill>
                            <a:srgbClr val="1118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② 목록으로</a:t>
                      </a:r>
                      <a:endParaRPr lang="en-US" sz="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8006" marR="48006" marT="48006" marB="48006">
                    <a:lnL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00" dirty="0">
                          <a:solidFill>
                            <a:srgbClr val="1118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직원 </a:t>
                      </a:r>
                      <a:r>
                        <a:rPr lang="en-US" sz="600" dirty="0" err="1">
                          <a:solidFill>
                            <a:srgbClr val="1118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목록</a:t>
                      </a:r>
                      <a:r>
                        <a:rPr lang="en-US" sz="600" dirty="0">
                          <a:solidFill>
                            <a:srgbClr val="1118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</a:t>
                      </a:r>
                      <a:r>
                        <a:rPr lang="en-US" sz="600" dirty="0" err="1" smtClean="0">
                          <a:solidFill>
                            <a:srgbClr val="1118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화면</a:t>
                      </a:r>
                      <a:r>
                        <a:rPr lang="en-US" sz="600" baseline="0" dirty="0" smtClean="0">
                          <a:solidFill>
                            <a:srgbClr val="1118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</a:t>
                      </a:r>
                      <a:r>
                        <a:rPr lang="ko-KR" altLang="en-US" sz="600" baseline="0" dirty="0" smtClean="0">
                          <a:solidFill>
                            <a:srgbClr val="1118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이동</a:t>
                      </a:r>
                      <a:endParaRPr lang="en-US" sz="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8006" marR="48006" marT="48006" marB="48006">
                    <a:lnL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80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00" dirty="0">
                          <a:solidFill>
                            <a:srgbClr val="1118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③ 투입 이력</a:t>
                      </a:r>
                      <a:endParaRPr lang="en-US" sz="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8006" marR="48006" marT="48006" marB="48006">
                    <a:lnL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00" dirty="0">
                          <a:solidFill>
                            <a:srgbClr val="1118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현재/과거 프로젝트 투입 이력 조회</a:t>
                      </a:r>
                      <a:endParaRPr lang="en-US" sz="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600" dirty="0">
                          <a:solidFill>
                            <a:srgbClr val="1118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프로젝트명·고객사·역할·투입기간·투입률·상태 표시</a:t>
                      </a:r>
                      <a:endParaRPr lang="en-US" sz="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8006" marR="48006" marT="48006" marB="48006">
                    <a:lnL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80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00" dirty="0">
                          <a:solidFill>
                            <a:srgbClr val="1118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탭 전환</a:t>
                      </a:r>
                      <a:endParaRPr lang="en-US" sz="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8006" marR="48006" marT="48006" marB="48006">
                    <a:lnL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00" dirty="0">
                          <a:solidFill>
                            <a:srgbClr val="1118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기본정보/투입 이력/기술스택/계약정보 영역 전환</a:t>
                      </a:r>
                      <a:endParaRPr lang="en-US" sz="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600" dirty="0">
                          <a:solidFill>
                            <a:srgbClr val="1118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선택 탭 하단 강조선 표시</a:t>
                      </a:r>
                      <a:endParaRPr lang="en-US" sz="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8006" marR="48006" marT="48006" marB="48006">
                    <a:lnL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80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8006" marR="48006" marT="48006" marB="48006">
                    <a:lnL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8006" marR="48006" marT="48006" marB="48006">
                    <a:lnL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81" name="Text 78"/>
          <p:cNvSpPr/>
          <p:nvPr/>
        </p:nvSpPr>
        <p:spPr>
          <a:xfrm>
            <a:off x="384048" y="4834890"/>
            <a:ext cx="2880360" cy="109728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525" dirty="0">
                <a:solidFill>
                  <a:srgbClr val="36415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본 문서는 화면 설계 검토용이며, 실제 구현 상태와 다를 수 있습니다.</a:t>
            </a:r>
            <a:endParaRPr lang="en-US" sz="525" dirty="0"/>
          </a:p>
        </p:txBody>
      </p:sp>
      <p:sp>
        <p:nvSpPr>
          <p:cNvPr id="82" name="Text 79"/>
          <p:cNvSpPr/>
          <p:nvPr/>
        </p:nvSpPr>
        <p:spPr>
          <a:xfrm>
            <a:off x="8380476" y="4834890"/>
            <a:ext cx="480060" cy="109728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pPr algn="r"/>
            <a:r>
              <a:rPr lang="en-US" sz="510" dirty="0">
                <a:solidFill>
                  <a:srgbClr val="36415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Confidential</a:t>
            </a:r>
            <a:endParaRPr lang="en-US" sz="510" dirty="0"/>
          </a:p>
        </p:txBody>
      </p:sp>
      <p:graphicFrame>
        <p:nvGraphicFramePr>
          <p:cNvPr id="8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30756893"/>
              </p:ext>
            </p:extLst>
          </p:nvPr>
        </p:nvGraphicFramePr>
        <p:xfrm>
          <a:off x="6165342" y="2708910"/>
          <a:ext cx="2592324" cy="1796796"/>
        </p:xfrm>
        <a:graphic>
          <a:graphicData uri="http://schemas.openxmlformats.org/drawingml/2006/table">
            <a:tbl>
              <a:tblPr/>
              <a:tblGrid>
                <a:gridCol w="6720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6060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6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구분</a:t>
                      </a:r>
                      <a:endParaRPr lang="en-US" sz="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8006" marR="48006" marT="48006" marB="48006">
                    <a:lnL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33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600" b="1" dirty="0" smtClean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charset="0"/>
                        </a:rPr>
                        <a:t>수정 내용</a:t>
                      </a:r>
                      <a:endParaRPr lang="en-US" sz="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8006" marR="48006" marT="48006" marB="48006">
                    <a:lnL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33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00" dirty="0">
                          <a:solidFill>
                            <a:srgbClr val="1118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① </a:t>
                      </a:r>
                      <a:r>
                        <a:rPr lang="en-US" sz="600" dirty="0" err="1" smtClean="0">
                          <a:solidFill>
                            <a:srgbClr val="1118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삭제</a:t>
                      </a:r>
                      <a:endParaRPr lang="en-US" sz="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8006" marR="48006" marT="48006" marB="48006">
                    <a:lnL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ko-KR" altLang="en-US" sz="600" dirty="0" smtClean="0">
                          <a:solidFill>
                            <a:srgbClr val="1118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퇴사 상태일 경우 상단 삭제 버튼 숨기기</a:t>
                      </a:r>
                      <a:endParaRPr lang="en-US" sz="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8006" marR="48006" marT="48006" marB="48006">
                    <a:lnL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80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00" dirty="0">
                          <a:solidFill>
                            <a:srgbClr val="1118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② </a:t>
                      </a:r>
                      <a:r>
                        <a:rPr lang="ko-KR" altLang="en-US" sz="600" dirty="0" smtClean="0">
                          <a:solidFill>
                            <a:srgbClr val="1118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수정</a:t>
                      </a:r>
                      <a:endParaRPr lang="en-US" sz="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8006" marR="48006" marT="48006" marB="48006">
                    <a:lnL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ko-KR" altLang="en-US" sz="600" dirty="0" smtClean="0">
                          <a:solidFill>
                            <a:srgbClr val="1118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하단 수정 버튼 삭제 </a:t>
                      </a:r>
                      <a:r>
                        <a:rPr lang="en-US" altLang="ko-KR" sz="600" dirty="0" smtClean="0">
                          <a:solidFill>
                            <a:srgbClr val="1118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</a:t>
                      </a:r>
                      <a:r>
                        <a:rPr lang="ko-KR" altLang="en-US" sz="600" dirty="0" err="1" smtClean="0">
                          <a:solidFill>
                            <a:srgbClr val="1118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수정버튼</a:t>
                      </a:r>
                      <a:r>
                        <a:rPr lang="ko-KR" altLang="en-US" sz="600" dirty="0" smtClean="0">
                          <a:solidFill>
                            <a:srgbClr val="1118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중복</a:t>
                      </a:r>
                      <a:r>
                        <a:rPr lang="en-US" altLang="ko-KR" sz="600" dirty="0" smtClean="0">
                          <a:solidFill>
                            <a:srgbClr val="1118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)</a:t>
                      </a:r>
                      <a:endParaRPr lang="en-US" sz="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8006" marR="48006" marT="48006" marB="48006">
                    <a:lnL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80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00" dirty="0">
                          <a:solidFill>
                            <a:srgbClr val="1118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③ 투입 이력</a:t>
                      </a:r>
                      <a:endParaRPr lang="en-US" sz="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8006" marR="48006" marT="48006" marB="48006">
                    <a:lnL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ko-KR" altLang="en-US" sz="600" dirty="0" err="1" smtClean="0">
                          <a:solidFill>
                            <a:srgbClr val="1118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프로젝트명</a:t>
                      </a:r>
                      <a:r>
                        <a:rPr lang="ko-KR" altLang="en-US" sz="600" dirty="0" smtClean="0">
                          <a:solidFill>
                            <a:srgbClr val="1118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</a:t>
                      </a:r>
                      <a:r>
                        <a:rPr lang="ko-KR" altLang="en-US" sz="600" dirty="0" err="1" smtClean="0">
                          <a:solidFill>
                            <a:srgbClr val="1118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클릭시</a:t>
                      </a:r>
                      <a:r>
                        <a:rPr lang="ko-KR" altLang="en-US" sz="600" dirty="0" smtClean="0">
                          <a:solidFill>
                            <a:srgbClr val="1118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해당 프로젝트 상세화면이동</a:t>
                      </a:r>
                      <a:endParaRPr lang="en-US" sz="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8006" marR="48006" marT="48006" marB="48006">
                    <a:lnL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80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8006" marR="48006" marT="48006" marB="48006">
                    <a:lnL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8006" marR="48006" marT="48006" marB="48006">
                    <a:lnL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80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8006" marR="48006" marT="48006" marB="48006">
                    <a:lnL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8006" marR="48006" marT="48006" marB="48006">
                    <a:lnL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6160405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" y="0"/>
            <a:ext cx="9143771" cy="397764"/>
          </a:xfrm>
          <a:prstGeom prst="rect">
            <a:avLst/>
          </a:prstGeom>
          <a:solidFill>
            <a:srgbClr val="13233D"/>
          </a:solidFill>
          <a:ln w="8890">
            <a:solidFill>
              <a:srgbClr val="13233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01752" y="82296"/>
            <a:ext cx="1371600" cy="192024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788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Peoplify UI 기획서</a:t>
            </a:r>
            <a:endParaRPr lang="en-US" sz="788" dirty="0"/>
          </a:p>
        </p:txBody>
      </p:sp>
      <p:sp>
        <p:nvSpPr>
          <p:cNvPr id="4" name="Text 2"/>
          <p:cNvSpPr/>
          <p:nvPr/>
        </p:nvSpPr>
        <p:spPr>
          <a:xfrm>
            <a:off x="1" y="68580"/>
            <a:ext cx="9143771" cy="246888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pPr algn="ctr"/>
            <a:r>
              <a:rPr lang="en-US" sz="1238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직원 수정 화면 설계</a:t>
            </a:r>
            <a:endParaRPr lang="en-US" sz="1238" dirty="0"/>
          </a:p>
        </p:txBody>
      </p:sp>
      <p:sp>
        <p:nvSpPr>
          <p:cNvPr id="5" name="Text 3"/>
          <p:cNvSpPr/>
          <p:nvPr/>
        </p:nvSpPr>
        <p:spPr>
          <a:xfrm>
            <a:off x="6768846" y="96012"/>
            <a:ext cx="1920240" cy="164592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pPr algn="r"/>
            <a:r>
              <a:rPr lang="en-US" sz="563" dirty="0">
                <a:solidFill>
                  <a:srgbClr val="D8E0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employee 도메인 · /employee/employee-edit/:id</a:t>
            </a:r>
            <a:endParaRPr lang="en-US" sz="563" dirty="0"/>
          </a:p>
        </p:txBody>
      </p:sp>
      <p:sp>
        <p:nvSpPr>
          <p:cNvPr id="6" name="Text 4"/>
          <p:cNvSpPr/>
          <p:nvPr/>
        </p:nvSpPr>
        <p:spPr>
          <a:xfrm>
            <a:off x="8819388" y="96012"/>
            <a:ext cx="150876" cy="164592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pPr algn="r"/>
            <a:r>
              <a:rPr lang="en-US" sz="638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638" dirty="0"/>
          </a:p>
        </p:txBody>
      </p:sp>
      <p:sp>
        <p:nvSpPr>
          <p:cNvPr id="7" name="Text 5"/>
          <p:cNvSpPr/>
          <p:nvPr/>
        </p:nvSpPr>
        <p:spPr>
          <a:xfrm>
            <a:off x="377190" y="576072"/>
            <a:ext cx="822960" cy="164592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825" b="1" dirty="0">
                <a:solidFill>
                  <a:srgbClr val="1323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설계</a:t>
            </a:r>
            <a:endParaRPr lang="en-US" sz="825" dirty="0"/>
          </a:p>
        </p:txBody>
      </p:sp>
      <p:sp>
        <p:nvSpPr>
          <p:cNvPr id="8" name="Text 6"/>
          <p:cNvSpPr/>
          <p:nvPr/>
        </p:nvSpPr>
        <p:spPr>
          <a:xfrm>
            <a:off x="6240780" y="562356"/>
            <a:ext cx="1234440" cy="192024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1050" b="1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Description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8353044" y="624078"/>
            <a:ext cx="377190" cy="123444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563" b="1" dirty="0">
                <a:solidFill>
                  <a:srgbClr val="0057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검토용</a:t>
            </a:r>
            <a:endParaRPr lang="en-US" sz="563" dirty="0"/>
          </a:p>
        </p:txBody>
      </p:sp>
      <p:sp>
        <p:nvSpPr>
          <p:cNvPr id="10" name="Shape 8"/>
          <p:cNvSpPr/>
          <p:nvPr/>
        </p:nvSpPr>
        <p:spPr>
          <a:xfrm>
            <a:off x="356616" y="740664"/>
            <a:ext cx="5719572" cy="3922776"/>
          </a:xfrm>
          <a:prstGeom prst="roundRect">
            <a:avLst>
              <a:gd name="adj" fmla="val 1224"/>
            </a:avLst>
          </a:prstGeom>
          <a:solidFill>
            <a:srgbClr val="FFFFFF"/>
          </a:solidFill>
          <a:ln w="8890">
            <a:solidFill>
              <a:srgbClr val="D5DDE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6344" y="850392"/>
            <a:ext cx="5500116" cy="3703320"/>
          </a:xfrm>
          <a:prstGeom prst="rect">
            <a:avLst/>
          </a:prstGeom>
          <a:solidFill>
            <a:srgbClr val="1E1D3A"/>
          </a:solidFill>
          <a:ln w="8890">
            <a:solidFill>
              <a:srgbClr val="1E1D3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66344" y="850392"/>
            <a:ext cx="5500116" cy="370332"/>
          </a:xfrm>
          <a:prstGeom prst="rect">
            <a:avLst/>
          </a:prstGeom>
          <a:solidFill>
            <a:srgbClr val="302F50"/>
          </a:solidFill>
          <a:ln w="8890">
            <a:solidFill>
              <a:srgbClr val="302F5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66344" y="850392"/>
            <a:ext cx="1062990" cy="3703320"/>
          </a:xfrm>
          <a:prstGeom prst="rect">
            <a:avLst/>
          </a:prstGeom>
          <a:solidFill>
            <a:srgbClr val="2E2D4E"/>
          </a:solidFill>
          <a:ln w="8890">
            <a:solidFill>
              <a:srgbClr val="2E2D4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0" y="939546"/>
            <a:ext cx="857250" cy="109728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54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⚙  인력관리 시스템</a:t>
            </a:r>
            <a:endParaRPr lang="en-US" sz="540" dirty="0"/>
          </a:p>
        </p:txBody>
      </p:sp>
      <p:sp>
        <p:nvSpPr>
          <p:cNvPr id="15" name="Text 13"/>
          <p:cNvSpPr/>
          <p:nvPr/>
        </p:nvSpPr>
        <p:spPr>
          <a:xfrm>
            <a:off x="665226" y="1056132"/>
            <a:ext cx="548640" cy="68580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360" dirty="0">
                <a:solidFill>
                  <a:srgbClr val="C9C7E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Peoplify v1.0</a:t>
            </a:r>
            <a:endParaRPr lang="en-US" sz="360" dirty="0"/>
          </a:p>
        </p:txBody>
      </p:sp>
      <p:sp>
        <p:nvSpPr>
          <p:cNvPr id="16" name="Text 14"/>
          <p:cNvSpPr/>
          <p:nvPr/>
        </p:nvSpPr>
        <p:spPr>
          <a:xfrm>
            <a:off x="555498" y="1330452"/>
            <a:ext cx="514350" cy="82296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375" dirty="0">
                <a:solidFill>
                  <a:srgbClr val="B6B4D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메인 메뉴</a:t>
            </a:r>
            <a:endParaRPr lang="en-US" sz="375" dirty="0"/>
          </a:p>
        </p:txBody>
      </p:sp>
      <p:sp>
        <p:nvSpPr>
          <p:cNvPr id="17" name="Text 15"/>
          <p:cNvSpPr/>
          <p:nvPr/>
        </p:nvSpPr>
        <p:spPr>
          <a:xfrm>
            <a:off x="569214" y="1508760"/>
            <a:ext cx="850392" cy="116586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450" b="1" dirty="0">
                <a:solidFill>
                  <a:srgbClr val="F7F7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▦  대시보드</a:t>
            </a:r>
            <a:endParaRPr lang="en-US" sz="450" dirty="0"/>
          </a:p>
        </p:txBody>
      </p:sp>
      <p:sp>
        <p:nvSpPr>
          <p:cNvPr id="18" name="Text 16"/>
          <p:cNvSpPr/>
          <p:nvPr/>
        </p:nvSpPr>
        <p:spPr>
          <a:xfrm>
            <a:off x="569214" y="1776222"/>
            <a:ext cx="850392" cy="116586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450" b="1" dirty="0">
                <a:solidFill>
                  <a:srgbClr val="F7F7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♙  직원관리  ˅</a:t>
            </a:r>
            <a:endParaRPr lang="en-US" sz="450" dirty="0"/>
          </a:p>
        </p:txBody>
      </p:sp>
      <p:sp>
        <p:nvSpPr>
          <p:cNvPr id="19" name="Text 17"/>
          <p:cNvSpPr/>
          <p:nvPr/>
        </p:nvSpPr>
        <p:spPr>
          <a:xfrm>
            <a:off x="569214" y="2043684"/>
            <a:ext cx="850392" cy="116586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450" b="1" dirty="0">
                <a:solidFill>
                  <a:srgbClr val="F7F7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▣  프로젝트   ˅</a:t>
            </a:r>
            <a:endParaRPr lang="en-US" sz="450" dirty="0"/>
          </a:p>
        </p:txBody>
      </p:sp>
      <p:sp>
        <p:nvSpPr>
          <p:cNvPr id="20" name="Text 18"/>
          <p:cNvSpPr/>
          <p:nvPr/>
        </p:nvSpPr>
        <p:spPr>
          <a:xfrm>
            <a:off x="569214" y="2311146"/>
            <a:ext cx="850392" cy="116586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450" b="1" dirty="0">
                <a:solidFill>
                  <a:srgbClr val="F7F7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◴  근태관리   ˅</a:t>
            </a:r>
            <a:endParaRPr lang="en-US" sz="450" dirty="0"/>
          </a:p>
        </p:txBody>
      </p:sp>
      <p:sp>
        <p:nvSpPr>
          <p:cNvPr id="21" name="Text 19"/>
          <p:cNvSpPr/>
          <p:nvPr/>
        </p:nvSpPr>
        <p:spPr>
          <a:xfrm>
            <a:off x="569214" y="2578608"/>
            <a:ext cx="850392" cy="116586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450" b="1" dirty="0">
                <a:solidFill>
                  <a:srgbClr val="F7F7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▥  리포트</a:t>
            </a:r>
            <a:endParaRPr lang="en-US" sz="450" dirty="0"/>
          </a:p>
        </p:txBody>
      </p:sp>
      <p:sp>
        <p:nvSpPr>
          <p:cNvPr id="22" name="Text 20"/>
          <p:cNvSpPr/>
          <p:nvPr/>
        </p:nvSpPr>
        <p:spPr>
          <a:xfrm>
            <a:off x="569214" y="2846070"/>
            <a:ext cx="850392" cy="116586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375" dirty="0">
                <a:solidFill>
                  <a:srgbClr val="A8A6C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패럴링(임시)</a:t>
            </a:r>
            <a:endParaRPr lang="en-US" sz="375" dirty="0"/>
          </a:p>
        </p:txBody>
      </p:sp>
      <p:sp>
        <p:nvSpPr>
          <p:cNvPr id="23" name="Text 21"/>
          <p:cNvSpPr/>
          <p:nvPr/>
        </p:nvSpPr>
        <p:spPr>
          <a:xfrm>
            <a:off x="569214" y="3051810"/>
            <a:ext cx="850392" cy="116586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450" b="1" dirty="0">
                <a:solidFill>
                  <a:srgbClr val="F7F7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▦  대시보드</a:t>
            </a:r>
            <a:endParaRPr lang="en-US" sz="450" dirty="0"/>
          </a:p>
        </p:txBody>
      </p:sp>
      <p:sp>
        <p:nvSpPr>
          <p:cNvPr id="24" name="Text 22"/>
          <p:cNvSpPr/>
          <p:nvPr/>
        </p:nvSpPr>
        <p:spPr>
          <a:xfrm>
            <a:off x="569214" y="3319272"/>
            <a:ext cx="850392" cy="116586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450" b="1" dirty="0">
                <a:solidFill>
                  <a:srgbClr val="F7F7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♙  직원관리  ˅</a:t>
            </a:r>
            <a:endParaRPr lang="en-US" sz="450" dirty="0"/>
          </a:p>
        </p:txBody>
      </p:sp>
      <p:sp>
        <p:nvSpPr>
          <p:cNvPr id="25" name="Text 23"/>
          <p:cNvSpPr/>
          <p:nvPr/>
        </p:nvSpPr>
        <p:spPr>
          <a:xfrm>
            <a:off x="569214" y="3586734"/>
            <a:ext cx="850392" cy="116586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450" b="1" dirty="0">
                <a:solidFill>
                  <a:srgbClr val="F7F7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▣  프로젝트   ˅</a:t>
            </a:r>
            <a:endParaRPr lang="en-US" sz="450" dirty="0"/>
          </a:p>
        </p:txBody>
      </p:sp>
      <p:sp>
        <p:nvSpPr>
          <p:cNvPr id="26" name="Text 24"/>
          <p:cNvSpPr/>
          <p:nvPr/>
        </p:nvSpPr>
        <p:spPr>
          <a:xfrm>
            <a:off x="569214" y="3854196"/>
            <a:ext cx="850392" cy="116586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450" b="1" dirty="0">
                <a:solidFill>
                  <a:srgbClr val="F7F7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◴  근태관리   ˅</a:t>
            </a:r>
            <a:endParaRPr lang="en-US" sz="450" dirty="0"/>
          </a:p>
        </p:txBody>
      </p:sp>
      <p:sp>
        <p:nvSpPr>
          <p:cNvPr id="27" name="Text 25"/>
          <p:cNvSpPr/>
          <p:nvPr/>
        </p:nvSpPr>
        <p:spPr>
          <a:xfrm>
            <a:off x="569214" y="4121658"/>
            <a:ext cx="850392" cy="116586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450" b="1" dirty="0">
                <a:solidFill>
                  <a:srgbClr val="F7F7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▥  리포트</a:t>
            </a:r>
            <a:endParaRPr lang="en-US" sz="450" dirty="0"/>
          </a:p>
        </p:txBody>
      </p:sp>
      <p:sp>
        <p:nvSpPr>
          <p:cNvPr id="28" name="Text 26"/>
          <p:cNvSpPr/>
          <p:nvPr/>
        </p:nvSpPr>
        <p:spPr>
          <a:xfrm>
            <a:off x="569214" y="4389120"/>
            <a:ext cx="850392" cy="116586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450" b="1" dirty="0">
                <a:solidFill>
                  <a:srgbClr val="F7F7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↪  로그인</a:t>
            </a:r>
            <a:endParaRPr lang="en-US" sz="450" dirty="0"/>
          </a:p>
        </p:txBody>
      </p:sp>
      <p:sp>
        <p:nvSpPr>
          <p:cNvPr id="29" name="Shape 27"/>
          <p:cNvSpPr/>
          <p:nvPr/>
        </p:nvSpPr>
        <p:spPr>
          <a:xfrm>
            <a:off x="1632204" y="932688"/>
            <a:ext cx="192024" cy="205740"/>
          </a:xfrm>
          <a:prstGeom prst="roundRect">
            <a:avLst>
              <a:gd name="adj" fmla="val 14286"/>
            </a:avLst>
          </a:prstGeom>
          <a:solidFill>
            <a:srgbClr val="292848"/>
          </a:solidFill>
          <a:ln w="8890">
            <a:solidFill>
              <a:srgbClr val="3F3E63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652778" y="960120"/>
            <a:ext cx="150876" cy="96012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pPr algn="ctr"/>
            <a:r>
              <a:rPr lang="en-US" sz="6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☰</a:t>
            </a:r>
            <a:endParaRPr lang="en-US" sz="600" dirty="0"/>
          </a:p>
        </p:txBody>
      </p:sp>
      <p:sp>
        <p:nvSpPr>
          <p:cNvPr id="31" name="Shape 29"/>
          <p:cNvSpPr/>
          <p:nvPr/>
        </p:nvSpPr>
        <p:spPr>
          <a:xfrm>
            <a:off x="1885950" y="918972"/>
            <a:ext cx="2023110" cy="233172"/>
          </a:xfrm>
          <a:prstGeom prst="roundRect">
            <a:avLst>
              <a:gd name="adj" fmla="val 14706"/>
            </a:avLst>
          </a:prstGeom>
          <a:solidFill>
            <a:srgbClr val="39385C"/>
          </a:solidFill>
          <a:ln w="8890">
            <a:solidFill>
              <a:srgbClr val="62608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54530" y="960120"/>
            <a:ext cx="1543050" cy="89154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465" dirty="0">
                <a:solidFill>
                  <a:srgbClr val="AFAED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⌕  Search or type command...</a:t>
            </a:r>
            <a:endParaRPr lang="en-US" sz="465" dirty="0"/>
          </a:p>
        </p:txBody>
      </p:sp>
      <p:sp>
        <p:nvSpPr>
          <p:cNvPr id="33" name="Shape 31"/>
          <p:cNvSpPr/>
          <p:nvPr/>
        </p:nvSpPr>
        <p:spPr>
          <a:xfrm>
            <a:off x="5232654" y="939546"/>
            <a:ext cx="377190" cy="171450"/>
          </a:xfrm>
          <a:prstGeom prst="roundRect">
            <a:avLst>
              <a:gd name="adj" fmla="val 20000"/>
            </a:avLst>
          </a:prstGeom>
          <a:solidFill>
            <a:srgbClr val="2D2C4D"/>
          </a:solidFill>
          <a:ln w="8890">
            <a:solidFill>
              <a:srgbClr val="2D2C4D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232654" y="939546"/>
            <a:ext cx="377190" cy="171450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pPr algn="ctr"/>
            <a:r>
              <a:rPr lang="en-US" sz="555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GitHub ↗</a:t>
            </a:r>
            <a:endParaRPr lang="en-US" sz="555" dirty="0"/>
          </a:p>
        </p:txBody>
      </p:sp>
      <p:sp>
        <p:nvSpPr>
          <p:cNvPr id="35" name="Shape 33"/>
          <p:cNvSpPr/>
          <p:nvPr/>
        </p:nvSpPr>
        <p:spPr>
          <a:xfrm>
            <a:off x="5747004" y="932688"/>
            <a:ext cx="198882" cy="198882"/>
          </a:xfrm>
          <a:prstGeom prst="ellipse">
            <a:avLst/>
          </a:prstGeom>
          <a:solidFill>
            <a:srgbClr val="7C6AF3"/>
          </a:solidFill>
          <a:ln w="8890">
            <a:solidFill>
              <a:srgbClr val="7C6AF3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747004" y="932688"/>
            <a:ext cx="198882" cy="198882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pPr algn="ctr"/>
            <a:r>
              <a:rPr lang="en-US" sz="525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○</a:t>
            </a:r>
            <a:endParaRPr lang="en-US" sz="525" dirty="0"/>
          </a:p>
        </p:txBody>
      </p:sp>
      <p:sp>
        <p:nvSpPr>
          <p:cNvPr id="37" name="Text 35"/>
          <p:cNvSpPr/>
          <p:nvPr/>
        </p:nvSpPr>
        <p:spPr>
          <a:xfrm>
            <a:off x="1892808" y="1440180"/>
            <a:ext cx="960120" cy="96012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450" dirty="0">
                <a:solidFill>
                  <a:srgbClr val="AFAED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직원관리  ›  윤지수</a:t>
            </a:r>
            <a:endParaRPr lang="en-US" sz="450" dirty="0"/>
          </a:p>
        </p:txBody>
      </p:sp>
      <p:sp>
        <p:nvSpPr>
          <p:cNvPr id="38" name="Text 36"/>
          <p:cNvSpPr/>
          <p:nvPr/>
        </p:nvSpPr>
        <p:spPr>
          <a:xfrm>
            <a:off x="1892808" y="1577340"/>
            <a:ext cx="857250" cy="178308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직원 수정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1892808" y="1817370"/>
            <a:ext cx="3963924" cy="1062990"/>
          </a:xfrm>
          <a:prstGeom prst="roundRect">
            <a:avLst>
              <a:gd name="adj" fmla="val 4516"/>
            </a:avLst>
          </a:prstGeom>
          <a:solidFill>
            <a:srgbClr val="333253"/>
          </a:solidFill>
          <a:ln w="8890">
            <a:solidFill>
              <a:srgbClr val="59577D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95678" y="1899666"/>
            <a:ext cx="171450" cy="150876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 fontScale="92500" lnSpcReduction="20000"/>
          </a:bodyPr>
          <a:lstStyle/>
          <a:p>
            <a:pPr algn="ctr"/>
            <a:r>
              <a:rPr lang="en-US" sz="1200" b="1" dirty="0">
                <a:solidFill>
                  <a:srgbClr val="FF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2167128" y="1906524"/>
            <a:ext cx="548640" cy="109728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 정보</a:t>
            </a:r>
            <a:endParaRPr lang="en-US" sz="600" dirty="0"/>
          </a:p>
        </p:txBody>
      </p:sp>
      <p:sp>
        <p:nvSpPr>
          <p:cNvPr id="42" name="Text 40"/>
          <p:cNvSpPr/>
          <p:nvPr/>
        </p:nvSpPr>
        <p:spPr>
          <a:xfrm>
            <a:off x="2029968" y="2105406"/>
            <a:ext cx="377190" cy="89154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48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이름 *</a:t>
            </a:r>
            <a:endParaRPr lang="en-US" sz="480" dirty="0"/>
          </a:p>
        </p:txBody>
      </p:sp>
      <p:sp>
        <p:nvSpPr>
          <p:cNvPr id="43" name="Text 41"/>
          <p:cNvSpPr/>
          <p:nvPr/>
        </p:nvSpPr>
        <p:spPr>
          <a:xfrm>
            <a:off x="3915918" y="2105406"/>
            <a:ext cx="377190" cy="89154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48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이메일 *</a:t>
            </a:r>
            <a:endParaRPr lang="en-US" sz="480" dirty="0"/>
          </a:p>
        </p:txBody>
      </p:sp>
      <p:sp>
        <p:nvSpPr>
          <p:cNvPr id="44" name="Shape 42"/>
          <p:cNvSpPr/>
          <p:nvPr/>
        </p:nvSpPr>
        <p:spPr>
          <a:xfrm>
            <a:off x="2029968" y="2215134"/>
            <a:ext cx="1769364" cy="185166"/>
          </a:xfrm>
          <a:prstGeom prst="roundRect">
            <a:avLst>
              <a:gd name="adj" fmla="val 14815"/>
            </a:avLst>
          </a:prstGeom>
          <a:solidFill>
            <a:srgbClr val="3A395D"/>
          </a:solidFill>
          <a:ln w="8890">
            <a:solidFill>
              <a:srgbClr val="615F88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077974" y="2215134"/>
            <a:ext cx="1673352" cy="185166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54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윤지수</a:t>
            </a:r>
            <a:endParaRPr lang="en-US" sz="540" dirty="0"/>
          </a:p>
        </p:txBody>
      </p:sp>
      <p:sp>
        <p:nvSpPr>
          <p:cNvPr id="46" name="Shape 44"/>
          <p:cNvSpPr/>
          <p:nvPr/>
        </p:nvSpPr>
        <p:spPr>
          <a:xfrm>
            <a:off x="3915918" y="2215134"/>
            <a:ext cx="1769364" cy="185166"/>
          </a:xfrm>
          <a:prstGeom prst="roundRect">
            <a:avLst>
              <a:gd name="adj" fmla="val 14815"/>
            </a:avLst>
          </a:prstGeom>
          <a:solidFill>
            <a:srgbClr val="3A395D"/>
          </a:solidFill>
          <a:ln w="8890">
            <a:solidFill>
              <a:srgbClr val="615F88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963924" y="2215134"/>
            <a:ext cx="1673352" cy="185166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54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jisu.yoon@peoplify.com</a:t>
            </a:r>
            <a:endParaRPr lang="en-US" sz="540" dirty="0"/>
          </a:p>
        </p:txBody>
      </p:sp>
      <p:sp>
        <p:nvSpPr>
          <p:cNvPr id="48" name="Text 46"/>
          <p:cNvSpPr/>
          <p:nvPr/>
        </p:nvSpPr>
        <p:spPr>
          <a:xfrm>
            <a:off x="2029968" y="2462022"/>
            <a:ext cx="411480" cy="89154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48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연락처 *</a:t>
            </a:r>
            <a:endParaRPr lang="en-US" sz="480" dirty="0"/>
          </a:p>
        </p:txBody>
      </p:sp>
      <p:sp>
        <p:nvSpPr>
          <p:cNvPr id="49" name="Text 47"/>
          <p:cNvSpPr/>
          <p:nvPr/>
        </p:nvSpPr>
        <p:spPr>
          <a:xfrm>
            <a:off x="3915918" y="2462022"/>
            <a:ext cx="411480" cy="89154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48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입사일 *</a:t>
            </a:r>
            <a:endParaRPr lang="en-US" sz="480" dirty="0"/>
          </a:p>
        </p:txBody>
      </p:sp>
      <p:sp>
        <p:nvSpPr>
          <p:cNvPr id="50" name="Shape 48"/>
          <p:cNvSpPr/>
          <p:nvPr/>
        </p:nvSpPr>
        <p:spPr>
          <a:xfrm>
            <a:off x="2029968" y="2571750"/>
            <a:ext cx="1769364" cy="185166"/>
          </a:xfrm>
          <a:prstGeom prst="roundRect">
            <a:avLst>
              <a:gd name="adj" fmla="val 14815"/>
            </a:avLst>
          </a:prstGeom>
          <a:solidFill>
            <a:srgbClr val="3A395D"/>
          </a:solidFill>
          <a:ln w="8890">
            <a:solidFill>
              <a:srgbClr val="615F88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2077974" y="2571750"/>
            <a:ext cx="1673352" cy="185166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54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010-1001-0005</a:t>
            </a:r>
            <a:endParaRPr lang="en-US" sz="540" dirty="0"/>
          </a:p>
        </p:txBody>
      </p:sp>
      <p:sp>
        <p:nvSpPr>
          <p:cNvPr id="52" name="Shape 50"/>
          <p:cNvSpPr/>
          <p:nvPr/>
        </p:nvSpPr>
        <p:spPr>
          <a:xfrm>
            <a:off x="3915918" y="2571750"/>
            <a:ext cx="1769364" cy="185166"/>
          </a:xfrm>
          <a:prstGeom prst="roundRect">
            <a:avLst>
              <a:gd name="adj" fmla="val 14815"/>
            </a:avLst>
          </a:prstGeom>
          <a:solidFill>
            <a:srgbClr val="3A395D"/>
          </a:solidFill>
          <a:ln w="8890">
            <a:solidFill>
              <a:srgbClr val="615F88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963924" y="2571750"/>
            <a:ext cx="1673352" cy="185166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54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2018-08-31</a:t>
            </a:r>
            <a:endParaRPr lang="en-US" sz="540" dirty="0"/>
          </a:p>
        </p:txBody>
      </p:sp>
      <p:sp>
        <p:nvSpPr>
          <p:cNvPr id="54" name="Shape 52"/>
          <p:cNvSpPr/>
          <p:nvPr/>
        </p:nvSpPr>
        <p:spPr>
          <a:xfrm>
            <a:off x="1892808" y="2914650"/>
            <a:ext cx="3963924" cy="562356"/>
          </a:xfrm>
          <a:prstGeom prst="roundRect">
            <a:avLst>
              <a:gd name="adj" fmla="val 8537"/>
            </a:avLst>
          </a:prstGeom>
          <a:solidFill>
            <a:srgbClr val="333253"/>
          </a:solidFill>
          <a:ln w="8890">
            <a:solidFill>
              <a:srgbClr val="59577D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1995678" y="2983230"/>
            <a:ext cx="171450" cy="150876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 fontScale="92500" lnSpcReduction="20000"/>
          </a:bodyPr>
          <a:lstStyle/>
          <a:p>
            <a:pPr algn="ctr"/>
            <a:r>
              <a:rPr lang="en-US" sz="1200" b="1" dirty="0">
                <a:solidFill>
                  <a:srgbClr val="FF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</a:t>
            </a:r>
            <a:endParaRPr lang="en-US" sz="1200" dirty="0"/>
          </a:p>
        </p:txBody>
      </p:sp>
      <p:sp>
        <p:nvSpPr>
          <p:cNvPr id="56" name="Text 54"/>
          <p:cNvSpPr/>
          <p:nvPr/>
        </p:nvSpPr>
        <p:spPr>
          <a:xfrm>
            <a:off x="2167128" y="2990088"/>
            <a:ext cx="582930" cy="109728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재직 상태</a:t>
            </a:r>
            <a:endParaRPr lang="en-US" sz="600" dirty="0"/>
          </a:p>
        </p:txBody>
      </p:sp>
      <p:sp>
        <p:nvSpPr>
          <p:cNvPr id="57" name="Text 55"/>
          <p:cNvSpPr/>
          <p:nvPr/>
        </p:nvSpPr>
        <p:spPr>
          <a:xfrm>
            <a:off x="2029968" y="3188970"/>
            <a:ext cx="548640" cy="89154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48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재직 상태 *</a:t>
            </a:r>
            <a:endParaRPr lang="en-US" sz="480" dirty="0"/>
          </a:p>
        </p:txBody>
      </p:sp>
      <p:sp>
        <p:nvSpPr>
          <p:cNvPr id="58" name="Shape 56"/>
          <p:cNvSpPr/>
          <p:nvPr/>
        </p:nvSpPr>
        <p:spPr>
          <a:xfrm>
            <a:off x="2029968" y="3291840"/>
            <a:ext cx="1769364" cy="171450"/>
          </a:xfrm>
          <a:prstGeom prst="roundRect">
            <a:avLst>
              <a:gd name="adj" fmla="val 16000"/>
            </a:avLst>
          </a:prstGeom>
          <a:solidFill>
            <a:srgbClr val="3A395D"/>
          </a:solidFill>
          <a:ln w="8890">
            <a:solidFill>
              <a:srgbClr val="615F88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2077974" y="3291840"/>
            <a:ext cx="1673352" cy="171450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54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재직                                      ⌄</a:t>
            </a:r>
            <a:endParaRPr lang="en-US" sz="540" dirty="0"/>
          </a:p>
        </p:txBody>
      </p:sp>
      <p:sp>
        <p:nvSpPr>
          <p:cNvPr id="60" name="Shape 58"/>
          <p:cNvSpPr/>
          <p:nvPr/>
        </p:nvSpPr>
        <p:spPr>
          <a:xfrm>
            <a:off x="1892808" y="3518154"/>
            <a:ext cx="3963924" cy="822960"/>
          </a:xfrm>
          <a:prstGeom prst="roundRect">
            <a:avLst>
              <a:gd name="adj" fmla="val 5833"/>
            </a:avLst>
          </a:prstGeom>
          <a:solidFill>
            <a:srgbClr val="333253"/>
          </a:solidFill>
          <a:ln w="8890">
            <a:solidFill>
              <a:srgbClr val="59577D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1995678" y="3586734"/>
            <a:ext cx="171450" cy="150876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 fontScale="92500" lnSpcReduction="20000"/>
          </a:bodyPr>
          <a:lstStyle/>
          <a:p>
            <a:pPr algn="ctr"/>
            <a:r>
              <a:rPr lang="en-US" sz="1200" b="1" dirty="0">
                <a:solidFill>
                  <a:srgbClr val="FF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</a:t>
            </a:r>
            <a:endParaRPr lang="en-US" sz="1200" dirty="0"/>
          </a:p>
        </p:txBody>
      </p:sp>
      <p:sp>
        <p:nvSpPr>
          <p:cNvPr id="62" name="Text 60"/>
          <p:cNvSpPr/>
          <p:nvPr/>
        </p:nvSpPr>
        <p:spPr>
          <a:xfrm>
            <a:off x="2167128" y="3593592"/>
            <a:ext cx="514350" cy="109728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기술스택</a:t>
            </a:r>
            <a:endParaRPr lang="en-US" sz="600" dirty="0"/>
          </a:p>
        </p:txBody>
      </p:sp>
      <p:sp>
        <p:nvSpPr>
          <p:cNvPr id="63" name="Shape 61"/>
          <p:cNvSpPr/>
          <p:nvPr/>
        </p:nvSpPr>
        <p:spPr>
          <a:xfrm>
            <a:off x="2029968" y="3785616"/>
            <a:ext cx="3689604" cy="274320"/>
          </a:xfrm>
          <a:prstGeom prst="roundRect">
            <a:avLst>
              <a:gd name="adj" fmla="val 12500"/>
            </a:avLst>
          </a:prstGeom>
          <a:solidFill>
            <a:srgbClr val="333253"/>
          </a:solidFill>
          <a:ln w="8890">
            <a:solidFill>
              <a:srgbClr val="4F4D76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2132838" y="3854196"/>
            <a:ext cx="342900" cy="137160"/>
          </a:xfrm>
          <a:prstGeom prst="roundRect">
            <a:avLst>
              <a:gd name="adj" fmla="val 40000"/>
            </a:avLst>
          </a:prstGeom>
          <a:solidFill>
            <a:srgbClr val="37365A"/>
          </a:solidFill>
          <a:ln w="8890">
            <a:solidFill>
              <a:srgbClr val="565481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2132838" y="3854196"/>
            <a:ext cx="342900" cy="137160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pPr algn="ctr"/>
            <a:r>
              <a:rPr lang="en-US" sz="435" dirty="0">
                <a:solidFill>
                  <a:srgbClr val="EFE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PMP  ×</a:t>
            </a:r>
            <a:endParaRPr lang="en-US" sz="435" dirty="0"/>
          </a:p>
        </p:txBody>
      </p:sp>
      <p:sp>
        <p:nvSpPr>
          <p:cNvPr id="66" name="Shape 64"/>
          <p:cNvSpPr/>
          <p:nvPr/>
        </p:nvSpPr>
        <p:spPr>
          <a:xfrm>
            <a:off x="2633472" y="3854196"/>
            <a:ext cx="397764" cy="137160"/>
          </a:xfrm>
          <a:prstGeom prst="roundRect">
            <a:avLst>
              <a:gd name="adj" fmla="val 40000"/>
            </a:avLst>
          </a:prstGeom>
          <a:solidFill>
            <a:srgbClr val="37365A"/>
          </a:solidFill>
          <a:ln w="8890">
            <a:solidFill>
              <a:srgbClr val="565481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2633472" y="3854196"/>
            <a:ext cx="397764" cy="137160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pPr algn="ctr"/>
            <a:r>
              <a:rPr lang="en-US" sz="435" dirty="0">
                <a:solidFill>
                  <a:srgbClr val="EFE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Jira  ×</a:t>
            </a:r>
            <a:endParaRPr lang="en-US" sz="435" dirty="0"/>
          </a:p>
        </p:txBody>
      </p:sp>
      <p:sp>
        <p:nvSpPr>
          <p:cNvPr id="68" name="Shape 66"/>
          <p:cNvSpPr/>
          <p:nvPr/>
        </p:nvSpPr>
        <p:spPr>
          <a:xfrm>
            <a:off x="3140964" y="3854196"/>
            <a:ext cx="589788" cy="137160"/>
          </a:xfrm>
          <a:prstGeom prst="roundRect">
            <a:avLst>
              <a:gd name="adj" fmla="val 40000"/>
            </a:avLst>
          </a:prstGeom>
          <a:solidFill>
            <a:srgbClr val="37365A"/>
          </a:solidFill>
          <a:ln w="8890">
            <a:solidFill>
              <a:srgbClr val="565481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3140964" y="3854196"/>
            <a:ext cx="589788" cy="137160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pPr algn="ctr"/>
            <a:r>
              <a:rPr lang="en-US" sz="435" dirty="0">
                <a:solidFill>
                  <a:srgbClr val="EFE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Confluence  ×</a:t>
            </a:r>
            <a:endParaRPr lang="en-US" sz="435" dirty="0"/>
          </a:p>
        </p:txBody>
      </p:sp>
      <p:sp>
        <p:nvSpPr>
          <p:cNvPr id="70" name="Shape 68"/>
          <p:cNvSpPr/>
          <p:nvPr/>
        </p:nvSpPr>
        <p:spPr>
          <a:xfrm>
            <a:off x="2029968" y="4135374"/>
            <a:ext cx="3463290" cy="192024"/>
          </a:xfrm>
          <a:prstGeom prst="roundRect">
            <a:avLst>
              <a:gd name="adj" fmla="val 14286"/>
            </a:avLst>
          </a:prstGeom>
          <a:solidFill>
            <a:srgbClr val="3A395D"/>
          </a:solidFill>
          <a:ln w="8890">
            <a:solidFill>
              <a:srgbClr val="615F88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2077974" y="4135374"/>
            <a:ext cx="3367278" cy="192024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54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기술스택 직접 입력...</a:t>
            </a:r>
            <a:endParaRPr lang="en-US" sz="540" dirty="0"/>
          </a:p>
        </p:txBody>
      </p:sp>
      <p:sp>
        <p:nvSpPr>
          <p:cNvPr id="72" name="Shape 70"/>
          <p:cNvSpPr/>
          <p:nvPr/>
        </p:nvSpPr>
        <p:spPr>
          <a:xfrm>
            <a:off x="5548122" y="4135374"/>
            <a:ext cx="171450" cy="192024"/>
          </a:xfrm>
          <a:prstGeom prst="roundRect">
            <a:avLst>
              <a:gd name="adj" fmla="val 16000"/>
            </a:avLst>
          </a:prstGeom>
          <a:solidFill>
            <a:srgbClr val="3A395D"/>
          </a:solidFill>
          <a:ln w="8890">
            <a:solidFill>
              <a:srgbClr val="615F88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5548122" y="4142232"/>
            <a:ext cx="171450" cy="171450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pPr algn="ctr"/>
            <a:r>
              <a:rPr lang="en-US" sz="675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＋</a:t>
            </a:r>
            <a:endParaRPr lang="en-US" sz="675" dirty="0"/>
          </a:p>
        </p:txBody>
      </p:sp>
      <p:sp>
        <p:nvSpPr>
          <p:cNvPr id="74" name="Shape 72"/>
          <p:cNvSpPr/>
          <p:nvPr/>
        </p:nvSpPr>
        <p:spPr>
          <a:xfrm>
            <a:off x="5218938" y="4299966"/>
            <a:ext cx="288036" cy="185166"/>
          </a:xfrm>
          <a:prstGeom prst="roundRect">
            <a:avLst>
              <a:gd name="adj" fmla="val 18519"/>
            </a:avLst>
          </a:prstGeom>
          <a:solidFill>
            <a:srgbClr val="302F50"/>
          </a:solidFill>
          <a:ln w="8890">
            <a:solidFill>
              <a:srgbClr val="302F50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5218938" y="4299966"/>
            <a:ext cx="288036" cy="185166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pPr algn="ctr"/>
            <a:r>
              <a:rPr lang="en-US" sz="555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취소</a:t>
            </a:r>
            <a:endParaRPr lang="en-US" sz="555" dirty="0"/>
          </a:p>
        </p:txBody>
      </p:sp>
      <p:sp>
        <p:nvSpPr>
          <p:cNvPr id="76" name="Shape 74"/>
          <p:cNvSpPr/>
          <p:nvPr/>
        </p:nvSpPr>
        <p:spPr>
          <a:xfrm>
            <a:off x="5575554" y="4299966"/>
            <a:ext cx="288036" cy="185166"/>
          </a:xfrm>
          <a:prstGeom prst="roundRect">
            <a:avLst>
              <a:gd name="adj" fmla="val 18519"/>
            </a:avLst>
          </a:prstGeom>
          <a:solidFill>
            <a:srgbClr val="5E50D5"/>
          </a:solidFill>
          <a:ln w="8890">
            <a:solidFill>
              <a:srgbClr val="5E50D5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5575554" y="4299966"/>
            <a:ext cx="288036" cy="185166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pPr algn="ctr"/>
            <a:r>
              <a:rPr lang="en-US" sz="555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</a:t>
            </a:r>
            <a:endParaRPr lang="en-US" sz="555" dirty="0"/>
          </a:p>
        </p:txBody>
      </p:sp>
      <p:sp>
        <p:nvSpPr>
          <p:cNvPr id="78" name="Text 76"/>
          <p:cNvSpPr/>
          <p:nvPr/>
        </p:nvSpPr>
        <p:spPr>
          <a:xfrm>
            <a:off x="5445252" y="4162806"/>
            <a:ext cx="171450" cy="150876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 fontScale="92500" lnSpcReduction="20000"/>
          </a:bodyPr>
          <a:lstStyle/>
          <a:p>
            <a:pPr algn="ctr"/>
            <a:r>
              <a:rPr lang="en-US" sz="1200" b="1" dirty="0">
                <a:solidFill>
                  <a:srgbClr val="FF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</a:t>
            </a:r>
            <a:endParaRPr lang="en-US" sz="1200" dirty="0"/>
          </a:p>
        </p:txBody>
      </p:sp>
      <p:graphicFrame>
        <p:nvGraphicFramePr>
          <p:cNvPr id="79" name="Table 0"/>
          <p:cNvGraphicFramePr>
            <a:graphicFrameLocks noGrp="1"/>
          </p:cNvGraphicFramePr>
          <p:nvPr>
            <p:extLst/>
          </p:nvPr>
        </p:nvGraphicFramePr>
        <p:xfrm>
          <a:off x="6172200" y="809244"/>
          <a:ext cx="2592324" cy="1421892"/>
        </p:xfrm>
        <a:graphic>
          <a:graphicData uri="http://schemas.openxmlformats.org/drawingml/2006/table">
            <a:tbl>
              <a:tblPr/>
              <a:tblGrid>
                <a:gridCol w="6720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6060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6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구분</a:t>
                      </a:r>
                      <a:endParaRPr lang="en-US" sz="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8006" marR="48006" marT="48006" marB="48006">
                    <a:lnL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33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6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기획 내용</a:t>
                      </a:r>
                      <a:endParaRPr lang="en-US" sz="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8006" marR="48006" marT="48006" marB="48006">
                    <a:lnL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33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032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00" dirty="0">
                          <a:solidFill>
                            <a:srgbClr val="1118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① 기본 정보</a:t>
                      </a:r>
                      <a:endParaRPr lang="en-US" sz="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8006" marR="48006" marT="48006" marB="48006">
                    <a:lnL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00" dirty="0">
                          <a:solidFill>
                            <a:srgbClr val="1118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이름/이메일/연락처/입사일/부서/직급 입력 및 수정</a:t>
                      </a:r>
                      <a:endParaRPr lang="en-US" sz="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8006" marR="48006" marT="48006" marB="48006">
                    <a:lnL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032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00" dirty="0">
                          <a:solidFill>
                            <a:srgbClr val="1118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② 재직 상태</a:t>
                      </a:r>
                      <a:endParaRPr lang="en-US" sz="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8006" marR="48006" marT="48006" marB="48006">
                    <a:lnL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00" dirty="0">
                          <a:solidFill>
                            <a:srgbClr val="1118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재직/휴직/퇴사 등 상태값 수정</a:t>
                      </a:r>
                      <a:endParaRPr lang="en-US" sz="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600" dirty="0">
                          <a:solidFill>
                            <a:srgbClr val="1118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퇴사 상태 선택 시 저장 전 확인 필요</a:t>
                      </a:r>
                      <a:endParaRPr lang="en-US" sz="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8006" marR="48006" marT="48006" marB="48006">
                    <a:lnL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032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00" dirty="0">
                          <a:solidFill>
                            <a:srgbClr val="1118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③ 기술스택</a:t>
                      </a:r>
                      <a:endParaRPr lang="en-US" sz="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8006" marR="48006" marT="48006" marB="48006">
                    <a:lnL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00" dirty="0">
                          <a:solidFill>
                            <a:srgbClr val="1118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보유 기술 태그 표시</a:t>
                      </a:r>
                      <a:endParaRPr lang="en-US" sz="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600" dirty="0">
                          <a:solidFill>
                            <a:srgbClr val="1118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직접 입력 후 + 버튼 또는 Enter로 태그 추가</a:t>
                      </a:r>
                      <a:endParaRPr lang="en-US" sz="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8006" marR="48006" marT="48006" marB="48006">
                    <a:lnL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032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00" dirty="0">
                          <a:solidFill>
                            <a:srgbClr val="1118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④ 저장/취소</a:t>
                      </a:r>
                      <a:endParaRPr lang="en-US" sz="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8006" marR="48006" marT="48006" marB="48006">
                    <a:lnL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00" dirty="0">
                          <a:solidFill>
                            <a:srgbClr val="1118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취소: 직원 상세 화면으로 복귀</a:t>
                      </a:r>
                      <a:endParaRPr lang="en-US" sz="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600" dirty="0">
                          <a:solidFill>
                            <a:srgbClr val="1118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저장: 수정 데이터 반영 후 상세 화면 이동</a:t>
                      </a:r>
                      <a:endParaRPr lang="en-US" sz="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8006" marR="48006" marT="48006" marB="48006">
                    <a:lnL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0" name="Text 77"/>
          <p:cNvSpPr/>
          <p:nvPr/>
        </p:nvSpPr>
        <p:spPr>
          <a:xfrm>
            <a:off x="384048" y="4834890"/>
            <a:ext cx="2880360" cy="109728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525" dirty="0">
                <a:solidFill>
                  <a:srgbClr val="36415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본 문서는 화면 설계 검토용이며, 실제 구현 상태와 다를 수 있습니다.</a:t>
            </a:r>
            <a:endParaRPr lang="en-US" sz="525" dirty="0"/>
          </a:p>
        </p:txBody>
      </p:sp>
      <p:sp>
        <p:nvSpPr>
          <p:cNvPr id="81" name="Text 78"/>
          <p:cNvSpPr/>
          <p:nvPr/>
        </p:nvSpPr>
        <p:spPr>
          <a:xfrm>
            <a:off x="8380476" y="4834890"/>
            <a:ext cx="480060" cy="109728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pPr algn="r"/>
            <a:r>
              <a:rPr lang="en-US" sz="510" dirty="0">
                <a:solidFill>
                  <a:srgbClr val="36415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Confidential</a:t>
            </a:r>
            <a:endParaRPr lang="en-US" sz="510" dirty="0"/>
          </a:p>
        </p:txBody>
      </p:sp>
      <p:graphicFrame>
        <p:nvGraphicFramePr>
          <p:cNvPr id="8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20355687"/>
              </p:ext>
            </p:extLst>
          </p:nvPr>
        </p:nvGraphicFramePr>
        <p:xfrm>
          <a:off x="6165342" y="2658781"/>
          <a:ext cx="2592324" cy="841248"/>
        </p:xfrm>
        <a:graphic>
          <a:graphicData uri="http://schemas.openxmlformats.org/drawingml/2006/table">
            <a:tbl>
              <a:tblPr/>
              <a:tblGrid>
                <a:gridCol w="6720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6060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6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구분</a:t>
                      </a:r>
                      <a:endParaRPr lang="en-US" sz="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8006" marR="48006" marT="48006" marB="48006">
                    <a:lnL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33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600" b="1" dirty="0" smtClean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charset="0"/>
                        </a:rPr>
                        <a:t>수정</a:t>
                      </a:r>
                      <a:r>
                        <a:rPr lang="en-US" altLang="ko-KR" sz="600" b="1" dirty="0" smtClean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charset="0"/>
                        </a:rPr>
                        <a:t>/</a:t>
                      </a:r>
                      <a:r>
                        <a:rPr lang="ko-KR" altLang="en-US" sz="600" b="1" dirty="0" smtClean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charset="0"/>
                        </a:rPr>
                        <a:t>추가</a:t>
                      </a:r>
                      <a:endParaRPr lang="en-US" sz="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8006" marR="48006" marT="48006" marB="48006">
                    <a:lnL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33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032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00" dirty="0" smtClean="0">
                          <a:solidFill>
                            <a:srgbClr val="1118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⑤ </a:t>
                      </a:r>
                      <a:r>
                        <a:rPr lang="en-US" sz="600" dirty="0">
                          <a:solidFill>
                            <a:srgbClr val="1118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기본 정보</a:t>
                      </a:r>
                      <a:endParaRPr lang="en-US" sz="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8006" marR="48006" marT="48006" marB="48006">
                    <a:lnL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ko-KR" altLang="en-US" sz="600" dirty="0" smtClean="0">
                          <a:solidFill>
                            <a:srgbClr val="1118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입사일 </a:t>
                      </a:r>
                      <a:r>
                        <a:rPr lang="en-US" altLang="ko-KR" sz="600" dirty="0" err="1" smtClean="0">
                          <a:solidFill>
                            <a:srgbClr val="1118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datepiker</a:t>
                      </a:r>
                      <a:r>
                        <a:rPr lang="en-US" altLang="ko-KR" sz="600" dirty="0" smtClean="0">
                          <a:solidFill>
                            <a:srgbClr val="1118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</a:t>
                      </a:r>
                      <a:r>
                        <a:rPr lang="ko-KR" altLang="en-US" sz="600" dirty="0" smtClean="0">
                          <a:solidFill>
                            <a:srgbClr val="1118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적용</a:t>
                      </a:r>
                      <a:endParaRPr lang="en-US" sz="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8006" marR="48006" marT="48006" marB="48006">
                    <a:lnL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032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altLang="ko-KR" sz="600" dirty="0" smtClean="0">
                          <a:solidFill>
                            <a:srgbClr val="1118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⑥ </a:t>
                      </a:r>
                      <a:r>
                        <a:rPr lang="en-US" sz="600" dirty="0" err="1" smtClean="0">
                          <a:solidFill>
                            <a:srgbClr val="1118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검증</a:t>
                      </a:r>
                      <a:r>
                        <a:rPr lang="en-US" sz="600" dirty="0">
                          <a:solidFill>
                            <a:srgbClr val="1118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/예외</a:t>
                      </a:r>
                      <a:endParaRPr lang="en-US" sz="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8006" marR="48006" marT="48006" marB="48006">
                    <a:lnL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00" dirty="0">
                          <a:solidFill>
                            <a:srgbClr val="1118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필수값 미입력 시 해당 입력값 붉은 테두리 표시</a:t>
                      </a:r>
                      <a:endParaRPr lang="en-US" sz="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600" dirty="0">
                          <a:solidFill>
                            <a:srgbClr val="1118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입력창 하단에 안내 문구 노출</a:t>
                      </a:r>
                      <a:endParaRPr lang="en-US" sz="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8006" marR="48006" marT="48006" marB="48006">
                    <a:lnL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84" name="Text 38"/>
          <p:cNvSpPr/>
          <p:nvPr/>
        </p:nvSpPr>
        <p:spPr>
          <a:xfrm>
            <a:off x="3753612" y="2431161"/>
            <a:ext cx="171450" cy="150876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 fontScale="92500" lnSpcReduction="20000"/>
          </a:bodyPr>
          <a:lstStyle/>
          <a:p>
            <a:pPr algn="ctr"/>
            <a:r>
              <a:rPr lang="en-US" sz="1200" b="1" dirty="0" smtClean="0">
                <a:solidFill>
                  <a:srgbClr val="FF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⑤</a:t>
            </a:r>
            <a:endParaRPr lang="en-US" sz="1200" dirty="0"/>
          </a:p>
        </p:txBody>
      </p:sp>
      <p:pic>
        <p:nvPicPr>
          <p:cNvPr id="85" name="그림 8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3570927"/>
            <a:ext cx="1928081" cy="7036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14896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47472"/>
          </a:xfrm>
          <a:prstGeom prst="rect">
            <a:avLst/>
          </a:prstGeom>
          <a:solidFill>
            <a:srgbClr val="1A2744"/>
          </a:solidFill>
          <a:ln w="12700">
            <a:solidFill>
              <a:srgbClr val="1A274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164592" y="0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7B9C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employee 도메인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0" y="0"/>
            <a:ext cx="8778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직원 상세 (투입 이력 탭 추가)  ·  /employees/:id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8887968" y="0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4A6A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10/13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0" y="347472"/>
            <a:ext cx="1417320" cy="4796028"/>
          </a:xfrm>
          <a:prstGeom prst="rect">
            <a:avLst/>
          </a:prstGeom>
          <a:solidFill>
            <a:srgbClr val="1A2744"/>
          </a:solidFill>
          <a:ln w="12700">
            <a:solidFill>
              <a:srgbClr val="1A274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0" y="347472"/>
            <a:ext cx="1417320" cy="512064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0" y="347472"/>
            <a:ext cx="141732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Peoplify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4864" y="1005840"/>
            <a:ext cx="13167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대시보드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0" y="1563624"/>
            <a:ext cx="1417320" cy="512064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Shape 9"/>
          <p:cNvSpPr/>
          <p:nvPr/>
        </p:nvSpPr>
        <p:spPr>
          <a:xfrm>
            <a:off x="0" y="1563624"/>
            <a:ext cx="36576" cy="512064"/>
          </a:xfrm>
          <a:prstGeom prst="rect">
            <a:avLst/>
          </a:prstGeom>
          <a:solidFill>
            <a:srgbClr val="3B9EE8"/>
          </a:solidFill>
          <a:ln w="12700">
            <a:solidFill>
              <a:srgbClr val="3B9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54864" y="1609344"/>
            <a:ext cx="13167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직원관리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54864" y="2212848"/>
            <a:ext cx="13167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프로젝트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54864" y="2816352"/>
            <a:ext cx="13167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근태관리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54864" y="3419856"/>
            <a:ext cx="13167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리포트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1417320" y="347472"/>
            <a:ext cx="772668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DEE2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Shape 15"/>
          <p:cNvSpPr/>
          <p:nvPr/>
        </p:nvSpPr>
        <p:spPr>
          <a:xfrm>
            <a:off x="1572768" y="448056"/>
            <a:ext cx="2926080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DEE2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Text 16"/>
          <p:cNvSpPr/>
          <p:nvPr/>
        </p:nvSpPr>
        <p:spPr>
          <a:xfrm>
            <a:off x="1609344" y="448056"/>
            <a:ext cx="285292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검색...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8046720" y="43891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🔔  관리자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8833104" y="448056"/>
            <a:ext cx="237744" cy="237744"/>
          </a:xfrm>
          <a:prstGeom prst="ellipse">
            <a:avLst/>
          </a:prstGeom>
          <a:solidFill>
            <a:srgbClr val="185FA5"/>
          </a:solidFill>
          <a:ln w="12700">
            <a:solidFill>
              <a:srgbClr val="185FA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Text 19"/>
          <p:cNvSpPr/>
          <p:nvPr/>
        </p:nvSpPr>
        <p:spPr>
          <a:xfrm>
            <a:off x="8833104" y="448056"/>
            <a:ext cx="23774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1417320" y="786384"/>
            <a:ext cx="7726680" cy="4357116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Text 21"/>
          <p:cNvSpPr/>
          <p:nvPr/>
        </p:nvSpPr>
        <p:spPr>
          <a:xfrm>
            <a:off x="1572768" y="877824"/>
            <a:ext cx="1645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85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 직원 목록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572768" y="1060704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직원 상세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7863840" y="1060704"/>
            <a:ext cx="548640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DEE2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24"/>
          <p:cNvSpPr/>
          <p:nvPr/>
        </p:nvSpPr>
        <p:spPr>
          <a:xfrm>
            <a:off x="7863840" y="1060704"/>
            <a:ext cx="548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수정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8449056" y="1060704"/>
            <a:ext cx="530352" cy="256032"/>
          </a:xfrm>
          <a:prstGeom prst="rect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Text 26"/>
          <p:cNvSpPr/>
          <p:nvPr/>
        </p:nvSpPr>
        <p:spPr>
          <a:xfrm>
            <a:off x="8449056" y="1060704"/>
            <a:ext cx="53035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삭제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1572768" y="1426464"/>
            <a:ext cx="2331720" cy="3529584"/>
          </a:xfrm>
          <a:prstGeom prst="rect">
            <a:avLst/>
          </a:prstGeom>
          <a:solidFill>
            <a:srgbClr val="FFFFFF"/>
          </a:solidFill>
          <a:ln w="12700">
            <a:solidFill>
              <a:srgbClr val="DEE2E8"/>
            </a:solidFill>
            <a:prstDash val="solid"/>
          </a:ln>
          <a:effectLst>
            <a:outerShdw blurRad="508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0" name="Shape 28"/>
          <p:cNvSpPr/>
          <p:nvPr/>
        </p:nvSpPr>
        <p:spPr>
          <a:xfrm>
            <a:off x="2286000" y="1591056"/>
            <a:ext cx="914400" cy="914400"/>
          </a:xfrm>
          <a:prstGeom prst="ellipse">
            <a:avLst/>
          </a:prstGeom>
          <a:solidFill>
            <a:srgbClr val="DBEAFE"/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1" name="Text 29"/>
          <p:cNvSpPr/>
          <p:nvPr/>
        </p:nvSpPr>
        <p:spPr>
          <a:xfrm>
            <a:off x="2286000" y="1591056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1D4E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김</a:t>
            </a:r>
            <a:endParaRPr lang="en-US" sz="2800" dirty="0"/>
          </a:p>
        </p:txBody>
      </p:sp>
      <p:sp>
        <p:nvSpPr>
          <p:cNvPr id="32" name="Text 30"/>
          <p:cNvSpPr/>
          <p:nvPr/>
        </p:nvSpPr>
        <p:spPr>
          <a:xfrm>
            <a:off x="1664208" y="2596896"/>
            <a:ext cx="2148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김민준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1664208" y="2852928"/>
            <a:ext cx="21488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개발팀 · 과장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2459736" y="3090672"/>
            <a:ext cx="566928" cy="182880"/>
          </a:xfrm>
          <a:prstGeom prst="rect">
            <a:avLst/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5" name="Text 33"/>
          <p:cNvSpPr/>
          <p:nvPr/>
        </p:nvSpPr>
        <p:spPr>
          <a:xfrm>
            <a:off x="2459736" y="3090672"/>
            <a:ext cx="56692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재직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682496" y="3364992"/>
            <a:ext cx="2103120" cy="0"/>
          </a:xfrm>
          <a:prstGeom prst="line">
            <a:avLst/>
          </a:prstGeom>
          <a:noFill/>
          <a:ln w="6350">
            <a:solidFill>
              <a:srgbClr val="DEE2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7" name="Text 35"/>
          <p:cNvSpPr/>
          <p:nvPr/>
        </p:nvSpPr>
        <p:spPr>
          <a:xfrm>
            <a:off x="1682496" y="3456432"/>
            <a:ext cx="62179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이메일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2350008" y="3456432"/>
            <a:ext cx="14630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kim.mj@...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1682496" y="3749040"/>
            <a:ext cx="62179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연락처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2350008" y="3749040"/>
            <a:ext cx="14630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010-1234-5678</a:t>
            </a:r>
            <a:endParaRPr lang="en-US" sz="850" dirty="0"/>
          </a:p>
        </p:txBody>
      </p:sp>
      <p:sp>
        <p:nvSpPr>
          <p:cNvPr id="41" name="Text 39"/>
          <p:cNvSpPr/>
          <p:nvPr/>
        </p:nvSpPr>
        <p:spPr>
          <a:xfrm>
            <a:off x="1682496" y="4041648"/>
            <a:ext cx="62179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입사일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2350008" y="4041648"/>
            <a:ext cx="14630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2021.03.15</a:t>
            </a:r>
            <a:endParaRPr lang="en-US" sz="850" dirty="0"/>
          </a:p>
        </p:txBody>
      </p:sp>
      <p:sp>
        <p:nvSpPr>
          <p:cNvPr id="43" name="Text 41"/>
          <p:cNvSpPr/>
          <p:nvPr/>
        </p:nvSpPr>
        <p:spPr>
          <a:xfrm>
            <a:off x="1682496" y="4334256"/>
            <a:ext cx="62179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현투입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2350008" y="4334256"/>
            <a:ext cx="14630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A금융 차세대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1682496" y="4626864"/>
            <a:ext cx="62179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투입률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2350008" y="4626864"/>
            <a:ext cx="14630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850" dirty="0"/>
          </a:p>
        </p:txBody>
      </p:sp>
      <p:sp>
        <p:nvSpPr>
          <p:cNvPr id="47" name="Shape 45"/>
          <p:cNvSpPr/>
          <p:nvPr/>
        </p:nvSpPr>
        <p:spPr>
          <a:xfrm>
            <a:off x="4041648" y="1426464"/>
            <a:ext cx="4983480" cy="3529584"/>
          </a:xfrm>
          <a:prstGeom prst="rect">
            <a:avLst/>
          </a:prstGeom>
          <a:solidFill>
            <a:srgbClr val="FFFFFF"/>
          </a:solidFill>
          <a:ln w="12700">
            <a:solidFill>
              <a:srgbClr val="DEE2E8"/>
            </a:solidFill>
            <a:prstDash val="solid"/>
          </a:ln>
          <a:effectLst>
            <a:outerShdw blurRad="508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48" name="Shape 46"/>
          <p:cNvSpPr/>
          <p:nvPr/>
        </p:nvSpPr>
        <p:spPr>
          <a:xfrm>
            <a:off x="4041648" y="1426464"/>
            <a:ext cx="1243584" cy="292608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ext 47"/>
          <p:cNvSpPr/>
          <p:nvPr/>
        </p:nvSpPr>
        <p:spPr>
          <a:xfrm>
            <a:off x="4041648" y="1426464"/>
            <a:ext cx="124358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기본정보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5285232" y="1426464"/>
            <a:ext cx="1243584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DEE2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ext 49"/>
          <p:cNvSpPr/>
          <p:nvPr/>
        </p:nvSpPr>
        <p:spPr>
          <a:xfrm>
            <a:off x="5285232" y="1426464"/>
            <a:ext cx="124358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투입 이력 ★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5285232" y="1700784"/>
            <a:ext cx="1243584" cy="27432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Shape 51"/>
          <p:cNvSpPr/>
          <p:nvPr/>
        </p:nvSpPr>
        <p:spPr>
          <a:xfrm>
            <a:off x="6528816" y="1426464"/>
            <a:ext cx="1243584" cy="292608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4" name="Text 52"/>
          <p:cNvSpPr/>
          <p:nvPr/>
        </p:nvSpPr>
        <p:spPr>
          <a:xfrm>
            <a:off x="6528816" y="1426464"/>
            <a:ext cx="124358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기술스택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772400" y="1426464"/>
            <a:ext cx="1243584" cy="292608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6" name="Text 54"/>
          <p:cNvSpPr/>
          <p:nvPr/>
        </p:nvSpPr>
        <p:spPr>
          <a:xfrm>
            <a:off x="7772400" y="1426464"/>
            <a:ext cx="124358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계약정보</a:t>
            </a:r>
            <a:endParaRPr lang="en-US" sz="900" dirty="0"/>
          </a:p>
        </p:txBody>
      </p:sp>
      <p:sp>
        <p:nvSpPr>
          <p:cNvPr id="57" name="Text 55"/>
          <p:cNvSpPr/>
          <p:nvPr/>
        </p:nvSpPr>
        <p:spPr>
          <a:xfrm>
            <a:off x="4151376" y="1810512"/>
            <a:ext cx="47548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프로젝트 투입 이력</a:t>
            </a:r>
            <a:endParaRPr lang="en-US" sz="1000" dirty="0"/>
          </a:p>
        </p:txBody>
      </p:sp>
      <p:sp>
        <p:nvSpPr>
          <p:cNvPr id="58" name="Shape 56"/>
          <p:cNvSpPr/>
          <p:nvPr/>
        </p:nvSpPr>
        <p:spPr>
          <a:xfrm>
            <a:off x="4114800" y="2066544"/>
            <a:ext cx="1408176" cy="219456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ext 57"/>
          <p:cNvSpPr/>
          <p:nvPr/>
        </p:nvSpPr>
        <p:spPr>
          <a:xfrm>
            <a:off x="4151376" y="2066544"/>
            <a:ext cx="1371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프로젝트</a:t>
            </a:r>
            <a:endParaRPr lang="en-US" sz="750" dirty="0"/>
          </a:p>
        </p:txBody>
      </p:sp>
      <p:sp>
        <p:nvSpPr>
          <p:cNvPr id="60" name="Shape 58"/>
          <p:cNvSpPr/>
          <p:nvPr/>
        </p:nvSpPr>
        <p:spPr>
          <a:xfrm>
            <a:off x="5486400" y="2066544"/>
            <a:ext cx="859536" cy="219456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ext 59"/>
          <p:cNvSpPr/>
          <p:nvPr/>
        </p:nvSpPr>
        <p:spPr>
          <a:xfrm>
            <a:off x="5522976" y="2066544"/>
            <a:ext cx="8229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고객사</a:t>
            </a:r>
            <a:endParaRPr lang="en-US" sz="750" dirty="0"/>
          </a:p>
        </p:txBody>
      </p:sp>
      <p:sp>
        <p:nvSpPr>
          <p:cNvPr id="62" name="Shape 60"/>
          <p:cNvSpPr/>
          <p:nvPr/>
        </p:nvSpPr>
        <p:spPr>
          <a:xfrm>
            <a:off x="6309360" y="2066544"/>
            <a:ext cx="539496" cy="219456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3" name="Text 61"/>
          <p:cNvSpPr/>
          <p:nvPr/>
        </p:nvSpPr>
        <p:spPr>
          <a:xfrm>
            <a:off x="6345936" y="2066544"/>
            <a:ext cx="5029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역할</a:t>
            </a:r>
            <a:endParaRPr lang="en-US" sz="750" dirty="0"/>
          </a:p>
        </p:txBody>
      </p:sp>
      <p:sp>
        <p:nvSpPr>
          <p:cNvPr id="64" name="Shape 62"/>
          <p:cNvSpPr/>
          <p:nvPr/>
        </p:nvSpPr>
        <p:spPr>
          <a:xfrm>
            <a:off x="6812280" y="2066544"/>
            <a:ext cx="1298448" cy="219456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5" name="Text 63"/>
          <p:cNvSpPr/>
          <p:nvPr/>
        </p:nvSpPr>
        <p:spPr>
          <a:xfrm>
            <a:off x="6848856" y="2066544"/>
            <a:ext cx="12618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투입기간</a:t>
            </a:r>
            <a:endParaRPr lang="en-US" sz="750" dirty="0"/>
          </a:p>
        </p:txBody>
      </p:sp>
      <p:sp>
        <p:nvSpPr>
          <p:cNvPr id="66" name="Shape 64"/>
          <p:cNvSpPr/>
          <p:nvPr/>
        </p:nvSpPr>
        <p:spPr>
          <a:xfrm>
            <a:off x="8074152" y="2066544"/>
            <a:ext cx="493776" cy="219456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7" name="Text 65"/>
          <p:cNvSpPr/>
          <p:nvPr/>
        </p:nvSpPr>
        <p:spPr>
          <a:xfrm>
            <a:off x="8110728" y="2066544"/>
            <a:ext cx="457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투입률</a:t>
            </a:r>
            <a:endParaRPr lang="en-US" sz="750" dirty="0"/>
          </a:p>
        </p:txBody>
      </p:sp>
      <p:sp>
        <p:nvSpPr>
          <p:cNvPr id="68" name="Shape 66"/>
          <p:cNvSpPr/>
          <p:nvPr/>
        </p:nvSpPr>
        <p:spPr>
          <a:xfrm>
            <a:off x="8531352" y="2066544"/>
            <a:ext cx="512064" cy="219456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9" name="Text 67"/>
          <p:cNvSpPr/>
          <p:nvPr/>
        </p:nvSpPr>
        <p:spPr>
          <a:xfrm>
            <a:off x="8567928" y="2066544"/>
            <a:ext cx="47548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상태</a:t>
            </a:r>
            <a:endParaRPr lang="en-US" sz="750" dirty="0"/>
          </a:p>
        </p:txBody>
      </p:sp>
      <p:sp>
        <p:nvSpPr>
          <p:cNvPr id="70" name="Shape 68"/>
          <p:cNvSpPr/>
          <p:nvPr/>
        </p:nvSpPr>
        <p:spPr>
          <a:xfrm>
            <a:off x="4041648" y="2322576"/>
            <a:ext cx="4983480" cy="347472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1" name="Text 69"/>
          <p:cNvSpPr/>
          <p:nvPr/>
        </p:nvSpPr>
        <p:spPr>
          <a:xfrm>
            <a:off x="4151376" y="2322576"/>
            <a:ext cx="1371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A금융 차세대</a:t>
            </a:r>
            <a:endParaRPr lang="en-US" sz="800" dirty="0"/>
          </a:p>
        </p:txBody>
      </p:sp>
      <p:sp>
        <p:nvSpPr>
          <p:cNvPr id="72" name="Text 70"/>
          <p:cNvSpPr/>
          <p:nvPr/>
        </p:nvSpPr>
        <p:spPr>
          <a:xfrm>
            <a:off x="5522976" y="2322576"/>
            <a:ext cx="8229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A금융</a:t>
            </a:r>
            <a:endParaRPr lang="en-US" sz="800" dirty="0"/>
          </a:p>
        </p:txBody>
      </p:sp>
      <p:sp>
        <p:nvSpPr>
          <p:cNvPr id="73" name="Text 71"/>
          <p:cNvSpPr/>
          <p:nvPr/>
        </p:nvSpPr>
        <p:spPr>
          <a:xfrm>
            <a:off x="6345936" y="2322576"/>
            <a:ext cx="502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</a:t>
            </a:r>
            <a:endParaRPr lang="en-US" sz="800" dirty="0"/>
          </a:p>
        </p:txBody>
      </p:sp>
      <p:sp>
        <p:nvSpPr>
          <p:cNvPr id="74" name="Text 72"/>
          <p:cNvSpPr/>
          <p:nvPr/>
        </p:nvSpPr>
        <p:spPr>
          <a:xfrm>
            <a:off x="6848856" y="2322576"/>
            <a:ext cx="12618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25.03~26.09</a:t>
            </a:r>
            <a:endParaRPr lang="en-US" sz="800" dirty="0"/>
          </a:p>
        </p:txBody>
      </p:sp>
      <p:sp>
        <p:nvSpPr>
          <p:cNvPr id="75" name="Text 73"/>
          <p:cNvSpPr/>
          <p:nvPr/>
        </p:nvSpPr>
        <p:spPr>
          <a:xfrm>
            <a:off x="8110728" y="2322576"/>
            <a:ext cx="457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800" dirty="0"/>
          </a:p>
        </p:txBody>
      </p:sp>
      <p:sp>
        <p:nvSpPr>
          <p:cNvPr id="76" name="Shape 74"/>
          <p:cNvSpPr/>
          <p:nvPr/>
        </p:nvSpPr>
        <p:spPr>
          <a:xfrm>
            <a:off x="8567928" y="2404872"/>
            <a:ext cx="566928" cy="18288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7" name="Text 75"/>
          <p:cNvSpPr/>
          <p:nvPr/>
        </p:nvSpPr>
        <p:spPr>
          <a:xfrm>
            <a:off x="8567928" y="2404872"/>
            <a:ext cx="56692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투입중</a:t>
            </a:r>
            <a:endParaRPr lang="en-US" sz="800" dirty="0"/>
          </a:p>
        </p:txBody>
      </p:sp>
      <p:sp>
        <p:nvSpPr>
          <p:cNvPr id="78" name="Text 76"/>
          <p:cNvSpPr/>
          <p:nvPr/>
        </p:nvSpPr>
        <p:spPr>
          <a:xfrm>
            <a:off x="4151376" y="2670048"/>
            <a:ext cx="1371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C제조 MES</a:t>
            </a:r>
            <a:endParaRPr lang="en-US" sz="800" dirty="0"/>
          </a:p>
        </p:txBody>
      </p:sp>
      <p:sp>
        <p:nvSpPr>
          <p:cNvPr id="79" name="Text 77"/>
          <p:cNvSpPr/>
          <p:nvPr/>
        </p:nvSpPr>
        <p:spPr>
          <a:xfrm>
            <a:off x="5522976" y="2670048"/>
            <a:ext cx="8229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C제조</a:t>
            </a:r>
            <a:endParaRPr lang="en-US" sz="800" dirty="0"/>
          </a:p>
        </p:txBody>
      </p:sp>
      <p:sp>
        <p:nvSpPr>
          <p:cNvPr id="80" name="Text 78"/>
          <p:cNvSpPr/>
          <p:nvPr/>
        </p:nvSpPr>
        <p:spPr>
          <a:xfrm>
            <a:off x="6345936" y="2670048"/>
            <a:ext cx="502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개발</a:t>
            </a:r>
            <a:endParaRPr lang="en-US" sz="800" dirty="0"/>
          </a:p>
        </p:txBody>
      </p:sp>
      <p:sp>
        <p:nvSpPr>
          <p:cNvPr id="81" name="Text 79"/>
          <p:cNvSpPr/>
          <p:nvPr/>
        </p:nvSpPr>
        <p:spPr>
          <a:xfrm>
            <a:off x="6848856" y="2670048"/>
            <a:ext cx="12618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24.01~24.12</a:t>
            </a:r>
            <a:endParaRPr lang="en-US" sz="800" dirty="0"/>
          </a:p>
        </p:txBody>
      </p:sp>
      <p:sp>
        <p:nvSpPr>
          <p:cNvPr id="82" name="Text 80"/>
          <p:cNvSpPr/>
          <p:nvPr/>
        </p:nvSpPr>
        <p:spPr>
          <a:xfrm>
            <a:off x="8110728" y="2670048"/>
            <a:ext cx="457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800" dirty="0"/>
          </a:p>
        </p:txBody>
      </p:sp>
      <p:sp>
        <p:nvSpPr>
          <p:cNvPr id="83" name="Shape 81"/>
          <p:cNvSpPr/>
          <p:nvPr/>
        </p:nvSpPr>
        <p:spPr>
          <a:xfrm>
            <a:off x="8567928" y="2752344"/>
            <a:ext cx="566928" cy="18288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4" name="Text 82"/>
          <p:cNvSpPr/>
          <p:nvPr/>
        </p:nvSpPr>
        <p:spPr>
          <a:xfrm>
            <a:off x="8567928" y="2752344"/>
            <a:ext cx="56692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완료</a:t>
            </a:r>
            <a:endParaRPr lang="en-US" sz="800" dirty="0"/>
          </a:p>
        </p:txBody>
      </p:sp>
      <p:sp>
        <p:nvSpPr>
          <p:cNvPr id="85" name="Shape 83"/>
          <p:cNvSpPr/>
          <p:nvPr/>
        </p:nvSpPr>
        <p:spPr>
          <a:xfrm>
            <a:off x="4041648" y="3017520"/>
            <a:ext cx="4983480" cy="347472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6" name="Text 84"/>
          <p:cNvSpPr/>
          <p:nvPr/>
        </p:nvSpPr>
        <p:spPr>
          <a:xfrm>
            <a:off x="4151376" y="3017520"/>
            <a:ext cx="1371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B공공 ERP</a:t>
            </a:r>
            <a:endParaRPr lang="en-US" sz="800" dirty="0"/>
          </a:p>
        </p:txBody>
      </p:sp>
      <p:sp>
        <p:nvSpPr>
          <p:cNvPr id="87" name="Text 85"/>
          <p:cNvSpPr/>
          <p:nvPr/>
        </p:nvSpPr>
        <p:spPr>
          <a:xfrm>
            <a:off x="5522976" y="3017520"/>
            <a:ext cx="8229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B공공</a:t>
            </a:r>
            <a:endParaRPr lang="en-US" sz="800" dirty="0"/>
          </a:p>
        </p:txBody>
      </p:sp>
      <p:sp>
        <p:nvSpPr>
          <p:cNvPr id="88" name="Text 86"/>
          <p:cNvSpPr/>
          <p:nvPr/>
        </p:nvSpPr>
        <p:spPr>
          <a:xfrm>
            <a:off x="6345936" y="3017520"/>
            <a:ext cx="502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개발</a:t>
            </a:r>
            <a:endParaRPr lang="en-US" sz="800" dirty="0"/>
          </a:p>
        </p:txBody>
      </p:sp>
      <p:sp>
        <p:nvSpPr>
          <p:cNvPr id="89" name="Text 87"/>
          <p:cNvSpPr/>
          <p:nvPr/>
        </p:nvSpPr>
        <p:spPr>
          <a:xfrm>
            <a:off x="6848856" y="3017520"/>
            <a:ext cx="12618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23.03~23.12</a:t>
            </a:r>
            <a:endParaRPr lang="en-US" sz="800" dirty="0"/>
          </a:p>
        </p:txBody>
      </p:sp>
      <p:sp>
        <p:nvSpPr>
          <p:cNvPr id="90" name="Text 88"/>
          <p:cNvSpPr/>
          <p:nvPr/>
        </p:nvSpPr>
        <p:spPr>
          <a:xfrm>
            <a:off x="8110728" y="3017520"/>
            <a:ext cx="457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800" dirty="0"/>
          </a:p>
        </p:txBody>
      </p:sp>
      <p:sp>
        <p:nvSpPr>
          <p:cNvPr id="91" name="Shape 89"/>
          <p:cNvSpPr/>
          <p:nvPr/>
        </p:nvSpPr>
        <p:spPr>
          <a:xfrm>
            <a:off x="8567928" y="3099816"/>
            <a:ext cx="566928" cy="18288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2" name="Text 90"/>
          <p:cNvSpPr/>
          <p:nvPr/>
        </p:nvSpPr>
        <p:spPr>
          <a:xfrm>
            <a:off x="8567928" y="3099816"/>
            <a:ext cx="56692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완료</a:t>
            </a:r>
            <a:endParaRPr lang="en-US" sz="800" dirty="0"/>
          </a:p>
        </p:txBody>
      </p:sp>
      <p:sp>
        <p:nvSpPr>
          <p:cNvPr id="93" name="Text 91"/>
          <p:cNvSpPr/>
          <p:nvPr/>
        </p:nvSpPr>
        <p:spPr>
          <a:xfrm>
            <a:off x="4151376" y="3364992"/>
            <a:ext cx="1371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D유통 물류</a:t>
            </a:r>
            <a:endParaRPr lang="en-US" sz="800" dirty="0"/>
          </a:p>
        </p:txBody>
      </p:sp>
      <p:sp>
        <p:nvSpPr>
          <p:cNvPr id="94" name="Text 92"/>
          <p:cNvSpPr/>
          <p:nvPr/>
        </p:nvSpPr>
        <p:spPr>
          <a:xfrm>
            <a:off x="5522976" y="3364992"/>
            <a:ext cx="8229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D유통</a:t>
            </a:r>
            <a:endParaRPr lang="en-US" sz="800" dirty="0"/>
          </a:p>
        </p:txBody>
      </p:sp>
      <p:sp>
        <p:nvSpPr>
          <p:cNvPr id="95" name="Text 93"/>
          <p:cNvSpPr/>
          <p:nvPr/>
        </p:nvSpPr>
        <p:spPr>
          <a:xfrm>
            <a:off x="6345936" y="3364992"/>
            <a:ext cx="502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개발</a:t>
            </a:r>
            <a:endParaRPr lang="en-US" sz="800" dirty="0"/>
          </a:p>
        </p:txBody>
      </p:sp>
      <p:sp>
        <p:nvSpPr>
          <p:cNvPr id="96" name="Text 94"/>
          <p:cNvSpPr/>
          <p:nvPr/>
        </p:nvSpPr>
        <p:spPr>
          <a:xfrm>
            <a:off x="6848856" y="3364992"/>
            <a:ext cx="12618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22.01~22.12</a:t>
            </a:r>
            <a:endParaRPr lang="en-US" sz="800" dirty="0"/>
          </a:p>
        </p:txBody>
      </p:sp>
      <p:sp>
        <p:nvSpPr>
          <p:cNvPr id="97" name="Text 95"/>
          <p:cNvSpPr/>
          <p:nvPr/>
        </p:nvSpPr>
        <p:spPr>
          <a:xfrm>
            <a:off x="8110728" y="3364992"/>
            <a:ext cx="457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50%</a:t>
            </a:r>
            <a:endParaRPr lang="en-US" sz="800" dirty="0"/>
          </a:p>
        </p:txBody>
      </p:sp>
      <p:sp>
        <p:nvSpPr>
          <p:cNvPr id="98" name="Shape 96"/>
          <p:cNvSpPr/>
          <p:nvPr/>
        </p:nvSpPr>
        <p:spPr>
          <a:xfrm>
            <a:off x="8567928" y="3447288"/>
            <a:ext cx="566928" cy="18288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9" name="Text 97"/>
          <p:cNvSpPr/>
          <p:nvPr/>
        </p:nvSpPr>
        <p:spPr>
          <a:xfrm>
            <a:off x="8567928" y="3447288"/>
            <a:ext cx="56692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완료</a:t>
            </a:r>
            <a:endParaRPr lang="en-US" sz="800" dirty="0"/>
          </a:p>
        </p:txBody>
      </p:sp>
      <p:sp>
        <p:nvSpPr>
          <p:cNvPr id="100" name="Shape 98"/>
          <p:cNvSpPr/>
          <p:nvPr/>
        </p:nvSpPr>
        <p:spPr>
          <a:xfrm>
            <a:off x="4041648" y="3712464"/>
            <a:ext cx="4983480" cy="347472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1" name="Text 99"/>
          <p:cNvSpPr/>
          <p:nvPr/>
        </p:nvSpPr>
        <p:spPr>
          <a:xfrm>
            <a:off x="4151376" y="3712464"/>
            <a:ext cx="1371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E통신 CRM</a:t>
            </a:r>
            <a:endParaRPr lang="en-US" sz="800" dirty="0"/>
          </a:p>
        </p:txBody>
      </p:sp>
      <p:sp>
        <p:nvSpPr>
          <p:cNvPr id="102" name="Text 100"/>
          <p:cNvSpPr/>
          <p:nvPr/>
        </p:nvSpPr>
        <p:spPr>
          <a:xfrm>
            <a:off x="5522976" y="3712464"/>
            <a:ext cx="8229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E통신</a:t>
            </a:r>
            <a:endParaRPr lang="en-US" sz="800" dirty="0"/>
          </a:p>
        </p:txBody>
      </p:sp>
      <p:sp>
        <p:nvSpPr>
          <p:cNvPr id="103" name="Text 101"/>
          <p:cNvSpPr/>
          <p:nvPr/>
        </p:nvSpPr>
        <p:spPr>
          <a:xfrm>
            <a:off x="6345936" y="3712464"/>
            <a:ext cx="502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</a:t>
            </a:r>
            <a:endParaRPr lang="en-US" sz="800" dirty="0"/>
          </a:p>
        </p:txBody>
      </p:sp>
      <p:sp>
        <p:nvSpPr>
          <p:cNvPr id="104" name="Text 102"/>
          <p:cNvSpPr/>
          <p:nvPr/>
        </p:nvSpPr>
        <p:spPr>
          <a:xfrm>
            <a:off x="6848856" y="3712464"/>
            <a:ext cx="12618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21.03~22.12</a:t>
            </a:r>
            <a:endParaRPr lang="en-US" sz="800" dirty="0"/>
          </a:p>
        </p:txBody>
      </p:sp>
      <p:sp>
        <p:nvSpPr>
          <p:cNvPr id="105" name="Text 103"/>
          <p:cNvSpPr/>
          <p:nvPr/>
        </p:nvSpPr>
        <p:spPr>
          <a:xfrm>
            <a:off x="8110728" y="3712464"/>
            <a:ext cx="457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800" dirty="0"/>
          </a:p>
        </p:txBody>
      </p:sp>
      <p:sp>
        <p:nvSpPr>
          <p:cNvPr id="106" name="Shape 104"/>
          <p:cNvSpPr/>
          <p:nvPr/>
        </p:nvSpPr>
        <p:spPr>
          <a:xfrm>
            <a:off x="8567928" y="3794760"/>
            <a:ext cx="566928" cy="18288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7" name="Text 105"/>
          <p:cNvSpPr/>
          <p:nvPr/>
        </p:nvSpPr>
        <p:spPr>
          <a:xfrm>
            <a:off x="8567928" y="3794760"/>
            <a:ext cx="56692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완료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339074831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47472"/>
          </a:xfrm>
          <a:prstGeom prst="rect">
            <a:avLst/>
          </a:prstGeom>
          <a:solidFill>
            <a:srgbClr val="1A2744"/>
          </a:solidFill>
          <a:ln w="12700">
            <a:solidFill>
              <a:srgbClr val="1A274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164592" y="0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7B9C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공통 레이아웃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0" y="0"/>
            <a:ext cx="8778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Layout  ·  모든 화면 공통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8887968" y="0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4A6A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2/13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0" y="347472"/>
            <a:ext cx="1417320" cy="4796028"/>
          </a:xfrm>
          <a:prstGeom prst="rect">
            <a:avLst/>
          </a:prstGeom>
          <a:solidFill>
            <a:srgbClr val="1A2744"/>
          </a:solidFill>
          <a:ln w="12700">
            <a:solidFill>
              <a:srgbClr val="1A274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0" y="347472"/>
            <a:ext cx="1417320" cy="512064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0" y="347472"/>
            <a:ext cx="141732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Peoplify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4864" y="1005840"/>
            <a:ext cx="13167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대시보드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54864" y="1609344"/>
            <a:ext cx="13167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직원관리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0" y="2167128"/>
            <a:ext cx="1417320" cy="512064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Shape 10"/>
          <p:cNvSpPr/>
          <p:nvPr/>
        </p:nvSpPr>
        <p:spPr>
          <a:xfrm>
            <a:off x="0" y="2167128"/>
            <a:ext cx="36576" cy="512064"/>
          </a:xfrm>
          <a:prstGeom prst="rect">
            <a:avLst/>
          </a:prstGeom>
          <a:solidFill>
            <a:srgbClr val="3B9EE8"/>
          </a:solidFill>
          <a:ln w="12700">
            <a:solidFill>
              <a:srgbClr val="3B9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Text 11"/>
          <p:cNvSpPr/>
          <p:nvPr/>
        </p:nvSpPr>
        <p:spPr>
          <a:xfrm>
            <a:off x="54864" y="2212848"/>
            <a:ext cx="13167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프로젝트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54864" y="2816352"/>
            <a:ext cx="13167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근태관리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54864" y="3419856"/>
            <a:ext cx="13167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리포트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1417320" y="347472"/>
            <a:ext cx="772668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DEE2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Shape 15"/>
          <p:cNvSpPr/>
          <p:nvPr/>
        </p:nvSpPr>
        <p:spPr>
          <a:xfrm>
            <a:off x="1572768" y="448056"/>
            <a:ext cx="2926080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DEE2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Text 16"/>
          <p:cNvSpPr/>
          <p:nvPr/>
        </p:nvSpPr>
        <p:spPr>
          <a:xfrm>
            <a:off x="1609344" y="448056"/>
            <a:ext cx="285292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검색...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8046720" y="43891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🔔  관리자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8833104" y="448056"/>
            <a:ext cx="237744" cy="237744"/>
          </a:xfrm>
          <a:prstGeom prst="ellipse">
            <a:avLst/>
          </a:prstGeom>
          <a:solidFill>
            <a:srgbClr val="185FA5"/>
          </a:solidFill>
          <a:ln w="12700">
            <a:solidFill>
              <a:srgbClr val="185FA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Text 19"/>
          <p:cNvSpPr/>
          <p:nvPr/>
        </p:nvSpPr>
        <p:spPr>
          <a:xfrm>
            <a:off x="8833104" y="448056"/>
            <a:ext cx="23774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1417320" y="786384"/>
            <a:ext cx="7726680" cy="4357116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Shape 21"/>
          <p:cNvSpPr/>
          <p:nvPr/>
        </p:nvSpPr>
        <p:spPr>
          <a:xfrm>
            <a:off x="2194560" y="960120"/>
            <a:ext cx="521208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EE2E8"/>
            </a:solidFill>
            <a:prstDash val="solid"/>
          </a:ln>
          <a:effectLst>
            <a:outerShdw blurRad="508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4" name="Text 22"/>
          <p:cNvSpPr/>
          <p:nvPr/>
        </p:nvSpPr>
        <p:spPr>
          <a:xfrm>
            <a:off x="2331720" y="1078992"/>
            <a:ext cx="49377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사이드바 메뉴 구성 (변경)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2331720" y="1389888"/>
            <a:ext cx="4937760" cy="347472"/>
          </a:xfrm>
          <a:prstGeom prst="rect">
            <a:avLst/>
          </a:prstGeom>
          <a:solidFill>
            <a:srgbClr val="F4F6F9"/>
          </a:solidFill>
          <a:ln w="12700">
            <a:solidFill>
              <a:srgbClr val="DEE2E8">
                <a:alpha val="50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24"/>
          <p:cNvSpPr/>
          <p:nvPr/>
        </p:nvSpPr>
        <p:spPr>
          <a:xfrm>
            <a:off x="2423160" y="1389888"/>
            <a:ext cx="1280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대시보드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3749040" y="1389888"/>
            <a:ext cx="3383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투입 중심 KPI·프로젝트 현황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2331720" y="1792224"/>
            <a:ext cx="4937760" cy="347472"/>
          </a:xfrm>
          <a:prstGeom prst="rect">
            <a:avLst/>
          </a:prstGeom>
          <a:solidFill>
            <a:srgbClr val="F4F6F9"/>
          </a:solidFill>
          <a:ln w="12700">
            <a:solidFill>
              <a:srgbClr val="DEE2E8">
                <a:alpha val="50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9" name="Text 27"/>
          <p:cNvSpPr/>
          <p:nvPr/>
        </p:nvSpPr>
        <p:spPr>
          <a:xfrm>
            <a:off x="2423160" y="1792224"/>
            <a:ext cx="1280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직원관리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3749040" y="1792224"/>
            <a:ext cx="3383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직원 목록·상세·등록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2331720" y="2194560"/>
            <a:ext cx="4937760" cy="347472"/>
          </a:xfrm>
          <a:prstGeom prst="rect">
            <a:avLst/>
          </a:prstGeom>
          <a:solidFill>
            <a:srgbClr val="DBEAFE"/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2" name="Text 30"/>
          <p:cNvSpPr/>
          <p:nvPr/>
        </p:nvSpPr>
        <p:spPr>
          <a:xfrm>
            <a:off x="2423160" y="2194560"/>
            <a:ext cx="1280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프로젝트 ★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3749040" y="2194560"/>
            <a:ext cx="3383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프로젝트 목록·등록·상세·인력 배정·투입 현황 (신규)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7223760" y="2267712"/>
            <a:ext cx="457200" cy="201168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5" name="Text 33"/>
          <p:cNvSpPr/>
          <p:nvPr/>
        </p:nvSpPr>
        <p:spPr>
          <a:xfrm>
            <a:off x="7223760" y="2267712"/>
            <a:ext cx="457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신규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2331720" y="2596896"/>
            <a:ext cx="4937760" cy="347472"/>
          </a:xfrm>
          <a:prstGeom prst="rect">
            <a:avLst/>
          </a:prstGeom>
          <a:solidFill>
            <a:srgbClr val="F4F6F9"/>
          </a:solidFill>
          <a:ln w="12700">
            <a:solidFill>
              <a:srgbClr val="DEE2E8">
                <a:alpha val="50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7" name="Text 35"/>
          <p:cNvSpPr/>
          <p:nvPr/>
        </p:nvSpPr>
        <p:spPr>
          <a:xfrm>
            <a:off x="2423160" y="2596896"/>
            <a:ext cx="1280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근태관리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3749040" y="2596896"/>
            <a:ext cx="3383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월별 근무 보고·휴가 관리 (간소화)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2331720" y="2999232"/>
            <a:ext cx="4937760" cy="347472"/>
          </a:xfrm>
          <a:prstGeom prst="rect">
            <a:avLst/>
          </a:prstGeom>
          <a:solidFill>
            <a:srgbClr val="F4F6F9"/>
          </a:solidFill>
          <a:ln w="12700">
            <a:solidFill>
              <a:srgbClr val="DEE2E8">
                <a:alpha val="50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0" name="Text 38"/>
          <p:cNvSpPr/>
          <p:nvPr/>
        </p:nvSpPr>
        <p:spPr>
          <a:xfrm>
            <a:off x="2423160" y="2999232"/>
            <a:ext cx="1280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리포트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3749040" y="2999232"/>
            <a:ext cx="3383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투입률·인력 분석 통계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2331720" y="3456432"/>
            <a:ext cx="4937760" cy="0"/>
          </a:xfrm>
          <a:prstGeom prst="line">
            <a:avLst/>
          </a:prstGeom>
          <a:noFill/>
          <a:ln w="6350">
            <a:solidFill>
              <a:srgbClr val="DEE2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3" name="Text 41"/>
          <p:cNvSpPr/>
          <p:nvPr/>
        </p:nvSpPr>
        <p:spPr>
          <a:xfrm>
            <a:off x="2331720" y="3529584"/>
            <a:ext cx="4937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헤더: 전역 검색 · 알림 · 사용자 아바타  ③ 콘텐츠 영역: 패딩 20px · 카드 그룹핑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2194560" y="3950208"/>
            <a:ext cx="5212080" cy="329184"/>
          </a:xfrm>
          <a:prstGeom prst="rect">
            <a:avLst/>
          </a:prstGeom>
          <a:solidFill>
            <a:srgbClr val="FEF3C7"/>
          </a:solidFill>
          <a:ln w="12700">
            <a:solidFill>
              <a:srgbClr val="DEE2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ext 43"/>
          <p:cNvSpPr/>
          <p:nvPr/>
        </p:nvSpPr>
        <p:spPr>
          <a:xfrm>
            <a:off x="2304288" y="3950208"/>
            <a:ext cx="50292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Login 화면은 사이드바/헤더 없이 단독 레이아웃  |  근무일정(교대 배정) 메뉴 삭제됨</a:t>
            </a:r>
            <a:endParaRPr lang="en-US" sz="9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47472"/>
          </a:xfrm>
          <a:prstGeom prst="rect">
            <a:avLst/>
          </a:prstGeom>
          <a:solidFill>
            <a:srgbClr val="1A2744"/>
          </a:solidFill>
          <a:ln w="12700">
            <a:solidFill>
              <a:srgbClr val="1A274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164592" y="0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7B9C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도메인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0" y="0"/>
            <a:ext cx="8778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프로젝트 목록  ·  /projects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8887968" y="0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4A6A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4/13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0" y="347472"/>
            <a:ext cx="1417320" cy="4796028"/>
          </a:xfrm>
          <a:prstGeom prst="rect">
            <a:avLst/>
          </a:prstGeom>
          <a:solidFill>
            <a:srgbClr val="1A2744"/>
          </a:solidFill>
          <a:ln w="12700">
            <a:solidFill>
              <a:srgbClr val="1A274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0" y="347472"/>
            <a:ext cx="1417320" cy="512064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0" y="347472"/>
            <a:ext cx="141732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Peoplify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4864" y="1005840"/>
            <a:ext cx="13167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대시보드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54864" y="1609344"/>
            <a:ext cx="13167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직원관리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0" y="2167128"/>
            <a:ext cx="1417320" cy="512064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Shape 10"/>
          <p:cNvSpPr/>
          <p:nvPr/>
        </p:nvSpPr>
        <p:spPr>
          <a:xfrm>
            <a:off x="0" y="2167128"/>
            <a:ext cx="36576" cy="512064"/>
          </a:xfrm>
          <a:prstGeom prst="rect">
            <a:avLst/>
          </a:prstGeom>
          <a:solidFill>
            <a:srgbClr val="3B9EE8"/>
          </a:solidFill>
          <a:ln w="12700">
            <a:solidFill>
              <a:srgbClr val="3B9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Text 11"/>
          <p:cNvSpPr/>
          <p:nvPr/>
        </p:nvSpPr>
        <p:spPr>
          <a:xfrm>
            <a:off x="54864" y="2212848"/>
            <a:ext cx="13167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프로젝트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54864" y="2816352"/>
            <a:ext cx="13167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근태관리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54864" y="3419856"/>
            <a:ext cx="13167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리포트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1417320" y="347472"/>
            <a:ext cx="772668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DEE2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Shape 15"/>
          <p:cNvSpPr/>
          <p:nvPr/>
        </p:nvSpPr>
        <p:spPr>
          <a:xfrm>
            <a:off x="1572768" y="448056"/>
            <a:ext cx="2926080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DEE2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Text 16"/>
          <p:cNvSpPr/>
          <p:nvPr/>
        </p:nvSpPr>
        <p:spPr>
          <a:xfrm>
            <a:off x="1609344" y="448056"/>
            <a:ext cx="285292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검색...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8046720" y="43891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🔔  관리자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8833104" y="448056"/>
            <a:ext cx="237744" cy="237744"/>
          </a:xfrm>
          <a:prstGeom prst="ellipse">
            <a:avLst/>
          </a:prstGeom>
          <a:solidFill>
            <a:srgbClr val="185FA5"/>
          </a:solidFill>
          <a:ln w="12700">
            <a:solidFill>
              <a:srgbClr val="185FA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Text 19"/>
          <p:cNvSpPr/>
          <p:nvPr/>
        </p:nvSpPr>
        <p:spPr>
          <a:xfrm>
            <a:off x="8833104" y="448056"/>
            <a:ext cx="23774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1417320" y="786384"/>
            <a:ext cx="7726680" cy="4357116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Text 21"/>
          <p:cNvSpPr/>
          <p:nvPr/>
        </p:nvSpPr>
        <p:spPr>
          <a:xfrm>
            <a:off x="1572768" y="877824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프로젝트 관리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8266176" y="877824"/>
            <a:ext cx="713232" cy="256032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Text 23"/>
          <p:cNvSpPr/>
          <p:nvPr/>
        </p:nvSpPr>
        <p:spPr>
          <a:xfrm>
            <a:off x="8266176" y="877824"/>
            <a:ext cx="7132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프로젝트 등록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1572768" y="1207008"/>
            <a:ext cx="1298448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DEE2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Text 25"/>
          <p:cNvSpPr/>
          <p:nvPr/>
        </p:nvSpPr>
        <p:spPr>
          <a:xfrm>
            <a:off x="1572768" y="1207008"/>
            <a:ext cx="12984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전체 (5)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1572768" y="1444752"/>
            <a:ext cx="1298448" cy="27432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9" name="Shape 27"/>
          <p:cNvSpPr/>
          <p:nvPr/>
        </p:nvSpPr>
        <p:spPr>
          <a:xfrm>
            <a:off x="2926080" y="1207008"/>
            <a:ext cx="1298448" cy="256032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0" name="Text 28"/>
          <p:cNvSpPr/>
          <p:nvPr/>
        </p:nvSpPr>
        <p:spPr>
          <a:xfrm>
            <a:off x="2926080" y="1207008"/>
            <a:ext cx="12984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진행 중 (3)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4279392" y="1207008"/>
            <a:ext cx="1298448" cy="256032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2" name="Text 30"/>
          <p:cNvSpPr/>
          <p:nvPr/>
        </p:nvSpPr>
        <p:spPr>
          <a:xfrm>
            <a:off x="4279392" y="1207008"/>
            <a:ext cx="12984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완료 (1)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5632704" y="1207008"/>
            <a:ext cx="1298448" cy="256032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4" name="Text 32"/>
          <p:cNvSpPr/>
          <p:nvPr/>
        </p:nvSpPr>
        <p:spPr>
          <a:xfrm>
            <a:off x="5632704" y="1207008"/>
            <a:ext cx="12984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예정 (1)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1572768" y="1517904"/>
            <a:ext cx="740664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DEE2E8"/>
            </a:solidFill>
            <a:prstDash val="solid"/>
          </a:ln>
          <a:effectLst>
            <a:outerShdw blurRad="508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6" name="Shape 34"/>
          <p:cNvSpPr/>
          <p:nvPr/>
        </p:nvSpPr>
        <p:spPr>
          <a:xfrm>
            <a:off x="1682496" y="1627632"/>
            <a:ext cx="2011680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DEE2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7" name="Text 35"/>
          <p:cNvSpPr/>
          <p:nvPr/>
        </p:nvSpPr>
        <p:spPr>
          <a:xfrm>
            <a:off x="1737360" y="1627632"/>
            <a:ext cx="1920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프로젝트명·고객사 검색...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3822192" y="1627632"/>
            <a:ext cx="1005840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DEE2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9" name="Text 37"/>
          <p:cNvSpPr/>
          <p:nvPr/>
        </p:nvSpPr>
        <p:spPr>
          <a:xfrm>
            <a:off x="3877056" y="1627632"/>
            <a:ext cx="914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기술스택 ▾</a:t>
            </a:r>
            <a:endParaRPr lang="en-US" sz="850" dirty="0"/>
          </a:p>
        </p:txBody>
      </p:sp>
      <p:sp>
        <p:nvSpPr>
          <p:cNvPr id="40" name="Shape 38"/>
          <p:cNvSpPr/>
          <p:nvPr/>
        </p:nvSpPr>
        <p:spPr>
          <a:xfrm>
            <a:off x="4937760" y="1627632"/>
            <a:ext cx="914400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DEE2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1" name="Text 39"/>
          <p:cNvSpPr/>
          <p:nvPr/>
        </p:nvSpPr>
        <p:spPr>
          <a:xfrm>
            <a:off x="4992624" y="1627632"/>
            <a:ext cx="8229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 ▾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1572768" y="2048256"/>
            <a:ext cx="74066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EE2E8"/>
            </a:solidFill>
            <a:prstDash val="solid"/>
          </a:ln>
          <a:effectLst>
            <a:outerShdw blurRad="508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43" name="Text 41"/>
          <p:cNvSpPr/>
          <p:nvPr/>
        </p:nvSpPr>
        <p:spPr>
          <a:xfrm>
            <a:off x="1700784" y="2121408"/>
            <a:ext cx="23774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A금융 차세대 코어뱅킹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1700784" y="2359152"/>
            <a:ext cx="2377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A금융그룹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4151376" y="2121408"/>
            <a:ext cx="16459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2025.03 ~ 2026.12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5888736" y="2121408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투입 7명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6675120" y="2121408"/>
            <a:ext cx="914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투입률 100%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4151376" y="2304288"/>
            <a:ext cx="2377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Java/Spring/Oracle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7680960" y="2231136"/>
            <a:ext cx="566928" cy="18288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0" name="Text 48"/>
          <p:cNvSpPr/>
          <p:nvPr/>
        </p:nvSpPr>
        <p:spPr>
          <a:xfrm>
            <a:off x="7680960" y="2231136"/>
            <a:ext cx="56692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진행</a:t>
            </a:r>
            <a:endParaRPr lang="en-US" sz="800" dirty="0"/>
          </a:p>
        </p:txBody>
      </p:sp>
      <p:sp>
        <p:nvSpPr>
          <p:cNvPr id="51" name="Shape 49"/>
          <p:cNvSpPr/>
          <p:nvPr/>
        </p:nvSpPr>
        <p:spPr>
          <a:xfrm>
            <a:off x="8321040" y="2212848"/>
            <a:ext cx="548640" cy="219456"/>
          </a:xfrm>
          <a:prstGeom prst="rect">
            <a:avLst/>
          </a:prstGeom>
          <a:solidFill>
            <a:srgbClr val="DBEAFE"/>
          </a:solidFill>
          <a:ln w="12700">
            <a:solidFill>
              <a:srgbClr val="DEE2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2" name="Text 50"/>
          <p:cNvSpPr/>
          <p:nvPr/>
        </p:nvSpPr>
        <p:spPr>
          <a:xfrm>
            <a:off x="8321040" y="2212848"/>
            <a:ext cx="5486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상세</a:t>
            </a:r>
            <a:endParaRPr lang="en-US" sz="850" dirty="0"/>
          </a:p>
        </p:txBody>
      </p:sp>
      <p:sp>
        <p:nvSpPr>
          <p:cNvPr id="53" name="Shape 51"/>
          <p:cNvSpPr/>
          <p:nvPr/>
        </p:nvSpPr>
        <p:spPr>
          <a:xfrm>
            <a:off x="1572768" y="2688336"/>
            <a:ext cx="74066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EE2E8"/>
            </a:solidFill>
            <a:prstDash val="solid"/>
          </a:ln>
          <a:effectLst>
            <a:outerShdw blurRad="508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4" name="Text 52"/>
          <p:cNvSpPr/>
          <p:nvPr/>
        </p:nvSpPr>
        <p:spPr>
          <a:xfrm>
            <a:off x="1700784" y="2761488"/>
            <a:ext cx="23774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B공공기관 ERP 구축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1700784" y="2999232"/>
            <a:ext cx="2377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B공공기관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4151376" y="2761488"/>
            <a:ext cx="16459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2025.06 ~ 2026.06</a:t>
            </a:r>
            <a:endParaRPr lang="en-US" sz="900" dirty="0"/>
          </a:p>
        </p:txBody>
      </p:sp>
      <p:sp>
        <p:nvSpPr>
          <p:cNvPr id="57" name="Text 55"/>
          <p:cNvSpPr/>
          <p:nvPr/>
        </p:nvSpPr>
        <p:spPr>
          <a:xfrm>
            <a:off x="5888736" y="2761488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투입 5명</a:t>
            </a:r>
            <a:endParaRPr lang="en-US" sz="1000" dirty="0"/>
          </a:p>
        </p:txBody>
      </p:sp>
      <p:sp>
        <p:nvSpPr>
          <p:cNvPr id="58" name="Text 56"/>
          <p:cNvSpPr/>
          <p:nvPr/>
        </p:nvSpPr>
        <p:spPr>
          <a:xfrm>
            <a:off x="6675120" y="2761488"/>
            <a:ext cx="914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투입률 100%</a:t>
            </a:r>
            <a:endParaRPr lang="en-US" sz="900" dirty="0"/>
          </a:p>
        </p:txBody>
      </p:sp>
      <p:sp>
        <p:nvSpPr>
          <p:cNvPr id="59" name="Text 57"/>
          <p:cNvSpPr/>
          <p:nvPr/>
        </p:nvSpPr>
        <p:spPr>
          <a:xfrm>
            <a:off x="4151376" y="2944368"/>
            <a:ext cx="2377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SAP/ABAP</a:t>
            </a:r>
            <a:endParaRPr lang="en-US" sz="850" dirty="0"/>
          </a:p>
        </p:txBody>
      </p:sp>
      <p:sp>
        <p:nvSpPr>
          <p:cNvPr id="60" name="Shape 58"/>
          <p:cNvSpPr/>
          <p:nvPr/>
        </p:nvSpPr>
        <p:spPr>
          <a:xfrm>
            <a:off x="7680960" y="2871216"/>
            <a:ext cx="566928" cy="18288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ext 59"/>
          <p:cNvSpPr/>
          <p:nvPr/>
        </p:nvSpPr>
        <p:spPr>
          <a:xfrm>
            <a:off x="7680960" y="2871216"/>
            <a:ext cx="56692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진행</a:t>
            </a:r>
            <a:endParaRPr lang="en-US" sz="800" dirty="0"/>
          </a:p>
        </p:txBody>
      </p:sp>
      <p:sp>
        <p:nvSpPr>
          <p:cNvPr id="62" name="Shape 60"/>
          <p:cNvSpPr/>
          <p:nvPr/>
        </p:nvSpPr>
        <p:spPr>
          <a:xfrm>
            <a:off x="8321040" y="2852928"/>
            <a:ext cx="548640" cy="219456"/>
          </a:xfrm>
          <a:prstGeom prst="rect">
            <a:avLst/>
          </a:prstGeom>
          <a:solidFill>
            <a:srgbClr val="DBEAFE"/>
          </a:solidFill>
          <a:ln w="12700">
            <a:solidFill>
              <a:srgbClr val="DEE2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3" name="Text 61"/>
          <p:cNvSpPr/>
          <p:nvPr/>
        </p:nvSpPr>
        <p:spPr>
          <a:xfrm>
            <a:off x="8321040" y="2852928"/>
            <a:ext cx="5486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상세</a:t>
            </a:r>
            <a:endParaRPr lang="en-US" sz="850" dirty="0"/>
          </a:p>
        </p:txBody>
      </p:sp>
      <p:sp>
        <p:nvSpPr>
          <p:cNvPr id="64" name="Shape 62"/>
          <p:cNvSpPr/>
          <p:nvPr/>
        </p:nvSpPr>
        <p:spPr>
          <a:xfrm>
            <a:off x="1572768" y="3328416"/>
            <a:ext cx="74066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EE2E8"/>
            </a:solidFill>
            <a:prstDash val="solid"/>
          </a:ln>
          <a:effectLst>
            <a:outerShdw blurRad="508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5" name="Text 63"/>
          <p:cNvSpPr/>
          <p:nvPr/>
        </p:nvSpPr>
        <p:spPr>
          <a:xfrm>
            <a:off x="1700784" y="3401568"/>
            <a:ext cx="23774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C제조 MES 고도화</a:t>
            </a:r>
            <a:endParaRPr lang="en-US" sz="1100" dirty="0"/>
          </a:p>
        </p:txBody>
      </p:sp>
      <p:sp>
        <p:nvSpPr>
          <p:cNvPr id="66" name="Text 64"/>
          <p:cNvSpPr/>
          <p:nvPr/>
        </p:nvSpPr>
        <p:spPr>
          <a:xfrm>
            <a:off x="1700784" y="3639312"/>
            <a:ext cx="2377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C제조</a:t>
            </a:r>
            <a:endParaRPr lang="en-US" sz="900" dirty="0"/>
          </a:p>
        </p:txBody>
      </p:sp>
      <p:sp>
        <p:nvSpPr>
          <p:cNvPr id="67" name="Text 65"/>
          <p:cNvSpPr/>
          <p:nvPr/>
        </p:nvSpPr>
        <p:spPr>
          <a:xfrm>
            <a:off x="4151376" y="3401568"/>
            <a:ext cx="16459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2024.12 ~ 2026.03</a:t>
            </a:r>
            <a:endParaRPr lang="en-US" sz="900" dirty="0"/>
          </a:p>
        </p:txBody>
      </p:sp>
      <p:sp>
        <p:nvSpPr>
          <p:cNvPr id="68" name="Text 66"/>
          <p:cNvSpPr/>
          <p:nvPr/>
        </p:nvSpPr>
        <p:spPr>
          <a:xfrm>
            <a:off x="5888736" y="3401568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투입 8명</a:t>
            </a:r>
            <a:endParaRPr lang="en-US" sz="1000" dirty="0"/>
          </a:p>
        </p:txBody>
      </p:sp>
      <p:sp>
        <p:nvSpPr>
          <p:cNvPr id="69" name="Text 67"/>
          <p:cNvSpPr/>
          <p:nvPr/>
        </p:nvSpPr>
        <p:spPr>
          <a:xfrm>
            <a:off x="6675120" y="3401568"/>
            <a:ext cx="914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투입률 100%</a:t>
            </a:r>
            <a:endParaRPr lang="en-US" sz="900" dirty="0"/>
          </a:p>
        </p:txBody>
      </p:sp>
      <p:sp>
        <p:nvSpPr>
          <p:cNvPr id="70" name="Text 68"/>
          <p:cNvSpPr/>
          <p:nvPr/>
        </p:nvSpPr>
        <p:spPr>
          <a:xfrm>
            <a:off x="4151376" y="3584448"/>
            <a:ext cx="2377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Java/React/MySQL</a:t>
            </a:r>
            <a:endParaRPr lang="en-US" sz="850" dirty="0"/>
          </a:p>
        </p:txBody>
      </p:sp>
      <p:sp>
        <p:nvSpPr>
          <p:cNvPr id="71" name="Shape 69"/>
          <p:cNvSpPr/>
          <p:nvPr/>
        </p:nvSpPr>
        <p:spPr>
          <a:xfrm>
            <a:off x="7680960" y="3511296"/>
            <a:ext cx="566928" cy="18288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2" name="Text 70"/>
          <p:cNvSpPr/>
          <p:nvPr/>
        </p:nvSpPr>
        <p:spPr>
          <a:xfrm>
            <a:off x="7680960" y="3511296"/>
            <a:ext cx="56692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진행</a:t>
            </a:r>
            <a:endParaRPr lang="en-US" sz="800" dirty="0"/>
          </a:p>
        </p:txBody>
      </p:sp>
      <p:sp>
        <p:nvSpPr>
          <p:cNvPr id="73" name="Shape 71"/>
          <p:cNvSpPr/>
          <p:nvPr/>
        </p:nvSpPr>
        <p:spPr>
          <a:xfrm>
            <a:off x="8321040" y="3493008"/>
            <a:ext cx="548640" cy="219456"/>
          </a:xfrm>
          <a:prstGeom prst="rect">
            <a:avLst/>
          </a:prstGeom>
          <a:solidFill>
            <a:srgbClr val="DBEAFE"/>
          </a:solidFill>
          <a:ln w="12700">
            <a:solidFill>
              <a:srgbClr val="DEE2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4" name="Text 72"/>
          <p:cNvSpPr/>
          <p:nvPr/>
        </p:nvSpPr>
        <p:spPr>
          <a:xfrm>
            <a:off x="8321040" y="3493008"/>
            <a:ext cx="5486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상세</a:t>
            </a:r>
            <a:endParaRPr lang="en-US" sz="850" dirty="0"/>
          </a:p>
        </p:txBody>
      </p:sp>
      <p:sp>
        <p:nvSpPr>
          <p:cNvPr id="75" name="Shape 73"/>
          <p:cNvSpPr/>
          <p:nvPr/>
        </p:nvSpPr>
        <p:spPr>
          <a:xfrm>
            <a:off x="1572768" y="3968496"/>
            <a:ext cx="74066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EE2E8"/>
            </a:solidFill>
            <a:prstDash val="solid"/>
          </a:ln>
          <a:effectLst>
            <a:outerShdw blurRad="508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76" name="Text 74"/>
          <p:cNvSpPr/>
          <p:nvPr/>
        </p:nvSpPr>
        <p:spPr>
          <a:xfrm>
            <a:off x="1700784" y="4041648"/>
            <a:ext cx="23774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D유통 물류 시스템</a:t>
            </a:r>
            <a:endParaRPr lang="en-US" sz="1100" dirty="0"/>
          </a:p>
        </p:txBody>
      </p:sp>
      <p:sp>
        <p:nvSpPr>
          <p:cNvPr id="77" name="Text 75"/>
          <p:cNvSpPr/>
          <p:nvPr/>
        </p:nvSpPr>
        <p:spPr>
          <a:xfrm>
            <a:off x="1700784" y="4279392"/>
            <a:ext cx="2377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D유통</a:t>
            </a:r>
            <a:endParaRPr lang="en-US" sz="900" dirty="0"/>
          </a:p>
        </p:txBody>
      </p:sp>
      <p:sp>
        <p:nvSpPr>
          <p:cNvPr id="78" name="Text 76"/>
          <p:cNvSpPr/>
          <p:nvPr/>
        </p:nvSpPr>
        <p:spPr>
          <a:xfrm>
            <a:off x="4151376" y="4041648"/>
            <a:ext cx="16459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2026.08 ~ 2027.06</a:t>
            </a:r>
            <a:endParaRPr lang="en-US" sz="900" dirty="0"/>
          </a:p>
        </p:txBody>
      </p:sp>
      <p:sp>
        <p:nvSpPr>
          <p:cNvPr id="79" name="Text 77"/>
          <p:cNvSpPr/>
          <p:nvPr/>
        </p:nvSpPr>
        <p:spPr>
          <a:xfrm>
            <a:off x="5888736" y="4041648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투입 0명</a:t>
            </a:r>
            <a:endParaRPr lang="en-US" sz="1000" dirty="0"/>
          </a:p>
        </p:txBody>
      </p:sp>
      <p:sp>
        <p:nvSpPr>
          <p:cNvPr id="80" name="Text 78"/>
          <p:cNvSpPr/>
          <p:nvPr/>
        </p:nvSpPr>
        <p:spPr>
          <a:xfrm>
            <a:off x="6675120" y="4041648"/>
            <a:ext cx="914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투입률 —</a:t>
            </a:r>
            <a:endParaRPr lang="en-US" sz="900" dirty="0"/>
          </a:p>
        </p:txBody>
      </p:sp>
      <p:sp>
        <p:nvSpPr>
          <p:cNvPr id="81" name="Text 79"/>
          <p:cNvSpPr/>
          <p:nvPr/>
        </p:nvSpPr>
        <p:spPr>
          <a:xfrm>
            <a:off x="4151376" y="4224528"/>
            <a:ext cx="2377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MSA/K8s</a:t>
            </a:r>
            <a:endParaRPr lang="en-US" sz="850" dirty="0"/>
          </a:p>
        </p:txBody>
      </p:sp>
      <p:sp>
        <p:nvSpPr>
          <p:cNvPr id="82" name="Shape 80"/>
          <p:cNvSpPr/>
          <p:nvPr/>
        </p:nvSpPr>
        <p:spPr>
          <a:xfrm>
            <a:off x="7680960" y="4151376"/>
            <a:ext cx="566928" cy="182880"/>
          </a:xfrm>
          <a:prstGeom prst="rect">
            <a:avLst/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3" name="Text 81"/>
          <p:cNvSpPr/>
          <p:nvPr/>
        </p:nvSpPr>
        <p:spPr>
          <a:xfrm>
            <a:off x="7680960" y="4151376"/>
            <a:ext cx="56692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예정</a:t>
            </a:r>
            <a:endParaRPr lang="en-US" sz="800" dirty="0"/>
          </a:p>
        </p:txBody>
      </p:sp>
      <p:sp>
        <p:nvSpPr>
          <p:cNvPr id="84" name="Shape 82"/>
          <p:cNvSpPr/>
          <p:nvPr/>
        </p:nvSpPr>
        <p:spPr>
          <a:xfrm>
            <a:off x="8321040" y="4133088"/>
            <a:ext cx="548640" cy="219456"/>
          </a:xfrm>
          <a:prstGeom prst="rect">
            <a:avLst/>
          </a:prstGeom>
          <a:solidFill>
            <a:srgbClr val="DBEAFE"/>
          </a:solidFill>
          <a:ln w="12700">
            <a:solidFill>
              <a:srgbClr val="DEE2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5" name="Text 83"/>
          <p:cNvSpPr/>
          <p:nvPr/>
        </p:nvSpPr>
        <p:spPr>
          <a:xfrm>
            <a:off x="8321040" y="4133088"/>
            <a:ext cx="5486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상세</a:t>
            </a:r>
            <a:endParaRPr lang="en-US" sz="850" dirty="0"/>
          </a:p>
        </p:txBody>
      </p:sp>
      <p:sp>
        <p:nvSpPr>
          <p:cNvPr id="86" name="Shape 84"/>
          <p:cNvSpPr/>
          <p:nvPr/>
        </p:nvSpPr>
        <p:spPr>
          <a:xfrm>
            <a:off x="1572768" y="4608576"/>
            <a:ext cx="74066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EE2E8"/>
            </a:solidFill>
            <a:prstDash val="solid"/>
          </a:ln>
          <a:effectLst>
            <a:outerShdw blurRad="508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7" name="Text 85"/>
          <p:cNvSpPr/>
          <p:nvPr/>
        </p:nvSpPr>
        <p:spPr>
          <a:xfrm>
            <a:off x="1700784" y="4681728"/>
            <a:ext cx="23774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E통신 CRM 재구축</a:t>
            </a:r>
            <a:endParaRPr lang="en-US" sz="1100" dirty="0"/>
          </a:p>
        </p:txBody>
      </p:sp>
      <p:sp>
        <p:nvSpPr>
          <p:cNvPr id="88" name="Text 86"/>
          <p:cNvSpPr/>
          <p:nvPr/>
        </p:nvSpPr>
        <p:spPr>
          <a:xfrm>
            <a:off x="1700784" y="4919472"/>
            <a:ext cx="2377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E통신</a:t>
            </a:r>
            <a:endParaRPr lang="en-US" sz="900" dirty="0"/>
          </a:p>
        </p:txBody>
      </p:sp>
      <p:sp>
        <p:nvSpPr>
          <p:cNvPr id="89" name="Text 87"/>
          <p:cNvSpPr/>
          <p:nvPr/>
        </p:nvSpPr>
        <p:spPr>
          <a:xfrm>
            <a:off x="4151376" y="4681728"/>
            <a:ext cx="16459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2024.01 ~ 2025.12</a:t>
            </a:r>
            <a:endParaRPr lang="en-US" sz="900" dirty="0"/>
          </a:p>
        </p:txBody>
      </p:sp>
      <p:sp>
        <p:nvSpPr>
          <p:cNvPr id="90" name="Text 88"/>
          <p:cNvSpPr/>
          <p:nvPr/>
        </p:nvSpPr>
        <p:spPr>
          <a:xfrm>
            <a:off x="5888736" y="4681728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투입 6명</a:t>
            </a:r>
            <a:endParaRPr lang="en-US" sz="1000" dirty="0"/>
          </a:p>
        </p:txBody>
      </p:sp>
      <p:sp>
        <p:nvSpPr>
          <p:cNvPr id="91" name="Text 89"/>
          <p:cNvSpPr/>
          <p:nvPr/>
        </p:nvSpPr>
        <p:spPr>
          <a:xfrm>
            <a:off x="6675120" y="4681728"/>
            <a:ext cx="914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투입률 100%</a:t>
            </a:r>
            <a:endParaRPr lang="en-US" sz="900" dirty="0"/>
          </a:p>
        </p:txBody>
      </p:sp>
      <p:sp>
        <p:nvSpPr>
          <p:cNvPr id="92" name="Text 90"/>
          <p:cNvSpPr/>
          <p:nvPr/>
        </p:nvSpPr>
        <p:spPr>
          <a:xfrm>
            <a:off x="4151376" y="4864608"/>
            <a:ext cx="2377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Python/Django</a:t>
            </a:r>
            <a:endParaRPr lang="en-US" sz="850" dirty="0"/>
          </a:p>
        </p:txBody>
      </p:sp>
      <p:sp>
        <p:nvSpPr>
          <p:cNvPr id="93" name="Shape 91"/>
          <p:cNvSpPr/>
          <p:nvPr/>
        </p:nvSpPr>
        <p:spPr>
          <a:xfrm>
            <a:off x="7680960" y="4791456"/>
            <a:ext cx="566928" cy="18288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4" name="Text 92"/>
          <p:cNvSpPr/>
          <p:nvPr/>
        </p:nvSpPr>
        <p:spPr>
          <a:xfrm>
            <a:off x="7680960" y="4791456"/>
            <a:ext cx="56692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완료</a:t>
            </a:r>
            <a:endParaRPr lang="en-US" sz="800" dirty="0"/>
          </a:p>
        </p:txBody>
      </p:sp>
      <p:sp>
        <p:nvSpPr>
          <p:cNvPr id="95" name="Shape 93"/>
          <p:cNvSpPr/>
          <p:nvPr/>
        </p:nvSpPr>
        <p:spPr>
          <a:xfrm>
            <a:off x="8321040" y="4773168"/>
            <a:ext cx="548640" cy="219456"/>
          </a:xfrm>
          <a:prstGeom prst="rect">
            <a:avLst/>
          </a:prstGeom>
          <a:solidFill>
            <a:srgbClr val="DBEAFE"/>
          </a:solidFill>
          <a:ln w="12700">
            <a:solidFill>
              <a:srgbClr val="DEE2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6" name="Text 94"/>
          <p:cNvSpPr/>
          <p:nvPr/>
        </p:nvSpPr>
        <p:spPr>
          <a:xfrm>
            <a:off x="8321040" y="4773168"/>
            <a:ext cx="5486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상세</a:t>
            </a:r>
            <a:endParaRPr lang="en-US" sz="85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37160" y="61722"/>
            <a:ext cx="8867394" cy="397764"/>
          </a:xfrm>
          <a:prstGeom prst="rect">
            <a:avLst/>
          </a:prstGeom>
          <a:solidFill>
            <a:srgbClr val="0F213A"/>
          </a:solidFill>
          <a:ln w="12700">
            <a:solidFill>
              <a:srgbClr val="0F213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25196" y="164592"/>
            <a:ext cx="1028700" cy="123444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 lnSpcReduction="10000"/>
          </a:bodyPr>
          <a:lstStyle/>
          <a:p>
            <a:r>
              <a:rPr lang="en-US" sz="825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Peoplify UI 기획서</a:t>
            </a:r>
            <a:endParaRPr lang="en-US" sz="825" dirty="0"/>
          </a:p>
        </p:txBody>
      </p:sp>
      <p:sp>
        <p:nvSpPr>
          <p:cNvPr id="4" name="Text 2"/>
          <p:cNvSpPr/>
          <p:nvPr/>
        </p:nvSpPr>
        <p:spPr>
          <a:xfrm>
            <a:off x="3051810" y="123444"/>
            <a:ext cx="3051810" cy="192024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 fontScale="92500" lnSpcReduction="20000"/>
          </a:bodyPr>
          <a:lstStyle/>
          <a:p>
            <a:pPr algn="ctr"/>
            <a:r>
              <a:rPr lang="en-US" sz="165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프로젝트 목록 화면 설계</a:t>
            </a:r>
            <a:endParaRPr lang="en-US" sz="1650" dirty="0"/>
          </a:p>
        </p:txBody>
      </p:sp>
      <p:sp>
        <p:nvSpPr>
          <p:cNvPr id="5" name="Text 3"/>
          <p:cNvSpPr/>
          <p:nvPr/>
        </p:nvSpPr>
        <p:spPr>
          <a:xfrm>
            <a:off x="6981444" y="164592"/>
            <a:ext cx="1508760" cy="96012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/>
          </a:bodyPr>
          <a:lstStyle/>
          <a:p>
            <a:pPr algn="r"/>
            <a:r>
              <a:rPr lang="en-US" sz="540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project 도메인 · /project/project-list</a:t>
            </a:r>
            <a:endParaRPr lang="en-US" sz="540" dirty="0"/>
          </a:p>
        </p:txBody>
      </p:sp>
      <p:sp>
        <p:nvSpPr>
          <p:cNvPr id="6" name="Text 4"/>
          <p:cNvSpPr/>
          <p:nvPr/>
        </p:nvSpPr>
        <p:spPr>
          <a:xfrm>
            <a:off x="8586216" y="164592"/>
            <a:ext cx="171450" cy="96012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/>
          </a:bodyPr>
          <a:lstStyle/>
          <a:p>
            <a:pPr algn="r"/>
            <a:r>
              <a:rPr lang="en-US" sz="615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04</a:t>
            </a:r>
            <a:endParaRPr lang="en-US" sz="615" dirty="0"/>
          </a:p>
        </p:txBody>
      </p:sp>
      <p:sp>
        <p:nvSpPr>
          <p:cNvPr id="7" name="Text 5"/>
          <p:cNvSpPr/>
          <p:nvPr/>
        </p:nvSpPr>
        <p:spPr>
          <a:xfrm>
            <a:off x="493776" y="665226"/>
            <a:ext cx="822960" cy="150876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/>
          </a:bodyPr>
          <a:lstStyle/>
          <a:p>
            <a:r>
              <a:rPr lang="en-US" sz="975" b="1" dirty="0">
                <a:solidFill>
                  <a:srgbClr val="0F213A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화면 설계</a:t>
            </a:r>
            <a:endParaRPr lang="en-US" sz="975" dirty="0"/>
          </a:p>
        </p:txBody>
      </p:sp>
      <p:sp>
        <p:nvSpPr>
          <p:cNvPr id="8" name="Shape 6"/>
          <p:cNvSpPr/>
          <p:nvPr/>
        </p:nvSpPr>
        <p:spPr>
          <a:xfrm>
            <a:off x="356616" y="884682"/>
            <a:ext cx="5143500" cy="3394710"/>
          </a:xfrm>
          <a:prstGeom prst="roundRect">
            <a:avLst>
              <a:gd name="adj" fmla="val 1010"/>
            </a:avLst>
          </a:prstGeom>
          <a:solidFill>
            <a:srgbClr val="FFFFFF"/>
          </a:solidFill>
          <a:ln w="8890">
            <a:solidFill>
              <a:srgbClr val="D1D9E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45770" y="1014984"/>
            <a:ext cx="4937760" cy="3188970"/>
          </a:xfrm>
          <a:prstGeom prst="rect">
            <a:avLst/>
          </a:prstGeom>
          <a:solidFill>
            <a:srgbClr val="1F1D3A"/>
          </a:solidFill>
          <a:ln w="12700">
            <a:solidFill>
              <a:srgbClr val="1F1D3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45770" y="1014984"/>
            <a:ext cx="973836" cy="3188970"/>
          </a:xfrm>
          <a:prstGeom prst="rect">
            <a:avLst/>
          </a:prstGeom>
          <a:solidFill>
            <a:srgbClr val="302E4D"/>
          </a:solidFill>
          <a:ln w="12700">
            <a:solidFill>
              <a:srgbClr val="302E4D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419606" y="1014984"/>
            <a:ext cx="3963924" cy="377190"/>
          </a:xfrm>
          <a:prstGeom prst="rect">
            <a:avLst/>
          </a:prstGeom>
          <a:solidFill>
            <a:srgbClr val="33314F"/>
          </a:solidFill>
          <a:ln w="12700">
            <a:solidFill>
              <a:srgbClr val="33314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28066" y="1110996"/>
            <a:ext cx="754380" cy="96012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/>
          </a:bodyPr>
          <a:lstStyle/>
          <a:p>
            <a:r>
              <a:rPr lang="en-US" sz="51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⚙  인력관리 시스템</a:t>
            </a:r>
            <a:endParaRPr lang="en-US" sz="510" dirty="0"/>
          </a:p>
        </p:txBody>
      </p:sp>
      <p:sp>
        <p:nvSpPr>
          <p:cNvPr id="13" name="Text 11"/>
          <p:cNvSpPr/>
          <p:nvPr/>
        </p:nvSpPr>
        <p:spPr>
          <a:xfrm>
            <a:off x="637794" y="1207008"/>
            <a:ext cx="480060" cy="61722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/>
          </a:bodyPr>
          <a:lstStyle/>
          <a:p>
            <a:r>
              <a:rPr lang="en-US" sz="353" dirty="0">
                <a:solidFill>
                  <a:srgbClr val="C8C5E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Peoplify v1.0</a:t>
            </a:r>
            <a:endParaRPr lang="en-US" sz="353" dirty="0"/>
          </a:p>
        </p:txBody>
      </p:sp>
      <p:sp>
        <p:nvSpPr>
          <p:cNvPr id="14" name="Text 12"/>
          <p:cNvSpPr/>
          <p:nvPr/>
        </p:nvSpPr>
        <p:spPr>
          <a:xfrm>
            <a:off x="534924" y="1495044"/>
            <a:ext cx="342900" cy="68580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/>
          </a:bodyPr>
          <a:lstStyle/>
          <a:p>
            <a:r>
              <a:rPr lang="en-US" sz="368" dirty="0">
                <a:solidFill>
                  <a:srgbClr val="B5B2D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메인 메뉴</a:t>
            </a:r>
            <a:endParaRPr lang="en-US" sz="368" dirty="0"/>
          </a:p>
        </p:txBody>
      </p:sp>
      <p:sp>
        <p:nvSpPr>
          <p:cNvPr id="15" name="Text 13"/>
          <p:cNvSpPr/>
          <p:nvPr/>
        </p:nvSpPr>
        <p:spPr>
          <a:xfrm>
            <a:off x="541782" y="1687068"/>
            <a:ext cx="89154" cy="822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405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▦</a:t>
            </a:r>
            <a:endParaRPr lang="en-US" sz="405" dirty="0"/>
          </a:p>
        </p:txBody>
      </p:sp>
      <p:sp>
        <p:nvSpPr>
          <p:cNvPr id="16" name="Text 14"/>
          <p:cNvSpPr/>
          <p:nvPr/>
        </p:nvSpPr>
        <p:spPr>
          <a:xfrm>
            <a:off x="665226" y="1687068"/>
            <a:ext cx="582930" cy="822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405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대시보드</a:t>
            </a:r>
            <a:endParaRPr lang="en-US" sz="405" dirty="0"/>
          </a:p>
        </p:txBody>
      </p:sp>
      <p:sp>
        <p:nvSpPr>
          <p:cNvPr id="17" name="Text 15"/>
          <p:cNvSpPr/>
          <p:nvPr/>
        </p:nvSpPr>
        <p:spPr>
          <a:xfrm>
            <a:off x="1255014" y="1687068"/>
            <a:ext cx="54864" cy="822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375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⌄</a:t>
            </a:r>
            <a:endParaRPr lang="en-US" sz="375" dirty="0"/>
          </a:p>
        </p:txBody>
      </p:sp>
      <p:sp>
        <p:nvSpPr>
          <p:cNvPr id="18" name="Text 16"/>
          <p:cNvSpPr/>
          <p:nvPr/>
        </p:nvSpPr>
        <p:spPr>
          <a:xfrm>
            <a:off x="541782" y="1933956"/>
            <a:ext cx="89154" cy="822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405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♟</a:t>
            </a:r>
            <a:endParaRPr lang="en-US" sz="405" dirty="0"/>
          </a:p>
        </p:txBody>
      </p:sp>
      <p:sp>
        <p:nvSpPr>
          <p:cNvPr id="19" name="Text 17"/>
          <p:cNvSpPr/>
          <p:nvPr/>
        </p:nvSpPr>
        <p:spPr>
          <a:xfrm>
            <a:off x="665226" y="1933956"/>
            <a:ext cx="582930" cy="822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405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직원관리</a:t>
            </a:r>
            <a:endParaRPr lang="en-US" sz="405" dirty="0"/>
          </a:p>
        </p:txBody>
      </p:sp>
      <p:sp>
        <p:nvSpPr>
          <p:cNvPr id="20" name="Text 18"/>
          <p:cNvSpPr/>
          <p:nvPr/>
        </p:nvSpPr>
        <p:spPr>
          <a:xfrm>
            <a:off x="1255014" y="1933956"/>
            <a:ext cx="54864" cy="822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375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⌄</a:t>
            </a:r>
            <a:endParaRPr lang="en-US" sz="375" dirty="0"/>
          </a:p>
        </p:txBody>
      </p:sp>
      <p:sp>
        <p:nvSpPr>
          <p:cNvPr id="21" name="Shape 19"/>
          <p:cNvSpPr/>
          <p:nvPr/>
        </p:nvSpPr>
        <p:spPr>
          <a:xfrm>
            <a:off x="507492" y="2163699"/>
            <a:ext cx="836676" cy="171450"/>
          </a:xfrm>
          <a:prstGeom prst="roundRect">
            <a:avLst>
              <a:gd name="adj" fmla="val 16000"/>
            </a:avLst>
          </a:prstGeom>
          <a:solidFill>
            <a:srgbClr val="3C395D"/>
          </a:solidFill>
          <a:ln w="12700">
            <a:solidFill>
              <a:srgbClr val="3C395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41782" y="2180844"/>
            <a:ext cx="89154" cy="822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405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□</a:t>
            </a:r>
            <a:endParaRPr lang="en-US" sz="405" dirty="0"/>
          </a:p>
        </p:txBody>
      </p:sp>
      <p:sp>
        <p:nvSpPr>
          <p:cNvPr id="23" name="Text 21"/>
          <p:cNvSpPr/>
          <p:nvPr/>
        </p:nvSpPr>
        <p:spPr>
          <a:xfrm>
            <a:off x="665226" y="2180844"/>
            <a:ext cx="582930" cy="822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405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프로젝트</a:t>
            </a:r>
            <a:endParaRPr lang="en-US" sz="405" dirty="0"/>
          </a:p>
        </p:txBody>
      </p:sp>
      <p:sp>
        <p:nvSpPr>
          <p:cNvPr id="24" name="Text 22"/>
          <p:cNvSpPr/>
          <p:nvPr/>
        </p:nvSpPr>
        <p:spPr>
          <a:xfrm>
            <a:off x="1255014" y="2180844"/>
            <a:ext cx="54864" cy="822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375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⌄</a:t>
            </a:r>
            <a:endParaRPr lang="en-US" sz="375" dirty="0"/>
          </a:p>
        </p:txBody>
      </p:sp>
      <p:sp>
        <p:nvSpPr>
          <p:cNvPr id="25" name="Shape 23"/>
          <p:cNvSpPr/>
          <p:nvPr/>
        </p:nvSpPr>
        <p:spPr>
          <a:xfrm>
            <a:off x="651510" y="2383155"/>
            <a:ext cx="768096" cy="168021"/>
          </a:xfrm>
          <a:prstGeom prst="roundRect">
            <a:avLst>
              <a:gd name="adj" fmla="val 16000"/>
            </a:avLst>
          </a:prstGeom>
          <a:solidFill>
            <a:srgbClr val="3C395D"/>
          </a:solidFill>
          <a:ln w="12700">
            <a:solidFill>
              <a:srgbClr val="3C395D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85800" y="2400300"/>
            <a:ext cx="89154" cy="822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405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≡</a:t>
            </a:r>
            <a:endParaRPr lang="en-US" sz="405" dirty="0"/>
          </a:p>
        </p:txBody>
      </p:sp>
      <p:sp>
        <p:nvSpPr>
          <p:cNvPr id="27" name="Text 25"/>
          <p:cNvSpPr/>
          <p:nvPr/>
        </p:nvSpPr>
        <p:spPr>
          <a:xfrm>
            <a:off x="809244" y="2400300"/>
            <a:ext cx="582930" cy="822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405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프로젝트 목록</a:t>
            </a:r>
            <a:endParaRPr lang="en-US" sz="405" dirty="0"/>
          </a:p>
        </p:txBody>
      </p:sp>
      <p:sp>
        <p:nvSpPr>
          <p:cNvPr id="28" name="Text 26"/>
          <p:cNvSpPr/>
          <p:nvPr/>
        </p:nvSpPr>
        <p:spPr>
          <a:xfrm>
            <a:off x="685800" y="2606040"/>
            <a:ext cx="89154" cy="822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405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〽</a:t>
            </a:r>
            <a:endParaRPr lang="en-US" sz="405" dirty="0"/>
          </a:p>
        </p:txBody>
      </p:sp>
      <p:sp>
        <p:nvSpPr>
          <p:cNvPr id="29" name="Text 27"/>
          <p:cNvSpPr/>
          <p:nvPr/>
        </p:nvSpPr>
        <p:spPr>
          <a:xfrm>
            <a:off x="809244" y="2606040"/>
            <a:ext cx="582930" cy="822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405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투입 현황</a:t>
            </a:r>
            <a:endParaRPr lang="en-US" sz="405" dirty="0"/>
          </a:p>
        </p:txBody>
      </p:sp>
      <p:sp>
        <p:nvSpPr>
          <p:cNvPr id="30" name="Text 28"/>
          <p:cNvSpPr/>
          <p:nvPr/>
        </p:nvSpPr>
        <p:spPr>
          <a:xfrm>
            <a:off x="541782" y="2852928"/>
            <a:ext cx="89154" cy="822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405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⊕</a:t>
            </a:r>
            <a:endParaRPr lang="en-US" sz="405" dirty="0"/>
          </a:p>
        </p:txBody>
      </p:sp>
      <p:sp>
        <p:nvSpPr>
          <p:cNvPr id="31" name="Text 29"/>
          <p:cNvSpPr/>
          <p:nvPr/>
        </p:nvSpPr>
        <p:spPr>
          <a:xfrm>
            <a:off x="665226" y="2852928"/>
            <a:ext cx="582930" cy="822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405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근태관리</a:t>
            </a:r>
            <a:endParaRPr lang="en-US" sz="405" dirty="0"/>
          </a:p>
        </p:txBody>
      </p:sp>
      <p:sp>
        <p:nvSpPr>
          <p:cNvPr id="32" name="Text 30"/>
          <p:cNvSpPr/>
          <p:nvPr/>
        </p:nvSpPr>
        <p:spPr>
          <a:xfrm>
            <a:off x="1255014" y="2852928"/>
            <a:ext cx="54864" cy="822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375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⌄</a:t>
            </a:r>
            <a:endParaRPr lang="en-US" sz="375" dirty="0"/>
          </a:p>
        </p:txBody>
      </p:sp>
      <p:sp>
        <p:nvSpPr>
          <p:cNvPr id="33" name="Text 31"/>
          <p:cNvSpPr/>
          <p:nvPr/>
        </p:nvSpPr>
        <p:spPr>
          <a:xfrm>
            <a:off x="541782" y="3106674"/>
            <a:ext cx="89154" cy="822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405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▥</a:t>
            </a:r>
            <a:endParaRPr lang="en-US" sz="405" dirty="0"/>
          </a:p>
        </p:txBody>
      </p:sp>
      <p:sp>
        <p:nvSpPr>
          <p:cNvPr id="34" name="Text 32"/>
          <p:cNvSpPr/>
          <p:nvPr/>
        </p:nvSpPr>
        <p:spPr>
          <a:xfrm>
            <a:off x="665226" y="3106674"/>
            <a:ext cx="582930" cy="822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405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리포트</a:t>
            </a:r>
            <a:endParaRPr lang="en-US" sz="405" dirty="0"/>
          </a:p>
        </p:txBody>
      </p:sp>
      <p:sp>
        <p:nvSpPr>
          <p:cNvPr id="35" name="Text 33"/>
          <p:cNvSpPr/>
          <p:nvPr/>
        </p:nvSpPr>
        <p:spPr>
          <a:xfrm>
            <a:off x="1255014" y="3106674"/>
            <a:ext cx="54864" cy="822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375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⌄</a:t>
            </a:r>
            <a:endParaRPr lang="en-US" sz="375" dirty="0"/>
          </a:p>
        </p:txBody>
      </p:sp>
      <p:sp>
        <p:nvSpPr>
          <p:cNvPr id="36" name="Text 34"/>
          <p:cNvSpPr/>
          <p:nvPr/>
        </p:nvSpPr>
        <p:spPr>
          <a:xfrm>
            <a:off x="534924" y="3360420"/>
            <a:ext cx="514350" cy="68580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/>
          </a:bodyPr>
          <a:lstStyle/>
          <a:p>
            <a:r>
              <a:rPr lang="en-US" sz="345" dirty="0">
                <a:solidFill>
                  <a:srgbClr val="8E8BAE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퍼플리싱(임시)</a:t>
            </a:r>
            <a:endParaRPr lang="en-US" sz="345" dirty="0"/>
          </a:p>
        </p:txBody>
      </p:sp>
      <p:sp>
        <p:nvSpPr>
          <p:cNvPr id="37" name="Text 35"/>
          <p:cNvSpPr/>
          <p:nvPr/>
        </p:nvSpPr>
        <p:spPr>
          <a:xfrm>
            <a:off x="541782" y="3566160"/>
            <a:ext cx="89154" cy="822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405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▦</a:t>
            </a:r>
            <a:endParaRPr lang="en-US" sz="405" dirty="0"/>
          </a:p>
        </p:txBody>
      </p:sp>
      <p:sp>
        <p:nvSpPr>
          <p:cNvPr id="38" name="Text 36"/>
          <p:cNvSpPr/>
          <p:nvPr/>
        </p:nvSpPr>
        <p:spPr>
          <a:xfrm>
            <a:off x="665226" y="3566160"/>
            <a:ext cx="582930" cy="822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405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대시보드</a:t>
            </a:r>
            <a:endParaRPr lang="en-US" sz="405" dirty="0"/>
          </a:p>
        </p:txBody>
      </p:sp>
      <p:sp>
        <p:nvSpPr>
          <p:cNvPr id="39" name="Text 37"/>
          <p:cNvSpPr/>
          <p:nvPr/>
        </p:nvSpPr>
        <p:spPr>
          <a:xfrm>
            <a:off x="1255014" y="3566160"/>
            <a:ext cx="54864" cy="822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375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⌄</a:t>
            </a:r>
            <a:endParaRPr lang="en-US" sz="375" dirty="0"/>
          </a:p>
        </p:txBody>
      </p:sp>
      <p:sp>
        <p:nvSpPr>
          <p:cNvPr id="40" name="Text 38"/>
          <p:cNvSpPr/>
          <p:nvPr/>
        </p:nvSpPr>
        <p:spPr>
          <a:xfrm>
            <a:off x="541782" y="3806190"/>
            <a:ext cx="89154" cy="822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405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□</a:t>
            </a:r>
            <a:endParaRPr lang="en-US" sz="405" dirty="0"/>
          </a:p>
        </p:txBody>
      </p:sp>
      <p:sp>
        <p:nvSpPr>
          <p:cNvPr id="41" name="Text 39"/>
          <p:cNvSpPr/>
          <p:nvPr/>
        </p:nvSpPr>
        <p:spPr>
          <a:xfrm>
            <a:off x="665226" y="3806190"/>
            <a:ext cx="582930" cy="822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405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프로젝트</a:t>
            </a:r>
            <a:endParaRPr lang="en-US" sz="405" dirty="0"/>
          </a:p>
        </p:txBody>
      </p:sp>
      <p:sp>
        <p:nvSpPr>
          <p:cNvPr id="42" name="Text 40"/>
          <p:cNvSpPr/>
          <p:nvPr/>
        </p:nvSpPr>
        <p:spPr>
          <a:xfrm>
            <a:off x="1255014" y="3806190"/>
            <a:ext cx="54864" cy="822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375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⌄</a:t>
            </a:r>
            <a:endParaRPr lang="en-US" sz="375" dirty="0"/>
          </a:p>
        </p:txBody>
      </p:sp>
      <p:sp>
        <p:nvSpPr>
          <p:cNvPr id="43" name="Text 41"/>
          <p:cNvSpPr/>
          <p:nvPr/>
        </p:nvSpPr>
        <p:spPr>
          <a:xfrm>
            <a:off x="534924" y="4046220"/>
            <a:ext cx="480060" cy="82296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/>
          </a:bodyPr>
          <a:lstStyle/>
          <a:p>
            <a:r>
              <a:rPr lang="en-US" sz="398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↪  로그인</a:t>
            </a:r>
            <a:endParaRPr lang="en-US" sz="398" dirty="0"/>
          </a:p>
        </p:txBody>
      </p:sp>
      <p:sp>
        <p:nvSpPr>
          <p:cNvPr id="44" name="Shape 42"/>
          <p:cNvSpPr/>
          <p:nvPr/>
        </p:nvSpPr>
        <p:spPr>
          <a:xfrm>
            <a:off x="1508760" y="1097280"/>
            <a:ext cx="171450" cy="192024"/>
          </a:xfrm>
          <a:prstGeom prst="roundRect">
            <a:avLst>
              <a:gd name="adj" fmla="val 14000"/>
            </a:avLst>
          </a:prstGeom>
          <a:solidFill>
            <a:srgbClr val="2C2A49"/>
          </a:solidFill>
          <a:ln w="6985">
            <a:solidFill>
              <a:srgbClr val="5D5A82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1543050" y="1145286"/>
            <a:ext cx="82296" cy="54864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 fontScale="92500" lnSpcReduction="20000"/>
          </a:bodyPr>
          <a:lstStyle/>
          <a:p>
            <a:pPr algn="ctr"/>
            <a:r>
              <a:rPr lang="en-US" sz="435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☰</a:t>
            </a:r>
            <a:endParaRPr lang="en-US" sz="435" dirty="0"/>
          </a:p>
        </p:txBody>
      </p:sp>
      <p:sp>
        <p:nvSpPr>
          <p:cNvPr id="46" name="Shape 44"/>
          <p:cNvSpPr/>
          <p:nvPr/>
        </p:nvSpPr>
        <p:spPr>
          <a:xfrm>
            <a:off x="1762506" y="1097280"/>
            <a:ext cx="1885950" cy="192024"/>
          </a:xfrm>
          <a:prstGeom prst="roundRect">
            <a:avLst>
              <a:gd name="adj" fmla="val 12500"/>
            </a:avLst>
          </a:prstGeom>
          <a:solidFill>
            <a:srgbClr val="2C2A49"/>
          </a:solidFill>
          <a:ln w="6985">
            <a:solidFill>
              <a:srgbClr val="5D5A82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1831086" y="1145286"/>
            <a:ext cx="1097280" cy="54864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 lnSpcReduction="10000"/>
          </a:bodyPr>
          <a:lstStyle/>
          <a:p>
            <a:r>
              <a:rPr lang="en-US" sz="383" dirty="0">
                <a:solidFill>
                  <a:srgbClr val="C7C5DD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⌕  Search or type command...</a:t>
            </a:r>
            <a:endParaRPr lang="en-US" sz="383" dirty="0"/>
          </a:p>
        </p:txBody>
      </p:sp>
      <p:sp>
        <p:nvSpPr>
          <p:cNvPr id="48" name="Text 46"/>
          <p:cNvSpPr/>
          <p:nvPr/>
        </p:nvSpPr>
        <p:spPr>
          <a:xfrm>
            <a:off x="4594860" y="1145286"/>
            <a:ext cx="123444" cy="54864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 lnSpcReduction="10000"/>
          </a:bodyPr>
          <a:lstStyle/>
          <a:p>
            <a:pPr algn="ctr"/>
            <a:r>
              <a:rPr lang="en-US" sz="360" dirty="0">
                <a:solidFill>
                  <a:srgbClr val="B8B5D8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⌘K</a:t>
            </a:r>
            <a:endParaRPr lang="en-US" sz="360" dirty="0"/>
          </a:p>
        </p:txBody>
      </p:sp>
      <p:sp>
        <p:nvSpPr>
          <p:cNvPr id="49" name="Text 47"/>
          <p:cNvSpPr/>
          <p:nvPr/>
        </p:nvSpPr>
        <p:spPr>
          <a:xfrm>
            <a:off x="4807458" y="1138428"/>
            <a:ext cx="89154" cy="61722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 fontScale="92500"/>
          </a:bodyPr>
          <a:lstStyle/>
          <a:p>
            <a:pPr algn="ctr"/>
            <a:r>
              <a:rPr lang="en-US" sz="450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☼</a:t>
            </a:r>
            <a:endParaRPr lang="en-US" sz="450" dirty="0"/>
          </a:p>
        </p:txBody>
      </p:sp>
      <p:sp>
        <p:nvSpPr>
          <p:cNvPr id="50" name="Shape 48"/>
          <p:cNvSpPr/>
          <p:nvPr/>
        </p:nvSpPr>
        <p:spPr>
          <a:xfrm>
            <a:off x="4958334" y="1097280"/>
            <a:ext cx="363474" cy="192024"/>
          </a:xfrm>
          <a:prstGeom prst="roundRect">
            <a:avLst>
              <a:gd name="adj" fmla="val 21429"/>
            </a:avLst>
          </a:prstGeom>
          <a:solidFill>
            <a:srgbClr val="24223F"/>
          </a:solidFill>
          <a:ln w="12700">
            <a:solidFill>
              <a:srgbClr val="24223F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978908" y="1138428"/>
            <a:ext cx="315468" cy="61722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/>
          </a:bodyPr>
          <a:lstStyle/>
          <a:p>
            <a:pPr algn="ctr"/>
            <a:r>
              <a:rPr lang="en-US" sz="39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GitHub ↗</a:t>
            </a:r>
            <a:endParaRPr lang="en-US" sz="390" dirty="0"/>
          </a:p>
        </p:txBody>
      </p:sp>
      <p:sp>
        <p:nvSpPr>
          <p:cNvPr id="53" name="Text 51"/>
          <p:cNvSpPr/>
          <p:nvPr/>
        </p:nvSpPr>
        <p:spPr>
          <a:xfrm>
            <a:off x="5314950" y="1138428"/>
            <a:ext cx="41148" cy="34290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 fontScale="77500" lnSpcReduction="20000"/>
          </a:bodyPr>
          <a:lstStyle/>
          <a:p>
            <a:pPr algn="ctr"/>
            <a:r>
              <a:rPr lang="en-US" sz="315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●</a:t>
            </a:r>
            <a:endParaRPr lang="en-US" sz="315" dirty="0"/>
          </a:p>
        </p:txBody>
      </p:sp>
      <p:sp>
        <p:nvSpPr>
          <p:cNvPr id="54" name="Text 52"/>
          <p:cNvSpPr/>
          <p:nvPr/>
        </p:nvSpPr>
        <p:spPr>
          <a:xfrm>
            <a:off x="1720100" y="1516458"/>
            <a:ext cx="960120" cy="137160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 lnSpcReduction="10000"/>
          </a:bodyPr>
          <a:lstStyle/>
          <a:p>
            <a:r>
              <a:rPr lang="en-US" sz="90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프로젝트 관리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4621034" y="1502742"/>
            <a:ext cx="466344" cy="178308"/>
          </a:xfrm>
          <a:prstGeom prst="roundRect">
            <a:avLst>
              <a:gd name="adj" fmla="val 15385"/>
            </a:avLst>
          </a:prstGeom>
          <a:solidFill>
            <a:srgbClr val="6F5AE8"/>
          </a:solidFill>
          <a:ln w="12700">
            <a:solidFill>
              <a:srgbClr val="6F5AE8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669040" y="1550748"/>
            <a:ext cx="356616" cy="4800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85000" lnSpcReduction="10000"/>
          </a:bodyPr>
          <a:lstStyle/>
          <a:p>
            <a:pPr algn="ctr"/>
            <a:r>
              <a:rPr lang="en-US" sz="398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+  프로젝트 등록</a:t>
            </a:r>
            <a:endParaRPr lang="en-US" sz="398" dirty="0"/>
          </a:p>
        </p:txBody>
      </p:sp>
      <p:sp>
        <p:nvSpPr>
          <p:cNvPr id="57" name="Text 55"/>
          <p:cNvSpPr/>
          <p:nvPr/>
        </p:nvSpPr>
        <p:spPr>
          <a:xfrm>
            <a:off x="4552454" y="1475310"/>
            <a:ext cx="123444" cy="1234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lang="en-US" sz="900" b="1" dirty="0">
                <a:solidFill>
                  <a:srgbClr val="FF000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②</a:t>
            </a:r>
            <a:endParaRPr lang="en-US" sz="900" dirty="0"/>
          </a:p>
        </p:txBody>
      </p:sp>
      <p:sp>
        <p:nvSpPr>
          <p:cNvPr id="58" name="Text 56"/>
          <p:cNvSpPr/>
          <p:nvPr/>
        </p:nvSpPr>
        <p:spPr>
          <a:xfrm>
            <a:off x="1754390" y="1873074"/>
            <a:ext cx="150876" cy="61722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 lnSpcReduction="10000"/>
          </a:bodyPr>
          <a:lstStyle/>
          <a:p>
            <a:r>
              <a:rPr lang="en-US" sz="420" b="1" dirty="0">
                <a:solidFill>
                  <a:srgbClr val="7E6CF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전체</a:t>
            </a:r>
            <a:endParaRPr lang="en-US" sz="420" dirty="0"/>
          </a:p>
        </p:txBody>
      </p:sp>
      <p:sp>
        <p:nvSpPr>
          <p:cNvPr id="59" name="Shape 57"/>
          <p:cNvSpPr/>
          <p:nvPr/>
        </p:nvSpPr>
        <p:spPr>
          <a:xfrm>
            <a:off x="1905266" y="1859358"/>
            <a:ext cx="109728" cy="123444"/>
          </a:xfrm>
          <a:prstGeom prst="roundRect">
            <a:avLst>
              <a:gd name="adj" fmla="val 31250"/>
            </a:avLst>
          </a:prstGeom>
          <a:solidFill>
            <a:srgbClr val="4A4770"/>
          </a:solidFill>
          <a:ln w="12700">
            <a:solidFill>
              <a:srgbClr val="4A4770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1932698" y="1883361"/>
            <a:ext cx="54864" cy="617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375" b="1" dirty="0">
                <a:solidFill>
                  <a:srgbClr val="DAD7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5</a:t>
            </a:r>
            <a:endParaRPr lang="en-US" sz="375" dirty="0"/>
          </a:p>
        </p:txBody>
      </p:sp>
      <p:sp>
        <p:nvSpPr>
          <p:cNvPr id="61" name="Text 59"/>
          <p:cNvSpPr/>
          <p:nvPr/>
        </p:nvSpPr>
        <p:spPr>
          <a:xfrm>
            <a:off x="2179586" y="1873074"/>
            <a:ext cx="260604" cy="61722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 lnSpcReduction="10000"/>
          </a:bodyPr>
          <a:lstStyle/>
          <a:p>
            <a:r>
              <a:rPr lang="en-US" sz="420" b="1" dirty="0">
                <a:solidFill>
                  <a:srgbClr val="C7C5E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진행 중</a:t>
            </a:r>
            <a:endParaRPr lang="en-US" sz="420" dirty="0"/>
          </a:p>
        </p:txBody>
      </p:sp>
      <p:sp>
        <p:nvSpPr>
          <p:cNvPr id="62" name="Shape 60"/>
          <p:cNvSpPr/>
          <p:nvPr/>
        </p:nvSpPr>
        <p:spPr>
          <a:xfrm>
            <a:off x="2419616" y="1859358"/>
            <a:ext cx="109728" cy="123444"/>
          </a:xfrm>
          <a:prstGeom prst="roundRect">
            <a:avLst>
              <a:gd name="adj" fmla="val 31250"/>
            </a:avLst>
          </a:prstGeom>
          <a:solidFill>
            <a:srgbClr val="4A4770"/>
          </a:solidFill>
          <a:ln w="12700">
            <a:solidFill>
              <a:srgbClr val="4A4770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2447048" y="1883361"/>
            <a:ext cx="54864" cy="617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375" b="1" dirty="0">
                <a:solidFill>
                  <a:srgbClr val="DAD7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4</a:t>
            </a:r>
            <a:endParaRPr lang="en-US" sz="375" dirty="0"/>
          </a:p>
        </p:txBody>
      </p:sp>
      <p:sp>
        <p:nvSpPr>
          <p:cNvPr id="64" name="Text 62"/>
          <p:cNvSpPr/>
          <p:nvPr/>
        </p:nvSpPr>
        <p:spPr>
          <a:xfrm>
            <a:off x="2700794" y="1873074"/>
            <a:ext cx="171450" cy="61722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 lnSpcReduction="10000"/>
          </a:bodyPr>
          <a:lstStyle/>
          <a:p>
            <a:r>
              <a:rPr lang="en-US" sz="420" b="1" dirty="0">
                <a:solidFill>
                  <a:srgbClr val="C7C5E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완료</a:t>
            </a:r>
            <a:endParaRPr lang="en-US" sz="420" dirty="0"/>
          </a:p>
        </p:txBody>
      </p:sp>
      <p:sp>
        <p:nvSpPr>
          <p:cNvPr id="65" name="Shape 63"/>
          <p:cNvSpPr/>
          <p:nvPr/>
        </p:nvSpPr>
        <p:spPr>
          <a:xfrm>
            <a:off x="2879102" y="1859358"/>
            <a:ext cx="109728" cy="123444"/>
          </a:xfrm>
          <a:prstGeom prst="roundRect">
            <a:avLst>
              <a:gd name="adj" fmla="val 31250"/>
            </a:avLst>
          </a:prstGeom>
          <a:solidFill>
            <a:srgbClr val="4A4770"/>
          </a:solidFill>
          <a:ln w="12700">
            <a:solidFill>
              <a:srgbClr val="4A4770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2906534" y="1883361"/>
            <a:ext cx="54864" cy="617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375" b="1" dirty="0">
                <a:solidFill>
                  <a:srgbClr val="DAD7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</a:t>
            </a:r>
            <a:endParaRPr lang="en-US" sz="375" dirty="0"/>
          </a:p>
        </p:txBody>
      </p:sp>
      <p:sp>
        <p:nvSpPr>
          <p:cNvPr id="67" name="Text 65"/>
          <p:cNvSpPr/>
          <p:nvPr/>
        </p:nvSpPr>
        <p:spPr>
          <a:xfrm>
            <a:off x="3180854" y="1873074"/>
            <a:ext cx="171450" cy="61722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 lnSpcReduction="10000"/>
          </a:bodyPr>
          <a:lstStyle/>
          <a:p>
            <a:r>
              <a:rPr lang="en-US" sz="420" b="1" dirty="0">
                <a:solidFill>
                  <a:srgbClr val="C7C5E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예정</a:t>
            </a:r>
            <a:endParaRPr lang="en-US" sz="420" dirty="0"/>
          </a:p>
        </p:txBody>
      </p:sp>
      <p:sp>
        <p:nvSpPr>
          <p:cNvPr id="68" name="Shape 66"/>
          <p:cNvSpPr/>
          <p:nvPr/>
        </p:nvSpPr>
        <p:spPr>
          <a:xfrm>
            <a:off x="3345446" y="1859358"/>
            <a:ext cx="109728" cy="123444"/>
          </a:xfrm>
          <a:prstGeom prst="roundRect">
            <a:avLst>
              <a:gd name="adj" fmla="val 31250"/>
            </a:avLst>
          </a:prstGeom>
          <a:solidFill>
            <a:srgbClr val="4A4770"/>
          </a:solidFill>
          <a:ln w="12700">
            <a:solidFill>
              <a:srgbClr val="4A4770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3372878" y="1883361"/>
            <a:ext cx="54864" cy="617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375" b="1" dirty="0">
                <a:solidFill>
                  <a:srgbClr val="DAD7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0</a:t>
            </a:r>
            <a:endParaRPr lang="en-US" sz="375" dirty="0"/>
          </a:p>
        </p:txBody>
      </p:sp>
      <p:sp>
        <p:nvSpPr>
          <p:cNvPr id="70" name="Shape 68"/>
          <p:cNvSpPr/>
          <p:nvPr/>
        </p:nvSpPr>
        <p:spPr>
          <a:xfrm>
            <a:off x="1720100" y="2023950"/>
            <a:ext cx="3387852" cy="6858"/>
          </a:xfrm>
          <a:prstGeom prst="rect">
            <a:avLst/>
          </a:prstGeom>
          <a:solidFill>
            <a:srgbClr val="5D5A82"/>
          </a:solidFill>
          <a:ln w="12700">
            <a:solidFill>
              <a:srgbClr val="5D5A82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1720100" y="2023950"/>
            <a:ext cx="233172" cy="10287"/>
          </a:xfrm>
          <a:prstGeom prst="rect">
            <a:avLst/>
          </a:prstGeom>
          <a:solidFill>
            <a:srgbClr val="6F5AE8"/>
          </a:solidFill>
          <a:ln w="12700">
            <a:solidFill>
              <a:srgbClr val="6F5AE8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1637804" y="1838784"/>
            <a:ext cx="123444" cy="1234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lang="en-US" sz="900" b="1" dirty="0">
                <a:solidFill>
                  <a:srgbClr val="FF000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①</a:t>
            </a:r>
            <a:endParaRPr lang="en-US" sz="900" dirty="0"/>
          </a:p>
        </p:txBody>
      </p:sp>
      <p:sp>
        <p:nvSpPr>
          <p:cNvPr id="73" name="Shape 71"/>
          <p:cNvSpPr/>
          <p:nvPr/>
        </p:nvSpPr>
        <p:spPr>
          <a:xfrm>
            <a:off x="1720100" y="2106246"/>
            <a:ext cx="2708910" cy="192024"/>
          </a:xfrm>
          <a:prstGeom prst="roundRect">
            <a:avLst>
              <a:gd name="adj" fmla="val 14286"/>
            </a:avLst>
          </a:prstGeom>
          <a:solidFill>
            <a:srgbClr val="2C2A49"/>
          </a:solidFill>
          <a:ln w="7620">
            <a:solidFill>
              <a:srgbClr val="5D5A82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1774964" y="2161110"/>
            <a:ext cx="925830" cy="54864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 fontScale="92500" lnSpcReduction="20000"/>
          </a:bodyPr>
          <a:lstStyle/>
          <a:p>
            <a:r>
              <a:rPr lang="en-US" sz="398" dirty="0">
                <a:solidFill>
                  <a:srgbClr val="BDB9E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⌕  프로젝트명·고객사 검색...</a:t>
            </a:r>
            <a:endParaRPr lang="en-US" sz="398" dirty="0"/>
          </a:p>
        </p:txBody>
      </p:sp>
      <p:sp>
        <p:nvSpPr>
          <p:cNvPr id="75" name="Shape 73"/>
          <p:cNvSpPr/>
          <p:nvPr/>
        </p:nvSpPr>
        <p:spPr>
          <a:xfrm>
            <a:off x="4463300" y="2106246"/>
            <a:ext cx="370332" cy="192024"/>
          </a:xfrm>
          <a:prstGeom prst="roundRect">
            <a:avLst>
              <a:gd name="adj" fmla="val 14286"/>
            </a:avLst>
          </a:prstGeom>
          <a:solidFill>
            <a:srgbClr val="2C2A49"/>
          </a:solidFill>
          <a:ln w="7620">
            <a:solidFill>
              <a:srgbClr val="5D5A82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4490732" y="2161110"/>
            <a:ext cx="308610" cy="54864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 fontScale="92500"/>
          </a:bodyPr>
          <a:lstStyle/>
          <a:p>
            <a:pPr algn="ctr"/>
            <a:r>
              <a:rPr lang="en-US" sz="375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기술스택 전체⌄</a:t>
            </a:r>
            <a:endParaRPr lang="en-US" sz="375" dirty="0"/>
          </a:p>
        </p:txBody>
      </p:sp>
      <p:sp>
        <p:nvSpPr>
          <p:cNvPr id="77" name="Shape 75"/>
          <p:cNvSpPr/>
          <p:nvPr/>
        </p:nvSpPr>
        <p:spPr>
          <a:xfrm>
            <a:off x="4874780" y="2106246"/>
            <a:ext cx="288036" cy="192024"/>
          </a:xfrm>
          <a:prstGeom prst="roundRect">
            <a:avLst>
              <a:gd name="adj" fmla="val 14286"/>
            </a:avLst>
          </a:prstGeom>
          <a:solidFill>
            <a:srgbClr val="2C2A49"/>
          </a:solidFill>
          <a:ln w="7620">
            <a:solidFill>
              <a:srgbClr val="5D5A82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4895354" y="2161110"/>
            <a:ext cx="240030" cy="54864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 lnSpcReduction="10000"/>
          </a:bodyPr>
          <a:lstStyle/>
          <a:p>
            <a:pPr algn="ctr"/>
            <a:r>
              <a:rPr lang="en-US" sz="375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PM 전체⌄</a:t>
            </a:r>
            <a:endParaRPr lang="en-US" sz="375" dirty="0"/>
          </a:p>
        </p:txBody>
      </p:sp>
      <p:sp>
        <p:nvSpPr>
          <p:cNvPr id="79" name="Text 77"/>
          <p:cNvSpPr/>
          <p:nvPr/>
        </p:nvSpPr>
        <p:spPr>
          <a:xfrm>
            <a:off x="4360430" y="2078814"/>
            <a:ext cx="123444" cy="1234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lang="en-US" sz="900" b="1" dirty="0">
                <a:solidFill>
                  <a:srgbClr val="FF000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③</a:t>
            </a:r>
            <a:endParaRPr lang="en-US" sz="900" dirty="0"/>
          </a:p>
        </p:txBody>
      </p:sp>
      <p:sp>
        <p:nvSpPr>
          <p:cNvPr id="80" name="Shape 78"/>
          <p:cNvSpPr/>
          <p:nvPr/>
        </p:nvSpPr>
        <p:spPr>
          <a:xfrm>
            <a:off x="1720100" y="2366850"/>
            <a:ext cx="3442716" cy="397764"/>
          </a:xfrm>
          <a:prstGeom prst="roundRect">
            <a:avLst>
              <a:gd name="adj" fmla="val 8621"/>
            </a:avLst>
          </a:prstGeom>
          <a:solidFill>
            <a:srgbClr val="33304F"/>
          </a:solidFill>
          <a:ln w="8255">
            <a:solidFill>
              <a:srgbClr val="5D5A82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1802396" y="2421714"/>
            <a:ext cx="1062990" cy="82296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 lnSpcReduction="10000"/>
          </a:bodyPr>
          <a:lstStyle/>
          <a:p>
            <a:r>
              <a:rPr lang="en-US" sz="54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D보험 차세대시스템</a:t>
            </a:r>
            <a:endParaRPr lang="en-US" sz="540" dirty="0"/>
          </a:p>
        </p:txBody>
      </p:sp>
      <p:sp>
        <p:nvSpPr>
          <p:cNvPr id="82" name="Shape 80"/>
          <p:cNvSpPr/>
          <p:nvPr/>
        </p:nvSpPr>
        <p:spPr>
          <a:xfrm>
            <a:off x="2474480" y="2418285"/>
            <a:ext cx="260604" cy="123444"/>
          </a:xfrm>
          <a:prstGeom prst="roundRect">
            <a:avLst>
              <a:gd name="adj" fmla="val 27778"/>
            </a:avLst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2501912" y="2442288"/>
            <a:ext cx="205740" cy="617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375" b="1" dirty="0">
                <a:solidFill>
                  <a:srgbClr val="80FFE6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투입중</a:t>
            </a:r>
            <a:endParaRPr lang="en-US" sz="375" dirty="0"/>
          </a:p>
        </p:txBody>
      </p:sp>
      <p:sp>
        <p:nvSpPr>
          <p:cNvPr id="84" name="Text 82"/>
          <p:cNvSpPr/>
          <p:nvPr/>
        </p:nvSpPr>
        <p:spPr>
          <a:xfrm>
            <a:off x="1802396" y="2531442"/>
            <a:ext cx="582930" cy="54864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 lnSpcReduction="10000"/>
          </a:bodyPr>
          <a:lstStyle/>
          <a:p>
            <a:r>
              <a:rPr lang="en-US" sz="368" b="1" dirty="0">
                <a:solidFill>
                  <a:srgbClr val="BDB9E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D보험그룹</a:t>
            </a:r>
            <a:endParaRPr lang="en-US" sz="368" dirty="0"/>
          </a:p>
        </p:txBody>
      </p:sp>
      <p:sp>
        <p:nvSpPr>
          <p:cNvPr id="85" name="Text 83"/>
          <p:cNvSpPr/>
          <p:nvPr/>
        </p:nvSpPr>
        <p:spPr>
          <a:xfrm>
            <a:off x="1802396" y="2627454"/>
            <a:ext cx="48006" cy="4800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300" dirty="0">
                <a:solidFill>
                  <a:srgbClr val="A9A5D6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▣</a:t>
            </a:r>
            <a:endParaRPr lang="en-US" sz="300" dirty="0"/>
          </a:p>
        </p:txBody>
      </p:sp>
      <p:sp>
        <p:nvSpPr>
          <p:cNvPr id="86" name="Text 84"/>
          <p:cNvSpPr/>
          <p:nvPr/>
        </p:nvSpPr>
        <p:spPr>
          <a:xfrm>
            <a:off x="1870976" y="2620596"/>
            <a:ext cx="754380" cy="54864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/>
          </a:bodyPr>
          <a:lstStyle/>
          <a:p>
            <a:r>
              <a:rPr lang="en-US" sz="330" dirty="0">
                <a:solidFill>
                  <a:srgbClr val="C9C5EA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2026.06.16 ~ 2026.10.29</a:t>
            </a:r>
            <a:endParaRPr lang="en-US" sz="330" dirty="0"/>
          </a:p>
        </p:txBody>
      </p:sp>
      <p:sp>
        <p:nvSpPr>
          <p:cNvPr id="87" name="Text 85"/>
          <p:cNvSpPr/>
          <p:nvPr/>
        </p:nvSpPr>
        <p:spPr>
          <a:xfrm>
            <a:off x="2714510" y="2627454"/>
            <a:ext cx="54864" cy="48006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/>
          </a:bodyPr>
          <a:lstStyle/>
          <a:p>
            <a:r>
              <a:rPr lang="en-US" sz="300" dirty="0">
                <a:solidFill>
                  <a:srgbClr val="A9A5D6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♧</a:t>
            </a:r>
            <a:endParaRPr lang="en-US" sz="300" dirty="0"/>
          </a:p>
        </p:txBody>
      </p:sp>
      <p:sp>
        <p:nvSpPr>
          <p:cNvPr id="88" name="Text 86"/>
          <p:cNvSpPr/>
          <p:nvPr/>
        </p:nvSpPr>
        <p:spPr>
          <a:xfrm>
            <a:off x="2783090" y="2620596"/>
            <a:ext cx="329184" cy="54864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/>
          </a:bodyPr>
          <a:lstStyle/>
          <a:p>
            <a:r>
              <a:rPr lang="en-US" sz="330" dirty="0">
                <a:solidFill>
                  <a:srgbClr val="C9C5EA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투입 6명</a:t>
            </a:r>
            <a:endParaRPr lang="en-US" sz="330" dirty="0"/>
          </a:p>
        </p:txBody>
      </p:sp>
      <p:sp>
        <p:nvSpPr>
          <p:cNvPr id="89" name="Shape 87"/>
          <p:cNvSpPr/>
          <p:nvPr/>
        </p:nvSpPr>
        <p:spPr>
          <a:xfrm>
            <a:off x="3263150" y="2613738"/>
            <a:ext cx="202997" cy="109728"/>
          </a:xfrm>
          <a:prstGeom prst="roundRect">
            <a:avLst>
              <a:gd name="adj" fmla="val 18750"/>
            </a:avLst>
          </a:prstGeom>
          <a:solidFill>
            <a:srgbClr val="10243A"/>
          </a:solidFill>
          <a:ln w="12700">
            <a:solidFill>
              <a:srgbClr val="10243A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3290582" y="2627454"/>
            <a:ext cx="148133" cy="685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360" b="1" dirty="0">
                <a:solidFill>
                  <a:srgbClr val="D7EE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Vue</a:t>
            </a:r>
            <a:endParaRPr lang="en-US" sz="360" dirty="0"/>
          </a:p>
        </p:txBody>
      </p:sp>
      <p:sp>
        <p:nvSpPr>
          <p:cNvPr id="91" name="Shape 89"/>
          <p:cNvSpPr/>
          <p:nvPr/>
        </p:nvSpPr>
        <p:spPr>
          <a:xfrm>
            <a:off x="3493579" y="2613738"/>
            <a:ext cx="309982" cy="109728"/>
          </a:xfrm>
          <a:prstGeom prst="roundRect">
            <a:avLst>
              <a:gd name="adj" fmla="val 18750"/>
            </a:avLst>
          </a:prstGeom>
          <a:solidFill>
            <a:srgbClr val="10243A"/>
          </a:solidFill>
          <a:ln w="12700">
            <a:solidFill>
              <a:srgbClr val="10243A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3521011" y="2627454"/>
            <a:ext cx="255118" cy="685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360" b="1" dirty="0">
                <a:solidFill>
                  <a:srgbClr val="D7EE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Python</a:t>
            </a:r>
            <a:endParaRPr lang="en-US" sz="360" dirty="0"/>
          </a:p>
        </p:txBody>
      </p:sp>
      <p:sp>
        <p:nvSpPr>
          <p:cNvPr id="93" name="Shape 91"/>
          <p:cNvSpPr/>
          <p:nvPr/>
        </p:nvSpPr>
        <p:spPr>
          <a:xfrm>
            <a:off x="3830993" y="2613738"/>
            <a:ext cx="309982" cy="109728"/>
          </a:xfrm>
          <a:prstGeom prst="roundRect">
            <a:avLst>
              <a:gd name="adj" fmla="val 18750"/>
            </a:avLst>
          </a:prstGeom>
          <a:solidFill>
            <a:srgbClr val="10243A"/>
          </a:solidFill>
          <a:ln w="12700">
            <a:solidFill>
              <a:srgbClr val="10243A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3858425" y="2627454"/>
            <a:ext cx="255118" cy="685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360" b="1" dirty="0">
                <a:solidFill>
                  <a:srgbClr val="D7EE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Oracle</a:t>
            </a:r>
            <a:endParaRPr lang="en-US" sz="360" dirty="0"/>
          </a:p>
        </p:txBody>
      </p:sp>
      <p:sp>
        <p:nvSpPr>
          <p:cNvPr id="95" name="Shape 93"/>
          <p:cNvSpPr/>
          <p:nvPr/>
        </p:nvSpPr>
        <p:spPr>
          <a:xfrm>
            <a:off x="4168406" y="2613738"/>
            <a:ext cx="274320" cy="109728"/>
          </a:xfrm>
          <a:prstGeom prst="roundRect">
            <a:avLst>
              <a:gd name="adj" fmla="val 18750"/>
            </a:avLst>
          </a:prstGeom>
          <a:solidFill>
            <a:srgbClr val="10243A"/>
          </a:solidFill>
          <a:ln w="12700">
            <a:solidFill>
              <a:srgbClr val="10243A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4195838" y="2627454"/>
            <a:ext cx="219456" cy="685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360" b="1" dirty="0">
                <a:solidFill>
                  <a:srgbClr val="D7EE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MySQL</a:t>
            </a:r>
            <a:endParaRPr lang="en-US" sz="360" dirty="0"/>
          </a:p>
        </p:txBody>
      </p:sp>
      <p:sp>
        <p:nvSpPr>
          <p:cNvPr id="97" name="Shape 95"/>
          <p:cNvSpPr/>
          <p:nvPr/>
        </p:nvSpPr>
        <p:spPr>
          <a:xfrm>
            <a:off x="4470158" y="2613738"/>
            <a:ext cx="309982" cy="109728"/>
          </a:xfrm>
          <a:prstGeom prst="roundRect">
            <a:avLst>
              <a:gd name="adj" fmla="val 18750"/>
            </a:avLst>
          </a:prstGeom>
          <a:solidFill>
            <a:srgbClr val="10243A"/>
          </a:solidFill>
          <a:ln w="12700">
            <a:solidFill>
              <a:srgbClr val="10243A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4497590" y="2627454"/>
            <a:ext cx="255118" cy="685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360" b="1" dirty="0">
                <a:solidFill>
                  <a:srgbClr val="D7EE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Docker</a:t>
            </a:r>
            <a:endParaRPr lang="en-US" sz="360" dirty="0"/>
          </a:p>
        </p:txBody>
      </p:sp>
      <p:sp>
        <p:nvSpPr>
          <p:cNvPr id="99" name="Shape 97"/>
          <p:cNvSpPr/>
          <p:nvPr/>
        </p:nvSpPr>
        <p:spPr>
          <a:xfrm>
            <a:off x="4874780" y="2462862"/>
            <a:ext cx="205740" cy="137160"/>
          </a:xfrm>
          <a:prstGeom prst="roundRect">
            <a:avLst>
              <a:gd name="adj" fmla="val 20000"/>
            </a:avLst>
          </a:prstGeom>
          <a:solidFill>
            <a:srgbClr val="2C2A49"/>
          </a:solidFill>
          <a:ln w="6985">
            <a:solidFill>
              <a:srgbClr val="5D5A82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4915928" y="2500581"/>
            <a:ext cx="123444" cy="411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algn="ctr"/>
            <a:r>
              <a:rPr lang="en-US" sz="36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상세</a:t>
            </a:r>
            <a:endParaRPr lang="en-US" sz="360" dirty="0"/>
          </a:p>
        </p:txBody>
      </p:sp>
      <p:sp>
        <p:nvSpPr>
          <p:cNvPr id="101" name="Text 99"/>
          <p:cNvSpPr/>
          <p:nvPr/>
        </p:nvSpPr>
        <p:spPr>
          <a:xfrm>
            <a:off x="4819916" y="2449146"/>
            <a:ext cx="123444" cy="1234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lang="en-US" sz="900" b="1" dirty="0">
                <a:solidFill>
                  <a:srgbClr val="FF000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⑤</a:t>
            </a:r>
            <a:endParaRPr lang="en-US" sz="900" dirty="0"/>
          </a:p>
        </p:txBody>
      </p:sp>
      <p:sp>
        <p:nvSpPr>
          <p:cNvPr id="103" name="Shape 101"/>
          <p:cNvSpPr/>
          <p:nvPr/>
        </p:nvSpPr>
        <p:spPr>
          <a:xfrm>
            <a:off x="1720100" y="2826336"/>
            <a:ext cx="3442716" cy="397764"/>
          </a:xfrm>
          <a:prstGeom prst="roundRect">
            <a:avLst>
              <a:gd name="adj" fmla="val 8621"/>
            </a:avLst>
          </a:prstGeom>
          <a:solidFill>
            <a:srgbClr val="33304F"/>
          </a:solidFill>
          <a:ln w="8255">
            <a:solidFill>
              <a:srgbClr val="5D5A82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1802396" y="2881200"/>
            <a:ext cx="1062990" cy="82296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 lnSpcReduction="10000"/>
          </a:bodyPr>
          <a:lstStyle/>
          <a:p>
            <a:r>
              <a:rPr lang="en-US" sz="54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B공공기관 ERP 구축</a:t>
            </a:r>
            <a:endParaRPr lang="en-US" sz="540" dirty="0"/>
          </a:p>
        </p:txBody>
      </p:sp>
      <p:sp>
        <p:nvSpPr>
          <p:cNvPr id="105" name="Shape 103"/>
          <p:cNvSpPr/>
          <p:nvPr/>
        </p:nvSpPr>
        <p:spPr>
          <a:xfrm>
            <a:off x="2474480" y="2877771"/>
            <a:ext cx="260604" cy="123444"/>
          </a:xfrm>
          <a:prstGeom prst="roundRect">
            <a:avLst>
              <a:gd name="adj" fmla="val 27778"/>
            </a:avLst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2501912" y="2901774"/>
            <a:ext cx="205740" cy="617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375" b="1" dirty="0">
                <a:solidFill>
                  <a:srgbClr val="80FFE6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투입중</a:t>
            </a:r>
            <a:endParaRPr lang="en-US" sz="375" dirty="0"/>
          </a:p>
        </p:txBody>
      </p:sp>
      <p:sp>
        <p:nvSpPr>
          <p:cNvPr id="107" name="Text 105"/>
          <p:cNvSpPr/>
          <p:nvPr/>
        </p:nvSpPr>
        <p:spPr>
          <a:xfrm>
            <a:off x="1802396" y="2990928"/>
            <a:ext cx="582930" cy="54864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 lnSpcReduction="10000"/>
          </a:bodyPr>
          <a:lstStyle/>
          <a:p>
            <a:r>
              <a:rPr lang="en-US" sz="368" b="1" dirty="0">
                <a:solidFill>
                  <a:srgbClr val="BDB9E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B공공기관</a:t>
            </a:r>
            <a:endParaRPr lang="en-US" sz="368" dirty="0"/>
          </a:p>
        </p:txBody>
      </p:sp>
      <p:sp>
        <p:nvSpPr>
          <p:cNvPr id="108" name="Text 106"/>
          <p:cNvSpPr/>
          <p:nvPr/>
        </p:nvSpPr>
        <p:spPr>
          <a:xfrm>
            <a:off x="1802396" y="3086940"/>
            <a:ext cx="48006" cy="4800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300" dirty="0">
                <a:solidFill>
                  <a:srgbClr val="A9A5D6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▣</a:t>
            </a:r>
            <a:endParaRPr lang="en-US" sz="300" dirty="0"/>
          </a:p>
        </p:txBody>
      </p:sp>
      <p:sp>
        <p:nvSpPr>
          <p:cNvPr id="109" name="Text 107"/>
          <p:cNvSpPr/>
          <p:nvPr/>
        </p:nvSpPr>
        <p:spPr>
          <a:xfrm>
            <a:off x="1870976" y="3080082"/>
            <a:ext cx="754380" cy="54864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/>
          </a:bodyPr>
          <a:lstStyle/>
          <a:p>
            <a:r>
              <a:rPr lang="en-US" sz="330" dirty="0">
                <a:solidFill>
                  <a:srgbClr val="C9C5EA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2025.06.01 ~ 2026.06.30</a:t>
            </a:r>
            <a:endParaRPr lang="en-US" sz="330" dirty="0"/>
          </a:p>
        </p:txBody>
      </p:sp>
      <p:sp>
        <p:nvSpPr>
          <p:cNvPr id="110" name="Text 108"/>
          <p:cNvSpPr/>
          <p:nvPr/>
        </p:nvSpPr>
        <p:spPr>
          <a:xfrm>
            <a:off x="2714510" y="3086940"/>
            <a:ext cx="54864" cy="48006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/>
          </a:bodyPr>
          <a:lstStyle/>
          <a:p>
            <a:r>
              <a:rPr lang="en-US" sz="300" dirty="0">
                <a:solidFill>
                  <a:srgbClr val="A9A5D6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♧</a:t>
            </a:r>
            <a:endParaRPr lang="en-US" sz="300" dirty="0"/>
          </a:p>
        </p:txBody>
      </p:sp>
      <p:sp>
        <p:nvSpPr>
          <p:cNvPr id="111" name="Text 109"/>
          <p:cNvSpPr/>
          <p:nvPr/>
        </p:nvSpPr>
        <p:spPr>
          <a:xfrm>
            <a:off x="2783090" y="3080082"/>
            <a:ext cx="329184" cy="54864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/>
          </a:bodyPr>
          <a:lstStyle/>
          <a:p>
            <a:r>
              <a:rPr lang="en-US" sz="330" dirty="0">
                <a:solidFill>
                  <a:srgbClr val="C9C5EA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투입 4명</a:t>
            </a:r>
            <a:endParaRPr lang="en-US" sz="330" dirty="0"/>
          </a:p>
        </p:txBody>
      </p:sp>
      <p:sp>
        <p:nvSpPr>
          <p:cNvPr id="112" name="Shape 110"/>
          <p:cNvSpPr/>
          <p:nvPr/>
        </p:nvSpPr>
        <p:spPr>
          <a:xfrm>
            <a:off x="3263151" y="3073224"/>
            <a:ext cx="238658" cy="109728"/>
          </a:xfrm>
          <a:prstGeom prst="roundRect">
            <a:avLst>
              <a:gd name="adj" fmla="val 18750"/>
            </a:avLst>
          </a:prstGeom>
          <a:solidFill>
            <a:srgbClr val="10243A"/>
          </a:solidFill>
          <a:ln w="12700">
            <a:solidFill>
              <a:srgbClr val="10243A"/>
            </a:solidFill>
            <a:prstDash val="solid"/>
          </a:ln>
        </p:spPr>
      </p:sp>
      <p:sp>
        <p:nvSpPr>
          <p:cNvPr id="113" name="Text 111"/>
          <p:cNvSpPr/>
          <p:nvPr/>
        </p:nvSpPr>
        <p:spPr>
          <a:xfrm>
            <a:off x="3290583" y="3086940"/>
            <a:ext cx="183794" cy="685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360" b="1" dirty="0">
                <a:solidFill>
                  <a:srgbClr val="D7EE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Java</a:t>
            </a:r>
            <a:endParaRPr lang="en-US" sz="360" dirty="0"/>
          </a:p>
        </p:txBody>
      </p:sp>
      <p:sp>
        <p:nvSpPr>
          <p:cNvPr id="114" name="Shape 112"/>
          <p:cNvSpPr/>
          <p:nvPr/>
        </p:nvSpPr>
        <p:spPr>
          <a:xfrm>
            <a:off x="3529240" y="3073224"/>
            <a:ext cx="356616" cy="109728"/>
          </a:xfrm>
          <a:prstGeom prst="roundRect">
            <a:avLst>
              <a:gd name="adj" fmla="val 18750"/>
            </a:avLst>
          </a:prstGeom>
          <a:solidFill>
            <a:srgbClr val="10243A"/>
          </a:solidFill>
          <a:ln w="12700">
            <a:solidFill>
              <a:srgbClr val="10243A"/>
            </a:solidFill>
            <a:prstDash val="solid"/>
          </a:ln>
        </p:spPr>
      </p:sp>
      <p:sp>
        <p:nvSpPr>
          <p:cNvPr id="115" name="Text 113"/>
          <p:cNvSpPr/>
          <p:nvPr/>
        </p:nvSpPr>
        <p:spPr>
          <a:xfrm>
            <a:off x="3556672" y="3086940"/>
            <a:ext cx="301752" cy="685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360" b="1" dirty="0">
                <a:solidFill>
                  <a:srgbClr val="D7EE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Spring Boot</a:t>
            </a:r>
            <a:endParaRPr lang="en-US" sz="360" dirty="0"/>
          </a:p>
        </p:txBody>
      </p:sp>
      <p:sp>
        <p:nvSpPr>
          <p:cNvPr id="116" name="Shape 114"/>
          <p:cNvSpPr/>
          <p:nvPr/>
        </p:nvSpPr>
        <p:spPr>
          <a:xfrm>
            <a:off x="3913288" y="3073224"/>
            <a:ext cx="274320" cy="109728"/>
          </a:xfrm>
          <a:prstGeom prst="roundRect">
            <a:avLst>
              <a:gd name="adj" fmla="val 18750"/>
            </a:avLst>
          </a:prstGeom>
          <a:solidFill>
            <a:srgbClr val="10243A"/>
          </a:solidFill>
          <a:ln w="12700">
            <a:solidFill>
              <a:srgbClr val="10243A"/>
            </a:solidFill>
            <a:prstDash val="solid"/>
          </a:ln>
        </p:spPr>
      </p:sp>
      <p:sp>
        <p:nvSpPr>
          <p:cNvPr id="117" name="Text 115"/>
          <p:cNvSpPr/>
          <p:nvPr/>
        </p:nvSpPr>
        <p:spPr>
          <a:xfrm>
            <a:off x="3940720" y="3086940"/>
            <a:ext cx="219456" cy="685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360" b="1" dirty="0">
                <a:solidFill>
                  <a:srgbClr val="D7EE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React</a:t>
            </a:r>
            <a:endParaRPr lang="en-US" sz="360" dirty="0"/>
          </a:p>
        </p:txBody>
      </p:sp>
      <p:sp>
        <p:nvSpPr>
          <p:cNvPr id="118" name="Shape 116"/>
          <p:cNvSpPr/>
          <p:nvPr/>
        </p:nvSpPr>
        <p:spPr>
          <a:xfrm>
            <a:off x="4215041" y="3073224"/>
            <a:ext cx="309982" cy="109728"/>
          </a:xfrm>
          <a:prstGeom prst="roundRect">
            <a:avLst>
              <a:gd name="adj" fmla="val 18750"/>
            </a:avLst>
          </a:prstGeom>
          <a:solidFill>
            <a:srgbClr val="10243A"/>
          </a:solidFill>
          <a:ln w="12700">
            <a:solidFill>
              <a:srgbClr val="10243A"/>
            </a:solidFill>
            <a:prstDash val="solid"/>
          </a:ln>
        </p:spPr>
      </p:sp>
      <p:sp>
        <p:nvSpPr>
          <p:cNvPr id="119" name="Text 117"/>
          <p:cNvSpPr/>
          <p:nvPr/>
        </p:nvSpPr>
        <p:spPr>
          <a:xfrm>
            <a:off x="4242473" y="3086940"/>
            <a:ext cx="255118" cy="685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360" b="1" dirty="0">
                <a:solidFill>
                  <a:srgbClr val="D7EE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Oracle</a:t>
            </a:r>
            <a:endParaRPr lang="en-US" sz="360" dirty="0"/>
          </a:p>
        </p:txBody>
      </p:sp>
      <p:sp>
        <p:nvSpPr>
          <p:cNvPr id="120" name="Shape 118"/>
          <p:cNvSpPr/>
          <p:nvPr/>
        </p:nvSpPr>
        <p:spPr>
          <a:xfrm>
            <a:off x="4874780" y="2922348"/>
            <a:ext cx="205740" cy="137160"/>
          </a:xfrm>
          <a:prstGeom prst="roundRect">
            <a:avLst>
              <a:gd name="adj" fmla="val 20000"/>
            </a:avLst>
          </a:prstGeom>
          <a:solidFill>
            <a:srgbClr val="2C2A49"/>
          </a:solidFill>
          <a:ln w="6985">
            <a:solidFill>
              <a:srgbClr val="5D5A82"/>
            </a:solidFill>
            <a:prstDash val="solid"/>
          </a:ln>
        </p:spPr>
      </p:sp>
      <p:sp>
        <p:nvSpPr>
          <p:cNvPr id="121" name="Text 119"/>
          <p:cNvSpPr/>
          <p:nvPr/>
        </p:nvSpPr>
        <p:spPr>
          <a:xfrm>
            <a:off x="4915928" y="2960067"/>
            <a:ext cx="123444" cy="411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algn="ctr"/>
            <a:r>
              <a:rPr lang="en-US" sz="36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상세</a:t>
            </a:r>
            <a:endParaRPr lang="en-US" sz="360" dirty="0"/>
          </a:p>
        </p:txBody>
      </p:sp>
      <p:sp>
        <p:nvSpPr>
          <p:cNvPr id="122" name="Shape 120"/>
          <p:cNvSpPr/>
          <p:nvPr/>
        </p:nvSpPr>
        <p:spPr>
          <a:xfrm>
            <a:off x="1720100" y="3285822"/>
            <a:ext cx="3442716" cy="397764"/>
          </a:xfrm>
          <a:prstGeom prst="roundRect">
            <a:avLst>
              <a:gd name="adj" fmla="val 8621"/>
            </a:avLst>
          </a:prstGeom>
          <a:solidFill>
            <a:srgbClr val="33304F"/>
          </a:solidFill>
          <a:ln w="8255">
            <a:solidFill>
              <a:srgbClr val="5D5A82"/>
            </a:solidFill>
            <a:prstDash val="solid"/>
          </a:ln>
        </p:spPr>
      </p:sp>
      <p:sp>
        <p:nvSpPr>
          <p:cNvPr id="123" name="Text 121"/>
          <p:cNvSpPr/>
          <p:nvPr/>
        </p:nvSpPr>
        <p:spPr>
          <a:xfrm>
            <a:off x="1802396" y="3340686"/>
            <a:ext cx="1062990" cy="82296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 lnSpcReduction="10000"/>
          </a:bodyPr>
          <a:lstStyle/>
          <a:p>
            <a:r>
              <a:rPr lang="en-US" sz="54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A금융 차세대 코어뱅킹</a:t>
            </a:r>
            <a:endParaRPr lang="en-US" sz="540" dirty="0"/>
          </a:p>
        </p:txBody>
      </p:sp>
      <p:sp>
        <p:nvSpPr>
          <p:cNvPr id="124" name="Shape 122"/>
          <p:cNvSpPr/>
          <p:nvPr/>
        </p:nvSpPr>
        <p:spPr>
          <a:xfrm>
            <a:off x="2474480" y="3337257"/>
            <a:ext cx="260604" cy="123444"/>
          </a:xfrm>
          <a:prstGeom prst="roundRect">
            <a:avLst>
              <a:gd name="adj" fmla="val 27778"/>
            </a:avLst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25" name="Text 123"/>
          <p:cNvSpPr/>
          <p:nvPr/>
        </p:nvSpPr>
        <p:spPr>
          <a:xfrm>
            <a:off x="2501912" y="3361260"/>
            <a:ext cx="205740" cy="617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375" b="1" dirty="0">
                <a:solidFill>
                  <a:srgbClr val="80FFE6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투입중</a:t>
            </a:r>
            <a:endParaRPr lang="en-US" sz="375" dirty="0"/>
          </a:p>
        </p:txBody>
      </p:sp>
      <p:sp>
        <p:nvSpPr>
          <p:cNvPr id="126" name="Text 124"/>
          <p:cNvSpPr/>
          <p:nvPr/>
        </p:nvSpPr>
        <p:spPr>
          <a:xfrm>
            <a:off x="1802396" y="3450414"/>
            <a:ext cx="582930" cy="54864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 lnSpcReduction="10000"/>
          </a:bodyPr>
          <a:lstStyle/>
          <a:p>
            <a:r>
              <a:rPr lang="en-US" sz="368" b="1" dirty="0">
                <a:solidFill>
                  <a:srgbClr val="BDB9E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A금융그룹</a:t>
            </a:r>
            <a:endParaRPr lang="en-US" sz="368" dirty="0"/>
          </a:p>
        </p:txBody>
      </p:sp>
      <p:sp>
        <p:nvSpPr>
          <p:cNvPr id="127" name="Text 125"/>
          <p:cNvSpPr/>
          <p:nvPr/>
        </p:nvSpPr>
        <p:spPr>
          <a:xfrm>
            <a:off x="1802396" y="3546426"/>
            <a:ext cx="48006" cy="4800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300" dirty="0">
                <a:solidFill>
                  <a:srgbClr val="A9A5D6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▣</a:t>
            </a:r>
            <a:endParaRPr lang="en-US" sz="300" dirty="0"/>
          </a:p>
        </p:txBody>
      </p:sp>
      <p:sp>
        <p:nvSpPr>
          <p:cNvPr id="128" name="Text 126"/>
          <p:cNvSpPr/>
          <p:nvPr/>
        </p:nvSpPr>
        <p:spPr>
          <a:xfrm>
            <a:off x="1870976" y="3539568"/>
            <a:ext cx="754380" cy="54864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/>
          </a:bodyPr>
          <a:lstStyle/>
          <a:p>
            <a:r>
              <a:rPr lang="en-US" sz="330" dirty="0">
                <a:solidFill>
                  <a:srgbClr val="C9C5EA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2025.03.01 ~ 2026.12.31</a:t>
            </a:r>
            <a:endParaRPr lang="en-US" sz="330" dirty="0"/>
          </a:p>
        </p:txBody>
      </p:sp>
      <p:sp>
        <p:nvSpPr>
          <p:cNvPr id="129" name="Text 127"/>
          <p:cNvSpPr/>
          <p:nvPr/>
        </p:nvSpPr>
        <p:spPr>
          <a:xfrm>
            <a:off x="2714510" y="3546426"/>
            <a:ext cx="54864" cy="48006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/>
          </a:bodyPr>
          <a:lstStyle/>
          <a:p>
            <a:r>
              <a:rPr lang="en-US" sz="300" dirty="0">
                <a:solidFill>
                  <a:srgbClr val="A9A5D6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♧</a:t>
            </a:r>
            <a:endParaRPr lang="en-US" sz="300" dirty="0"/>
          </a:p>
        </p:txBody>
      </p:sp>
      <p:sp>
        <p:nvSpPr>
          <p:cNvPr id="130" name="Text 128"/>
          <p:cNvSpPr/>
          <p:nvPr/>
        </p:nvSpPr>
        <p:spPr>
          <a:xfrm>
            <a:off x="2783090" y="3539568"/>
            <a:ext cx="329184" cy="54864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/>
          </a:bodyPr>
          <a:lstStyle/>
          <a:p>
            <a:r>
              <a:rPr lang="en-US" sz="330" dirty="0">
                <a:solidFill>
                  <a:srgbClr val="C9C5EA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투입 5명</a:t>
            </a:r>
            <a:endParaRPr lang="en-US" sz="330" dirty="0"/>
          </a:p>
        </p:txBody>
      </p:sp>
      <p:sp>
        <p:nvSpPr>
          <p:cNvPr id="131" name="Shape 129"/>
          <p:cNvSpPr/>
          <p:nvPr/>
        </p:nvSpPr>
        <p:spPr>
          <a:xfrm>
            <a:off x="3263151" y="3532710"/>
            <a:ext cx="238658" cy="109728"/>
          </a:xfrm>
          <a:prstGeom prst="roundRect">
            <a:avLst>
              <a:gd name="adj" fmla="val 18750"/>
            </a:avLst>
          </a:prstGeom>
          <a:solidFill>
            <a:srgbClr val="10243A"/>
          </a:solidFill>
          <a:ln w="12700">
            <a:solidFill>
              <a:srgbClr val="10243A"/>
            </a:solidFill>
            <a:prstDash val="solid"/>
          </a:ln>
        </p:spPr>
      </p:sp>
      <p:sp>
        <p:nvSpPr>
          <p:cNvPr id="132" name="Text 130"/>
          <p:cNvSpPr/>
          <p:nvPr/>
        </p:nvSpPr>
        <p:spPr>
          <a:xfrm>
            <a:off x="3290583" y="3546426"/>
            <a:ext cx="183794" cy="685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360" b="1" dirty="0">
                <a:solidFill>
                  <a:srgbClr val="D7EE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Java</a:t>
            </a:r>
            <a:endParaRPr lang="en-US" sz="360" dirty="0"/>
          </a:p>
        </p:txBody>
      </p:sp>
      <p:sp>
        <p:nvSpPr>
          <p:cNvPr id="133" name="Shape 131"/>
          <p:cNvSpPr/>
          <p:nvPr/>
        </p:nvSpPr>
        <p:spPr>
          <a:xfrm>
            <a:off x="3529240" y="3532710"/>
            <a:ext cx="356616" cy="109728"/>
          </a:xfrm>
          <a:prstGeom prst="roundRect">
            <a:avLst>
              <a:gd name="adj" fmla="val 18750"/>
            </a:avLst>
          </a:prstGeom>
          <a:solidFill>
            <a:srgbClr val="10243A"/>
          </a:solidFill>
          <a:ln w="12700">
            <a:solidFill>
              <a:srgbClr val="10243A"/>
            </a:solidFill>
            <a:prstDash val="solid"/>
          </a:ln>
        </p:spPr>
      </p:sp>
      <p:sp>
        <p:nvSpPr>
          <p:cNvPr id="134" name="Text 132"/>
          <p:cNvSpPr/>
          <p:nvPr/>
        </p:nvSpPr>
        <p:spPr>
          <a:xfrm>
            <a:off x="3556672" y="3546426"/>
            <a:ext cx="301752" cy="685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360" b="1" dirty="0">
                <a:solidFill>
                  <a:srgbClr val="D7EE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Spring Boot</a:t>
            </a:r>
            <a:endParaRPr lang="en-US" sz="360" dirty="0"/>
          </a:p>
        </p:txBody>
      </p:sp>
      <p:sp>
        <p:nvSpPr>
          <p:cNvPr id="135" name="Shape 133"/>
          <p:cNvSpPr/>
          <p:nvPr/>
        </p:nvSpPr>
        <p:spPr>
          <a:xfrm>
            <a:off x="3913288" y="3532710"/>
            <a:ext cx="202997" cy="109728"/>
          </a:xfrm>
          <a:prstGeom prst="roundRect">
            <a:avLst>
              <a:gd name="adj" fmla="val 18750"/>
            </a:avLst>
          </a:prstGeom>
          <a:solidFill>
            <a:srgbClr val="10243A"/>
          </a:solidFill>
          <a:ln w="12700">
            <a:solidFill>
              <a:srgbClr val="10243A"/>
            </a:solidFill>
            <a:prstDash val="solid"/>
          </a:ln>
        </p:spPr>
      </p:sp>
      <p:sp>
        <p:nvSpPr>
          <p:cNvPr id="136" name="Text 134"/>
          <p:cNvSpPr/>
          <p:nvPr/>
        </p:nvSpPr>
        <p:spPr>
          <a:xfrm>
            <a:off x="3940720" y="3546426"/>
            <a:ext cx="148133" cy="685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360" b="1" dirty="0">
                <a:solidFill>
                  <a:srgbClr val="D7EE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MSA</a:t>
            </a:r>
            <a:endParaRPr lang="en-US" sz="360" dirty="0"/>
          </a:p>
        </p:txBody>
      </p:sp>
      <p:sp>
        <p:nvSpPr>
          <p:cNvPr id="137" name="Shape 135"/>
          <p:cNvSpPr/>
          <p:nvPr/>
        </p:nvSpPr>
        <p:spPr>
          <a:xfrm>
            <a:off x="4143718" y="3532710"/>
            <a:ext cx="356616" cy="109728"/>
          </a:xfrm>
          <a:prstGeom prst="roundRect">
            <a:avLst>
              <a:gd name="adj" fmla="val 18750"/>
            </a:avLst>
          </a:prstGeom>
          <a:solidFill>
            <a:srgbClr val="10243A"/>
          </a:solidFill>
          <a:ln w="12700">
            <a:solidFill>
              <a:srgbClr val="10243A"/>
            </a:solidFill>
            <a:prstDash val="solid"/>
          </a:ln>
        </p:spPr>
      </p:sp>
      <p:sp>
        <p:nvSpPr>
          <p:cNvPr id="138" name="Text 136"/>
          <p:cNvSpPr/>
          <p:nvPr/>
        </p:nvSpPr>
        <p:spPr>
          <a:xfrm>
            <a:off x="4171150" y="3546426"/>
            <a:ext cx="301752" cy="685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360" b="1" dirty="0">
                <a:solidFill>
                  <a:srgbClr val="D7EE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Kubernetes</a:t>
            </a:r>
            <a:endParaRPr lang="en-US" sz="360" dirty="0"/>
          </a:p>
        </p:txBody>
      </p:sp>
      <p:sp>
        <p:nvSpPr>
          <p:cNvPr id="139" name="Shape 137"/>
          <p:cNvSpPr/>
          <p:nvPr/>
        </p:nvSpPr>
        <p:spPr>
          <a:xfrm>
            <a:off x="4874780" y="3381834"/>
            <a:ext cx="205740" cy="137160"/>
          </a:xfrm>
          <a:prstGeom prst="roundRect">
            <a:avLst>
              <a:gd name="adj" fmla="val 20000"/>
            </a:avLst>
          </a:prstGeom>
          <a:solidFill>
            <a:srgbClr val="2C2A49"/>
          </a:solidFill>
          <a:ln w="6985">
            <a:solidFill>
              <a:srgbClr val="5D5A82"/>
            </a:solidFill>
            <a:prstDash val="solid"/>
          </a:ln>
        </p:spPr>
      </p:sp>
      <p:sp>
        <p:nvSpPr>
          <p:cNvPr id="140" name="Text 138"/>
          <p:cNvSpPr/>
          <p:nvPr/>
        </p:nvSpPr>
        <p:spPr>
          <a:xfrm>
            <a:off x="4915928" y="3419553"/>
            <a:ext cx="123444" cy="411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algn="ctr"/>
            <a:r>
              <a:rPr lang="en-US" sz="36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상세</a:t>
            </a:r>
            <a:endParaRPr lang="en-US" sz="360" dirty="0"/>
          </a:p>
        </p:txBody>
      </p:sp>
      <p:sp>
        <p:nvSpPr>
          <p:cNvPr id="141" name="Shape 139"/>
          <p:cNvSpPr/>
          <p:nvPr/>
        </p:nvSpPr>
        <p:spPr>
          <a:xfrm>
            <a:off x="1720100" y="3745308"/>
            <a:ext cx="3442716" cy="397764"/>
          </a:xfrm>
          <a:prstGeom prst="roundRect">
            <a:avLst>
              <a:gd name="adj" fmla="val 8621"/>
            </a:avLst>
          </a:prstGeom>
          <a:solidFill>
            <a:srgbClr val="33304F"/>
          </a:solidFill>
          <a:ln w="8255">
            <a:solidFill>
              <a:srgbClr val="5D5A82"/>
            </a:solidFill>
            <a:prstDash val="solid"/>
          </a:ln>
        </p:spPr>
      </p:sp>
      <p:sp>
        <p:nvSpPr>
          <p:cNvPr id="142" name="Text 140"/>
          <p:cNvSpPr/>
          <p:nvPr/>
        </p:nvSpPr>
        <p:spPr>
          <a:xfrm>
            <a:off x="1802396" y="3800172"/>
            <a:ext cx="1062990" cy="82296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 lnSpcReduction="10000"/>
          </a:bodyPr>
          <a:lstStyle/>
          <a:p>
            <a:r>
              <a:rPr lang="en-US" sz="54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C제조 MES 고도화</a:t>
            </a:r>
            <a:endParaRPr lang="en-US" sz="540" dirty="0"/>
          </a:p>
        </p:txBody>
      </p:sp>
      <p:sp>
        <p:nvSpPr>
          <p:cNvPr id="143" name="Shape 141"/>
          <p:cNvSpPr/>
          <p:nvPr/>
        </p:nvSpPr>
        <p:spPr>
          <a:xfrm>
            <a:off x="2474480" y="3796743"/>
            <a:ext cx="260604" cy="123444"/>
          </a:xfrm>
          <a:prstGeom prst="roundRect">
            <a:avLst>
              <a:gd name="adj" fmla="val 27778"/>
            </a:avLst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44" name="Text 142"/>
          <p:cNvSpPr/>
          <p:nvPr/>
        </p:nvSpPr>
        <p:spPr>
          <a:xfrm>
            <a:off x="2501912" y="3820746"/>
            <a:ext cx="205740" cy="617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375" b="1" dirty="0">
                <a:solidFill>
                  <a:srgbClr val="80FFE6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투입중</a:t>
            </a:r>
            <a:endParaRPr lang="en-US" sz="375" dirty="0"/>
          </a:p>
        </p:txBody>
      </p:sp>
      <p:sp>
        <p:nvSpPr>
          <p:cNvPr id="145" name="Text 143"/>
          <p:cNvSpPr/>
          <p:nvPr/>
        </p:nvSpPr>
        <p:spPr>
          <a:xfrm>
            <a:off x="1802396" y="3909900"/>
            <a:ext cx="582930" cy="54864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 lnSpcReduction="10000"/>
          </a:bodyPr>
          <a:lstStyle/>
          <a:p>
            <a:r>
              <a:rPr lang="en-US" sz="368" b="1" dirty="0">
                <a:solidFill>
                  <a:srgbClr val="BDB9E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C제조</a:t>
            </a:r>
            <a:endParaRPr lang="en-US" sz="368" dirty="0"/>
          </a:p>
        </p:txBody>
      </p:sp>
      <p:sp>
        <p:nvSpPr>
          <p:cNvPr id="146" name="Text 144"/>
          <p:cNvSpPr/>
          <p:nvPr/>
        </p:nvSpPr>
        <p:spPr>
          <a:xfrm>
            <a:off x="1802396" y="4005912"/>
            <a:ext cx="48006" cy="4800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300" dirty="0">
                <a:solidFill>
                  <a:srgbClr val="A9A5D6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▣</a:t>
            </a:r>
            <a:endParaRPr lang="en-US" sz="300" dirty="0"/>
          </a:p>
        </p:txBody>
      </p:sp>
      <p:sp>
        <p:nvSpPr>
          <p:cNvPr id="147" name="Text 145"/>
          <p:cNvSpPr/>
          <p:nvPr/>
        </p:nvSpPr>
        <p:spPr>
          <a:xfrm>
            <a:off x="1870976" y="3999054"/>
            <a:ext cx="754380" cy="54864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/>
          </a:bodyPr>
          <a:lstStyle/>
          <a:p>
            <a:r>
              <a:rPr lang="en-US" sz="330" dirty="0">
                <a:solidFill>
                  <a:srgbClr val="C9C5EA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2024.12.01 ~ 2026.07.31</a:t>
            </a:r>
            <a:endParaRPr lang="en-US" sz="330" dirty="0"/>
          </a:p>
        </p:txBody>
      </p:sp>
      <p:sp>
        <p:nvSpPr>
          <p:cNvPr id="148" name="Text 146"/>
          <p:cNvSpPr/>
          <p:nvPr/>
        </p:nvSpPr>
        <p:spPr>
          <a:xfrm>
            <a:off x="2714510" y="4005912"/>
            <a:ext cx="54864" cy="48006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/>
          </a:bodyPr>
          <a:lstStyle/>
          <a:p>
            <a:r>
              <a:rPr lang="en-US" sz="300" dirty="0">
                <a:solidFill>
                  <a:srgbClr val="A9A5D6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♧</a:t>
            </a:r>
            <a:endParaRPr lang="en-US" sz="300" dirty="0"/>
          </a:p>
        </p:txBody>
      </p:sp>
      <p:sp>
        <p:nvSpPr>
          <p:cNvPr id="149" name="Text 147"/>
          <p:cNvSpPr/>
          <p:nvPr/>
        </p:nvSpPr>
        <p:spPr>
          <a:xfrm>
            <a:off x="2783090" y="3999054"/>
            <a:ext cx="329184" cy="54864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/>
          </a:bodyPr>
          <a:lstStyle/>
          <a:p>
            <a:r>
              <a:rPr lang="en-US" sz="330" dirty="0">
                <a:solidFill>
                  <a:srgbClr val="C9C5EA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투입 4명</a:t>
            </a:r>
            <a:endParaRPr lang="en-US" sz="330" dirty="0"/>
          </a:p>
        </p:txBody>
      </p:sp>
      <p:sp>
        <p:nvSpPr>
          <p:cNvPr id="150" name="Shape 148"/>
          <p:cNvSpPr/>
          <p:nvPr/>
        </p:nvSpPr>
        <p:spPr>
          <a:xfrm>
            <a:off x="3263150" y="3992196"/>
            <a:ext cx="309982" cy="109728"/>
          </a:xfrm>
          <a:prstGeom prst="roundRect">
            <a:avLst>
              <a:gd name="adj" fmla="val 18750"/>
            </a:avLst>
          </a:prstGeom>
          <a:solidFill>
            <a:srgbClr val="10243A"/>
          </a:solidFill>
          <a:ln w="12700">
            <a:solidFill>
              <a:srgbClr val="10243A"/>
            </a:solidFill>
            <a:prstDash val="solid"/>
          </a:ln>
        </p:spPr>
      </p:sp>
      <p:sp>
        <p:nvSpPr>
          <p:cNvPr id="151" name="Text 149"/>
          <p:cNvSpPr/>
          <p:nvPr/>
        </p:nvSpPr>
        <p:spPr>
          <a:xfrm>
            <a:off x="3290582" y="4005912"/>
            <a:ext cx="255118" cy="685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360" b="1" dirty="0">
                <a:solidFill>
                  <a:srgbClr val="D7EE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Python</a:t>
            </a:r>
            <a:endParaRPr lang="en-US" sz="360" dirty="0"/>
          </a:p>
        </p:txBody>
      </p:sp>
      <p:sp>
        <p:nvSpPr>
          <p:cNvPr id="152" name="Shape 150"/>
          <p:cNvSpPr/>
          <p:nvPr/>
        </p:nvSpPr>
        <p:spPr>
          <a:xfrm>
            <a:off x="3600564" y="3992196"/>
            <a:ext cx="309982" cy="109728"/>
          </a:xfrm>
          <a:prstGeom prst="roundRect">
            <a:avLst>
              <a:gd name="adj" fmla="val 18750"/>
            </a:avLst>
          </a:prstGeom>
          <a:solidFill>
            <a:srgbClr val="10243A"/>
          </a:solidFill>
          <a:ln w="12700">
            <a:solidFill>
              <a:srgbClr val="10243A"/>
            </a:solidFill>
            <a:prstDash val="solid"/>
          </a:ln>
        </p:spPr>
      </p:sp>
      <p:sp>
        <p:nvSpPr>
          <p:cNvPr id="153" name="Text 151"/>
          <p:cNvSpPr/>
          <p:nvPr/>
        </p:nvSpPr>
        <p:spPr>
          <a:xfrm>
            <a:off x="3627996" y="4005912"/>
            <a:ext cx="255118" cy="685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360" b="1" dirty="0">
                <a:solidFill>
                  <a:srgbClr val="D7EE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Vue.js</a:t>
            </a:r>
            <a:endParaRPr lang="en-US" sz="360" dirty="0"/>
          </a:p>
        </p:txBody>
      </p:sp>
      <p:sp>
        <p:nvSpPr>
          <p:cNvPr id="154" name="Shape 152"/>
          <p:cNvSpPr/>
          <p:nvPr/>
        </p:nvSpPr>
        <p:spPr>
          <a:xfrm>
            <a:off x="3937978" y="3992196"/>
            <a:ext cx="356616" cy="109728"/>
          </a:xfrm>
          <a:prstGeom prst="roundRect">
            <a:avLst>
              <a:gd name="adj" fmla="val 18750"/>
            </a:avLst>
          </a:prstGeom>
          <a:solidFill>
            <a:srgbClr val="10243A"/>
          </a:solidFill>
          <a:ln w="12700">
            <a:solidFill>
              <a:srgbClr val="10243A"/>
            </a:solidFill>
            <a:prstDash val="solid"/>
          </a:ln>
        </p:spPr>
      </p:sp>
      <p:sp>
        <p:nvSpPr>
          <p:cNvPr id="155" name="Text 153"/>
          <p:cNvSpPr/>
          <p:nvPr/>
        </p:nvSpPr>
        <p:spPr>
          <a:xfrm>
            <a:off x="3965410" y="4005912"/>
            <a:ext cx="301752" cy="685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360" b="1" dirty="0">
                <a:solidFill>
                  <a:srgbClr val="D7EE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PostgreSQL</a:t>
            </a:r>
            <a:endParaRPr lang="en-US" sz="360" dirty="0"/>
          </a:p>
        </p:txBody>
      </p:sp>
      <p:sp>
        <p:nvSpPr>
          <p:cNvPr id="156" name="Shape 154"/>
          <p:cNvSpPr/>
          <p:nvPr/>
        </p:nvSpPr>
        <p:spPr>
          <a:xfrm>
            <a:off x="4322026" y="3992196"/>
            <a:ext cx="238658" cy="109728"/>
          </a:xfrm>
          <a:prstGeom prst="roundRect">
            <a:avLst>
              <a:gd name="adj" fmla="val 18750"/>
            </a:avLst>
          </a:prstGeom>
          <a:solidFill>
            <a:srgbClr val="10243A"/>
          </a:solidFill>
          <a:ln w="12700">
            <a:solidFill>
              <a:srgbClr val="10243A"/>
            </a:solidFill>
            <a:prstDash val="solid"/>
          </a:ln>
        </p:spPr>
      </p:sp>
      <p:sp>
        <p:nvSpPr>
          <p:cNvPr id="157" name="Text 155"/>
          <p:cNvSpPr/>
          <p:nvPr/>
        </p:nvSpPr>
        <p:spPr>
          <a:xfrm>
            <a:off x="4349458" y="4005912"/>
            <a:ext cx="183794" cy="685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360" b="1" dirty="0">
                <a:solidFill>
                  <a:srgbClr val="D7EE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MQTT</a:t>
            </a:r>
            <a:endParaRPr lang="en-US" sz="360" dirty="0"/>
          </a:p>
        </p:txBody>
      </p:sp>
      <p:sp>
        <p:nvSpPr>
          <p:cNvPr id="158" name="Shape 156"/>
          <p:cNvSpPr/>
          <p:nvPr/>
        </p:nvSpPr>
        <p:spPr>
          <a:xfrm>
            <a:off x="4874780" y="3841320"/>
            <a:ext cx="205740" cy="137160"/>
          </a:xfrm>
          <a:prstGeom prst="roundRect">
            <a:avLst>
              <a:gd name="adj" fmla="val 20000"/>
            </a:avLst>
          </a:prstGeom>
          <a:solidFill>
            <a:srgbClr val="2C2A49"/>
          </a:solidFill>
          <a:ln w="6985">
            <a:solidFill>
              <a:srgbClr val="5D5A82"/>
            </a:solidFill>
            <a:prstDash val="solid"/>
          </a:ln>
        </p:spPr>
      </p:sp>
      <p:sp>
        <p:nvSpPr>
          <p:cNvPr id="159" name="Text 157"/>
          <p:cNvSpPr/>
          <p:nvPr/>
        </p:nvSpPr>
        <p:spPr>
          <a:xfrm>
            <a:off x="4915928" y="3879039"/>
            <a:ext cx="123444" cy="411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algn="ctr"/>
            <a:r>
              <a:rPr lang="en-US" sz="36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상세</a:t>
            </a:r>
            <a:endParaRPr lang="en-US" sz="360" dirty="0"/>
          </a:p>
        </p:txBody>
      </p:sp>
      <p:sp>
        <p:nvSpPr>
          <p:cNvPr id="160" name="Text 158"/>
          <p:cNvSpPr/>
          <p:nvPr/>
        </p:nvSpPr>
        <p:spPr>
          <a:xfrm>
            <a:off x="2440190" y="2188542"/>
            <a:ext cx="123444" cy="1234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lang="en-US" sz="900" b="1" dirty="0">
                <a:solidFill>
                  <a:srgbClr val="FF000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⑥</a:t>
            </a:r>
            <a:endParaRPr lang="en-US" sz="900" dirty="0"/>
          </a:p>
        </p:txBody>
      </p:sp>
      <p:sp>
        <p:nvSpPr>
          <p:cNvPr id="161" name="Text 159"/>
          <p:cNvSpPr/>
          <p:nvPr/>
        </p:nvSpPr>
        <p:spPr>
          <a:xfrm>
            <a:off x="5726430" y="678942"/>
            <a:ext cx="1028700" cy="192024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/>
          </a:bodyPr>
          <a:lstStyle/>
          <a:p>
            <a:r>
              <a:rPr lang="en-US" sz="1200" b="1" dirty="0">
                <a:solidFill>
                  <a:srgbClr val="1118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Description</a:t>
            </a:r>
            <a:endParaRPr lang="en-US" sz="1200" dirty="0"/>
          </a:p>
        </p:txBody>
      </p:sp>
      <p:sp>
        <p:nvSpPr>
          <p:cNvPr id="162" name="Text 160"/>
          <p:cNvSpPr/>
          <p:nvPr/>
        </p:nvSpPr>
        <p:spPr>
          <a:xfrm>
            <a:off x="8257032" y="720090"/>
            <a:ext cx="342900" cy="82296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 fontScale="92500" lnSpcReduction="20000"/>
          </a:bodyPr>
          <a:lstStyle/>
          <a:p>
            <a:pPr algn="r"/>
            <a:r>
              <a:rPr lang="en-US" sz="600" b="1" dirty="0">
                <a:solidFill>
                  <a:srgbClr val="2563EB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검토용</a:t>
            </a:r>
            <a:endParaRPr lang="en-US" sz="600" dirty="0"/>
          </a:p>
        </p:txBody>
      </p:sp>
      <p:graphicFrame>
        <p:nvGraphicFramePr>
          <p:cNvPr id="16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03941210"/>
              </p:ext>
            </p:extLst>
          </p:nvPr>
        </p:nvGraphicFramePr>
        <p:xfrm>
          <a:off x="5657850" y="994410"/>
          <a:ext cx="2983230" cy="2455164"/>
        </p:xfrm>
        <a:graphic>
          <a:graphicData uri="http://schemas.openxmlformats.org/drawingml/2006/table">
            <a:tbl>
              <a:tblPr/>
              <a:tblGrid>
                <a:gridCol w="64465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3857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945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600" b="1" dirty="0">
                          <a:solidFill>
                            <a:srgbClr val="FFFFFF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구분</a:t>
                      </a:r>
                      <a:endParaRPr lang="en-US" sz="6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27432" marR="27432" marT="27432" marB="27432">
                    <a:lnL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1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600" b="1" dirty="0">
                          <a:solidFill>
                            <a:srgbClr val="FFFFFF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기획 내용</a:t>
                      </a:r>
                      <a:endParaRPr lang="en-US" sz="6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27432" marR="27432" marT="27432" marB="27432">
                    <a:lnL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1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500" dirty="0" smtClean="0">
                          <a:solidFill>
                            <a:srgbClr val="111827"/>
                          </a:solidFill>
                          <a:latin typeface="+mn-ea"/>
                          <a:ea typeface="+mn-ea"/>
                          <a:cs typeface="Noto Sans CJK KR" pitchFamily="34" charset="-120"/>
                        </a:rPr>
                        <a:t>1 </a:t>
                      </a:r>
                      <a:r>
                        <a:rPr lang="en-US" sz="500" dirty="0">
                          <a:solidFill>
                            <a:srgbClr val="111827"/>
                          </a:solidFill>
                          <a:latin typeface="+mn-ea"/>
                          <a:ea typeface="+mn-ea"/>
                          <a:cs typeface="Noto Sans CJK KR" pitchFamily="34" charset="-120"/>
                        </a:rPr>
                        <a:t>상태 탭</a:t>
                      </a:r>
                      <a:endParaRPr lang="en-US" sz="500" dirty="0">
                        <a:latin typeface="+mn-ea"/>
                        <a:ea typeface="+mn-ea"/>
                        <a:cs typeface="Noto Sans CJK KR" charset="0"/>
                      </a:endParaRPr>
                    </a:p>
                  </a:txBody>
                  <a:tcPr marL="41148" marR="41148" marT="41148" marB="41148">
                    <a:lnL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500" dirty="0">
                          <a:solidFill>
                            <a:srgbClr val="111827"/>
                          </a:solidFill>
                          <a:latin typeface="+mn-ea"/>
                          <a:ea typeface="+mn-ea"/>
                          <a:cs typeface="Noto Sans CJK KR" pitchFamily="34" charset="-120"/>
                        </a:rPr>
                        <a:t>전체/진행 중/완료/예정 상태별 목록 조회</a:t>
                      </a:r>
                      <a:endParaRPr lang="en-US" sz="500" dirty="0">
                        <a:latin typeface="+mn-ea"/>
                        <a:ea typeface="+mn-ea"/>
                        <a:cs typeface="Noto Sans CJK KR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500" dirty="0">
                          <a:solidFill>
                            <a:srgbClr val="111827"/>
                          </a:solidFill>
                          <a:latin typeface="+mn-ea"/>
                          <a:ea typeface="+mn-ea"/>
                          <a:cs typeface="Noto Sans CJK KR" pitchFamily="34" charset="-120"/>
                        </a:rPr>
                        <a:t>각 탭 우측에 상태별 건수 표시</a:t>
                      </a:r>
                      <a:endParaRPr lang="en-US" sz="500" dirty="0">
                        <a:latin typeface="+mn-ea"/>
                        <a:ea typeface="+mn-ea"/>
                        <a:cs typeface="Noto Sans CJK KR" charset="0"/>
                      </a:endParaRPr>
                    </a:p>
                  </a:txBody>
                  <a:tcPr marL="41148" marR="41148" marT="41148" marB="41148">
                    <a:lnL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33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500" dirty="0" smtClean="0">
                          <a:solidFill>
                            <a:srgbClr val="111827"/>
                          </a:solidFill>
                          <a:latin typeface="+mn-ea"/>
                          <a:ea typeface="+mn-ea"/>
                          <a:cs typeface="Noto Sans CJK KR" pitchFamily="34" charset="-120"/>
                        </a:rPr>
                        <a:t>2 </a:t>
                      </a:r>
                      <a:r>
                        <a:rPr lang="en-US" sz="500" dirty="0">
                          <a:solidFill>
                            <a:srgbClr val="111827"/>
                          </a:solidFill>
                          <a:latin typeface="+mn-ea"/>
                          <a:ea typeface="+mn-ea"/>
                          <a:cs typeface="Noto Sans CJK KR" pitchFamily="34" charset="-120"/>
                        </a:rPr>
                        <a:t>프로젝트 등록</a:t>
                      </a:r>
                      <a:endParaRPr lang="en-US" sz="500" dirty="0">
                        <a:latin typeface="+mn-ea"/>
                        <a:ea typeface="+mn-ea"/>
                        <a:cs typeface="Noto Sans CJK KR" charset="0"/>
                      </a:endParaRPr>
                    </a:p>
                  </a:txBody>
                  <a:tcPr marL="41148" marR="41148" marT="41148" marB="41148">
                    <a:lnL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500" dirty="0">
                          <a:solidFill>
                            <a:srgbClr val="111827"/>
                          </a:solidFill>
                          <a:latin typeface="+mn-ea"/>
                          <a:ea typeface="+mn-ea"/>
                          <a:cs typeface="Noto Sans CJK KR" pitchFamily="34" charset="-120"/>
                        </a:rPr>
                        <a:t>프로젝트 등록 버튼 클릭 시 등록 화면 이동</a:t>
                      </a:r>
                      <a:endParaRPr lang="en-US" sz="500" dirty="0">
                        <a:latin typeface="+mn-ea"/>
                        <a:ea typeface="+mn-ea"/>
                        <a:cs typeface="Noto Sans CJK KR" charset="0"/>
                      </a:endParaRPr>
                    </a:p>
                  </a:txBody>
                  <a:tcPr marL="41148" marR="41148" marT="41148" marB="41148">
                    <a:lnL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776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500" dirty="0" smtClean="0">
                          <a:solidFill>
                            <a:srgbClr val="111827"/>
                          </a:solidFill>
                          <a:latin typeface="+mn-ea"/>
                          <a:ea typeface="+mn-ea"/>
                          <a:cs typeface="Noto Sans CJK KR" pitchFamily="34" charset="-120"/>
                        </a:rPr>
                        <a:t>3 </a:t>
                      </a:r>
                      <a:r>
                        <a:rPr lang="en-US" sz="500" dirty="0">
                          <a:solidFill>
                            <a:srgbClr val="111827"/>
                          </a:solidFill>
                          <a:latin typeface="+mn-ea"/>
                          <a:ea typeface="+mn-ea"/>
                          <a:cs typeface="Noto Sans CJK KR" pitchFamily="34" charset="-120"/>
                        </a:rPr>
                        <a:t>검색/필터</a:t>
                      </a:r>
                      <a:endParaRPr lang="en-US" sz="500" dirty="0">
                        <a:latin typeface="+mn-ea"/>
                        <a:ea typeface="+mn-ea"/>
                        <a:cs typeface="Noto Sans CJK KR" charset="0"/>
                      </a:endParaRPr>
                    </a:p>
                  </a:txBody>
                  <a:tcPr marL="41148" marR="41148" marT="41148" marB="41148">
                    <a:lnL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500" dirty="0">
                          <a:solidFill>
                            <a:srgbClr val="111827"/>
                          </a:solidFill>
                          <a:latin typeface="+mn-ea"/>
                          <a:ea typeface="+mn-ea"/>
                          <a:cs typeface="Noto Sans CJK KR" pitchFamily="34" charset="-120"/>
                        </a:rPr>
                        <a:t>프로젝트명·고객사 키워드 검색</a:t>
                      </a:r>
                      <a:endParaRPr lang="en-US" sz="500" dirty="0">
                        <a:latin typeface="+mn-ea"/>
                        <a:ea typeface="+mn-ea"/>
                        <a:cs typeface="Noto Sans CJK KR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500" dirty="0">
                          <a:solidFill>
                            <a:srgbClr val="111827"/>
                          </a:solidFill>
                          <a:latin typeface="+mn-ea"/>
                          <a:ea typeface="+mn-ea"/>
                          <a:cs typeface="Noto Sans CJK KR" pitchFamily="34" charset="-120"/>
                        </a:rPr>
                        <a:t>기술스택/PM 조건으로 목록 필터링</a:t>
                      </a:r>
                      <a:endParaRPr lang="en-US" sz="500" dirty="0">
                        <a:latin typeface="+mn-ea"/>
                        <a:ea typeface="+mn-ea"/>
                        <a:cs typeface="Noto Sans CJK KR" charset="0"/>
                      </a:endParaRPr>
                    </a:p>
                  </a:txBody>
                  <a:tcPr marL="41148" marR="41148" marT="41148" marB="41148">
                    <a:lnL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500" dirty="0" smtClean="0">
                          <a:solidFill>
                            <a:srgbClr val="111827"/>
                          </a:solidFill>
                          <a:latin typeface="+mn-ea"/>
                          <a:ea typeface="+mn-ea"/>
                          <a:cs typeface="Noto Sans CJK KR" pitchFamily="34" charset="-120"/>
                        </a:rPr>
                        <a:t>4 </a:t>
                      </a:r>
                      <a:r>
                        <a:rPr lang="en-US" sz="500" dirty="0">
                          <a:solidFill>
                            <a:srgbClr val="111827"/>
                          </a:solidFill>
                          <a:latin typeface="+mn-ea"/>
                          <a:ea typeface="+mn-ea"/>
                          <a:cs typeface="Noto Sans CJK KR" pitchFamily="34" charset="-120"/>
                        </a:rPr>
                        <a:t>프로젝트 목록</a:t>
                      </a:r>
                      <a:endParaRPr lang="en-US" sz="500" dirty="0">
                        <a:latin typeface="+mn-ea"/>
                        <a:ea typeface="+mn-ea"/>
                        <a:cs typeface="Noto Sans CJK KR" charset="0"/>
                      </a:endParaRPr>
                    </a:p>
                  </a:txBody>
                  <a:tcPr marL="41148" marR="41148" marT="41148" marB="41148">
                    <a:lnL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500" dirty="0">
                          <a:solidFill>
                            <a:srgbClr val="111827"/>
                          </a:solidFill>
                          <a:latin typeface="+mn-ea"/>
                          <a:ea typeface="+mn-ea"/>
                          <a:cs typeface="Noto Sans CJK KR" pitchFamily="34" charset="-120"/>
                        </a:rPr>
                        <a:t>프로젝트명, 고객사, 기간, 투입 인원, 기술스택, 상태 표시</a:t>
                      </a:r>
                      <a:endParaRPr lang="en-US" sz="500" dirty="0">
                        <a:latin typeface="+mn-ea"/>
                        <a:ea typeface="+mn-ea"/>
                        <a:cs typeface="Noto Sans CJK KR" charset="0"/>
                      </a:endParaRPr>
                    </a:p>
                  </a:txBody>
                  <a:tcPr marL="41148" marR="41148" marT="41148" marB="41148">
                    <a:lnL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33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500" dirty="0" smtClean="0">
                          <a:solidFill>
                            <a:srgbClr val="111827"/>
                          </a:solidFill>
                          <a:latin typeface="+mn-ea"/>
                          <a:ea typeface="+mn-ea"/>
                          <a:cs typeface="Noto Sans CJK KR" pitchFamily="34" charset="-120"/>
                        </a:rPr>
                        <a:t>5 </a:t>
                      </a:r>
                      <a:r>
                        <a:rPr lang="en-US" sz="500" dirty="0">
                          <a:solidFill>
                            <a:srgbClr val="111827"/>
                          </a:solidFill>
                          <a:latin typeface="+mn-ea"/>
                          <a:ea typeface="+mn-ea"/>
                          <a:cs typeface="Noto Sans CJK KR" pitchFamily="34" charset="-120"/>
                        </a:rPr>
                        <a:t>상세 이동</a:t>
                      </a:r>
                      <a:endParaRPr lang="en-US" sz="500" dirty="0">
                        <a:latin typeface="+mn-ea"/>
                        <a:ea typeface="+mn-ea"/>
                        <a:cs typeface="Noto Sans CJK KR" charset="0"/>
                      </a:endParaRPr>
                    </a:p>
                  </a:txBody>
                  <a:tcPr marL="41148" marR="41148" marT="41148" marB="41148">
                    <a:lnL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500" dirty="0">
                          <a:solidFill>
                            <a:srgbClr val="111827"/>
                          </a:solidFill>
                          <a:latin typeface="+mn-ea"/>
                          <a:ea typeface="+mn-ea"/>
                          <a:cs typeface="Noto Sans CJK KR" pitchFamily="34" charset="-120"/>
                        </a:rPr>
                        <a:t>상세 버튼 클릭 시 프로젝트 상세 화면 이동</a:t>
                      </a:r>
                      <a:endParaRPr lang="en-US" sz="500" dirty="0">
                        <a:latin typeface="+mn-ea"/>
                        <a:ea typeface="+mn-ea"/>
                        <a:cs typeface="Noto Sans CJK KR" charset="0"/>
                      </a:endParaRPr>
                    </a:p>
                  </a:txBody>
                  <a:tcPr marL="41148" marR="41148" marT="41148" marB="41148">
                    <a:lnL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33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500" dirty="0" smtClean="0">
                          <a:solidFill>
                            <a:srgbClr val="111827"/>
                          </a:solidFill>
                          <a:latin typeface="+mn-ea"/>
                          <a:ea typeface="+mn-ea"/>
                          <a:cs typeface="Noto Sans CJK KR" pitchFamily="34" charset="-120"/>
                        </a:rPr>
                        <a:t>6 </a:t>
                      </a:r>
                      <a:r>
                        <a:rPr lang="en-US" sz="500" dirty="0">
                          <a:solidFill>
                            <a:srgbClr val="111827"/>
                          </a:solidFill>
                          <a:latin typeface="+mn-ea"/>
                          <a:ea typeface="+mn-ea"/>
                          <a:cs typeface="Noto Sans CJK KR" pitchFamily="34" charset="-120"/>
                        </a:rPr>
                        <a:t>목록 정보</a:t>
                      </a:r>
                      <a:endParaRPr lang="en-US" sz="500" dirty="0">
                        <a:latin typeface="+mn-ea"/>
                        <a:ea typeface="+mn-ea"/>
                        <a:cs typeface="Noto Sans CJK KR" charset="0"/>
                      </a:endParaRPr>
                    </a:p>
                  </a:txBody>
                  <a:tcPr marL="41148" marR="41148" marT="41148" marB="41148">
                    <a:lnL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500" dirty="0">
                          <a:solidFill>
                            <a:srgbClr val="111827"/>
                          </a:solidFill>
                          <a:latin typeface="+mn-ea"/>
                          <a:ea typeface="+mn-ea"/>
                          <a:cs typeface="Noto Sans CJK KR" pitchFamily="34" charset="-120"/>
                        </a:rPr>
                        <a:t>카드형 목록으로 프로젝트 핵심 정보를 한 화면에 요약 표시</a:t>
                      </a:r>
                      <a:endParaRPr lang="en-US" sz="500" dirty="0">
                        <a:latin typeface="+mn-ea"/>
                        <a:ea typeface="+mn-ea"/>
                        <a:cs typeface="Noto Sans CJK KR" charset="0"/>
                      </a:endParaRPr>
                    </a:p>
                  </a:txBody>
                  <a:tcPr marL="41148" marR="41148" marT="41148" marB="41148">
                    <a:lnL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64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6732033"/>
              </p:ext>
            </p:extLst>
          </p:nvPr>
        </p:nvGraphicFramePr>
        <p:xfrm>
          <a:off x="5657850" y="3463290"/>
          <a:ext cx="2983230" cy="987552"/>
        </p:xfrm>
        <a:graphic>
          <a:graphicData uri="http://schemas.openxmlformats.org/drawingml/2006/table">
            <a:tbl>
              <a:tblPr/>
              <a:tblGrid>
                <a:gridCol w="64465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3857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945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600" b="1" dirty="0">
                          <a:solidFill>
                            <a:srgbClr val="FFFFFF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구분</a:t>
                      </a:r>
                      <a:endParaRPr lang="en-US" sz="6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27432" marR="27432" marT="27432" marB="27432">
                    <a:lnL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1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600" b="1" dirty="0">
                          <a:solidFill>
                            <a:srgbClr val="FFFFFF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수정/추가</a:t>
                      </a:r>
                      <a:endParaRPr lang="en-US" sz="6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27432" marR="27432" marT="27432" marB="27432">
                    <a:lnL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1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500" dirty="0" smtClean="0">
                          <a:solidFill>
                            <a:srgbClr val="111827"/>
                          </a:solidFill>
                          <a:latin typeface="+mn-ea"/>
                          <a:ea typeface="+mn-ea"/>
                          <a:cs typeface="Noto Sans CJK KR" pitchFamily="34" charset="-120"/>
                        </a:rPr>
                        <a:t>7 </a:t>
                      </a:r>
                      <a:r>
                        <a:rPr lang="en-US" sz="500" dirty="0">
                          <a:solidFill>
                            <a:srgbClr val="111827"/>
                          </a:solidFill>
                          <a:latin typeface="+mn-ea"/>
                          <a:ea typeface="+mn-ea"/>
                          <a:cs typeface="Noto Sans CJK KR" pitchFamily="34" charset="-120"/>
                        </a:rPr>
                        <a:t>상태 관리</a:t>
                      </a:r>
                      <a:endParaRPr lang="en-US" sz="500" dirty="0">
                        <a:latin typeface="+mn-ea"/>
                        <a:ea typeface="+mn-ea"/>
                        <a:cs typeface="Noto Sans CJK KR" charset="0"/>
                      </a:endParaRPr>
                    </a:p>
                  </a:txBody>
                  <a:tcPr marL="41148" marR="41148" marT="41148" marB="41148">
                    <a:lnL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500" dirty="0">
                          <a:solidFill>
                            <a:srgbClr val="111827"/>
                          </a:solidFill>
                          <a:latin typeface="+mn-ea"/>
                          <a:ea typeface="+mn-ea"/>
                          <a:cs typeface="Noto Sans CJK KR" pitchFamily="34" charset="-120"/>
                        </a:rPr>
                        <a:t>상태값 기준으로 목록 탭 및 배지 정보 동기화</a:t>
                      </a:r>
                      <a:endParaRPr lang="en-US" sz="500" dirty="0">
                        <a:latin typeface="+mn-ea"/>
                        <a:ea typeface="+mn-ea"/>
                        <a:cs typeface="Noto Sans CJK KR" charset="0"/>
                      </a:endParaRPr>
                    </a:p>
                  </a:txBody>
                  <a:tcPr marL="41148" marR="41148" marT="41148" marB="41148">
                    <a:lnL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500" dirty="0" smtClean="0">
                          <a:solidFill>
                            <a:srgbClr val="111827"/>
                          </a:solidFill>
                          <a:latin typeface="+mn-ea"/>
                          <a:ea typeface="+mn-ea"/>
                          <a:cs typeface="Noto Sans CJK KR" pitchFamily="34" charset="-120"/>
                        </a:rPr>
                        <a:t>8 </a:t>
                      </a:r>
                      <a:r>
                        <a:rPr lang="en-US" sz="500" dirty="0">
                          <a:solidFill>
                            <a:srgbClr val="111827"/>
                          </a:solidFill>
                          <a:latin typeface="+mn-ea"/>
                          <a:ea typeface="+mn-ea"/>
                          <a:cs typeface="Noto Sans CJK KR" pitchFamily="34" charset="-120"/>
                        </a:rPr>
                        <a:t>검색 조건</a:t>
                      </a:r>
                      <a:endParaRPr lang="en-US" sz="500" dirty="0">
                        <a:latin typeface="+mn-ea"/>
                        <a:ea typeface="+mn-ea"/>
                        <a:cs typeface="Noto Sans CJK KR" charset="0"/>
                      </a:endParaRPr>
                    </a:p>
                  </a:txBody>
                  <a:tcPr marL="41148" marR="41148" marT="41148" marB="41148">
                    <a:lnL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500" dirty="0">
                          <a:solidFill>
                            <a:srgbClr val="111827"/>
                          </a:solidFill>
                          <a:latin typeface="+mn-ea"/>
                          <a:ea typeface="+mn-ea"/>
                          <a:cs typeface="Noto Sans CJK KR" pitchFamily="34" charset="-120"/>
                        </a:rPr>
                        <a:t>검색어/필터 변경 시 목록 즉시 재조회</a:t>
                      </a:r>
                      <a:endParaRPr lang="en-US" sz="500" dirty="0">
                        <a:latin typeface="+mn-ea"/>
                        <a:ea typeface="+mn-ea"/>
                        <a:cs typeface="Noto Sans CJK KR" charset="0"/>
                      </a:endParaRPr>
                    </a:p>
                  </a:txBody>
                  <a:tcPr marL="41148" marR="41148" marT="41148" marB="41148">
                    <a:lnL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65" name="Text 161"/>
          <p:cNvSpPr/>
          <p:nvPr/>
        </p:nvSpPr>
        <p:spPr>
          <a:xfrm>
            <a:off x="1661421" y="2325702"/>
            <a:ext cx="3429000" cy="150876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/>
          </a:bodyPr>
          <a:lstStyle/>
          <a:p>
            <a:r>
              <a:rPr lang="en-US" altLang="ko-KR" sz="800" b="1" dirty="0">
                <a:solidFill>
                  <a:srgbClr val="FF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</a:t>
            </a:r>
            <a:endParaRPr lang="en-US" sz="510" dirty="0"/>
          </a:p>
        </p:txBody>
      </p:sp>
      <p:sp>
        <p:nvSpPr>
          <p:cNvPr id="166" name="Text 162"/>
          <p:cNvSpPr/>
          <p:nvPr/>
        </p:nvSpPr>
        <p:spPr>
          <a:xfrm>
            <a:off x="8469630" y="4828032"/>
            <a:ext cx="445770" cy="82296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/>
          </a:bodyPr>
          <a:lstStyle/>
          <a:p>
            <a:pPr algn="r"/>
            <a:r>
              <a:rPr lang="en-US" sz="488" dirty="0">
                <a:solidFill>
                  <a:srgbClr val="0F213A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Confidential</a:t>
            </a:r>
            <a:endParaRPr lang="en-US" sz="488" dirty="0"/>
          </a:p>
        </p:txBody>
      </p:sp>
    </p:spTree>
    <p:extLst>
      <p:ext uri="{BB962C8B-B14F-4D97-AF65-F5344CB8AC3E}">
        <p14:creationId xmlns:p14="http://schemas.microsoft.com/office/powerpoint/2010/main" val="380107546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37160" y="61722"/>
            <a:ext cx="8867394" cy="397764"/>
          </a:xfrm>
          <a:prstGeom prst="rect">
            <a:avLst/>
          </a:prstGeom>
          <a:solidFill>
            <a:srgbClr val="0F213A"/>
          </a:solidFill>
          <a:ln w="7620">
            <a:solidFill>
              <a:srgbClr val="0F213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25196" y="164592"/>
            <a:ext cx="1028700" cy="123444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 lnSpcReduction="10000"/>
          </a:bodyPr>
          <a:lstStyle/>
          <a:p>
            <a:r>
              <a:rPr lang="en-US" sz="825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Peoplify UI 기획서</a:t>
            </a:r>
            <a:endParaRPr lang="en-US" sz="825" dirty="0"/>
          </a:p>
        </p:txBody>
      </p:sp>
      <p:sp>
        <p:nvSpPr>
          <p:cNvPr id="4" name="Text 2"/>
          <p:cNvSpPr/>
          <p:nvPr/>
        </p:nvSpPr>
        <p:spPr>
          <a:xfrm>
            <a:off x="3051810" y="123444"/>
            <a:ext cx="3051810" cy="192024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 fontScale="92500" lnSpcReduction="20000"/>
          </a:bodyPr>
          <a:lstStyle/>
          <a:p>
            <a:pPr algn="ctr"/>
            <a:r>
              <a:rPr lang="en-US" sz="165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프로젝트 등록 화면 설계</a:t>
            </a:r>
            <a:endParaRPr lang="en-US" sz="1650" dirty="0"/>
          </a:p>
        </p:txBody>
      </p:sp>
      <p:sp>
        <p:nvSpPr>
          <p:cNvPr id="5" name="Text 3"/>
          <p:cNvSpPr/>
          <p:nvPr/>
        </p:nvSpPr>
        <p:spPr>
          <a:xfrm>
            <a:off x="6981444" y="164592"/>
            <a:ext cx="1508760" cy="96012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/>
          </a:bodyPr>
          <a:lstStyle/>
          <a:p>
            <a:pPr algn="r"/>
            <a:r>
              <a:rPr lang="en-US" sz="540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project 도메인 · /project/project-register</a:t>
            </a:r>
            <a:endParaRPr lang="en-US" sz="540" dirty="0"/>
          </a:p>
        </p:txBody>
      </p:sp>
      <p:sp>
        <p:nvSpPr>
          <p:cNvPr id="6" name="Text 4"/>
          <p:cNvSpPr/>
          <p:nvPr/>
        </p:nvSpPr>
        <p:spPr>
          <a:xfrm>
            <a:off x="8586216" y="164592"/>
            <a:ext cx="171450" cy="96012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/>
          </a:bodyPr>
          <a:lstStyle/>
          <a:p>
            <a:pPr algn="r"/>
            <a:r>
              <a:rPr lang="en-US" sz="615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04</a:t>
            </a:r>
            <a:endParaRPr lang="en-US" sz="615" dirty="0"/>
          </a:p>
        </p:txBody>
      </p:sp>
      <p:sp>
        <p:nvSpPr>
          <p:cNvPr id="7" name="Text 5"/>
          <p:cNvSpPr/>
          <p:nvPr/>
        </p:nvSpPr>
        <p:spPr>
          <a:xfrm>
            <a:off x="493776" y="665226"/>
            <a:ext cx="822960" cy="150876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/>
          </a:bodyPr>
          <a:lstStyle/>
          <a:p>
            <a:r>
              <a:rPr lang="en-US" sz="975" b="1" dirty="0">
                <a:solidFill>
                  <a:srgbClr val="0F213A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화면 설계</a:t>
            </a:r>
            <a:endParaRPr lang="en-US" sz="975" dirty="0"/>
          </a:p>
        </p:txBody>
      </p:sp>
      <p:sp>
        <p:nvSpPr>
          <p:cNvPr id="8" name="Shape 6"/>
          <p:cNvSpPr/>
          <p:nvPr/>
        </p:nvSpPr>
        <p:spPr>
          <a:xfrm>
            <a:off x="356616" y="884682"/>
            <a:ext cx="5143500" cy="3394710"/>
          </a:xfrm>
          <a:prstGeom prst="roundRect">
            <a:avLst>
              <a:gd name="adj" fmla="val 1010"/>
            </a:avLst>
          </a:prstGeom>
          <a:solidFill>
            <a:srgbClr val="FFFFFF"/>
          </a:solidFill>
          <a:ln w="8890">
            <a:solidFill>
              <a:srgbClr val="D1D9E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45770" y="1014984"/>
            <a:ext cx="4937760" cy="3188970"/>
          </a:xfrm>
          <a:prstGeom prst="rect">
            <a:avLst/>
          </a:prstGeom>
          <a:solidFill>
            <a:srgbClr val="1F1D3A"/>
          </a:solidFill>
          <a:ln w="7620">
            <a:solidFill>
              <a:srgbClr val="1F1D3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45770" y="1014984"/>
            <a:ext cx="973836" cy="3188970"/>
          </a:xfrm>
          <a:prstGeom prst="rect">
            <a:avLst/>
          </a:prstGeom>
          <a:solidFill>
            <a:srgbClr val="302E4D"/>
          </a:solidFill>
          <a:ln w="7620">
            <a:solidFill>
              <a:srgbClr val="302E4D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419606" y="1014984"/>
            <a:ext cx="3963924" cy="377190"/>
          </a:xfrm>
          <a:prstGeom prst="rect">
            <a:avLst/>
          </a:prstGeom>
          <a:solidFill>
            <a:srgbClr val="33314F"/>
          </a:solidFill>
          <a:ln w="7620">
            <a:solidFill>
              <a:srgbClr val="33314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28066" y="1110996"/>
            <a:ext cx="754380" cy="96012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/>
          </a:bodyPr>
          <a:lstStyle/>
          <a:p>
            <a:r>
              <a:rPr lang="en-US" sz="51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⚙  인력관리 시스템</a:t>
            </a:r>
            <a:endParaRPr lang="en-US" sz="510" dirty="0"/>
          </a:p>
        </p:txBody>
      </p:sp>
      <p:sp>
        <p:nvSpPr>
          <p:cNvPr id="13" name="Text 11"/>
          <p:cNvSpPr/>
          <p:nvPr/>
        </p:nvSpPr>
        <p:spPr>
          <a:xfrm>
            <a:off x="637794" y="1207008"/>
            <a:ext cx="480060" cy="61722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/>
          </a:bodyPr>
          <a:lstStyle/>
          <a:p>
            <a:r>
              <a:rPr lang="en-US" sz="353" dirty="0">
                <a:solidFill>
                  <a:srgbClr val="C8C5E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Peoplify v1.0</a:t>
            </a:r>
            <a:endParaRPr lang="en-US" sz="353" dirty="0"/>
          </a:p>
        </p:txBody>
      </p:sp>
      <p:sp>
        <p:nvSpPr>
          <p:cNvPr id="14" name="Text 12"/>
          <p:cNvSpPr/>
          <p:nvPr/>
        </p:nvSpPr>
        <p:spPr>
          <a:xfrm>
            <a:off x="534924" y="1495044"/>
            <a:ext cx="342900" cy="68580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/>
          </a:bodyPr>
          <a:lstStyle/>
          <a:p>
            <a:r>
              <a:rPr lang="en-US" sz="368" dirty="0">
                <a:solidFill>
                  <a:srgbClr val="B5B2D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메인 메뉴</a:t>
            </a:r>
            <a:endParaRPr lang="en-US" sz="368" dirty="0"/>
          </a:p>
        </p:txBody>
      </p:sp>
      <p:sp>
        <p:nvSpPr>
          <p:cNvPr id="15" name="Text 13"/>
          <p:cNvSpPr/>
          <p:nvPr/>
        </p:nvSpPr>
        <p:spPr>
          <a:xfrm>
            <a:off x="541782" y="1687068"/>
            <a:ext cx="89154" cy="82296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/>
          </a:bodyPr>
          <a:lstStyle/>
          <a:p>
            <a:pPr algn="ctr"/>
            <a:r>
              <a:rPr lang="en-US" sz="413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▦</a:t>
            </a:r>
            <a:endParaRPr lang="en-US" sz="413" dirty="0"/>
          </a:p>
        </p:txBody>
      </p:sp>
      <p:sp>
        <p:nvSpPr>
          <p:cNvPr id="16" name="Text 14"/>
          <p:cNvSpPr/>
          <p:nvPr/>
        </p:nvSpPr>
        <p:spPr>
          <a:xfrm>
            <a:off x="665226" y="1687068"/>
            <a:ext cx="562356" cy="82296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/>
          </a:bodyPr>
          <a:lstStyle/>
          <a:p>
            <a:r>
              <a:rPr lang="en-US" sz="413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대시보드</a:t>
            </a:r>
            <a:endParaRPr lang="en-US" sz="413" dirty="0"/>
          </a:p>
        </p:txBody>
      </p:sp>
      <p:sp>
        <p:nvSpPr>
          <p:cNvPr id="17" name="Text 15"/>
          <p:cNvSpPr/>
          <p:nvPr/>
        </p:nvSpPr>
        <p:spPr>
          <a:xfrm>
            <a:off x="1248156" y="1687068"/>
            <a:ext cx="54864" cy="82296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/>
          </a:bodyPr>
          <a:lstStyle/>
          <a:p>
            <a:pPr algn="ctr"/>
            <a:r>
              <a:rPr lang="en-US" sz="375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⌄</a:t>
            </a:r>
            <a:endParaRPr lang="en-US" sz="375" dirty="0"/>
          </a:p>
        </p:txBody>
      </p:sp>
      <p:sp>
        <p:nvSpPr>
          <p:cNvPr id="18" name="Text 16"/>
          <p:cNvSpPr/>
          <p:nvPr/>
        </p:nvSpPr>
        <p:spPr>
          <a:xfrm>
            <a:off x="541782" y="1933956"/>
            <a:ext cx="89154" cy="82296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/>
          </a:bodyPr>
          <a:lstStyle/>
          <a:p>
            <a:pPr algn="ctr"/>
            <a:r>
              <a:rPr lang="en-US" sz="413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♟</a:t>
            </a:r>
            <a:endParaRPr lang="en-US" sz="413" dirty="0"/>
          </a:p>
        </p:txBody>
      </p:sp>
      <p:sp>
        <p:nvSpPr>
          <p:cNvPr id="19" name="Text 17"/>
          <p:cNvSpPr/>
          <p:nvPr/>
        </p:nvSpPr>
        <p:spPr>
          <a:xfrm>
            <a:off x="665226" y="1933956"/>
            <a:ext cx="562356" cy="82296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/>
          </a:bodyPr>
          <a:lstStyle/>
          <a:p>
            <a:r>
              <a:rPr lang="en-US" sz="413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직원관리</a:t>
            </a:r>
            <a:endParaRPr lang="en-US" sz="413" dirty="0"/>
          </a:p>
        </p:txBody>
      </p:sp>
      <p:sp>
        <p:nvSpPr>
          <p:cNvPr id="20" name="Text 18"/>
          <p:cNvSpPr/>
          <p:nvPr/>
        </p:nvSpPr>
        <p:spPr>
          <a:xfrm>
            <a:off x="1248156" y="1933956"/>
            <a:ext cx="54864" cy="82296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/>
          </a:bodyPr>
          <a:lstStyle/>
          <a:p>
            <a:pPr algn="ctr"/>
            <a:r>
              <a:rPr lang="en-US" sz="375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⌄</a:t>
            </a:r>
            <a:endParaRPr lang="en-US" sz="375" dirty="0"/>
          </a:p>
        </p:txBody>
      </p:sp>
      <p:sp>
        <p:nvSpPr>
          <p:cNvPr id="21" name="Shape 19"/>
          <p:cNvSpPr/>
          <p:nvPr/>
        </p:nvSpPr>
        <p:spPr>
          <a:xfrm>
            <a:off x="507492" y="2170557"/>
            <a:ext cx="857250" cy="164592"/>
          </a:xfrm>
          <a:prstGeom prst="roundRect">
            <a:avLst>
              <a:gd name="adj" fmla="val 16667"/>
            </a:avLst>
          </a:prstGeom>
          <a:solidFill>
            <a:srgbClr val="3C395D"/>
          </a:solidFill>
          <a:ln w="8890">
            <a:solidFill>
              <a:srgbClr val="3C395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41782" y="2180844"/>
            <a:ext cx="89154" cy="82296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/>
          </a:bodyPr>
          <a:lstStyle/>
          <a:p>
            <a:pPr algn="ctr"/>
            <a:r>
              <a:rPr lang="en-US" sz="413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□</a:t>
            </a:r>
            <a:endParaRPr lang="en-US" sz="413" dirty="0"/>
          </a:p>
        </p:txBody>
      </p:sp>
      <p:sp>
        <p:nvSpPr>
          <p:cNvPr id="23" name="Text 21"/>
          <p:cNvSpPr/>
          <p:nvPr/>
        </p:nvSpPr>
        <p:spPr>
          <a:xfrm>
            <a:off x="665226" y="2180844"/>
            <a:ext cx="562356" cy="82296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/>
          </a:bodyPr>
          <a:lstStyle/>
          <a:p>
            <a:r>
              <a:rPr lang="en-US" sz="413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프로젝트</a:t>
            </a:r>
            <a:endParaRPr lang="en-US" sz="413" dirty="0"/>
          </a:p>
        </p:txBody>
      </p:sp>
      <p:sp>
        <p:nvSpPr>
          <p:cNvPr id="24" name="Text 22"/>
          <p:cNvSpPr/>
          <p:nvPr/>
        </p:nvSpPr>
        <p:spPr>
          <a:xfrm>
            <a:off x="1248156" y="2180844"/>
            <a:ext cx="54864" cy="82296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/>
          </a:bodyPr>
          <a:lstStyle/>
          <a:p>
            <a:pPr algn="ctr"/>
            <a:r>
              <a:rPr lang="en-US" sz="375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⌄</a:t>
            </a:r>
            <a:endParaRPr lang="en-US" sz="375" dirty="0"/>
          </a:p>
        </p:txBody>
      </p:sp>
      <p:sp>
        <p:nvSpPr>
          <p:cNvPr id="25" name="Text 23"/>
          <p:cNvSpPr/>
          <p:nvPr/>
        </p:nvSpPr>
        <p:spPr>
          <a:xfrm>
            <a:off x="541782" y="2434590"/>
            <a:ext cx="89154" cy="82296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/>
          </a:bodyPr>
          <a:lstStyle/>
          <a:p>
            <a:pPr algn="ctr"/>
            <a:r>
              <a:rPr lang="en-US" sz="413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⊕</a:t>
            </a:r>
            <a:endParaRPr lang="en-US" sz="413" dirty="0"/>
          </a:p>
        </p:txBody>
      </p:sp>
      <p:sp>
        <p:nvSpPr>
          <p:cNvPr id="26" name="Text 24"/>
          <p:cNvSpPr/>
          <p:nvPr/>
        </p:nvSpPr>
        <p:spPr>
          <a:xfrm>
            <a:off x="665226" y="2434590"/>
            <a:ext cx="562356" cy="82296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/>
          </a:bodyPr>
          <a:lstStyle/>
          <a:p>
            <a:r>
              <a:rPr lang="en-US" sz="413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근태관리</a:t>
            </a:r>
            <a:endParaRPr lang="en-US" sz="413" dirty="0"/>
          </a:p>
        </p:txBody>
      </p:sp>
      <p:sp>
        <p:nvSpPr>
          <p:cNvPr id="27" name="Text 25"/>
          <p:cNvSpPr/>
          <p:nvPr/>
        </p:nvSpPr>
        <p:spPr>
          <a:xfrm>
            <a:off x="1248156" y="2434590"/>
            <a:ext cx="54864" cy="82296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/>
          </a:bodyPr>
          <a:lstStyle/>
          <a:p>
            <a:pPr algn="ctr"/>
            <a:r>
              <a:rPr lang="en-US" sz="375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⌄</a:t>
            </a:r>
            <a:endParaRPr lang="en-US" sz="375" dirty="0"/>
          </a:p>
        </p:txBody>
      </p:sp>
      <p:sp>
        <p:nvSpPr>
          <p:cNvPr id="28" name="Text 26"/>
          <p:cNvSpPr/>
          <p:nvPr/>
        </p:nvSpPr>
        <p:spPr>
          <a:xfrm>
            <a:off x="541782" y="2681478"/>
            <a:ext cx="89154" cy="82296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/>
          </a:bodyPr>
          <a:lstStyle/>
          <a:p>
            <a:pPr algn="ctr"/>
            <a:r>
              <a:rPr lang="en-US" sz="413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▥</a:t>
            </a:r>
            <a:endParaRPr lang="en-US" sz="413" dirty="0"/>
          </a:p>
        </p:txBody>
      </p:sp>
      <p:sp>
        <p:nvSpPr>
          <p:cNvPr id="29" name="Text 27"/>
          <p:cNvSpPr/>
          <p:nvPr/>
        </p:nvSpPr>
        <p:spPr>
          <a:xfrm>
            <a:off x="665226" y="2681478"/>
            <a:ext cx="562356" cy="82296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/>
          </a:bodyPr>
          <a:lstStyle/>
          <a:p>
            <a:r>
              <a:rPr lang="en-US" sz="413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리포트</a:t>
            </a:r>
            <a:endParaRPr lang="en-US" sz="413" dirty="0"/>
          </a:p>
        </p:txBody>
      </p:sp>
      <p:sp>
        <p:nvSpPr>
          <p:cNvPr id="30" name="Text 28"/>
          <p:cNvSpPr/>
          <p:nvPr/>
        </p:nvSpPr>
        <p:spPr>
          <a:xfrm>
            <a:off x="1248156" y="2681478"/>
            <a:ext cx="54864" cy="82296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/>
          </a:bodyPr>
          <a:lstStyle/>
          <a:p>
            <a:pPr algn="ctr"/>
            <a:r>
              <a:rPr lang="en-US" sz="375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⌄</a:t>
            </a:r>
            <a:endParaRPr lang="en-US" sz="375" dirty="0"/>
          </a:p>
        </p:txBody>
      </p:sp>
      <p:sp>
        <p:nvSpPr>
          <p:cNvPr id="31" name="Text 29"/>
          <p:cNvSpPr/>
          <p:nvPr/>
        </p:nvSpPr>
        <p:spPr>
          <a:xfrm>
            <a:off x="534924" y="2935224"/>
            <a:ext cx="514350" cy="68580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/>
          </a:bodyPr>
          <a:lstStyle/>
          <a:p>
            <a:r>
              <a:rPr lang="en-US" sz="345" dirty="0">
                <a:solidFill>
                  <a:srgbClr val="8E8BAE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퍼플리싱(임시)</a:t>
            </a:r>
            <a:endParaRPr lang="en-US" sz="345" dirty="0"/>
          </a:p>
        </p:txBody>
      </p:sp>
      <p:sp>
        <p:nvSpPr>
          <p:cNvPr id="32" name="Text 30"/>
          <p:cNvSpPr/>
          <p:nvPr/>
        </p:nvSpPr>
        <p:spPr>
          <a:xfrm>
            <a:off x="541782" y="3127248"/>
            <a:ext cx="89154" cy="82296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/>
          </a:bodyPr>
          <a:lstStyle/>
          <a:p>
            <a:pPr algn="ctr"/>
            <a:r>
              <a:rPr lang="en-US" sz="413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▦</a:t>
            </a:r>
            <a:endParaRPr lang="en-US" sz="413" dirty="0"/>
          </a:p>
        </p:txBody>
      </p:sp>
      <p:sp>
        <p:nvSpPr>
          <p:cNvPr id="33" name="Text 31"/>
          <p:cNvSpPr/>
          <p:nvPr/>
        </p:nvSpPr>
        <p:spPr>
          <a:xfrm>
            <a:off x="665226" y="3127248"/>
            <a:ext cx="562356" cy="82296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/>
          </a:bodyPr>
          <a:lstStyle/>
          <a:p>
            <a:r>
              <a:rPr lang="en-US" sz="413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대시보드</a:t>
            </a:r>
            <a:endParaRPr lang="en-US" sz="413" dirty="0"/>
          </a:p>
        </p:txBody>
      </p:sp>
      <p:sp>
        <p:nvSpPr>
          <p:cNvPr id="34" name="Text 32"/>
          <p:cNvSpPr/>
          <p:nvPr/>
        </p:nvSpPr>
        <p:spPr>
          <a:xfrm>
            <a:off x="1248156" y="3127248"/>
            <a:ext cx="54864" cy="82296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/>
          </a:bodyPr>
          <a:lstStyle/>
          <a:p>
            <a:pPr algn="ctr"/>
            <a:r>
              <a:rPr lang="en-US" sz="375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⌄</a:t>
            </a:r>
            <a:endParaRPr lang="en-US" sz="375" dirty="0"/>
          </a:p>
        </p:txBody>
      </p:sp>
      <p:sp>
        <p:nvSpPr>
          <p:cNvPr id="35" name="Text 33"/>
          <p:cNvSpPr/>
          <p:nvPr/>
        </p:nvSpPr>
        <p:spPr>
          <a:xfrm>
            <a:off x="541782" y="3374136"/>
            <a:ext cx="89154" cy="82296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/>
          </a:bodyPr>
          <a:lstStyle/>
          <a:p>
            <a:pPr algn="ctr"/>
            <a:r>
              <a:rPr lang="en-US" sz="413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□</a:t>
            </a:r>
            <a:endParaRPr lang="en-US" sz="413" dirty="0"/>
          </a:p>
        </p:txBody>
      </p:sp>
      <p:sp>
        <p:nvSpPr>
          <p:cNvPr id="36" name="Text 34"/>
          <p:cNvSpPr/>
          <p:nvPr/>
        </p:nvSpPr>
        <p:spPr>
          <a:xfrm>
            <a:off x="665226" y="3374136"/>
            <a:ext cx="562356" cy="82296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/>
          </a:bodyPr>
          <a:lstStyle/>
          <a:p>
            <a:r>
              <a:rPr lang="en-US" sz="413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프로젝트</a:t>
            </a:r>
            <a:endParaRPr lang="en-US" sz="413" dirty="0"/>
          </a:p>
        </p:txBody>
      </p:sp>
      <p:sp>
        <p:nvSpPr>
          <p:cNvPr id="37" name="Text 35"/>
          <p:cNvSpPr/>
          <p:nvPr/>
        </p:nvSpPr>
        <p:spPr>
          <a:xfrm>
            <a:off x="1248156" y="3374136"/>
            <a:ext cx="54864" cy="82296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/>
          </a:bodyPr>
          <a:lstStyle/>
          <a:p>
            <a:pPr algn="ctr"/>
            <a:r>
              <a:rPr lang="en-US" sz="375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⌄</a:t>
            </a:r>
            <a:endParaRPr lang="en-US" sz="375" dirty="0"/>
          </a:p>
        </p:txBody>
      </p:sp>
      <p:sp>
        <p:nvSpPr>
          <p:cNvPr id="38" name="Text 36"/>
          <p:cNvSpPr/>
          <p:nvPr/>
        </p:nvSpPr>
        <p:spPr>
          <a:xfrm>
            <a:off x="534924" y="3675888"/>
            <a:ext cx="480060" cy="82296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/>
          </a:bodyPr>
          <a:lstStyle/>
          <a:p>
            <a:r>
              <a:rPr lang="en-US" sz="398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↪  로그인</a:t>
            </a:r>
            <a:endParaRPr lang="en-US" sz="398" dirty="0"/>
          </a:p>
        </p:txBody>
      </p:sp>
      <p:sp>
        <p:nvSpPr>
          <p:cNvPr id="39" name="Shape 37"/>
          <p:cNvSpPr/>
          <p:nvPr/>
        </p:nvSpPr>
        <p:spPr>
          <a:xfrm>
            <a:off x="1508760" y="1097280"/>
            <a:ext cx="171450" cy="192024"/>
          </a:xfrm>
          <a:prstGeom prst="roundRect">
            <a:avLst>
              <a:gd name="adj" fmla="val 14000"/>
            </a:avLst>
          </a:prstGeom>
          <a:solidFill>
            <a:srgbClr val="2C2A49"/>
          </a:solidFill>
          <a:ln w="8890">
            <a:solidFill>
              <a:srgbClr val="5D5A82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543050" y="1145286"/>
            <a:ext cx="82296" cy="54864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 fontScale="92500" lnSpcReduction="20000"/>
          </a:bodyPr>
          <a:lstStyle/>
          <a:p>
            <a:pPr algn="ctr"/>
            <a:r>
              <a:rPr lang="en-US" sz="435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☰</a:t>
            </a:r>
            <a:endParaRPr lang="en-US" sz="435" dirty="0"/>
          </a:p>
        </p:txBody>
      </p:sp>
      <p:sp>
        <p:nvSpPr>
          <p:cNvPr id="41" name="Shape 39"/>
          <p:cNvSpPr/>
          <p:nvPr/>
        </p:nvSpPr>
        <p:spPr>
          <a:xfrm>
            <a:off x="1762506" y="1097280"/>
            <a:ext cx="1885950" cy="192024"/>
          </a:xfrm>
          <a:prstGeom prst="roundRect">
            <a:avLst>
              <a:gd name="adj" fmla="val 12500"/>
            </a:avLst>
          </a:prstGeom>
          <a:solidFill>
            <a:srgbClr val="2C2A49"/>
          </a:solidFill>
          <a:ln w="8890">
            <a:solidFill>
              <a:srgbClr val="5D5A82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831086" y="1145286"/>
            <a:ext cx="1097280" cy="54864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 lnSpcReduction="10000"/>
          </a:bodyPr>
          <a:lstStyle/>
          <a:p>
            <a:r>
              <a:rPr lang="en-US" sz="383" dirty="0">
                <a:solidFill>
                  <a:srgbClr val="C7C5DD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⌕  Search or type command...</a:t>
            </a:r>
            <a:endParaRPr lang="en-US" sz="383" dirty="0"/>
          </a:p>
        </p:txBody>
      </p:sp>
      <p:sp>
        <p:nvSpPr>
          <p:cNvPr id="43" name="Text 41"/>
          <p:cNvSpPr/>
          <p:nvPr/>
        </p:nvSpPr>
        <p:spPr>
          <a:xfrm>
            <a:off x="4594860" y="1145286"/>
            <a:ext cx="123444" cy="54864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 lnSpcReduction="10000"/>
          </a:bodyPr>
          <a:lstStyle/>
          <a:p>
            <a:pPr algn="ctr"/>
            <a:r>
              <a:rPr lang="en-US" sz="360" dirty="0">
                <a:solidFill>
                  <a:srgbClr val="B8B5D8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⌘K</a:t>
            </a:r>
            <a:endParaRPr lang="en-US" sz="360" dirty="0"/>
          </a:p>
        </p:txBody>
      </p:sp>
      <p:sp>
        <p:nvSpPr>
          <p:cNvPr id="44" name="Text 42"/>
          <p:cNvSpPr/>
          <p:nvPr/>
        </p:nvSpPr>
        <p:spPr>
          <a:xfrm>
            <a:off x="4807458" y="1138428"/>
            <a:ext cx="89154" cy="61722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 fontScale="92500"/>
          </a:bodyPr>
          <a:lstStyle/>
          <a:p>
            <a:pPr algn="ctr"/>
            <a:r>
              <a:rPr lang="en-US" sz="450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☼</a:t>
            </a:r>
            <a:endParaRPr lang="en-US" sz="450" dirty="0"/>
          </a:p>
        </p:txBody>
      </p:sp>
      <p:sp>
        <p:nvSpPr>
          <p:cNvPr id="45" name="Shape 43"/>
          <p:cNvSpPr/>
          <p:nvPr/>
        </p:nvSpPr>
        <p:spPr>
          <a:xfrm>
            <a:off x="4958334" y="1097280"/>
            <a:ext cx="363474" cy="192024"/>
          </a:xfrm>
          <a:prstGeom prst="roundRect">
            <a:avLst>
              <a:gd name="adj" fmla="val 21429"/>
            </a:avLst>
          </a:prstGeom>
          <a:solidFill>
            <a:srgbClr val="24223F"/>
          </a:solidFill>
          <a:ln w="8890">
            <a:solidFill>
              <a:srgbClr val="24223F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978908" y="1138428"/>
            <a:ext cx="315468" cy="61722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/>
          </a:bodyPr>
          <a:lstStyle/>
          <a:p>
            <a:pPr algn="ctr"/>
            <a:r>
              <a:rPr lang="en-US" sz="39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GitHub ↗</a:t>
            </a:r>
            <a:endParaRPr lang="en-US" sz="390" dirty="0"/>
          </a:p>
        </p:txBody>
      </p:sp>
      <p:sp>
        <p:nvSpPr>
          <p:cNvPr id="48" name="Text 46"/>
          <p:cNvSpPr/>
          <p:nvPr/>
        </p:nvSpPr>
        <p:spPr>
          <a:xfrm>
            <a:off x="5314950" y="1138428"/>
            <a:ext cx="41148" cy="34290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 fontScale="77500" lnSpcReduction="20000"/>
          </a:bodyPr>
          <a:lstStyle/>
          <a:p>
            <a:pPr algn="ctr"/>
            <a:r>
              <a:rPr lang="en-US" sz="315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●</a:t>
            </a:r>
            <a:endParaRPr lang="en-US" sz="315" dirty="0"/>
          </a:p>
        </p:txBody>
      </p:sp>
      <p:sp>
        <p:nvSpPr>
          <p:cNvPr id="49" name="Text 47"/>
          <p:cNvSpPr/>
          <p:nvPr/>
        </p:nvSpPr>
        <p:spPr>
          <a:xfrm>
            <a:off x="1556766" y="1438870"/>
            <a:ext cx="891540" cy="82296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/>
          </a:bodyPr>
          <a:lstStyle/>
          <a:p>
            <a:r>
              <a:rPr lang="en-US" sz="390" dirty="0">
                <a:solidFill>
                  <a:srgbClr val="B8B5ED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프로젝트  ›  프로젝트 등록</a:t>
            </a:r>
            <a:endParaRPr lang="en-US" sz="390" dirty="0"/>
          </a:p>
        </p:txBody>
      </p:sp>
      <p:sp>
        <p:nvSpPr>
          <p:cNvPr id="50" name="Text 48"/>
          <p:cNvSpPr/>
          <p:nvPr/>
        </p:nvSpPr>
        <p:spPr>
          <a:xfrm>
            <a:off x="1556766" y="1548598"/>
            <a:ext cx="1097280" cy="123444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 lnSpcReduction="10000"/>
          </a:bodyPr>
          <a:lstStyle/>
          <a:p>
            <a:r>
              <a:rPr lang="en-US" sz="863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프로젝트 등록</a:t>
            </a:r>
            <a:endParaRPr lang="en-US" sz="863" dirty="0"/>
          </a:p>
        </p:txBody>
      </p:sp>
      <p:sp>
        <p:nvSpPr>
          <p:cNvPr id="51" name="Shape 49"/>
          <p:cNvSpPr/>
          <p:nvPr/>
        </p:nvSpPr>
        <p:spPr>
          <a:xfrm>
            <a:off x="4608576" y="1528024"/>
            <a:ext cx="288036" cy="144018"/>
          </a:xfrm>
          <a:prstGeom prst="roundRect">
            <a:avLst>
              <a:gd name="adj" fmla="val 16667"/>
            </a:avLst>
          </a:prstGeom>
          <a:solidFill>
            <a:srgbClr val="2C2A49"/>
          </a:solidFill>
          <a:ln w="8890">
            <a:solidFill>
              <a:srgbClr val="5D5A82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649724" y="1569172"/>
            <a:ext cx="198882" cy="48006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 fontScale="92500"/>
          </a:bodyPr>
          <a:lstStyle/>
          <a:p>
            <a:pPr algn="ctr"/>
            <a:r>
              <a:rPr lang="en-US" sz="360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×  취소</a:t>
            </a:r>
            <a:endParaRPr lang="en-US" sz="360" dirty="0"/>
          </a:p>
        </p:txBody>
      </p:sp>
      <p:sp>
        <p:nvSpPr>
          <p:cNvPr id="53" name="Shape 51"/>
          <p:cNvSpPr/>
          <p:nvPr/>
        </p:nvSpPr>
        <p:spPr>
          <a:xfrm>
            <a:off x="4937760" y="1528024"/>
            <a:ext cx="288036" cy="144018"/>
          </a:xfrm>
          <a:prstGeom prst="roundRect">
            <a:avLst>
              <a:gd name="adj" fmla="val 16667"/>
            </a:avLst>
          </a:prstGeom>
          <a:solidFill>
            <a:srgbClr val="6F5AE8"/>
          </a:solidFill>
          <a:ln w="8890">
            <a:solidFill>
              <a:srgbClr val="6F5AE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965192" y="1569172"/>
            <a:ext cx="233172" cy="48006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 fontScale="92500"/>
          </a:bodyPr>
          <a:lstStyle/>
          <a:p>
            <a:pPr algn="ctr"/>
            <a:r>
              <a:rPr lang="en-US" sz="36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▣  등록</a:t>
            </a:r>
            <a:endParaRPr lang="en-US" sz="360" dirty="0"/>
          </a:p>
        </p:txBody>
      </p:sp>
      <p:sp>
        <p:nvSpPr>
          <p:cNvPr id="55" name="Shape 53"/>
          <p:cNvSpPr/>
          <p:nvPr/>
        </p:nvSpPr>
        <p:spPr>
          <a:xfrm>
            <a:off x="4533138" y="1433322"/>
            <a:ext cx="109728" cy="109728"/>
          </a:xfrm>
          <a:prstGeom prst="ellipse">
            <a:avLst/>
          </a:prstGeom>
          <a:solidFill>
            <a:srgbClr val="FFFFFF">
              <a:alpha val="0"/>
            </a:srgbClr>
          </a:solidFill>
          <a:ln w="20320">
            <a:solidFill>
              <a:srgbClr val="FF0000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539996" y="1437724"/>
            <a:ext cx="109728" cy="109728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/>
          </a:bodyPr>
          <a:lstStyle/>
          <a:p>
            <a:pPr algn="ctr"/>
            <a:r>
              <a:rPr lang="en-US" sz="525" b="1" dirty="0">
                <a:solidFill>
                  <a:srgbClr val="FF000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5</a:t>
            </a:r>
            <a:endParaRPr lang="en-US" sz="525" dirty="0"/>
          </a:p>
        </p:txBody>
      </p:sp>
      <p:sp>
        <p:nvSpPr>
          <p:cNvPr id="57" name="Shape 55"/>
          <p:cNvSpPr/>
          <p:nvPr/>
        </p:nvSpPr>
        <p:spPr>
          <a:xfrm>
            <a:off x="1556766" y="1781770"/>
            <a:ext cx="3689604" cy="1392174"/>
          </a:xfrm>
          <a:prstGeom prst="roundRect">
            <a:avLst>
              <a:gd name="adj" fmla="val 2632"/>
            </a:avLst>
          </a:prstGeom>
          <a:solidFill>
            <a:srgbClr val="33304F"/>
          </a:solidFill>
          <a:ln w="8890">
            <a:solidFill>
              <a:srgbClr val="5D5A82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1639062" y="1850350"/>
            <a:ext cx="54864" cy="54864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 fontScale="85000" lnSpcReduction="20000"/>
          </a:bodyPr>
          <a:lstStyle/>
          <a:p>
            <a:pPr algn="ctr"/>
            <a:r>
              <a:rPr lang="en-US" sz="450" dirty="0">
                <a:solidFill>
                  <a:srgbClr val="7E6CF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●</a:t>
            </a:r>
            <a:endParaRPr lang="en-US" sz="450" dirty="0"/>
          </a:p>
        </p:txBody>
      </p:sp>
      <p:sp>
        <p:nvSpPr>
          <p:cNvPr id="59" name="Text 57"/>
          <p:cNvSpPr/>
          <p:nvPr/>
        </p:nvSpPr>
        <p:spPr>
          <a:xfrm>
            <a:off x="1645920" y="1850350"/>
            <a:ext cx="41148" cy="54864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/>
          </a:bodyPr>
          <a:lstStyle/>
          <a:p>
            <a:pPr algn="ctr"/>
            <a:r>
              <a:rPr lang="en-US" sz="345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</a:t>
            </a:r>
            <a:endParaRPr lang="en-US" sz="345" dirty="0"/>
          </a:p>
        </p:txBody>
      </p:sp>
      <p:sp>
        <p:nvSpPr>
          <p:cNvPr id="60" name="Text 58"/>
          <p:cNvSpPr/>
          <p:nvPr/>
        </p:nvSpPr>
        <p:spPr>
          <a:xfrm>
            <a:off x="1741932" y="1843492"/>
            <a:ext cx="480060" cy="82296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/>
          </a:bodyPr>
          <a:lstStyle/>
          <a:p>
            <a:r>
              <a:rPr lang="en-US" sz="465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기본정보</a:t>
            </a:r>
            <a:endParaRPr lang="en-US" sz="465" dirty="0"/>
          </a:p>
        </p:txBody>
      </p:sp>
      <p:sp>
        <p:nvSpPr>
          <p:cNvPr id="61" name="Shape 59"/>
          <p:cNvSpPr/>
          <p:nvPr/>
        </p:nvSpPr>
        <p:spPr>
          <a:xfrm>
            <a:off x="1584198" y="1836634"/>
            <a:ext cx="109728" cy="109728"/>
          </a:xfrm>
          <a:prstGeom prst="ellipse">
            <a:avLst/>
          </a:prstGeom>
          <a:solidFill>
            <a:srgbClr val="FFFFFF">
              <a:alpha val="0"/>
            </a:srgbClr>
          </a:solidFill>
          <a:ln w="20320">
            <a:solidFill>
              <a:srgbClr val="FF0000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1584198" y="1833205"/>
            <a:ext cx="109728" cy="109728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/>
          </a:bodyPr>
          <a:lstStyle/>
          <a:p>
            <a:pPr algn="ctr"/>
            <a:r>
              <a:rPr lang="en-US" sz="525" b="1" dirty="0">
                <a:solidFill>
                  <a:srgbClr val="FF000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</a:t>
            </a:r>
            <a:endParaRPr lang="en-US" sz="525" dirty="0"/>
          </a:p>
        </p:txBody>
      </p:sp>
      <p:sp>
        <p:nvSpPr>
          <p:cNvPr id="63" name="Text 61"/>
          <p:cNvSpPr/>
          <p:nvPr/>
        </p:nvSpPr>
        <p:spPr>
          <a:xfrm>
            <a:off x="1666494" y="2014942"/>
            <a:ext cx="905256" cy="89154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/>
          </a:bodyPr>
          <a:lstStyle/>
          <a:p>
            <a:r>
              <a:rPr lang="en-US" sz="428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프로젝트명 *</a:t>
            </a:r>
            <a:endParaRPr lang="en-US" sz="428" dirty="0"/>
          </a:p>
        </p:txBody>
      </p:sp>
      <p:sp>
        <p:nvSpPr>
          <p:cNvPr id="64" name="Shape 62"/>
          <p:cNvSpPr/>
          <p:nvPr/>
        </p:nvSpPr>
        <p:spPr>
          <a:xfrm>
            <a:off x="1666494" y="2131528"/>
            <a:ext cx="905256" cy="150876"/>
          </a:xfrm>
          <a:prstGeom prst="roundRect">
            <a:avLst>
              <a:gd name="adj" fmla="val 11364"/>
            </a:avLst>
          </a:prstGeom>
          <a:solidFill>
            <a:srgbClr val="2C2A49"/>
          </a:solidFill>
          <a:ln w="8890">
            <a:solidFill>
              <a:srgbClr val="5D5A82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1707642" y="2152102"/>
            <a:ext cx="836676" cy="82296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/>
          </a:bodyPr>
          <a:lstStyle/>
          <a:p>
            <a:r>
              <a:rPr lang="en-US" sz="405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프로젝트명을 입력하세요</a:t>
            </a:r>
            <a:endParaRPr lang="en-US" sz="405" dirty="0"/>
          </a:p>
        </p:txBody>
      </p:sp>
      <p:sp>
        <p:nvSpPr>
          <p:cNvPr id="66" name="Text 64"/>
          <p:cNvSpPr/>
          <p:nvPr/>
        </p:nvSpPr>
        <p:spPr>
          <a:xfrm>
            <a:off x="2667762" y="2014942"/>
            <a:ext cx="905256" cy="89154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/>
          </a:bodyPr>
          <a:lstStyle/>
          <a:p>
            <a:r>
              <a:rPr lang="en-US" sz="428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고객사 *</a:t>
            </a:r>
            <a:endParaRPr lang="en-US" sz="428" dirty="0"/>
          </a:p>
        </p:txBody>
      </p:sp>
      <p:sp>
        <p:nvSpPr>
          <p:cNvPr id="67" name="Shape 65"/>
          <p:cNvSpPr/>
          <p:nvPr/>
        </p:nvSpPr>
        <p:spPr>
          <a:xfrm>
            <a:off x="2667762" y="2131528"/>
            <a:ext cx="905256" cy="150876"/>
          </a:xfrm>
          <a:prstGeom prst="roundRect">
            <a:avLst>
              <a:gd name="adj" fmla="val 11364"/>
            </a:avLst>
          </a:prstGeom>
          <a:solidFill>
            <a:srgbClr val="2C2A49"/>
          </a:solidFill>
          <a:ln w="8890">
            <a:solidFill>
              <a:srgbClr val="5D5A82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2708910" y="2152102"/>
            <a:ext cx="836676" cy="82296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/>
          </a:bodyPr>
          <a:lstStyle/>
          <a:p>
            <a:r>
              <a:rPr lang="en-US" sz="405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고객사를 입력하세요</a:t>
            </a:r>
            <a:endParaRPr lang="en-US" sz="405" dirty="0"/>
          </a:p>
        </p:txBody>
      </p:sp>
      <p:sp>
        <p:nvSpPr>
          <p:cNvPr id="69" name="Text 67"/>
          <p:cNvSpPr/>
          <p:nvPr/>
        </p:nvSpPr>
        <p:spPr>
          <a:xfrm>
            <a:off x="3669030" y="2014942"/>
            <a:ext cx="781812" cy="89154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/>
          </a:bodyPr>
          <a:lstStyle/>
          <a:p>
            <a:r>
              <a:rPr lang="en-US" sz="428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시작일 *</a:t>
            </a:r>
            <a:endParaRPr lang="en-US" sz="428" dirty="0"/>
          </a:p>
        </p:txBody>
      </p:sp>
      <p:sp>
        <p:nvSpPr>
          <p:cNvPr id="70" name="Shape 68"/>
          <p:cNvSpPr/>
          <p:nvPr/>
        </p:nvSpPr>
        <p:spPr>
          <a:xfrm>
            <a:off x="3669030" y="2131528"/>
            <a:ext cx="781812" cy="150876"/>
          </a:xfrm>
          <a:prstGeom prst="roundRect">
            <a:avLst>
              <a:gd name="adj" fmla="val 11364"/>
            </a:avLst>
          </a:prstGeom>
          <a:solidFill>
            <a:srgbClr val="2C2A49"/>
          </a:solidFill>
          <a:ln w="8890">
            <a:solidFill>
              <a:srgbClr val="5D5A82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3710178" y="2152102"/>
            <a:ext cx="713232" cy="82296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/>
          </a:bodyPr>
          <a:lstStyle/>
          <a:p>
            <a:r>
              <a:rPr lang="en-US" sz="405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날짜 선택</a:t>
            </a:r>
            <a:endParaRPr lang="en-US" sz="405" dirty="0"/>
          </a:p>
        </p:txBody>
      </p:sp>
      <p:sp>
        <p:nvSpPr>
          <p:cNvPr id="72" name="Text 70"/>
          <p:cNvSpPr/>
          <p:nvPr/>
        </p:nvSpPr>
        <p:spPr>
          <a:xfrm>
            <a:off x="4560570" y="2014942"/>
            <a:ext cx="576072" cy="89154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/>
          </a:bodyPr>
          <a:lstStyle/>
          <a:p>
            <a:r>
              <a:rPr lang="en-US" sz="428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종료일 *</a:t>
            </a:r>
            <a:endParaRPr lang="en-US" sz="428" dirty="0"/>
          </a:p>
        </p:txBody>
      </p:sp>
      <p:sp>
        <p:nvSpPr>
          <p:cNvPr id="73" name="Shape 71"/>
          <p:cNvSpPr/>
          <p:nvPr/>
        </p:nvSpPr>
        <p:spPr>
          <a:xfrm>
            <a:off x="4560570" y="2131528"/>
            <a:ext cx="576072" cy="150876"/>
          </a:xfrm>
          <a:prstGeom prst="roundRect">
            <a:avLst>
              <a:gd name="adj" fmla="val 11364"/>
            </a:avLst>
          </a:prstGeom>
          <a:solidFill>
            <a:srgbClr val="2C2A49"/>
          </a:solidFill>
          <a:ln w="8890">
            <a:solidFill>
              <a:srgbClr val="5D5A82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4601718" y="2152102"/>
            <a:ext cx="507492" cy="82296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/>
          </a:bodyPr>
          <a:lstStyle/>
          <a:p>
            <a:r>
              <a:rPr lang="en-US" sz="405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날짜 선택</a:t>
            </a:r>
            <a:endParaRPr lang="en-US" sz="405" dirty="0"/>
          </a:p>
        </p:txBody>
      </p:sp>
      <p:sp>
        <p:nvSpPr>
          <p:cNvPr id="75" name="Shape 73"/>
          <p:cNvSpPr/>
          <p:nvPr/>
        </p:nvSpPr>
        <p:spPr>
          <a:xfrm>
            <a:off x="4512564" y="1987510"/>
            <a:ext cx="109728" cy="109728"/>
          </a:xfrm>
          <a:prstGeom prst="ellipse">
            <a:avLst/>
          </a:prstGeom>
          <a:solidFill>
            <a:srgbClr val="FFFFFF">
              <a:alpha val="0"/>
            </a:srgbClr>
          </a:solidFill>
          <a:ln w="20320">
            <a:solidFill>
              <a:srgbClr val="FF0000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4512564" y="1984081"/>
            <a:ext cx="109728" cy="109728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/>
          </a:bodyPr>
          <a:lstStyle/>
          <a:p>
            <a:pPr algn="ctr"/>
            <a:r>
              <a:rPr lang="en-US" sz="525" b="1" dirty="0">
                <a:solidFill>
                  <a:srgbClr val="FF000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3</a:t>
            </a:r>
            <a:endParaRPr lang="en-US" sz="525" dirty="0"/>
          </a:p>
        </p:txBody>
      </p:sp>
      <p:sp>
        <p:nvSpPr>
          <p:cNvPr id="77" name="Text 75"/>
          <p:cNvSpPr/>
          <p:nvPr/>
        </p:nvSpPr>
        <p:spPr>
          <a:xfrm>
            <a:off x="1666494" y="2371558"/>
            <a:ext cx="905256" cy="89154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/>
          </a:bodyPr>
          <a:lstStyle/>
          <a:p>
            <a:r>
              <a:rPr lang="en-US" sz="428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상태 *</a:t>
            </a:r>
            <a:endParaRPr lang="en-US" sz="428" dirty="0"/>
          </a:p>
        </p:txBody>
      </p:sp>
      <p:sp>
        <p:nvSpPr>
          <p:cNvPr id="78" name="Shape 76"/>
          <p:cNvSpPr/>
          <p:nvPr/>
        </p:nvSpPr>
        <p:spPr>
          <a:xfrm>
            <a:off x="1666494" y="2488144"/>
            <a:ext cx="905256" cy="150876"/>
          </a:xfrm>
          <a:prstGeom prst="roundRect">
            <a:avLst>
              <a:gd name="adj" fmla="val 11364"/>
            </a:avLst>
          </a:prstGeom>
          <a:solidFill>
            <a:srgbClr val="2C2A49"/>
          </a:solidFill>
          <a:ln w="8890">
            <a:solidFill>
              <a:srgbClr val="5D5A82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1707642" y="2508718"/>
            <a:ext cx="836676" cy="82296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/>
          </a:bodyPr>
          <a:lstStyle/>
          <a:p>
            <a:r>
              <a:rPr lang="en-US" sz="405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예정</a:t>
            </a:r>
            <a:endParaRPr lang="en-US" sz="405" dirty="0"/>
          </a:p>
        </p:txBody>
      </p:sp>
      <p:sp>
        <p:nvSpPr>
          <p:cNvPr id="80" name="Text 78"/>
          <p:cNvSpPr/>
          <p:nvPr/>
        </p:nvSpPr>
        <p:spPr>
          <a:xfrm>
            <a:off x="2667762" y="2371558"/>
            <a:ext cx="905256" cy="89154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/>
          </a:bodyPr>
          <a:lstStyle/>
          <a:p>
            <a:r>
              <a:rPr lang="en-US" sz="428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진척도</a:t>
            </a:r>
            <a:endParaRPr lang="en-US" sz="428" dirty="0"/>
          </a:p>
        </p:txBody>
      </p:sp>
      <p:sp>
        <p:nvSpPr>
          <p:cNvPr id="81" name="Shape 79"/>
          <p:cNvSpPr/>
          <p:nvPr/>
        </p:nvSpPr>
        <p:spPr>
          <a:xfrm>
            <a:off x="2667762" y="2488144"/>
            <a:ext cx="905256" cy="150876"/>
          </a:xfrm>
          <a:prstGeom prst="roundRect">
            <a:avLst>
              <a:gd name="adj" fmla="val 11364"/>
            </a:avLst>
          </a:prstGeom>
          <a:solidFill>
            <a:srgbClr val="2C2A49"/>
          </a:solidFill>
          <a:ln w="8890">
            <a:solidFill>
              <a:srgbClr val="5D5A82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2708910" y="2508718"/>
            <a:ext cx="836676" cy="82296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/>
          </a:bodyPr>
          <a:lstStyle/>
          <a:p>
            <a:r>
              <a:rPr lang="en-US" sz="405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0</a:t>
            </a:r>
            <a:endParaRPr lang="en-US" sz="405" dirty="0"/>
          </a:p>
        </p:txBody>
      </p:sp>
      <p:sp>
        <p:nvSpPr>
          <p:cNvPr id="83" name="Text 81"/>
          <p:cNvSpPr/>
          <p:nvPr/>
        </p:nvSpPr>
        <p:spPr>
          <a:xfrm>
            <a:off x="3614166" y="2591014"/>
            <a:ext cx="54864" cy="54864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 lnSpcReduction="10000"/>
          </a:bodyPr>
          <a:lstStyle/>
          <a:p>
            <a:r>
              <a:rPr lang="en-US" sz="375" b="1" dirty="0">
                <a:solidFill>
                  <a:srgbClr val="7E6CF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%</a:t>
            </a:r>
            <a:endParaRPr lang="en-US" sz="375" dirty="0"/>
          </a:p>
        </p:txBody>
      </p:sp>
      <p:sp>
        <p:nvSpPr>
          <p:cNvPr id="84" name="Text 82"/>
          <p:cNvSpPr/>
          <p:nvPr/>
        </p:nvSpPr>
        <p:spPr>
          <a:xfrm>
            <a:off x="1666494" y="2687026"/>
            <a:ext cx="685800" cy="68580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/>
          </a:bodyPr>
          <a:lstStyle/>
          <a:p>
            <a:r>
              <a:rPr lang="en-US" sz="428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프로젝트 설명</a:t>
            </a:r>
            <a:endParaRPr lang="en-US" sz="428" dirty="0"/>
          </a:p>
        </p:txBody>
      </p:sp>
      <p:sp>
        <p:nvSpPr>
          <p:cNvPr id="85" name="Shape 83"/>
          <p:cNvSpPr/>
          <p:nvPr/>
        </p:nvSpPr>
        <p:spPr>
          <a:xfrm>
            <a:off x="1640367" y="2769644"/>
            <a:ext cx="3470148" cy="150876"/>
          </a:xfrm>
          <a:prstGeom prst="roundRect">
            <a:avLst>
              <a:gd name="adj" fmla="val 11364"/>
            </a:avLst>
          </a:prstGeom>
          <a:solidFill>
            <a:srgbClr val="2C2A49"/>
          </a:solidFill>
          <a:ln w="8890">
            <a:solidFill>
              <a:srgbClr val="5D5A82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1688373" y="2803934"/>
            <a:ext cx="822960" cy="48006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 fontScale="85000" lnSpcReduction="10000"/>
          </a:bodyPr>
          <a:lstStyle/>
          <a:p>
            <a:r>
              <a:rPr lang="en-US" sz="383" dirty="0">
                <a:solidFill>
                  <a:srgbClr val="B7B5D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프로젝트 설명을 입력하세요</a:t>
            </a:r>
            <a:endParaRPr lang="en-US" sz="383" dirty="0"/>
          </a:p>
        </p:txBody>
      </p:sp>
      <p:sp>
        <p:nvSpPr>
          <p:cNvPr id="87" name="Text 85"/>
          <p:cNvSpPr/>
          <p:nvPr/>
        </p:nvSpPr>
        <p:spPr>
          <a:xfrm>
            <a:off x="1640367" y="2971469"/>
            <a:ext cx="445770" cy="61722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/>
          </a:bodyPr>
          <a:lstStyle/>
          <a:p>
            <a:r>
              <a:rPr lang="en-US" sz="383" dirty="0">
                <a:solidFill>
                  <a:srgbClr val="C7C5E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현재 진척도</a:t>
            </a:r>
            <a:endParaRPr lang="en-US" sz="383" dirty="0"/>
          </a:p>
        </p:txBody>
      </p:sp>
      <p:sp>
        <p:nvSpPr>
          <p:cNvPr id="88" name="Shape 86"/>
          <p:cNvSpPr/>
          <p:nvPr/>
        </p:nvSpPr>
        <p:spPr>
          <a:xfrm>
            <a:off x="1640367" y="3067481"/>
            <a:ext cx="3470148" cy="34290"/>
          </a:xfrm>
          <a:prstGeom prst="rect">
            <a:avLst/>
          </a:prstGeom>
          <a:solidFill>
            <a:srgbClr val="484568"/>
          </a:solidFill>
          <a:ln w="7620">
            <a:solidFill>
              <a:srgbClr val="484568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1640367" y="3115487"/>
            <a:ext cx="192024" cy="48006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 fontScale="92500"/>
          </a:bodyPr>
          <a:lstStyle/>
          <a:p>
            <a:r>
              <a:rPr lang="en-US" sz="360" dirty="0">
                <a:solidFill>
                  <a:srgbClr val="C7C5E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0%</a:t>
            </a:r>
            <a:endParaRPr lang="en-US" sz="360" dirty="0"/>
          </a:p>
        </p:txBody>
      </p:sp>
      <p:sp>
        <p:nvSpPr>
          <p:cNvPr id="90" name="Text 88"/>
          <p:cNvSpPr/>
          <p:nvPr/>
        </p:nvSpPr>
        <p:spPr>
          <a:xfrm>
            <a:off x="3519459" y="3115487"/>
            <a:ext cx="192024" cy="48006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 fontScale="92500"/>
          </a:bodyPr>
          <a:lstStyle/>
          <a:p>
            <a:pPr algn="ctr"/>
            <a:r>
              <a:rPr lang="en-US" sz="360" dirty="0">
                <a:solidFill>
                  <a:srgbClr val="7E6CF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0%</a:t>
            </a:r>
            <a:endParaRPr lang="en-US" sz="360" dirty="0"/>
          </a:p>
        </p:txBody>
      </p:sp>
      <p:sp>
        <p:nvSpPr>
          <p:cNvPr id="91" name="Text 89"/>
          <p:cNvSpPr/>
          <p:nvPr/>
        </p:nvSpPr>
        <p:spPr>
          <a:xfrm>
            <a:off x="4843053" y="3115487"/>
            <a:ext cx="240030" cy="48006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 fontScale="92500"/>
          </a:bodyPr>
          <a:lstStyle/>
          <a:p>
            <a:pPr algn="r"/>
            <a:r>
              <a:rPr lang="en-US" sz="360" dirty="0">
                <a:solidFill>
                  <a:srgbClr val="C7C5E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100%</a:t>
            </a:r>
            <a:endParaRPr lang="en-US" sz="360" dirty="0"/>
          </a:p>
        </p:txBody>
      </p:sp>
      <p:sp>
        <p:nvSpPr>
          <p:cNvPr id="92" name="Shape 90"/>
          <p:cNvSpPr/>
          <p:nvPr/>
        </p:nvSpPr>
        <p:spPr>
          <a:xfrm>
            <a:off x="1530639" y="2841004"/>
            <a:ext cx="109728" cy="109728"/>
          </a:xfrm>
          <a:prstGeom prst="ellipse">
            <a:avLst/>
          </a:prstGeom>
          <a:solidFill>
            <a:srgbClr val="FFFFFF">
              <a:alpha val="0"/>
            </a:srgbClr>
          </a:solidFill>
          <a:ln w="20320">
            <a:solidFill>
              <a:srgbClr val="FF0000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1530639" y="2837575"/>
            <a:ext cx="109728" cy="109728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/>
          </a:bodyPr>
          <a:lstStyle/>
          <a:p>
            <a:pPr algn="ctr"/>
            <a:r>
              <a:rPr lang="en-US" sz="525" b="1" dirty="0">
                <a:solidFill>
                  <a:srgbClr val="FF000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2</a:t>
            </a:r>
            <a:endParaRPr lang="en-US" sz="525" dirty="0"/>
          </a:p>
        </p:txBody>
      </p:sp>
      <p:sp>
        <p:nvSpPr>
          <p:cNvPr id="94" name="Shape 92"/>
          <p:cNvSpPr/>
          <p:nvPr/>
        </p:nvSpPr>
        <p:spPr>
          <a:xfrm>
            <a:off x="1556766" y="3208234"/>
            <a:ext cx="3689604" cy="603504"/>
          </a:xfrm>
          <a:prstGeom prst="roundRect">
            <a:avLst>
              <a:gd name="adj" fmla="val 4545"/>
            </a:avLst>
          </a:prstGeom>
          <a:solidFill>
            <a:srgbClr val="33304F"/>
          </a:solidFill>
          <a:ln w="8890">
            <a:solidFill>
              <a:srgbClr val="5D5A82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1639062" y="3276814"/>
            <a:ext cx="54864" cy="54864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 fontScale="85000" lnSpcReduction="20000"/>
          </a:bodyPr>
          <a:lstStyle/>
          <a:p>
            <a:pPr algn="ctr"/>
            <a:r>
              <a:rPr lang="en-US" sz="450" dirty="0">
                <a:solidFill>
                  <a:srgbClr val="7E6CF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●</a:t>
            </a:r>
            <a:endParaRPr lang="en-US" sz="450" dirty="0"/>
          </a:p>
        </p:txBody>
      </p:sp>
      <p:sp>
        <p:nvSpPr>
          <p:cNvPr id="96" name="Text 94"/>
          <p:cNvSpPr/>
          <p:nvPr/>
        </p:nvSpPr>
        <p:spPr>
          <a:xfrm>
            <a:off x="1645920" y="3276814"/>
            <a:ext cx="41148" cy="54864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/>
          </a:bodyPr>
          <a:lstStyle/>
          <a:p>
            <a:pPr algn="ctr"/>
            <a:r>
              <a:rPr lang="en-US" sz="345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2</a:t>
            </a:r>
            <a:endParaRPr lang="en-US" sz="345" dirty="0"/>
          </a:p>
        </p:txBody>
      </p:sp>
      <p:sp>
        <p:nvSpPr>
          <p:cNvPr id="97" name="Text 95"/>
          <p:cNvSpPr/>
          <p:nvPr/>
        </p:nvSpPr>
        <p:spPr>
          <a:xfrm>
            <a:off x="1741932" y="3269956"/>
            <a:ext cx="425196" cy="82296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/>
          </a:bodyPr>
          <a:lstStyle/>
          <a:p>
            <a:r>
              <a:rPr lang="en-US" sz="465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기술스택</a:t>
            </a:r>
            <a:endParaRPr lang="en-US" sz="465" dirty="0"/>
          </a:p>
        </p:txBody>
      </p:sp>
      <p:sp>
        <p:nvSpPr>
          <p:cNvPr id="98" name="Text 96"/>
          <p:cNvSpPr/>
          <p:nvPr/>
        </p:nvSpPr>
        <p:spPr>
          <a:xfrm>
            <a:off x="2119122" y="3269956"/>
            <a:ext cx="240030" cy="82296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/>
          </a:bodyPr>
          <a:lstStyle/>
          <a:p>
            <a:r>
              <a:rPr lang="en-US" sz="375" dirty="0">
                <a:solidFill>
                  <a:srgbClr val="7E6CF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+ 신규</a:t>
            </a:r>
            <a:endParaRPr lang="en-US" sz="375" dirty="0"/>
          </a:p>
        </p:txBody>
      </p:sp>
      <p:sp>
        <p:nvSpPr>
          <p:cNvPr id="99" name="Shape 97"/>
          <p:cNvSpPr/>
          <p:nvPr/>
        </p:nvSpPr>
        <p:spPr>
          <a:xfrm>
            <a:off x="1584198" y="3263098"/>
            <a:ext cx="109728" cy="109728"/>
          </a:xfrm>
          <a:prstGeom prst="ellipse">
            <a:avLst/>
          </a:prstGeom>
          <a:solidFill>
            <a:srgbClr val="FFFFFF">
              <a:alpha val="0"/>
            </a:srgbClr>
          </a:solidFill>
          <a:ln w="20320">
            <a:solidFill>
              <a:srgbClr val="FF0000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1584198" y="3259669"/>
            <a:ext cx="109728" cy="109728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/>
          </a:bodyPr>
          <a:lstStyle/>
          <a:p>
            <a:pPr algn="ctr"/>
            <a:r>
              <a:rPr lang="en-US" sz="525" b="1" dirty="0">
                <a:solidFill>
                  <a:srgbClr val="FF000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4</a:t>
            </a:r>
            <a:endParaRPr lang="en-US" sz="525" dirty="0"/>
          </a:p>
        </p:txBody>
      </p:sp>
      <p:sp>
        <p:nvSpPr>
          <p:cNvPr id="101" name="Shape 99"/>
          <p:cNvSpPr/>
          <p:nvPr/>
        </p:nvSpPr>
        <p:spPr>
          <a:xfrm>
            <a:off x="1666494" y="3420832"/>
            <a:ext cx="3470148" cy="178308"/>
          </a:xfrm>
          <a:prstGeom prst="roundRect">
            <a:avLst>
              <a:gd name="adj" fmla="val 11538"/>
            </a:avLst>
          </a:prstGeom>
          <a:solidFill>
            <a:srgbClr val="FFFFFF">
              <a:alpha val="0"/>
            </a:srgbClr>
          </a:solidFill>
          <a:ln w="8890">
            <a:solidFill>
              <a:srgbClr val="484568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1741932" y="3455122"/>
            <a:ext cx="246888" cy="123444"/>
          </a:xfrm>
          <a:prstGeom prst="roundRect">
            <a:avLst>
              <a:gd name="adj" fmla="val 22222"/>
            </a:avLst>
          </a:prstGeom>
          <a:solidFill>
            <a:srgbClr val="2C2A49"/>
          </a:solidFill>
          <a:ln w="8890">
            <a:solidFill>
              <a:srgbClr val="5D5A82"/>
            </a:solidFill>
            <a:prstDash val="solid"/>
          </a:ln>
        </p:spPr>
      </p:sp>
      <p:sp>
        <p:nvSpPr>
          <p:cNvPr id="103" name="Text 101"/>
          <p:cNvSpPr/>
          <p:nvPr/>
        </p:nvSpPr>
        <p:spPr>
          <a:xfrm>
            <a:off x="1769364" y="3461980"/>
            <a:ext cx="192024" cy="89154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/>
          </a:bodyPr>
          <a:lstStyle/>
          <a:p>
            <a:pPr algn="ctr"/>
            <a:r>
              <a:rPr lang="en-US" sz="405" dirty="0">
                <a:solidFill>
                  <a:srgbClr val="DAD7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Java  ×</a:t>
            </a:r>
            <a:endParaRPr lang="en-US" sz="405" dirty="0"/>
          </a:p>
        </p:txBody>
      </p:sp>
      <p:sp>
        <p:nvSpPr>
          <p:cNvPr id="104" name="Shape 102"/>
          <p:cNvSpPr/>
          <p:nvPr/>
        </p:nvSpPr>
        <p:spPr>
          <a:xfrm>
            <a:off x="2071116" y="3455122"/>
            <a:ext cx="438912" cy="123444"/>
          </a:xfrm>
          <a:prstGeom prst="roundRect">
            <a:avLst>
              <a:gd name="adj" fmla="val 22222"/>
            </a:avLst>
          </a:prstGeom>
          <a:solidFill>
            <a:srgbClr val="2C2A49"/>
          </a:solidFill>
          <a:ln w="8890">
            <a:solidFill>
              <a:srgbClr val="5D5A82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2098548" y="3461980"/>
            <a:ext cx="384048" cy="89154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/>
          </a:bodyPr>
          <a:lstStyle/>
          <a:p>
            <a:pPr algn="ctr"/>
            <a:r>
              <a:rPr lang="en-US" sz="405" dirty="0">
                <a:solidFill>
                  <a:srgbClr val="DAD7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Spring Boot  ×</a:t>
            </a:r>
            <a:endParaRPr lang="en-US" sz="405" dirty="0"/>
          </a:p>
        </p:txBody>
      </p:sp>
      <p:sp>
        <p:nvSpPr>
          <p:cNvPr id="106" name="Shape 104"/>
          <p:cNvSpPr/>
          <p:nvPr/>
        </p:nvSpPr>
        <p:spPr>
          <a:xfrm>
            <a:off x="2585466" y="3455122"/>
            <a:ext cx="315468" cy="123444"/>
          </a:xfrm>
          <a:prstGeom prst="roundRect">
            <a:avLst>
              <a:gd name="adj" fmla="val 22222"/>
            </a:avLst>
          </a:prstGeom>
          <a:solidFill>
            <a:srgbClr val="2C2A49"/>
          </a:solidFill>
          <a:ln w="8890">
            <a:solidFill>
              <a:srgbClr val="5D5A82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2612898" y="3461980"/>
            <a:ext cx="260604" cy="89154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/>
          </a:bodyPr>
          <a:lstStyle/>
          <a:p>
            <a:pPr algn="ctr"/>
            <a:r>
              <a:rPr lang="en-US" sz="405" dirty="0">
                <a:solidFill>
                  <a:srgbClr val="DAD7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React  ×</a:t>
            </a:r>
            <a:endParaRPr lang="en-US" sz="405" dirty="0"/>
          </a:p>
        </p:txBody>
      </p:sp>
      <p:sp>
        <p:nvSpPr>
          <p:cNvPr id="108" name="Shape 106"/>
          <p:cNvSpPr/>
          <p:nvPr/>
        </p:nvSpPr>
        <p:spPr>
          <a:xfrm>
            <a:off x="1666494" y="3640288"/>
            <a:ext cx="3312414" cy="116586"/>
          </a:xfrm>
          <a:prstGeom prst="roundRect">
            <a:avLst>
              <a:gd name="adj" fmla="val 14706"/>
            </a:avLst>
          </a:prstGeom>
          <a:solidFill>
            <a:srgbClr val="2C2A49"/>
          </a:solidFill>
          <a:ln w="8890">
            <a:solidFill>
              <a:srgbClr val="5D5A82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1707642" y="3667720"/>
            <a:ext cx="685800" cy="41148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 fontScale="85000" lnSpcReduction="20000"/>
          </a:bodyPr>
          <a:lstStyle/>
          <a:p>
            <a:r>
              <a:rPr lang="en-US" sz="383" dirty="0">
                <a:solidFill>
                  <a:srgbClr val="B7B5D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기술스택 직접 입력...</a:t>
            </a:r>
            <a:endParaRPr lang="en-US" sz="383" dirty="0"/>
          </a:p>
        </p:txBody>
      </p:sp>
      <p:sp>
        <p:nvSpPr>
          <p:cNvPr id="110" name="Shape 108"/>
          <p:cNvSpPr/>
          <p:nvPr/>
        </p:nvSpPr>
        <p:spPr>
          <a:xfrm>
            <a:off x="5013198" y="3640288"/>
            <a:ext cx="123444" cy="116586"/>
          </a:xfrm>
          <a:prstGeom prst="roundRect">
            <a:avLst>
              <a:gd name="adj" fmla="val 14706"/>
            </a:avLst>
          </a:prstGeom>
          <a:solidFill>
            <a:srgbClr val="2C2A49"/>
          </a:solidFill>
          <a:ln w="8890">
            <a:solidFill>
              <a:srgbClr val="5D5A82"/>
            </a:solidFill>
            <a:prstDash val="solid"/>
          </a:ln>
        </p:spPr>
      </p:sp>
      <p:sp>
        <p:nvSpPr>
          <p:cNvPr id="111" name="Text 109"/>
          <p:cNvSpPr/>
          <p:nvPr/>
        </p:nvSpPr>
        <p:spPr>
          <a:xfrm>
            <a:off x="5040630" y="3667720"/>
            <a:ext cx="54864" cy="41148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 fontScale="77500" lnSpcReduction="20000"/>
          </a:bodyPr>
          <a:lstStyle/>
          <a:p>
            <a:pPr algn="ctr"/>
            <a:r>
              <a:rPr lang="en-US" sz="450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+</a:t>
            </a:r>
            <a:endParaRPr lang="en-US" sz="450" dirty="0"/>
          </a:p>
        </p:txBody>
      </p:sp>
      <p:sp>
        <p:nvSpPr>
          <p:cNvPr id="112" name="Shape 110"/>
          <p:cNvSpPr/>
          <p:nvPr/>
        </p:nvSpPr>
        <p:spPr>
          <a:xfrm>
            <a:off x="5167993" y="4528562"/>
            <a:ext cx="109728" cy="109728"/>
          </a:xfrm>
          <a:prstGeom prst="ellipse">
            <a:avLst/>
          </a:prstGeom>
          <a:solidFill>
            <a:srgbClr val="FFFFFF">
              <a:alpha val="0"/>
            </a:srgbClr>
          </a:solidFill>
          <a:ln w="20320">
            <a:solidFill>
              <a:srgbClr val="FF0000"/>
            </a:solidFill>
            <a:prstDash val="solid"/>
          </a:ln>
        </p:spPr>
      </p:sp>
      <p:sp>
        <p:nvSpPr>
          <p:cNvPr id="113" name="Text 111"/>
          <p:cNvSpPr/>
          <p:nvPr/>
        </p:nvSpPr>
        <p:spPr>
          <a:xfrm>
            <a:off x="5168645" y="4534117"/>
            <a:ext cx="109728" cy="109728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/>
          </a:bodyPr>
          <a:lstStyle/>
          <a:p>
            <a:pPr algn="ctr"/>
            <a:r>
              <a:rPr lang="en-US" sz="525" b="1" dirty="0">
                <a:solidFill>
                  <a:srgbClr val="FF000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6</a:t>
            </a:r>
            <a:endParaRPr lang="en-US" sz="525" dirty="0"/>
          </a:p>
        </p:txBody>
      </p:sp>
      <p:sp>
        <p:nvSpPr>
          <p:cNvPr id="116" name="Shape 114"/>
          <p:cNvSpPr/>
          <p:nvPr/>
        </p:nvSpPr>
        <p:spPr>
          <a:xfrm>
            <a:off x="1556766" y="3855496"/>
            <a:ext cx="3689604" cy="342900"/>
          </a:xfrm>
          <a:prstGeom prst="roundRect">
            <a:avLst>
              <a:gd name="adj" fmla="val 8000"/>
            </a:avLst>
          </a:prstGeom>
          <a:solidFill>
            <a:srgbClr val="33304F"/>
          </a:solidFill>
          <a:ln w="8890">
            <a:solidFill>
              <a:srgbClr val="5D5A82"/>
            </a:solidFill>
            <a:prstDash val="solid"/>
          </a:ln>
        </p:spPr>
      </p:sp>
      <p:sp>
        <p:nvSpPr>
          <p:cNvPr id="117" name="Text 115"/>
          <p:cNvSpPr/>
          <p:nvPr/>
        </p:nvSpPr>
        <p:spPr>
          <a:xfrm>
            <a:off x="1639062" y="3910360"/>
            <a:ext cx="548640" cy="61722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 lnSpcReduction="10000"/>
          </a:bodyPr>
          <a:lstStyle/>
          <a:p>
            <a:r>
              <a:rPr lang="en-US" sz="435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등록 정보 미리보기</a:t>
            </a:r>
            <a:endParaRPr lang="en-US" sz="435" dirty="0"/>
          </a:p>
        </p:txBody>
      </p:sp>
      <p:sp>
        <p:nvSpPr>
          <p:cNvPr id="118" name="Text 116"/>
          <p:cNvSpPr/>
          <p:nvPr/>
        </p:nvSpPr>
        <p:spPr>
          <a:xfrm>
            <a:off x="1666494" y="4026946"/>
            <a:ext cx="342900" cy="48006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 fontScale="92500"/>
          </a:bodyPr>
          <a:lstStyle/>
          <a:p>
            <a:r>
              <a:rPr lang="en-US" sz="353" dirty="0">
                <a:solidFill>
                  <a:srgbClr val="C7C5E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프로젝트명</a:t>
            </a:r>
            <a:endParaRPr lang="en-US" sz="353" dirty="0"/>
          </a:p>
        </p:txBody>
      </p:sp>
      <p:sp>
        <p:nvSpPr>
          <p:cNvPr id="119" name="Text 117"/>
          <p:cNvSpPr/>
          <p:nvPr/>
        </p:nvSpPr>
        <p:spPr>
          <a:xfrm>
            <a:off x="1666494" y="4116100"/>
            <a:ext cx="137160" cy="34290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 fontScale="62500" lnSpcReduction="20000"/>
          </a:bodyPr>
          <a:lstStyle/>
          <a:p>
            <a:r>
              <a:rPr lang="en-US" sz="375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-</a:t>
            </a:r>
            <a:endParaRPr lang="en-US" sz="375" dirty="0"/>
          </a:p>
        </p:txBody>
      </p:sp>
      <p:sp>
        <p:nvSpPr>
          <p:cNvPr id="120" name="Text 118"/>
          <p:cNvSpPr/>
          <p:nvPr/>
        </p:nvSpPr>
        <p:spPr>
          <a:xfrm>
            <a:off x="2859786" y="4026946"/>
            <a:ext cx="274320" cy="48006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 fontScale="92500"/>
          </a:bodyPr>
          <a:lstStyle/>
          <a:p>
            <a:r>
              <a:rPr lang="en-US" sz="353" dirty="0">
                <a:solidFill>
                  <a:srgbClr val="C7C5E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고객사</a:t>
            </a:r>
            <a:endParaRPr lang="en-US" sz="353" dirty="0"/>
          </a:p>
        </p:txBody>
      </p:sp>
      <p:sp>
        <p:nvSpPr>
          <p:cNvPr id="121" name="Text 119"/>
          <p:cNvSpPr/>
          <p:nvPr/>
        </p:nvSpPr>
        <p:spPr>
          <a:xfrm>
            <a:off x="2859786" y="4116100"/>
            <a:ext cx="137160" cy="34290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 fontScale="62500" lnSpcReduction="20000"/>
          </a:bodyPr>
          <a:lstStyle/>
          <a:p>
            <a:r>
              <a:rPr lang="en-US" sz="375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-</a:t>
            </a:r>
            <a:endParaRPr lang="en-US" sz="375" dirty="0"/>
          </a:p>
        </p:txBody>
      </p:sp>
      <p:sp>
        <p:nvSpPr>
          <p:cNvPr id="122" name="Text 120"/>
          <p:cNvSpPr/>
          <p:nvPr/>
        </p:nvSpPr>
        <p:spPr>
          <a:xfrm>
            <a:off x="3717036" y="4026946"/>
            <a:ext cx="445770" cy="48006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 fontScale="92500"/>
          </a:bodyPr>
          <a:lstStyle/>
          <a:p>
            <a:r>
              <a:rPr lang="en-US" sz="353" dirty="0">
                <a:solidFill>
                  <a:srgbClr val="C7C5E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프로젝트 기간</a:t>
            </a:r>
            <a:endParaRPr lang="en-US" sz="353" dirty="0"/>
          </a:p>
        </p:txBody>
      </p:sp>
      <p:sp>
        <p:nvSpPr>
          <p:cNvPr id="123" name="Text 121"/>
          <p:cNvSpPr/>
          <p:nvPr/>
        </p:nvSpPr>
        <p:spPr>
          <a:xfrm>
            <a:off x="3717036" y="4116100"/>
            <a:ext cx="137160" cy="34290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 fontScale="62500" lnSpcReduction="20000"/>
          </a:bodyPr>
          <a:lstStyle/>
          <a:p>
            <a:r>
              <a:rPr lang="en-US" sz="375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-</a:t>
            </a:r>
            <a:endParaRPr lang="en-US" sz="375" dirty="0"/>
          </a:p>
        </p:txBody>
      </p:sp>
      <p:sp>
        <p:nvSpPr>
          <p:cNvPr id="124" name="Text 122"/>
          <p:cNvSpPr/>
          <p:nvPr/>
        </p:nvSpPr>
        <p:spPr>
          <a:xfrm>
            <a:off x="4677156" y="4026946"/>
            <a:ext cx="205740" cy="48006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 fontScale="92500"/>
          </a:bodyPr>
          <a:lstStyle/>
          <a:p>
            <a:r>
              <a:rPr lang="en-US" sz="353" dirty="0">
                <a:solidFill>
                  <a:srgbClr val="C7C5E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상태</a:t>
            </a:r>
            <a:endParaRPr lang="en-US" sz="353" dirty="0"/>
          </a:p>
        </p:txBody>
      </p:sp>
      <p:sp>
        <p:nvSpPr>
          <p:cNvPr id="125" name="Shape 123"/>
          <p:cNvSpPr/>
          <p:nvPr/>
        </p:nvSpPr>
        <p:spPr>
          <a:xfrm>
            <a:off x="4677156" y="4109242"/>
            <a:ext cx="150876" cy="68580"/>
          </a:xfrm>
          <a:prstGeom prst="roundRect">
            <a:avLst>
              <a:gd name="adj" fmla="val 20000"/>
            </a:avLst>
          </a:prstGeom>
          <a:solidFill>
            <a:srgbClr val="256D9A"/>
          </a:solidFill>
          <a:ln w="8890">
            <a:solidFill>
              <a:srgbClr val="256D9A"/>
            </a:solidFill>
            <a:prstDash val="solid"/>
          </a:ln>
        </p:spPr>
      </p:sp>
      <p:sp>
        <p:nvSpPr>
          <p:cNvPr id="126" name="Text 124"/>
          <p:cNvSpPr/>
          <p:nvPr/>
        </p:nvSpPr>
        <p:spPr>
          <a:xfrm>
            <a:off x="4694301" y="4119529"/>
            <a:ext cx="116586" cy="51435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/>
          </a:bodyPr>
          <a:lstStyle/>
          <a:p>
            <a:pPr algn="ctr"/>
            <a:r>
              <a:rPr lang="en-US" sz="278" dirty="0">
                <a:solidFill>
                  <a:srgbClr val="A8F4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예정</a:t>
            </a:r>
            <a:endParaRPr lang="en-US" sz="278" dirty="0"/>
          </a:p>
        </p:txBody>
      </p:sp>
      <p:sp>
        <p:nvSpPr>
          <p:cNvPr id="127" name="Shape 125"/>
          <p:cNvSpPr/>
          <p:nvPr/>
        </p:nvSpPr>
        <p:spPr>
          <a:xfrm>
            <a:off x="1522476" y="3903502"/>
            <a:ext cx="109728" cy="109728"/>
          </a:xfrm>
          <a:prstGeom prst="ellipse">
            <a:avLst/>
          </a:prstGeom>
          <a:solidFill>
            <a:srgbClr val="FFFFFF">
              <a:alpha val="0"/>
            </a:srgbClr>
          </a:solidFill>
          <a:ln w="20320">
            <a:solidFill>
              <a:srgbClr val="FF0000"/>
            </a:solidFill>
            <a:prstDash val="solid"/>
          </a:ln>
        </p:spPr>
      </p:sp>
      <p:sp>
        <p:nvSpPr>
          <p:cNvPr id="128" name="Text 126"/>
          <p:cNvSpPr/>
          <p:nvPr/>
        </p:nvSpPr>
        <p:spPr>
          <a:xfrm>
            <a:off x="1522476" y="3900073"/>
            <a:ext cx="109728" cy="109728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/>
          </a:bodyPr>
          <a:lstStyle/>
          <a:p>
            <a:pPr algn="ctr"/>
            <a:r>
              <a:rPr lang="en-US" sz="525" b="1" dirty="0">
                <a:solidFill>
                  <a:srgbClr val="FF000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7</a:t>
            </a:r>
            <a:endParaRPr lang="en-US" sz="525" dirty="0"/>
          </a:p>
        </p:txBody>
      </p:sp>
      <p:sp>
        <p:nvSpPr>
          <p:cNvPr id="129" name="Text 127"/>
          <p:cNvSpPr/>
          <p:nvPr/>
        </p:nvSpPr>
        <p:spPr>
          <a:xfrm>
            <a:off x="5726430" y="678942"/>
            <a:ext cx="1028700" cy="192024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/>
          </a:bodyPr>
          <a:lstStyle/>
          <a:p>
            <a:r>
              <a:rPr lang="en-US" sz="1200" b="1" dirty="0">
                <a:solidFill>
                  <a:srgbClr val="1118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Description</a:t>
            </a:r>
            <a:endParaRPr lang="en-US" sz="1200" dirty="0"/>
          </a:p>
        </p:txBody>
      </p:sp>
      <p:sp>
        <p:nvSpPr>
          <p:cNvPr id="130" name="Text 128"/>
          <p:cNvSpPr/>
          <p:nvPr/>
        </p:nvSpPr>
        <p:spPr>
          <a:xfrm>
            <a:off x="8257032" y="720090"/>
            <a:ext cx="342900" cy="82296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 fontScale="92500" lnSpcReduction="20000"/>
          </a:bodyPr>
          <a:lstStyle/>
          <a:p>
            <a:pPr algn="r"/>
            <a:r>
              <a:rPr lang="en-US" sz="600" b="1" dirty="0">
                <a:solidFill>
                  <a:srgbClr val="2563EB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검토용</a:t>
            </a:r>
            <a:endParaRPr lang="en-US" sz="600" dirty="0"/>
          </a:p>
        </p:txBody>
      </p:sp>
      <p:sp>
        <p:nvSpPr>
          <p:cNvPr id="131" name="Shape 129"/>
          <p:cNvSpPr/>
          <p:nvPr/>
        </p:nvSpPr>
        <p:spPr>
          <a:xfrm>
            <a:off x="5657850" y="994410"/>
            <a:ext cx="644652" cy="219456"/>
          </a:xfrm>
          <a:prstGeom prst="rect">
            <a:avLst/>
          </a:prstGeom>
          <a:solidFill>
            <a:srgbClr val="0F213A"/>
          </a:solidFill>
          <a:ln w="7620">
            <a:solidFill>
              <a:srgbClr val="D1D9EA"/>
            </a:solidFill>
            <a:prstDash val="solid"/>
          </a:ln>
        </p:spPr>
      </p:sp>
      <p:sp>
        <p:nvSpPr>
          <p:cNvPr id="132" name="Text 130"/>
          <p:cNvSpPr/>
          <p:nvPr/>
        </p:nvSpPr>
        <p:spPr>
          <a:xfrm>
            <a:off x="5685282" y="1008126"/>
            <a:ext cx="589788" cy="192024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pPr algn="ctr"/>
            <a:r>
              <a:rPr lang="en-US" sz="675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구분</a:t>
            </a:r>
            <a:endParaRPr lang="en-US" sz="675" dirty="0"/>
          </a:p>
        </p:txBody>
      </p:sp>
      <p:sp>
        <p:nvSpPr>
          <p:cNvPr id="133" name="Shape 131"/>
          <p:cNvSpPr/>
          <p:nvPr/>
        </p:nvSpPr>
        <p:spPr>
          <a:xfrm>
            <a:off x="6302502" y="994410"/>
            <a:ext cx="2338578" cy="219456"/>
          </a:xfrm>
          <a:prstGeom prst="rect">
            <a:avLst/>
          </a:prstGeom>
          <a:solidFill>
            <a:srgbClr val="0F213A"/>
          </a:solidFill>
          <a:ln w="7620">
            <a:solidFill>
              <a:srgbClr val="D1D9EA"/>
            </a:solidFill>
            <a:prstDash val="solid"/>
          </a:ln>
        </p:spPr>
      </p:sp>
      <p:sp>
        <p:nvSpPr>
          <p:cNvPr id="134" name="Text 132"/>
          <p:cNvSpPr/>
          <p:nvPr/>
        </p:nvSpPr>
        <p:spPr>
          <a:xfrm>
            <a:off x="6329934" y="1008126"/>
            <a:ext cx="2283714" cy="192024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pPr algn="ctr"/>
            <a:r>
              <a:rPr lang="en-US" sz="675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기획 내용</a:t>
            </a:r>
            <a:endParaRPr lang="en-US" sz="675" dirty="0"/>
          </a:p>
        </p:txBody>
      </p:sp>
      <p:sp>
        <p:nvSpPr>
          <p:cNvPr id="135" name="Shape 133"/>
          <p:cNvSpPr/>
          <p:nvPr/>
        </p:nvSpPr>
        <p:spPr>
          <a:xfrm>
            <a:off x="5657850" y="1213866"/>
            <a:ext cx="644652" cy="377190"/>
          </a:xfrm>
          <a:prstGeom prst="rect">
            <a:avLst/>
          </a:prstGeom>
          <a:solidFill>
            <a:srgbClr val="FFFFFF"/>
          </a:solidFill>
          <a:ln w="7620">
            <a:solidFill>
              <a:srgbClr val="D1D9EA"/>
            </a:solidFill>
            <a:prstDash val="solid"/>
          </a:ln>
        </p:spPr>
      </p:sp>
      <p:sp>
        <p:nvSpPr>
          <p:cNvPr id="136" name="Text 134"/>
          <p:cNvSpPr/>
          <p:nvPr/>
        </p:nvSpPr>
        <p:spPr>
          <a:xfrm>
            <a:off x="5685282" y="1227582"/>
            <a:ext cx="589788" cy="349758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500" dirty="0" smtClean="0">
                <a:latin typeface="+mn-ea"/>
                <a:cs typeface="Noto Sans CJK KR" pitchFamily="34" charset="-120"/>
              </a:rPr>
              <a:t>1 </a:t>
            </a:r>
            <a:r>
              <a:rPr lang="en-US" sz="500" dirty="0" err="1" smtClean="0">
                <a:solidFill>
                  <a:srgbClr val="111827"/>
                </a:solidFill>
                <a:latin typeface="+mn-ea"/>
                <a:cs typeface="Noto Sans CJK KR" pitchFamily="34" charset="-120"/>
              </a:rPr>
              <a:t>기본</a:t>
            </a:r>
            <a:r>
              <a:rPr lang="en-US" sz="500" dirty="0" smtClean="0">
                <a:solidFill>
                  <a:srgbClr val="111827"/>
                </a:solidFill>
                <a:latin typeface="+mn-ea"/>
                <a:cs typeface="Noto Sans CJK KR" pitchFamily="34" charset="-120"/>
              </a:rPr>
              <a:t> </a:t>
            </a:r>
            <a:r>
              <a:rPr lang="en-US" sz="500" dirty="0">
                <a:solidFill>
                  <a:srgbClr val="111827"/>
                </a:solidFill>
                <a:latin typeface="+mn-ea"/>
                <a:cs typeface="Noto Sans CJK KR" pitchFamily="34" charset="-120"/>
              </a:rPr>
              <a:t>정보</a:t>
            </a:r>
            <a:endParaRPr lang="en-US" sz="500" dirty="0">
              <a:latin typeface="+mn-ea"/>
            </a:endParaRPr>
          </a:p>
        </p:txBody>
      </p:sp>
      <p:sp>
        <p:nvSpPr>
          <p:cNvPr id="137" name="Shape 135"/>
          <p:cNvSpPr/>
          <p:nvPr/>
        </p:nvSpPr>
        <p:spPr>
          <a:xfrm>
            <a:off x="6302502" y="1213866"/>
            <a:ext cx="2338578" cy="377190"/>
          </a:xfrm>
          <a:prstGeom prst="rect">
            <a:avLst/>
          </a:prstGeom>
          <a:solidFill>
            <a:srgbClr val="FFFFFF"/>
          </a:solidFill>
          <a:ln w="7620">
            <a:solidFill>
              <a:srgbClr val="D1D9EA"/>
            </a:solidFill>
            <a:prstDash val="solid"/>
          </a:ln>
        </p:spPr>
      </p:sp>
      <p:sp>
        <p:nvSpPr>
          <p:cNvPr id="138" name="Text 136"/>
          <p:cNvSpPr/>
          <p:nvPr/>
        </p:nvSpPr>
        <p:spPr>
          <a:xfrm>
            <a:off x="6329934" y="1227582"/>
            <a:ext cx="2283714" cy="349758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500" dirty="0">
                <a:solidFill>
                  <a:srgbClr val="111827"/>
                </a:solidFill>
                <a:latin typeface="+mn-ea"/>
                <a:cs typeface="Noto Sans CJK KR" pitchFamily="34" charset="-120"/>
              </a:rPr>
              <a:t>프로젝트명/고객사/시작일/종료일/상태/진척도/설명 입력 및 등록</a:t>
            </a:r>
            <a:endParaRPr lang="en-US" sz="500" dirty="0">
              <a:latin typeface="+mn-ea"/>
            </a:endParaRPr>
          </a:p>
        </p:txBody>
      </p:sp>
      <p:sp>
        <p:nvSpPr>
          <p:cNvPr id="139" name="Shape 137"/>
          <p:cNvSpPr/>
          <p:nvPr/>
        </p:nvSpPr>
        <p:spPr>
          <a:xfrm>
            <a:off x="5657850" y="1591056"/>
            <a:ext cx="644652" cy="466344"/>
          </a:xfrm>
          <a:prstGeom prst="rect">
            <a:avLst/>
          </a:prstGeom>
          <a:solidFill>
            <a:srgbClr val="FFFFFF"/>
          </a:solidFill>
          <a:ln w="7620">
            <a:solidFill>
              <a:srgbClr val="D1D9EA"/>
            </a:solidFill>
            <a:prstDash val="solid"/>
          </a:ln>
        </p:spPr>
      </p:sp>
      <p:sp>
        <p:nvSpPr>
          <p:cNvPr id="140" name="Text 138"/>
          <p:cNvSpPr/>
          <p:nvPr/>
        </p:nvSpPr>
        <p:spPr>
          <a:xfrm>
            <a:off x="5655580" y="1591810"/>
            <a:ext cx="617220" cy="438912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615" dirty="0" smtClean="0">
                <a:solidFill>
                  <a:srgbClr val="1118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 2 </a:t>
            </a:r>
            <a:r>
              <a:rPr lang="en-US" sz="615" dirty="0" err="1" smtClean="0">
                <a:solidFill>
                  <a:srgbClr val="1118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진척도</a:t>
            </a:r>
            <a:endParaRPr lang="en-US" sz="615" dirty="0"/>
          </a:p>
        </p:txBody>
      </p:sp>
      <p:sp>
        <p:nvSpPr>
          <p:cNvPr id="141" name="Shape 139"/>
          <p:cNvSpPr/>
          <p:nvPr/>
        </p:nvSpPr>
        <p:spPr>
          <a:xfrm>
            <a:off x="6302502" y="1591056"/>
            <a:ext cx="2338578" cy="466344"/>
          </a:xfrm>
          <a:prstGeom prst="rect">
            <a:avLst/>
          </a:prstGeom>
          <a:solidFill>
            <a:srgbClr val="FFFFFF"/>
          </a:solidFill>
          <a:ln w="7620">
            <a:solidFill>
              <a:srgbClr val="D1D9EA"/>
            </a:solidFill>
            <a:prstDash val="solid"/>
          </a:ln>
        </p:spPr>
      </p:sp>
      <p:sp>
        <p:nvSpPr>
          <p:cNvPr id="142" name="Text 140"/>
          <p:cNvSpPr/>
          <p:nvPr/>
        </p:nvSpPr>
        <p:spPr>
          <a:xfrm>
            <a:off x="6329934" y="1604772"/>
            <a:ext cx="2283714" cy="438912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615" dirty="0">
                <a:solidFill>
                  <a:srgbClr val="1118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진척도 수치 입력</a:t>
            </a:r>
            <a:endParaRPr lang="en-US" sz="615" dirty="0"/>
          </a:p>
          <a:p>
            <a:r>
              <a:rPr lang="en-US" sz="615" dirty="0">
                <a:solidFill>
                  <a:srgbClr val="1118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현재 진척도 바 및 하단 미리보기 동시 반영</a:t>
            </a:r>
            <a:endParaRPr lang="en-US" sz="615" dirty="0"/>
          </a:p>
        </p:txBody>
      </p:sp>
      <p:sp>
        <p:nvSpPr>
          <p:cNvPr id="143" name="Shape 141"/>
          <p:cNvSpPr/>
          <p:nvPr/>
        </p:nvSpPr>
        <p:spPr>
          <a:xfrm>
            <a:off x="5657850" y="2057400"/>
            <a:ext cx="644652" cy="425196"/>
          </a:xfrm>
          <a:prstGeom prst="rect">
            <a:avLst/>
          </a:prstGeom>
          <a:solidFill>
            <a:srgbClr val="FFFFFF"/>
          </a:solidFill>
          <a:ln w="7620">
            <a:solidFill>
              <a:srgbClr val="D1D9EA"/>
            </a:solidFill>
            <a:prstDash val="solid"/>
          </a:ln>
        </p:spPr>
      </p:sp>
      <p:sp>
        <p:nvSpPr>
          <p:cNvPr id="144" name="Text 142"/>
          <p:cNvSpPr/>
          <p:nvPr/>
        </p:nvSpPr>
        <p:spPr>
          <a:xfrm>
            <a:off x="5685282" y="2071116"/>
            <a:ext cx="589788" cy="397764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615" dirty="0" smtClean="0">
                <a:solidFill>
                  <a:srgbClr val="1118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3 </a:t>
            </a:r>
            <a:r>
              <a:rPr lang="en-US" sz="615" dirty="0">
                <a:solidFill>
                  <a:srgbClr val="1118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날짜 입력</a:t>
            </a:r>
            <a:endParaRPr lang="en-US" sz="615" dirty="0"/>
          </a:p>
        </p:txBody>
      </p:sp>
      <p:sp>
        <p:nvSpPr>
          <p:cNvPr id="145" name="Shape 143"/>
          <p:cNvSpPr/>
          <p:nvPr/>
        </p:nvSpPr>
        <p:spPr>
          <a:xfrm>
            <a:off x="6302502" y="2057400"/>
            <a:ext cx="2338578" cy="425196"/>
          </a:xfrm>
          <a:prstGeom prst="rect">
            <a:avLst/>
          </a:prstGeom>
          <a:solidFill>
            <a:srgbClr val="FFFFFF"/>
          </a:solidFill>
          <a:ln w="7620">
            <a:solidFill>
              <a:srgbClr val="D1D9EA"/>
            </a:solidFill>
            <a:prstDash val="solid"/>
          </a:ln>
        </p:spPr>
      </p:sp>
      <p:sp>
        <p:nvSpPr>
          <p:cNvPr id="146" name="Text 144"/>
          <p:cNvSpPr/>
          <p:nvPr/>
        </p:nvSpPr>
        <p:spPr>
          <a:xfrm>
            <a:off x="6329934" y="2071116"/>
            <a:ext cx="2283714" cy="397764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615" dirty="0">
                <a:solidFill>
                  <a:srgbClr val="1118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시작일/종료일 datepicker 적용</a:t>
            </a:r>
            <a:endParaRPr lang="en-US" sz="615" dirty="0"/>
          </a:p>
          <a:p>
            <a:r>
              <a:rPr lang="en-US" sz="615" dirty="0">
                <a:solidFill>
                  <a:srgbClr val="1118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프로젝트 기간 기초값으로 저장</a:t>
            </a:r>
            <a:endParaRPr lang="en-US" sz="615" dirty="0"/>
          </a:p>
        </p:txBody>
      </p:sp>
      <p:sp>
        <p:nvSpPr>
          <p:cNvPr id="147" name="Shape 145"/>
          <p:cNvSpPr/>
          <p:nvPr/>
        </p:nvSpPr>
        <p:spPr>
          <a:xfrm>
            <a:off x="5657850" y="2482596"/>
            <a:ext cx="644652" cy="603504"/>
          </a:xfrm>
          <a:prstGeom prst="rect">
            <a:avLst/>
          </a:prstGeom>
          <a:solidFill>
            <a:srgbClr val="FFFFFF"/>
          </a:solidFill>
          <a:ln w="7620">
            <a:solidFill>
              <a:srgbClr val="D1D9EA"/>
            </a:solidFill>
            <a:prstDash val="solid"/>
          </a:ln>
        </p:spPr>
      </p:sp>
      <p:sp>
        <p:nvSpPr>
          <p:cNvPr id="148" name="Text 146"/>
          <p:cNvSpPr/>
          <p:nvPr/>
        </p:nvSpPr>
        <p:spPr>
          <a:xfrm>
            <a:off x="5685282" y="2496312"/>
            <a:ext cx="589788" cy="576072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altLang="ko-KR" sz="615" dirty="0">
                <a:solidFill>
                  <a:srgbClr val="1118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4</a:t>
            </a:r>
            <a:r>
              <a:rPr lang="en-US" altLang="ko-KR" sz="615" dirty="0" smtClean="0">
                <a:solidFill>
                  <a:srgbClr val="1118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 </a:t>
            </a:r>
            <a:r>
              <a:rPr lang="en-US" sz="615" dirty="0" err="1" smtClean="0">
                <a:solidFill>
                  <a:srgbClr val="1118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기술스택</a:t>
            </a:r>
            <a:endParaRPr lang="en-US" sz="615" dirty="0"/>
          </a:p>
        </p:txBody>
      </p:sp>
      <p:sp>
        <p:nvSpPr>
          <p:cNvPr id="149" name="Shape 147"/>
          <p:cNvSpPr/>
          <p:nvPr/>
        </p:nvSpPr>
        <p:spPr>
          <a:xfrm>
            <a:off x="6302502" y="2482596"/>
            <a:ext cx="2338578" cy="603504"/>
          </a:xfrm>
          <a:prstGeom prst="rect">
            <a:avLst/>
          </a:prstGeom>
          <a:solidFill>
            <a:srgbClr val="FFFFFF"/>
          </a:solidFill>
          <a:ln w="7620">
            <a:solidFill>
              <a:srgbClr val="D1D9EA"/>
            </a:solidFill>
            <a:prstDash val="solid"/>
          </a:ln>
        </p:spPr>
      </p:sp>
      <p:sp>
        <p:nvSpPr>
          <p:cNvPr id="150" name="Text 148"/>
          <p:cNvSpPr/>
          <p:nvPr/>
        </p:nvSpPr>
        <p:spPr>
          <a:xfrm>
            <a:off x="6329934" y="2496312"/>
            <a:ext cx="2283714" cy="576072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615" dirty="0">
                <a:solidFill>
                  <a:srgbClr val="1118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보유 기술 태그 표시</a:t>
            </a:r>
            <a:endParaRPr lang="en-US" sz="615" dirty="0"/>
          </a:p>
          <a:p>
            <a:r>
              <a:rPr lang="en-US" sz="615" dirty="0">
                <a:solidFill>
                  <a:srgbClr val="1118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직접 입력 후 + 버튼 또는 Enter로 태그 추가</a:t>
            </a:r>
            <a:endParaRPr lang="en-US" sz="615" dirty="0"/>
          </a:p>
          <a:p>
            <a:r>
              <a:rPr lang="en-US" sz="615" dirty="0">
                <a:solidFill>
                  <a:srgbClr val="1118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추천 기술 버튼으로 빠른 추가</a:t>
            </a:r>
            <a:endParaRPr lang="en-US" sz="615" dirty="0"/>
          </a:p>
        </p:txBody>
      </p:sp>
      <p:sp>
        <p:nvSpPr>
          <p:cNvPr id="151" name="Shape 149"/>
          <p:cNvSpPr/>
          <p:nvPr/>
        </p:nvSpPr>
        <p:spPr>
          <a:xfrm>
            <a:off x="5657850" y="3086100"/>
            <a:ext cx="644652" cy="466344"/>
          </a:xfrm>
          <a:prstGeom prst="rect">
            <a:avLst/>
          </a:prstGeom>
          <a:solidFill>
            <a:srgbClr val="FFFFFF"/>
          </a:solidFill>
          <a:ln w="7620">
            <a:solidFill>
              <a:srgbClr val="D1D9EA"/>
            </a:solidFill>
            <a:prstDash val="solid"/>
          </a:ln>
        </p:spPr>
      </p:sp>
      <p:sp>
        <p:nvSpPr>
          <p:cNvPr id="152" name="Text 150"/>
          <p:cNvSpPr/>
          <p:nvPr/>
        </p:nvSpPr>
        <p:spPr>
          <a:xfrm>
            <a:off x="5685282" y="3099816"/>
            <a:ext cx="589788" cy="438912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615" dirty="0" smtClean="0">
                <a:solidFill>
                  <a:srgbClr val="1118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5 </a:t>
            </a:r>
            <a:r>
              <a:rPr lang="en-US" sz="615" dirty="0" err="1" smtClean="0">
                <a:solidFill>
                  <a:srgbClr val="1118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저장</a:t>
            </a:r>
            <a:r>
              <a:rPr lang="en-US" sz="615" dirty="0">
                <a:solidFill>
                  <a:srgbClr val="1118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/취소</a:t>
            </a:r>
            <a:endParaRPr lang="en-US" sz="615" dirty="0"/>
          </a:p>
        </p:txBody>
      </p:sp>
      <p:sp>
        <p:nvSpPr>
          <p:cNvPr id="153" name="Shape 151"/>
          <p:cNvSpPr/>
          <p:nvPr/>
        </p:nvSpPr>
        <p:spPr>
          <a:xfrm>
            <a:off x="6302502" y="3086100"/>
            <a:ext cx="2338578" cy="466344"/>
          </a:xfrm>
          <a:prstGeom prst="rect">
            <a:avLst/>
          </a:prstGeom>
          <a:solidFill>
            <a:srgbClr val="FFFFFF"/>
          </a:solidFill>
          <a:ln w="7620">
            <a:solidFill>
              <a:srgbClr val="D1D9EA"/>
            </a:solidFill>
            <a:prstDash val="solid"/>
          </a:ln>
        </p:spPr>
      </p:sp>
      <p:sp>
        <p:nvSpPr>
          <p:cNvPr id="154" name="Text 152"/>
          <p:cNvSpPr/>
          <p:nvPr/>
        </p:nvSpPr>
        <p:spPr>
          <a:xfrm>
            <a:off x="6329934" y="3099816"/>
            <a:ext cx="2283714" cy="438912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500" dirty="0">
                <a:solidFill>
                  <a:srgbClr val="111827"/>
                </a:solidFill>
                <a:latin typeface="+mn-ea"/>
                <a:cs typeface="Noto Sans CJK KR" pitchFamily="34" charset="-120"/>
              </a:rPr>
              <a:t>취소: 이전 화면 또는 목록으로 복귀</a:t>
            </a:r>
            <a:endParaRPr lang="en-US" sz="500" dirty="0">
              <a:latin typeface="+mn-ea"/>
            </a:endParaRPr>
          </a:p>
          <a:p>
            <a:r>
              <a:rPr lang="en-US" sz="500" dirty="0">
                <a:solidFill>
                  <a:srgbClr val="111827"/>
                </a:solidFill>
                <a:latin typeface="+mn-ea"/>
                <a:cs typeface="Noto Sans CJK KR" pitchFamily="34" charset="-120"/>
              </a:rPr>
              <a:t>등록: 입력 데이터 저장 후 상세 화면 이동</a:t>
            </a:r>
            <a:endParaRPr lang="en-US" sz="500" dirty="0">
              <a:latin typeface="+mn-ea"/>
            </a:endParaRPr>
          </a:p>
        </p:txBody>
      </p:sp>
      <p:sp>
        <p:nvSpPr>
          <p:cNvPr id="155" name="Shape 153"/>
          <p:cNvSpPr/>
          <p:nvPr/>
        </p:nvSpPr>
        <p:spPr>
          <a:xfrm>
            <a:off x="5657850" y="3552444"/>
            <a:ext cx="644652" cy="219456"/>
          </a:xfrm>
          <a:prstGeom prst="rect">
            <a:avLst/>
          </a:prstGeom>
          <a:solidFill>
            <a:srgbClr val="0F213A"/>
          </a:solidFill>
          <a:ln w="7620">
            <a:solidFill>
              <a:srgbClr val="D1D9EA"/>
            </a:solidFill>
            <a:prstDash val="solid"/>
          </a:ln>
        </p:spPr>
      </p:sp>
      <p:sp>
        <p:nvSpPr>
          <p:cNvPr id="156" name="Text 154"/>
          <p:cNvSpPr/>
          <p:nvPr/>
        </p:nvSpPr>
        <p:spPr>
          <a:xfrm>
            <a:off x="5685282" y="3566160"/>
            <a:ext cx="589788" cy="192024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pPr algn="ctr"/>
            <a:r>
              <a:rPr lang="en-US" sz="675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구분</a:t>
            </a:r>
            <a:endParaRPr lang="en-US" sz="675" dirty="0"/>
          </a:p>
        </p:txBody>
      </p:sp>
      <p:sp>
        <p:nvSpPr>
          <p:cNvPr id="157" name="Shape 155"/>
          <p:cNvSpPr/>
          <p:nvPr/>
        </p:nvSpPr>
        <p:spPr>
          <a:xfrm>
            <a:off x="6302502" y="3552444"/>
            <a:ext cx="2338578" cy="219456"/>
          </a:xfrm>
          <a:prstGeom prst="rect">
            <a:avLst/>
          </a:prstGeom>
          <a:solidFill>
            <a:srgbClr val="0F213A"/>
          </a:solidFill>
          <a:ln w="7620">
            <a:solidFill>
              <a:srgbClr val="D1D9EA"/>
            </a:solidFill>
            <a:prstDash val="solid"/>
          </a:ln>
        </p:spPr>
      </p:sp>
      <p:sp>
        <p:nvSpPr>
          <p:cNvPr id="158" name="Text 156"/>
          <p:cNvSpPr/>
          <p:nvPr/>
        </p:nvSpPr>
        <p:spPr>
          <a:xfrm>
            <a:off x="6329934" y="3566160"/>
            <a:ext cx="2283714" cy="192024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pPr algn="ctr"/>
            <a:r>
              <a:rPr lang="en-US" sz="675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수정/추가</a:t>
            </a:r>
            <a:endParaRPr lang="en-US" sz="675" dirty="0"/>
          </a:p>
        </p:txBody>
      </p:sp>
      <p:sp>
        <p:nvSpPr>
          <p:cNvPr id="159" name="Shape 157"/>
          <p:cNvSpPr/>
          <p:nvPr/>
        </p:nvSpPr>
        <p:spPr>
          <a:xfrm>
            <a:off x="5657850" y="3771900"/>
            <a:ext cx="644652" cy="425196"/>
          </a:xfrm>
          <a:prstGeom prst="rect">
            <a:avLst/>
          </a:prstGeom>
          <a:solidFill>
            <a:srgbClr val="FFFFFF"/>
          </a:solidFill>
          <a:ln w="7620">
            <a:solidFill>
              <a:srgbClr val="D1D9EA"/>
            </a:solidFill>
            <a:prstDash val="solid"/>
          </a:ln>
        </p:spPr>
      </p:sp>
      <p:sp>
        <p:nvSpPr>
          <p:cNvPr id="160" name="Text 158"/>
          <p:cNvSpPr/>
          <p:nvPr/>
        </p:nvSpPr>
        <p:spPr>
          <a:xfrm>
            <a:off x="5685282" y="3785616"/>
            <a:ext cx="589788" cy="397764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500" dirty="0">
                <a:solidFill>
                  <a:srgbClr val="111827"/>
                </a:solidFill>
                <a:latin typeface="+mn-ea"/>
                <a:cs typeface="Noto Sans CJK KR" pitchFamily="34" charset="-120"/>
              </a:rPr>
              <a:t>6</a:t>
            </a:r>
            <a:r>
              <a:rPr lang="en-US" sz="500" dirty="0" smtClean="0">
                <a:solidFill>
                  <a:srgbClr val="111827"/>
                </a:solidFill>
                <a:latin typeface="+mn-ea"/>
                <a:cs typeface="Noto Sans CJK KR" pitchFamily="34" charset="-120"/>
              </a:rPr>
              <a:t> </a:t>
            </a:r>
            <a:r>
              <a:rPr lang="en-US" sz="500" dirty="0">
                <a:solidFill>
                  <a:srgbClr val="111827"/>
                </a:solidFill>
                <a:latin typeface="+mn-ea"/>
                <a:cs typeface="Noto Sans CJK KR" pitchFamily="34" charset="-120"/>
              </a:rPr>
              <a:t>검증/예외</a:t>
            </a:r>
            <a:endParaRPr lang="en-US" sz="500" dirty="0">
              <a:latin typeface="+mn-ea"/>
            </a:endParaRPr>
          </a:p>
        </p:txBody>
      </p:sp>
      <p:sp>
        <p:nvSpPr>
          <p:cNvPr id="161" name="Shape 159"/>
          <p:cNvSpPr/>
          <p:nvPr/>
        </p:nvSpPr>
        <p:spPr>
          <a:xfrm>
            <a:off x="6302502" y="3771900"/>
            <a:ext cx="2338578" cy="425196"/>
          </a:xfrm>
          <a:prstGeom prst="rect">
            <a:avLst/>
          </a:prstGeom>
          <a:solidFill>
            <a:srgbClr val="FFFFFF"/>
          </a:solidFill>
          <a:ln w="7620">
            <a:solidFill>
              <a:srgbClr val="D1D9EA"/>
            </a:solidFill>
            <a:prstDash val="solid"/>
          </a:ln>
        </p:spPr>
      </p:sp>
      <p:sp>
        <p:nvSpPr>
          <p:cNvPr id="162" name="Text 160"/>
          <p:cNvSpPr/>
          <p:nvPr/>
        </p:nvSpPr>
        <p:spPr>
          <a:xfrm>
            <a:off x="6329934" y="3785616"/>
            <a:ext cx="2283714" cy="397764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500" dirty="0">
                <a:solidFill>
                  <a:srgbClr val="111827"/>
                </a:solidFill>
                <a:latin typeface="+mn-ea"/>
                <a:cs typeface="Noto Sans CJK KR" pitchFamily="34" charset="-120"/>
              </a:rPr>
              <a:t>필수값 미입력 시 해당 입력칸 붉은 테두리 표시</a:t>
            </a:r>
            <a:endParaRPr lang="en-US" sz="500" dirty="0">
              <a:latin typeface="+mn-ea"/>
            </a:endParaRPr>
          </a:p>
          <a:p>
            <a:r>
              <a:rPr lang="en-US" sz="500" dirty="0">
                <a:solidFill>
                  <a:srgbClr val="111827"/>
                </a:solidFill>
                <a:latin typeface="+mn-ea"/>
                <a:cs typeface="Noto Sans CJK KR" pitchFamily="34" charset="-120"/>
              </a:rPr>
              <a:t>입력창 하단 안내 문구 노출</a:t>
            </a:r>
            <a:endParaRPr lang="en-US" sz="500" dirty="0">
              <a:latin typeface="+mn-ea"/>
            </a:endParaRPr>
          </a:p>
        </p:txBody>
      </p:sp>
      <p:sp>
        <p:nvSpPr>
          <p:cNvPr id="163" name="Shape 161"/>
          <p:cNvSpPr/>
          <p:nvPr/>
        </p:nvSpPr>
        <p:spPr>
          <a:xfrm>
            <a:off x="5657850" y="4197096"/>
            <a:ext cx="644652" cy="425196"/>
          </a:xfrm>
          <a:prstGeom prst="rect">
            <a:avLst/>
          </a:prstGeom>
          <a:solidFill>
            <a:srgbClr val="FFFFFF"/>
          </a:solidFill>
          <a:ln w="7620">
            <a:solidFill>
              <a:srgbClr val="D1D9EA"/>
            </a:solidFill>
            <a:prstDash val="solid"/>
          </a:ln>
        </p:spPr>
      </p:sp>
      <p:sp>
        <p:nvSpPr>
          <p:cNvPr id="164" name="Text 162"/>
          <p:cNvSpPr/>
          <p:nvPr/>
        </p:nvSpPr>
        <p:spPr>
          <a:xfrm>
            <a:off x="5685282" y="4210812"/>
            <a:ext cx="589788" cy="397764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500" dirty="0">
                <a:solidFill>
                  <a:srgbClr val="111827"/>
                </a:solidFill>
                <a:latin typeface="+mn-ea"/>
                <a:cs typeface="Noto Sans CJK KR" pitchFamily="34" charset="-120"/>
              </a:rPr>
              <a:t>7</a:t>
            </a:r>
            <a:r>
              <a:rPr lang="en-US" sz="500" dirty="0" smtClean="0">
                <a:solidFill>
                  <a:srgbClr val="111827"/>
                </a:solidFill>
                <a:latin typeface="+mn-ea"/>
                <a:cs typeface="Noto Sans CJK KR" pitchFamily="34" charset="-120"/>
              </a:rPr>
              <a:t> </a:t>
            </a:r>
            <a:r>
              <a:rPr lang="en-US" sz="500" dirty="0">
                <a:solidFill>
                  <a:srgbClr val="111827"/>
                </a:solidFill>
                <a:latin typeface="+mn-ea"/>
                <a:cs typeface="Noto Sans CJK KR" pitchFamily="34" charset="-120"/>
              </a:rPr>
              <a:t>등록 정보 미리보기</a:t>
            </a:r>
            <a:endParaRPr lang="en-US" sz="500" dirty="0">
              <a:latin typeface="+mn-ea"/>
            </a:endParaRPr>
          </a:p>
        </p:txBody>
      </p:sp>
      <p:sp>
        <p:nvSpPr>
          <p:cNvPr id="165" name="Shape 163"/>
          <p:cNvSpPr/>
          <p:nvPr/>
        </p:nvSpPr>
        <p:spPr>
          <a:xfrm>
            <a:off x="6302502" y="4197096"/>
            <a:ext cx="2338578" cy="425196"/>
          </a:xfrm>
          <a:prstGeom prst="rect">
            <a:avLst/>
          </a:prstGeom>
          <a:solidFill>
            <a:srgbClr val="FFFFFF"/>
          </a:solidFill>
          <a:ln w="7620">
            <a:solidFill>
              <a:srgbClr val="D1D9EA"/>
            </a:solidFill>
            <a:prstDash val="solid"/>
          </a:ln>
        </p:spPr>
      </p:sp>
      <p:sp>
        <p:nvSpPr>
          <p:cNvPr id="166" name="Text 164"/>
          <p:cNvSpPr/>
          <p:nvPr/>
        </p:nvSpPr>
        <p:spPr>
          <a:xfrm>
            <a:off x="6329934" y="4210812"/>
            <a:ext cx="2283714" cy="397764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500" dirty="0">
                <a:solidFill>
                  <a:srgbClr val="111827"/>
                </a:solidFill>
                <a:latin typeface="+mn-ea"/>
                <a:cs typeface="Noto Sans CJK KR" pitchFamily="34" charset="-120"/>
              </a:rPr>
              <a:t>입력값 변경 시 하단 미리보기 즉시 반영</a:t>
            </a:r>
            <a:endParaRPr lang="en-US" sz="500" dirty="0">
              <a:latin typeface="+mn-ea"/>
            </a:endParaRPr>
          </a:p>
          <a:p>
            <a:r>
              <a:rPr lang="en-US" sz="500" dirty="0">
                <a:solidFill>
                  <a:srgbClr val="111827"/>
                </a:solidFill>
                <a:latin typeface="+mn-ea"/>
                <a:cs typeface="Noto Sans CJK KR" pitchFamily="34" charset="-120"/>
              </a:rPr>
              <a:t>상태는 배지 형태로 표시</a:t>
            </a:r>
            <a:endParaRPr lang="en-US" sz="500" dirty="0">
              <a:latin typeface="+mn-ea"/>
            </a:endParaRPr>
          </a:p>
        </p:txBody>
      </p:sp>
      <p:sp>
        <p:nvSpPr>
          <p:cNvPr id="169" name="Text 167"/>
          <p:cNvSpPr/>
          <p:nvPr/>
        </p:nvSpPr>
        <p:spPr>
          <a:xfrm>
            <a:off x="425196" y="4848606"/>
            <a:ext cx="2880360" cy="82296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/>
          </a:bodyPr>
          <a:lstStyle/>
          <a:p>
            <a:r>
              <a:rPr lang="en-US" sz="510" dirty="0">
                <a:solidFill>
                  <a:srgbClr val="0F213A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* 본 문서는 화면 설계 검토용이며, 실제 구현 상태와 다를 수 있습니다.</a:t>
            </a:r>
            <a:endParaRPr lang="en-US" sz="510" dirty="0"/>
          </a:p>
        </p:txBody>
      </p:sp>
      <p:pic>
        <p:nvPicPr>
          <p:cNvPr id="171" name="그림 17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66139" y="4638290"/>
            <a:ext cx="2160096" cy="463494"/>
          </a:xfrm>
          <a:prstGeom prst="rect">
            <a:avLst/>
          </a:prstGeom>
        </p:spPr>
      </p:pic>
      <p:sp>
        <p:nvSpPr>
          <p:cNvPr id="172" name="TextBox 171"/>
          <p:cNvSpPr txBox="1"/>
          <p:nvPr/>
        </p:nvSpPr>
        <p:spPr>
          <a:xfrm>
            <a:off x="7471791" y="4697586"/>
            <a:ext cx="1169289" cy="287387"/>
          </a:xfrm>
          <a:prstGeom prst="rect">
            <a:avLst/>
          </a:prstGeom>
          <a:noFill/>
        </p:spPr>
        <p:txBody>
          <a:bodyPr wrap="square" lIns="10287" tIns="5144" rIns="10287" bIns="5144">
            <a:spAutoFit/>
          </a:bodyPr>
          <a:lstStyle/>
          <a:p>
            <a:pPr algn="l">
              <a:defRPr sz="700" b="0">
                <a:solidFill>
                  <a:srgbClr val="111C31"/>
                </a:solidFill>
                <a:latin typeface="Noto Sans CJK KR"/>
              </a:defRPr>
            </a:pPr>
            <a:r>
              <a:rPr sz="600" dirty="0" err="1"/>
              <a:t>검증</a:t>
            </a:r>
            <a:r>
              <a:rPr sz="600" dirty="0"/>
              <a:t> </a:t>
            </a:r>
            <a:r>
              <a:rPr sz="600" dirty="0" err="1"/>
              <a:t>상태</a:t>
            </a:r>
            <a:r>
              <a:rPr sz="600" dirty="0"/>
              <a:t> </a:t>
            </a:r>
            <a:r>
              <a:rPr sz="600" dirty="0" err="1"/>
              <a:t>예시</a:t>
            </a:r>
            <a:r>
              <a:rPr sz="600" dirty="0"/>
              <a:t/>
            </a:r>
            <a:br>
              <a:rPr sz="600" dirty="0"/>
            </a:br>
            <a:r>
              <a:rPr sz="600" dirty="0" err="1"/>
              <a:t>필수값</a:t>
            </a:r>
            <a:r>
              <a:rPr sz="600" dirty="0"/>
              <a:t> </a:t>
            </a:r>
            <a:r>
              <a:rPr sz="600" dirty="0" err="1"/>
              <a:t>누락</a:t>
            </a:r>
            <a:r>
              <a:rPr sz="600" dirty="0"/>
              <a:t> 시 </a:t>
            </a:r>
            <a:r>
              <a:rPr sz="600" dirty="0" err="1"/>
              <a:t>입력</a:t>
            </a:r>
            <a:r>
              <a:rPr sz="600" dirty="0"/>
              <a:t> </a:t>
            </a:r>
            <a:r>
              <a:rPr sz="600" dirty="0" err="1"/>
              <a:t>영역과</a:t>
            </a:r>
            <a:r>
              <a:rPr sz="600" dirty="0"/>
              <a:t> </a:t>
            </a:r>
            <a:r>
              <a:rPr sz="600" dirty="0" err="1"/>
              <a:t>안내</a:t>
            </a:r>
            <a:r>
              <a:rPr sz="600" dirty="0"/>
              <a:t> </a:t>
            </a:r>
            <a:r>
              <a:rPr sz="600" dirty="0" err="1"/>
              <a:t>문구를</a:t>
            </a:r>
            <a:r>
              <a:rPr sz="600" dirty="0"/>
              <a:t> </a:t>
            </a:r>
            <a:r>
              <a:rPr sz="600" dirty="0" err="1"/>
              <a:t>동시에</a:t>
            </a:r>
            <a:r>
              <a:rPr sz="600" dirty="0"/>
              <a:t> </a:t>
            </a:r>
            <a:r>
              <a:rPr sz="600" dirty="0" err="1"/>
              <a:t>노출</a:t>
            </a:r>
            <a:endParaRPr sz="600" dirty="0"/>
          </a:p>
        </p:txBody>
      </p:sp>
    </p:spTree>
    <p:extLst>
      <p:ext uri="{BB962C8B-B14F-4D97-AF65-F5344CB8AC3E}">
        <p14:creationId xmlns:p14="http://schemas.microsoft.com/office/powerpoint/2010/main" val="115004270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37160" y="61722"/>
            <a:ext cx="8867394" cy="397764"/>
          </a:xfrm>
          <a:prstGeom prst="rect">
            <a:avLst/>
          </a:prstGeom>
          <a:solidFill>
            <a:srgbClr val="0F213A"/>
          </a:solidFill>
          <a:ln w="12700">
            <a:solidFill>
              <a:srgbClr val="0F213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25196" y="164592"/>
            <a:ext cx="1028700" cy="123444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 lnSpcReduction="10000"/>
          </a:bodyPr>
          <a:lstStyle/>
          <a:p>
            <a:r>
              <a:rPr lang="en-US" sz="825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Peoplify UI 기획서</a:t>
            </a:r>
            <a:endParaRPr lang="en-US" sz="825" dirty="0"/>
          </a:p>
        </p:txBody>
      </p:sp>
      <p:sp>
        <p:nvSpPr>
          <p:cNvPr id="4" name="Text 2"/>
          <p:cNvSpPr/>
          <p:nvPr/>
        </p:nvSpPr>
        <p:spPr>
          <a:xfrm>
            <a:off x="3051810" y="123444"/>
            <a:ext cx="3051810" cy="192024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 fontScale="92500" lnSpcReduction="20000"/>
          </a:bodyPr>
          <a:lstStyle/>
          <a:p>
            <a:pPr algn="ctr"/>
            <a:r>
              <a:rPr lang="en-US" sz="165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프로젝트 수정 화면 설계</a:t>
            </a:r>
            <a:endParaRPr lang="en-US" sz="1650" dirty="0"/>
          </a:p>
        </p:txBody>
      </p:sp>
      <p:sp>
        <p:nvSpPr>
          <p:cNvPr id="5" name="Text 3"/>
          <p:cNvSpPr/>
          <p:nvPr/>
        </p:nvSpPr>
        <p:spPr>
          <a:xfrm>
            <a:off x="6981444" y="164592"/>
            <a:ext cx="1508760" cy="96012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/>
          </a:bodyPr>
          <a:lstStyle/>
          <a:p>
            <a:pPr algn="r"/>
            <a:r>
              <a:rPr lang="en-US" sz="540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project 도메인 · /project/project-edit/:id</a:t>
            </a:r>
            <a:endParaRPr lang="en-US" sz="540" dirty="0"/>
          </a:p>
        </p:txBody>
      </p:sp>
      <p:sp>
        <p:nvSpPr>
          <p:cNvPr id="6" name="Text 4"/>
          <p:cNvSpPr/>
          <p:nvPr/>
        </p:nvSpPr>
        <p:spPr>
          <a:xfrm>
            <a:off x="8586216" y="164592"/>
            <a:ext cx="171450" cy="96012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/>
          </a:bodyPr>
          <a:lstStyle/>
          <a:p>
            <a:pPr algn="r"/>
            <a:r>
              <a:rPr lang="en-US" sz="615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07</a:t>
            </a:r>
            <a:endParaRPr lang="en-US" sz="615" dirty="0"/>
          </a:p>
        </p:txBody>
      </p:sp>
      <p:sp>
        <p:nvSpPr>
          <p:cNvPr id="7" name="Text 5"/>
          <p:cNvSpPr/>
          <p:nvPr/>
        </p:nvSpPr>
        <p:spPr>
          <a:xfrm>
            <a:off x="493776" y="665226"/>
            <a:ext cx="822960" cy="150876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/>
          </a:bodyPr>
          <a:lstStyle/>
          <a:p>
            <a:r>
              <a:rPr lang="en-US" sz="975" b="1" dirty="0">
                <a:solidFill>
                  <a:srgbClr val="0F213A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화면 설계</a:t>
            </a:r>
            <a:endParaRPr lang="en-US" sz="975" dirty="0"/>
          </a:p>
        </p:txBody>
      </p:sp>
      <p:sp>
        <p:nvSpPr>
          <p:cNvPr id="8" name="Shape 6"/>
          <p:cNvSpPr/>
          <p:nvPr/>
        </p:nvSpPr>
        <p:spPr>
          <a:xfrm>
            <a:off x="356616" y="884682"/>
            <a:ext cx="5143500" cy="3394710"/>
          </a:xfrm>
          <a:prstGeom prst="roundRect">
            <a:avLst>
              <a:gd name="adj" fmla="val 1010"/>
            </a:avLst>
          </a:prstGeom>
          <a:solidFill>
            <a:srgbClr val="FFFFFF"/>
          </a:solidFill>
          <a:ln w="8890">
            <a:solidFill>
              <a:srgbClr val="D1D9E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45770" y="1014984"/>
            <a:ext cx="4937760" cy="3188970"/>
          </a:xfrm>
          <a:prstGeom prst="rect">
            <a:avLst/>
          </a:prstGeom>
          <a:solidFill>
            <a:srgbClr val="1F1D3A"/>
          </a:solidFill>
          <a:ln w="12700">
            <a:solidFill>
              <a:srgbClr val="1F1D3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45770" y="1014984"/>
            <a:ext cx="973836" cy="3188970"/>
          </a:xfrm>
          <a:prstGeom prst="rect">
            <a:avLst/>
          </a:prstGeom>
          <a:solidFill>
            <a:srgbClr val="302E4D"/>
          </a:solidFill>
          <a:ln w="12700">
            <a:solidFill>
              <a:srgbClr val="302E4D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419606" y="1014984"/>
            <a:ext cx="3963924" cy="377190"/>
          </a:xfrm>
          <a:prstGeom prst="rect">
            <a:avLst/>
          </a:prstGeom>
          <a:solidFill>
            <a:srgbClr val="33314F"/>
          </a:solidFill>
          <a:ln w="12700">
            <a:solidFill>
              <a:srgbClr val="33314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28066" y="1110996"/>
            <a:ext cx="754380" cy="96012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/>
          </a:bodyPr>
          <a:lstStyle/>
          <a:p>
            <a:r>
              <a:rPr lang="en-US" sz="51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⚙  인력관리 시스템</a:t>
            </a:r>
            <a:endParaRPr lang="en-US" sz="510" dirty="0"/>
          </a:p>
        </p:txBody>
      </p:sp>
      <p:sp>
        <p:nvSpPr>
          <p:cNvPr id="13" name="Text 11"/>
          <p:cNvSpPr/>
          <p:nvPr/>
        </p:nvSpPr>
        <p:spPr>
          <a:xfrm>
            <a:off x="637794" y="1207008"/>
            <a:ext cx="480060" cy="61722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/>
          </a:bodyPr>
          <a:lstStyle/>
          <a:p>
            <a:r>
              <a:rPr lang="en-US" sz="353" dirty="0">
                <a:solidFill>
                  <a:srgbClr val="C8C5E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Peoplify v1.0</a:t>
            </a:r>
            <a:endParaRPr lang="en-US" sz="353" dirty="0"/>
          </a:p>
        </p:txBody>
      </p:sp>
      <p:sp>
        <p:nvSpPr>
          <p:cNvPr id="14" name="Text 12"/>
          <p:cNvSpPr/>
          <p:nvPr/>
        </p:nvSpPr>
        <p:spPr>
          <a:xfrm>
            <a:off x="534924" y="1495044"/>
            <a:ext cx="342900" cy="68580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/>
          </a:bodyPr>
          <a:lstStyle/>
          <a:p>
            <a:r>
              <a:rPr lang="en-US" sz="368" dirty="0">
                <a:solidFill>
                  <a:srgbClr val="B5B2D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메인 메뉴</a:t>
            </a:r>
            <a:endParaRPr lang="en-US" sz="368" dirty="0"/>
          </a:p>
        </p:txBody>
      </p:sp>
      <p:sp>
        <p:nvSpPr>
          <p:cNvPr id="15" name="Text 13"/>
          <p:cNvSpPr/>
          <p:nvPr/>
        </p:nvSpPr>
        <p:spPr>
          <a:xfrm>
            <a:off x="541782" y="1687068"/>
            <a:ext cx="89154" cy="822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413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▦</a:t>
            </a:r>
            <a:endParaRPr lang="en-US" sz="413" dirty="0"/>
          </a:p>
        </p:txBody>
      </p:sp>
      <p:sp>
        <p:nvSpPr>
          <p:cNvPr id="16" name="Text 14"/>
          <p:cNvSpPr/>
          <p:nvPr/>
        </p:nvSpPr>
        <p:spPr>
          <a:xfrm>
            <a:off x="665226" y="1687068"/>
            <a:ext cx="562356" cy="822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413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대시보드</a:t>
            </a:r>
            <a:endParaRPr lang="en-US" sz="413" dirty="0"/>
          </a:p>
        </p:txBody>
      </p:sp>
      <p:sp>
        <p:nvSpPr>
          <p:cNvPr id="17" name="Text 15"/>
          <p:cNvSpPr/>
          <p:nvPr/>
        </p:nvSpPr>
        <p:spPr>
          <a:xfrm>
            <a:off x="1248156" y="1687068"/>
            <a:ext cx="54864" cy="822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375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⌄</a:t>
            </a:r>
            <a:endParaRPr lang="en-US" sz="375" dirty="0"/>
          </a:p>
        </p:txBody>
      </p:sp>
      <p:sp>
        <p:nvSpPr>
          <p:cNvPr id="18" name="Shape 16"/>
          <p:cNvSpPr/>
          <p:nvPr/>
        </p:nvSpPr>
        <p:spPr>
          <a:xfrm>
            <a:off x="507492" y="1923669"/>
            <a:ext cx="857250" cy="164592"/>
          </a:xfrm>
          <a:prstGeom prst="roundRect">
            <a:avLst>
              <a:gd name="adj" fmla="val 16667"/>
            </a:avLst>
          </a:prstGeom>
          <a:solidFill>
            <a:srgbClr val="3C395D"/>
          </a:solidFill>
          <a:ln w="12700">
            <a:solidFill>
              <a:srgbClr val="3C395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41782" y="1933956"/>
            <a:ext cx="89154" cy="822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413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♟</a:t>
            </a:r>
            <a:endParaRPr lang="en-US" sz="413" dirty="0"/>
          </a:p>
        </p:txBody>
      </p:sp>
      <p:sp>
        <p:nvSpPr>
          <p:cNvPr id="20" name="Text 18"/>
          <p:cNvSpPr/>
          <p:nvPr/>
        </p:nvSpPr>
        <p:spPr>
          <a:xfrm>
            <a:off x="665226" y="1933956"/>
            <a:ext cx="562356" cy="822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413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직원관리</a:t>
            </a:r>
            <a:endParaRPr lang="en-US" sz="413" dirty="0"/>
          </a:p>
        </p:txBody>
      </p:sp>
      <p:sp>
        <p:nvSpPr>
          <p:cNvPr id="21" name="Text 19"/>
          <p:cNvSpPr/>
          <p:nvPr/>
        </p:nvSpPr>
        <p:spPr>
          <a:xfrm>
            <a:off x="1248156" y="1933956"/>
            <a:ext cx="54864" cy="822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375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⌄</a:t>
            </a:r>
            <a:endParaRPr lang="en-US" sz="375" dirty="0"/>
          </a:p>
        </p:txBody>
      </p:sp>
      <p:sp>
        <p:nvSpPr>
          <p:cNvPr id="22" name="Text 20"/>
          <p:cNvSpPr/>
          <p:nvPr/>
        </p:nvSpPr>
        <p:spPr>
          <a:xfrm>
            <a:off x="541782" y="2180844"/>
            <a:ext cx="89154" cy="822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413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□</a:t>
            </a:r>
            <a:endParaRPr lang="en-US" sz="413" dirty="0"/>
          </a:p>
        </p:txBody>
      </p:sp>
      <p:sp>
        <p:nvSpPr>
          <p:cNvPr id="23" name="Text 21"/>
          <p:cNvSpPr/>
          <p:nvPr/>
        </p:nvSpPr>
        <p:spPr>
          <a:xfrm>
            <a:off x="665226" y="2180844"/>
            <a:ext cx="562356" cy="822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413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프로젝트</a:t>
            </a:r>
            <a:endParaRPr lang="en-US" sz="413" dirty="0"/>
          </a:p>
        </p:txBody>
      </p:sp>
      <p:sp>
        <p:nvSpPr>
          <p:cNvPr id="24" name="Text 22"/>
          <p:cNvSpPr/>
          <p:nvPr/>
        </p:nvSpPr>
        <p:spPr>
          <a:xfrm>
            <a:off x="1248156" y="2180844"/>
            <a:ext cx="54864" cy="822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375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⌄</a:t>
            </a:r>
            <a:endParaRPr lang="en-US" sz="375" dirty="0"/>
          </a:p>
        </p:txBody>
      </p:sp>
      <p:sp>
        <p:nvSpPr>
          <p:cNvPr id="25" name="Text 23"/>
          <p:cNvSpPr/>
          <p:nvPr/>
        </p:nvSpPr>
        <p:spPr>
          <a:xfrm>
            <a:off x="541782" y="2434590"/>
            <a:ext cx="89154" cy="822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413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⊕</a:t>
            </a:r>
            <a:endParaRPr lang="en-US" sz="413" dirty="0"/>
          </a:p>
        </p:txBody>
      </p:sp>
      <p:sp>
        <p:nvSpPr>
          <p:cNvPr id="26" name="Text 24"/>
          <p:cNvSpPr/>
          <p:nvPr/>
        </p:nvSpPr>
        <p:spPr>
          <a:xfrm>
            <a:off x="665226" y="2434590"/>
            <a:ext cx="562356" cy="822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413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근태관리</a:t>
            </a:r>
            <a:endParaRPr lang="en-US" sz="413" dirty="0"/>
          </a:p>
        </p:txBody>
      </p:sp>
      <p:sp>
        <p:nvSpPr>
          <p:cNvPr id="27" name="Text 25"/>
          <p:cNvSpPr/>
          <p:nvPr/>
        </p:nvSpPr>
        <p:spPr>
          <a:xfrm>
            <a:off x="1248156" y="2434590"/>
            <a:ext cx="54864" cy="822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375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⌄</a:t>
            </a:r>
            <a:endParaRPr lang="en-US" sz="375" dirty="0"/>
          </a:p>
        </p:txBody>
      </p:sp>
      <p:sp>
        <p:nvSpPr>
          <p:cNvPr id="28" name="Text 26"/>
          <p:cNvSpPr/>
          <p:nvPr/>
        </p:nvSpPr>
        <p:spPr>
          <a:xfrm>
            <a:off x="541782" y="2681478"/>
            <a:ext cx="89154" cy="822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413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▥</a:t>
            </a:r>
            <a:endParaRPr lang="en-US" sz="413" dirty="0"/>
          </a:p>
        </p:txBody>
      </p:sp>
      <p:sp>
        <p:nvSpPr>
          <p:cNvPr id="29" name="Text 27"/>
          <p:cNvSpPr/>
          <p:nvPr/>
        </p:nvSpPr>
        <p:spPr>
          <a:xfrm>
            <a:off x="665226" y="2681478"/>
            <a:ext cx="562356" cy="822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413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리포트</a:t>
            </a:r>
            <a:endParaRPr lang="en-US" sz="413" dirty="0"/>
          </a:p>
        </p:txBody>
      </p:sp>
      <p:sp>
        <p:nvSpPr>
          <p:cNvPr id="30" name="Text 28"/>
          <p:cNvSpPr/>
          <p:nvPr/>
        </p:nvSpPr>
        <p:spPr>
          <a:xfrm>
            <a:off x="1248156" y="2681478"/>
            <a:ext cx="54864" cy="822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375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⌄</a:t>
            </a:r>
            <a:endParaRPr lang="en-US" sz="375" dirty="0"/>
          </a:p>
        </p:txBody>
      </p:sp>
      <p:sp>
        <p:nvSpPr>
          <p:cNvPr id="31" name="Text 29"/>
          <p:cNvSpPr/>
          <p:nvPr/>
        </p:nvSpPr>
        <p:spPr>
          <a:xfrm>
            <a:off x="534924" y="2935224"/>
            <a:ext cx="514350" cy="68580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/>
          </a:bodyPr>
          <a:lstStyle/>
          <a:p>
            <a:r>
              <a:rPr lang="en-US" sz="345" dirty="0">
                <a:solidFill>
                  <a:srgbClr val="8E8BAE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퍼플리싱(임시)</a:t>
            </a:r>
            <a:endParaRPr lang="en-US" sz="345" dirty="0"/>
          </a:p>
        </p:txBody>
      </p:sp>
      <p:sp>
        <p:nvSpPr>
          <p:cNvPr id="32" name="Text 30"/>
          <p:cNvSpPr/>
          <p:nvPr/>
        </p:nvSpPr>
        <p:spPr>
          <a:xfrm>
            <a:off x="541782" y="3127248"/>
            <a:ext cx="89154" cy="822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413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▦</a:t>
            </a:r>
            <a:endParaRPr lang="en-US" sz="413" dirty="0"/>
          </a:p>
        </p:txBody>
      </p:sp>
      <p:sp>
        <p:nvSpPr>
          <p:cNvPr id="33" name="Text 31"/>
          <p:cNvSpPr/>
          <p:nvPr/>
        </p:nvSpPr>
        <p:spPr>
          <a:xfrm>
            <a:off x="665226" y="3127248"/>
            <a:ext cx="562356" cy="822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413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대시보드</a:t>
            </a:r>
            <a:endParaRPr lang="en-US" sz="413" dirty="0"/>
          </a:p>
        </p:txBody>
      </p:sp>
      <p:sp>
        <p:nvSpPr>
          <p:cNvPr id="34" name="Text 32"/>
          <p:cNvSpPr/>
          <p:nvPr/>
        </p:nvSpPr>
        <p:spPr>
          <a:xfrm>
            <a:off x="1248156" y="3127248"/>
            <a:ext cx="54864" cy="822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375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⌄</a:t>
            </a:r>
            <a:endParaRPr lang="en-US" sz="375" dirty="0"/>
          </a:p>
        </p:txBody>
      </p:sp>
      <p:sp>
        <p:nvSpPr>
          <p:cNvPr id="35" name="Text 33"/>
          <p:cNvSpPr/>
          <p:nvPr/>
        </p:nvSpPr>
        <p:spPr>
          <a:xfrm>
            <a:off x="541782" y="3374136"/>
            <a:ext cx="89154" cy="822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413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□</a:t>
            </a:r>
            <a:endParaRPr lang="en-US" sz="413" dirty="0"/>
          </a:p>
        </p:txBody>
      </p:sp>
      <p:sp>
        <p:nvSpPr>
          <p:cNvPr id="36" name="Text 34"/>
          <p:cNvSpPr/>
          <p:nvPr/>
        </p:nvSpPr>
        <p:spPr>
          <a:xfrm>
            <a:off x="665226" y="3374136"/>
            <a:ext cx="562356" cy="822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413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프로젝트</a:t>
            </a:r>
            <a:endParaRPr lang="en-US" sz="413" dirty="0"/>
          </a:p>
        </p:txBody>
      </p:sp>
      <p:sp>
        <p:nvSpPr>
          <p:cNvPr id="37" name="Text 35"/>
          <p:cNvSpPr/>
          <p:nvPr/>
        </p:nvSpPr>
        <p:spPr>
          <a:xfrm>
            <a:off x="1248156" y="3374136"/>
            <a:ext cx="54864" cy="822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375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⌄</a:t>
            </a:r>
            <a:endParaRPr lang="en-US" sz="375" dirty="0"/>
          </a:p>
        </p:txBody>
      </p:sp>
      <p:sp>
        <p:nvSpPr>
          <p:cNvPr id="38" name="Text 36"/>
          <p:cNvSpPr/>
          <p:nvPr/>
        </p:nvSpPr>
        <p:spPr>
          <a:xfrm>
            <a:off x="541782" y="3621024"/>
            <a:ext cx="89154" cy="822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413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⊕</a:t>
            </a:r>
            <a:endParaRPr lang="en-US" sz="413" dirty="0"/>
          </a:p>
        </p:txBody>
      </p:sp>
      <p:sp>
        <p:nvSpPr>
          <p:cNvPr id="39" name="Text 37"/>
          <p:cNvSpPr/>
          <p:nvPr/>
        </p:nvSpPr>
        <p:spPr>
          <a:xfrm>
            <a:off x="665226" y="3621024"/>
            <a:ext cx="562356" cy="822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413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근태관리</a:t>
            </a:r>
            <a:endParaRPr lang="en-US" sz="413" dirty="0"/>
          </a:p>
        </p:txBody>
      </p:sp>
      <p:sp>
        <p:nvSpPr>
          <p:cNvPr id="40" name="Text 38"/>
          <p:cNvSpPr/>
          <p:nvPr/>
        </p:nvSpPr>
        <p:spPr>
          <a:xfrm>
            <a:off x="1248156" y="3621024"/>
            <a:ext cx="54864" cy="822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375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⌄</a:t>
            </a:r>
            <a:endParaRPr lang="en-US" sz="375" dirty="0"/>
          </a:p>
        </p:txBody>
      </p:sp>
      <p:sp>
        <p:nvSpPr>
          <p:cNvPr id="41" name="Text 39"/>
          <p:cNvSpPr/>
          <p:nvPr/>
        </p:nvSpPr>
        <p:spPr>
          <a:xfrm>
            <a:off x="534924" y="3929634"/>
            <a:ext cx="480060" cy="82296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/>
          </a:bodyPr>
          <a:lstStyle/>
          <a:p>
            <a:r>
              <a:rPr lang="en-US" sz="398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↪  로그인</a:t>
            </a:r>
            <a:endParaRPr lang="en-US" sz="398" dirty="0"/>
          </a:p>
        </p:txBody>
      </p:sp>
      <p:sp>
        <p:nvSpPr>
          <p:cNvPr id="42" name="Shape 40"/>
          <p:cNvSpPr/>
          <p:nvPr/>
        </p:nvSpPr>
        <p:spPr>
          <a:xfrm>
            <a:off x="1508760" y="1097280"/>
            <a:ext cx="171450" cy="192024"/>
          </a:xfrm>
          <a:prstGeom prst="roundRect">
            <a:avLst>
              <a:gd name="adj" fmla="val 14000"/>
            </a:avLst>
          </a:prstGeom>
          <a:solidFill>
            <a:srgbClr val="2C2A49"/>
          </a:solidFill>
          <a:ln w="6985">
            <a:solidFill>
              <a:srgbClr val="5D5A82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543050" y="1145286"/>
            <a:ext cx="82296" cy="54864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 fontScale="92500" lnSpcReduction="20000"/>
          </a:bodyPr>
          <a:lstStyle/>
          <a:p>
            <a:pPr algn="ctr"/>
            <a:r>
              <a:rPr lang="en-US" sz="435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☰</a:t>
            </a:r>
            <a:endParaRPr lang="en-US" sz="435" dirty="0"/>
          </a:p>
        </p:txBody>
      </p:sp>
      <p:sp>
        <p:nvSpPr>
          <p:cNvPr id="44" name="Shape 42"/>
          <p:cNvSpPr/>
          <p:nvPr/>
        </p:nvSpPr>
        <p:spPr>
          <a:xfrm>
            <a:off x="1762506" y="1097280"/>
            <a:ext cx="1885950" cy="192024"/>
          </a:xfrm>
          <a:prstGeom prst="roundRect">
            <a:avLst>
              <a:gd name="adj" fmla="val 12500"/>
            </a:avLst>
          </a:prstGeom>
          <a:solidFill>
            <a:srgbClr val="2C2A49"/>
          </a:solidFill>
          <a:ln w="6985">
            <a:solidFill>
              <a:srgbClr val="5D5A82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1831086" y="1145286"/>
            <a:ext cx="1097280" cy="54864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 lnSpcReduction="10000"/>
          </a:bodyPr>
          <a:lstStyle/>
          <a:p>
            <a:r>
              <a:rPr lang="en-US" sz="383" dirty="0">
                <a:solidFill>
                  <a:srgbClr val="C7C5DD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⌕  Search or type command...</a:t>
            </a:r>
            <a:endParaRPr lang="en-US" sz="383" dirty="0"/>
          </a:p>
        </p:txBody>
      </p:sp>
      <p:sp>
        <p:nvSpPr>
          <p:cNvPr id="46" name="Text 44"/>
          <p:cNvSpPr/>
          <p:nvPr/>
        </p:nvSpPr>
        <p:spPr>
          <a:xfrm>
            <a:off x="4594860" y="1145286"/>
            <a:ext cx="123444" cy="54864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 lnSpcReduction="10000"/>
          </a:bodyPr>
          <a:lstStyle/>
          <a:p>
            <a:pPr algn="ctr"/>
            <a:r>
              <a:rPr lang="en-US" sz="360" dirty="0">
                <a:solidFill>
                  <a:srgbClr val="B8B5D8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⌘K</a:t>
            </a:r>
            <a:endParaRPr lang="en-US" sz="360" dirty="0"/>
          </a:p>
        </p:txBody>
      </p:sp>
      <p:sp>
        <p:nvSpPr>
          <p:cNvPr id="47" name="Text 45"/>
          <p:cNvSpPr/>
          <p:nvPr/>
        </p:nvSpPr>
        <p:spPr>
          <a:xfrm>
            <a:off x="4807458" y="1138428"/>
            <a:ext cx="89154" cy="61722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 fontScale="92500"/>
          </a:bodyPr>
          <a:lstStyle/>
          <a:p>
            <a:pPr algn="ctr"/>
            <a:r>
              <a:rPr lang="en-US" sz="450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☼</a:t>
            </a:r>
            <a:endParaRPr lang="en-US" sz="450" dirty="0"/>
          </a:p>
        </p:txBody>
      </p:sp>
      <p:sp>
        <p:nvSpPr>
          <p:cNvPr id="48" name="Shape 46"/>
          <p:cNvSpPr/>
          <p:nvPr/>
        </p:nvSpPr>
        <p:spPr>
          <a:xfrm>
            <a:off x="4958334" y="1097280"/>
            <a:ext cx="363474" cy="192024"/>
          </a:xfrm>
          <a:prstGeom prst="roundRect">
            <a:avLst>
              <a:gd name="adj" fmla="val 21429"/>
            </a:avLst>
          </a:prstGeom>
          <a:solidFill>
            <a:srgbClr val="24223F"/>
          </a:solidFill>
          <a:ln w="12700">
            <a:solidFill>
              <a:srgbClr val="24223F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978908" y="1138428"/>
            <a:ext cx="315468" cy="61722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/>
          </a:bodyPr>
          <a:lstStyle/>
          <a:p>
            <a:pPr algn="ctr"/>
            <a:r>
              <a:rPr lang="en-US" sz="39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GitHub ↗</a:t>
            </a:r>
            <a:endParaRPr lang="en-US" sz="390" dirty="0"/>
          </a:p>
        </p:txBody>
      </p:sp>
      <p:sp>
        <p:nvSpPr>
          <p:cNvPr id="50" name="Shape 48"/>
          <p:cNvSpPr/>
          <p:nvPr/>
        </p:nvSpPr>
        <p:spPr>
          <a:xfrm>
            <a:off x="5280660" y="1097280"/>
            <a:ext cx="171450" cy="171450"/>
          </a:xfrm>
          <a:prstGeom prst="ellipse">
            <a:avLst/>
          </a:prstGeom>
          <a:solidFill>
            <a:srgbClr val="7E6CF4"/>
          </a:solidFill>
          <a:ln w="12700">
            <a:solidFill>
              <a:srgbClr val="7E6CF4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314950" y="1138428"/>
            <a:ext cx="41148" cy="34290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 fontScale="77500" lnSpcReduction="20000"/>
          </a:bodyPr>
          <a:lstStyle/>
          <a:p>
            <a:pPr algn="ctr"/>
            <a:r>
              <a:rPr lang="en-US" sz="315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●</a:t>
            </a:r>
            <a:endParaRPr lang="en-US" sz="315" dirty="0"/>
          </a:p>
        </p:txBody>
      </p:sp>
      <p:sp>
        <p:nvSpPr>
          <p:cNvPr id="52" name="Text 50"/>
          <p:cNvSpPr/>
          <p:nvPr/>
        </p:nvSpPr>
        <p:spPr>
          <a:xfrm>
            <a:off x="1556766" y="1549908"/>
            <a:ext cx="1611630" cy="82296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/>
          </a:bodyPr>
          <a:lstStyle/>
          <a:p>
            <a:r>
              <a:rPr lang="en-US" sz="390" dirty="0">
                <a:solidFill>
                  <a:srgbClr val="B8B5ED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프로젝트  ›  D보험 차세대시스템  ›  프로젝트 수정</a:t>
            </a:r>
            <a:endParaRPr lang="en-US" sz="390" dirty="0"/>
          </a:p>
        </p:txBody>
      </p:sp>
      <p:sp>
        <p:nvSpPr>
          <p:cNvPr id="53" name="Text 51"/>
          <p:cNvSpPr/>
          <p:nvPr/>
        </p:nvSpPr>
        <p:spPr>
          <a:xfrm>
            <a:off x="1556766" y="1659636"/>
            <a:ext cx="1097280" cy="123444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 lnSpcReduction="10000"/>
          </a:bodyPr>
          <a:lstStyle/>
          <a:p>
            <a:r>
              <a:rPr lang="en-US" sz="863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프로젝트 수정</a:t>
            </a:r>
            <a:endParaRPr lang="en-US" sz="863" dirty="0"/>
          </a:p>
        </p:txBody>
      </p:sp>
      <p:sp>
        <p:nvSpPr>
          <p:cNvPr id="54" name="Shape 52"/>
          <p:cNvSpPr/>
          <p:nvPr/>
        </p:nvSpPr>
        <p:spPr>
          <a:xfrm>
            <a:off x="4608576" y="1639062"/>
            <a:ext cx="288036" cy="144018"/>
          </a:xfrm>
          <a:prstGeom prst="roundRect">
            <a:avLst>
              <a:gd name="adj" fmla="val 16667"/>
            </a:avLst>
          </a:prstGeom>
          <a:solidFill>
            <a:srgbClr val="2C2A49"/>
          </a:solidFill>
          <a:ln w="6985">
            <a:solidFill>
              <a:srgbClr val="5D5A82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4649724" y="1680210"/>
            <a:ext cx="198882" cy="102870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/>
          </a:bodyPr>
          <a:lstStyle/>
          <a:p>
            <a:pPr algn="ctr"/>
            <a:r>
              <a:rPr lang="en-US" sz="450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×  취소</a:t>
            </a:r>
            <a:endParaRPr lang="en-US" sz="450" dirty="0"/>
          </a:p>
        </p:txBody>
      </p:sp>
      <p:sp>
        <p:nvSpPr>
          <p:cNvPr id="56" name="Shape 54"/>
          <p:cNvSpPr/>
          <p:nvPr/>
        </p:nvSpPr>
        <p:spPr>
          <a:xfrm>
            <a:off x="4937760" y="1639062"/>
            <a:ext cx="288036" cy="144018"/>
          </a:xfrm>
          <a:prstGeom prst="roundRect">
            <a:avLst>
              <a:gd name="adj" fmla="val 16667"/>
            </a:avLst>
          </a:prstGeom>
          <a:solidFill>
            <a:srgbClr val="6F5AE8"/>
          </a:solidFill>
          <a:ln w="12700">
            <a:solidFill>
              <a:srgbClr val="6F5AE8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965192" y="1680210"/>
            <a:ext cx="233172" cy="96011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/>
          </a:bodyPr>
          <a:lstStyle/>
          <a:p>
            <a:pPr algn="ctr"/>
            <a:r>
              <a:rPr lang="en-US" sz="45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▣  수정</a:t>
            </a:r>
            <a:endParaRPr lang="en-US" sz="450" dirty="0"/>
          </a:p>
        </p:txBody>
      </p:sp>
      <p:sp>
        <p:nvSpPr>
          <p:cNvPr id="58" name="Shape 56"/>
          <p:cNvSpPr/>
          <p:nvPr/>
        </p:nvSpPr>
        <p:spPr>
          <a:xfrm>
            <a:off x="4560570" y="1597914"/>
            <a:ext cx="108585" cy="108585"/>
          </a:xfrm>
          <a:prstGeom prst="ellipse">
            <a:avLst/>
          </a:prstGeom>
          <a:solidFill>
            <a:srgbClr val="FFFFFF">
              <a:alpha val="0"/>
            </a:srgbClr>
          </a:solidFill>
          <a:ln w="16510">
            <a:solidFill>
              <a:srgbClr val="FF0000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560570" y="1599971"/>
            <a:ext cx="108585" cy="10858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522" b="1" dirty="0">
                <a:solidFill>
                  <a:srgbClr val="FF000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2</a:t>
            </a:r>
            <a:endParaRPr lang="en-US" sz="522" dirty="0"/>
          </a:p>
        </p:txBody>
      </p:sp>
      <p:sp>
        <p:nvSpPr>
          <p:cNvPr id="60" name="Shape 58"/>
          <p:cNvSpPr/>
          <p:nvPr/>
        </p:nvSpPr>
        <p:spPr>
          <a:xfrm>
            <a:off x="1556766" y="1824226"/>
            <a:ext cx="3689604" cy="1374717"/>
          </a:xfrm>
          <a:prstGeom prst="roundRect">
            <a:avLst>
              <a:gd name="adj" fmla="val 2632"/>
            </a:avLst>
          </a:prstGeom>
          <a:solidFill>
            <a:srgbClr val="33304F"/>
          </a:solidFill>
          <a:ln w="7620">
            <a:solidFill>
              <a:srgbClr val="5D5A82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1639062" y="1892807"/>
            <a:ext cx="54864" cy="54864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 fontScale="85000" lnSpcReduction="20000"/>
          </a:bodyPr>
          <a:lstStyle/>
          <a:p>
            <a:pPr algn="ctr"/>
            <a:r>
              <a:rPr lang="en-US" sz="450" dirty="0">
                <a:solidFill>
                  <a:srgbClr val="7E6CF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●</a:t>
            </a:r>
            <a:endParaRPr lang="en-US" sz="450" dirty="0"/>
          </a:p>
        </p:txBody>
      </p:sp>
      <p:sp>
        <p:nvSpPr>
          <p:cNvPr id="62" name="Text 60"/>
          <p:cNvSpPr/>
          <p:nvPr/>
        </p:nvSpPr>
        <p:spPr>
          <a:xfrm>
            <a:off x="1645920" y="1892807"/>
            <a:ext cx="41148" cy="54864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/>
          </a:bodyPr>
          <a:lstStyle/>
          <a:p>
            <a:pPr algn="ctr"/>
            <a:r>
              <a:rPr lang="en-US" sz="345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</a:t>
            </a:r>
            <a:endParaRPr lang="en-US" sz="345" dirty="0"/>
          </a:p>
        </p:txBody>
      </p:sp>
      <p:sp>
        <p:nvSpPr>
          <p:cNvPr id="63" name="Text 61"/>
          <p:cNvSpPr/>
          <p:nvPr/>
        </p:nvSpPr>
        <p:spPr>
          <a:xfrm>
            <a:off x="1741932" y="1885949"/>
            <a:ext cx="480060" cy="82296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/>
          </a:bodyPr>
          <a:lstStyle/>
          <a:p>
            <a:r>
              <a:rPr lang="en-US" sz="465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기본 정보</a:t>
            </a:r>
            <a:endParaRPr lang="en-US" sz="465" dirty="0"/>
          </a:p>
        </p:txBody>
      </p:sp>
      <p:sp>
        <p:nvSpPr>
          <p:cNvPr id="64" name="Shape 62"/>
          <p:cNvSpPr/>
          <p:nvPr/>
        </p:nvSpPr>
        <p:spPr>
          <a:xfrm>
            <a:off x="1584198" y="1879091"/>
            <a:ext cx="108585" cy="108585"/>
          </a:xfrm>
          <a:prstGeom prst="ellipse">
            <a:avLst/>
          </a:prstGeom>
          <a:solidFill>
            <a:srgbClr val="FFFFFF">
              <a:alpha val="0"/>
            </a:srgbClr>
          </a:solidFill>
          <a:ln w="16510">
            <a:solidFill>
              <a:srgbClr val="FF0000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1584198" y="1881149"/>
            <a:ext cx="108585" cy="10858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522" b="1" dirty="0">
                <a:solidFill>
                  <a:srgbClr val="FF000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</a:t>
            </a:r>
            <a:endParaRPr lang="en-US" sz="522" dirty="0"/>
          </a:p>
        </p:txBody>
      </p:sp>
      <p:sp>
        <p:nvSpPr>
          <p:cNvPr id="66" name="Text 64"/>
          <p:cNvSpPr/>
          <p:nvPr/>
        </p:nvSpPr>
        <p:spPr>
          <a:xfrm>
            <a:off x="1666494" y="2057399"/>
            <a:ext cx="905256" cy="89154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428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프로젝트명 *</a:t>
            </a:r>
            <a:endParaRPr lang="en-US" sz="428" dirty="0"/>
          </a:p>
        </p:txBody>
      </p:sp>
      <p:sp>
        <p:nvSpPr>
          <p:cNvPr id="67" name="Shape 65"/>
          <p:cNvSpPr/>
          <p:nvPr/>
        </p:nvSpPr>
        <p:spPr>
          <a:xfrm>
            <a:off x="1666494" y="2173985"/>
            <a:ext cx="905256" cy="150876"/>
          </a:xfrm>
          <a:prstGeom prst="roundRect">
            <a:avLst>
              <a:gd name="adj" fmla="val 11364"/>
            </a:avLst>
          </a:prstGeom>
          <a:solidFill>
            <a:srgbClr val="2C2A49"/>
          </a:solidFill>
          <a:ln w="6985">
            <a:solidFill>
              <a:srgbClr val="5D5A82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1707642" y="2194559"/>
            <a:ext cx="836676" cy="822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405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D보험 차세대시스템</a:t>
            </a:r>
            <a:endParaRPr lang="en-US" sz="405" dirty="0"/>
          </a:p>
        </p:txBody>
      </p:sp>
      <p:sp>
        <p:nvSpPr>
          <p:cNvPr id="69" name="Text 67"/>
          <p:cNvSpPr/>
          <p:nvPr/>
        </p:nvSpPr>
        <p:spPr>
          <a:xfrm>
            <a:off x="2667762" y="2057399"/>
            <a:ext cx="905256" cy="89154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428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고객사 *</a:t>
            </a:r>
            <a:endParaRPr lang="en-US" sz="428" dirty="0"/>
          </a:p>
        </p:txBody>
      </p:sp>
      <p:sp>
        <p:nvSpPr>
          <p:cNvPr id="70" name="Shape 68"/>
          <p:cNvSpPr/>
          <p:nvPr/>
        </p:nvSpPr>
        <p:spPr>
          <a:xfrm>
            <a:off x="2667762" y="2173985"/>
            <a:ext cx="905256" cy="150876"/>
          </a:xfrm>
          <a:prstGeom prst="roundRect">
            <a:avLst>
              <a:gd name="adj" fmla="val 11364"/>
            </a:avLst>
          </a:prstGeom>
          <a:solidFill>
            <a:srgbClr val="2C2A49"/>
          </a:solidFill>
          <a:ln w="6985">
            <a:solidFill>
              <a:srgbClr val="5D5A82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2708910" y="2194559"/>
            <a:ext cx="836676" cy="822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405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D보험그룹</a:t>
            </a:r>
            <a:endParaRPr lang="en-US" sz="405" dirty="0"/>
          </a:p>
        </p:txBody>
      </p:sp>
      <p:sp>
        <p:nvSpPr>
          <p:cNvPr id="72" name="Text 70"/>
          <p:cNvSpPr/>
          <p:nvPr/>
        </p:nvSpPr>
        <p:spPr>
          <a:xfrm>
            <a:off x="3669030" y="2057399"/>
            <a:ext cx="781812" cy="89154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428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시작일 *</a:t>
            </a:r>
            <a:endParaRPr lang="en-US" sz="428" dirty="0"/>
          </a:p>
        </p:txBody>
      </p:sp>
      <p:sp>
        <p:nvSpPr>
          <p:cNvPr id="73" name="Shape 71"/>
          <p:cNvSpPr/>
          <p:nvPr/>
        </p:nvSpPr>
        <p:spPr>
          <a:xfrm>
            <a:off x="3669030" y="2173985"/>
            <a:ext cx="781812" cy="150876"/>
          </a:xfrm>
          <a:prstGeom prst="roundRect">
            <a:avLst>
              <a:gd name="adj" fmla="val 11364"/>
            </a:avLst>
          </a:prstGeom>
          <a:solidFill>
            <a:srgbClr val="2C2A49"/>
          </a:solidFill>
          <a:ln w="6985">
            <a:solidFill>
              <a:srgbClr val="5D5A82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3710178" y="2194559"/>
            <a:ext cx="713232" cy="822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405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2026-06-16</a:t>
            </a:r>
            <a:endParaRPr lang="en-US" sz="405" dirty="0"/>
          </a:p>
        </p:txBody>
      </p:sp>
      <p:sp>
        <p:nvSpPr>
          <p:cNvPr id="75" name="Text 73"/>
          <p:cNvSpPr/>
          <p:nvPr/>
        </p:nvSpPr>
        <p:spPr>
          <a:xfrm>
            <a:off x="4560570" y="2057399"/>
            <a:ext cx="576072" cy="89154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428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종료일 *</a:t>
            </a:r>
            <a:endParaRPr lang="en-US" sz="428" dirty="0"/>
          </a:p>
        </p:txBody>
      </p:sp>
      <p:sp>
        <p:nvSpPr>
          <p:cNvPr id="76" name="Shape 74"/>
          <p:cNvSpPr/>
          <p:nvPr/>
        </p:nvSpPr>
        <p:spPr>
          <a:xfrm>
            <a:off x="4560570" y="2173985"/>
            <a:ext cx="576072" cy="150876"/>
          </a:xfrm>
          <a:prstGeom prst="roundRect">
            <a:avLst>
              <a:gd name="adj" fmla="val 11364"/>
            </a:avLst>
          </a:prstGeom>
          <a:solidFill>
            <a:srgbClr val="2C2A49"/>
          </a:solidFill>
          <a:ln w="6985">
            <a:solidFill>
              <a:srgbClr val="5D5A82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4601718" y="2194559"/>
            <a:ext cx="507492" cy="822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405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2026-10-29</a:t>
            </a:r>
            <a:endParaRPr lang="en-US" sz="405" dirty="0"/>
          </a:p>
        </p:txBody>
      </p:sp>
      <p:sp>
        <p:nvSpPr>
          <p:cNvPr id="78" name="Text 76"/>
          <p:cNvSpPr/>
          <p:nvPr/>
        </p:nvSpPr>
        <p:spPr>
          <a:xfrm>
            <a:off x="1666494" y="2414015"/>
            <a:ext cx="905256" cy="89154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428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상태 *</a:t>
            </a:r>
            <a:endParaRPr lang="en-US" sz="428" dirty="0"/>
          </a:p>
        </p:txBody>
      </p:sp>
      <p:sp>
        <p:nvSpPr>
          <p:cNvPr id="79" name="Shape 77"/>
          <p:cNvSpPr/>
          <p:nvPr/>
        </p:nvSpPr>
        <p:spPr>
          <a:xfrm>
            <a:off x="1666494" y="2530601"/>
            <a:ext cx="905256" cy="150876"/>
          </a:xfrm>
          <a:prstGeom prst="roundRect">
            <a:avLst>
              <a:gd name="adj" fmla="val 11364"/>
            </a:avLst>
          </a:prstGeom>
          <a:solidFill>
            <a:srgbClr val="2C2A49"/>
          </a:solidFill>
          <a:ln w="6985">
            <a:solidFill>
              <a:srgbClr val="5D5A82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1707642" y="2551175"/>
            <a:ext cx="836676" cy="822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405" dirty="0">
                <a:solidFill>
                  <a:srgbClr val="C4C1DD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상태 선택</a:t>
            </a:r>
            <a:endParaRPr lang="en-US" sz="405" dirty="0"/>
          </a:p>
        </p:txBody>
      </p:sp>
      <p:sp>
        <p:nvSpPr>
          <p:cNvPr id="81" name="Text 79"/>
          <p:cNvSpPr/>
          <p:nvPr/>
        </p:nvSpPr>
        <p:spPr>
          <a:xfrm>
            <a:off x="2667762" y="2414015"/>
            <a:ext cx="905256" cy="89154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428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진척도</a:t>
            </a:r>
            <a:endParaRPr lang="en-US" sz="428" dirty="0"/>
          </a:p>
        </p:txBody>
      </p:sp>
      <p:sp>
        <p:nvSpPr>
          <p:cNvPr id="82" name="Shape 80"/>
          <p:cNvSpPr/>
          <p:nvPr/>
        </p:nvSpPr>
        <p:spPr>
          <a:xfrm>
            <a:off x="2667762" y="2530601"/>
            <a:ext cx="905256" cy="150876"/>
          </a:xfrm>
          <a:prstGeom prst="roundRect">
            <a:avLst>
              <a:gd name="adj" fmla="val 11364"/>
            </a:avLst>
          </a:prstGeom>
          <a:solidFill>
            <a:srgbClr val="2C2A49"/>
          </a:solidFill>
          <a:ln w="6985">
            <a:solidFill>
              <a:srgbClr val="5D5A82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2708910" y="2551175"/>
            <a:ext cx="836676" cy="822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405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79</a:t>
            </a:r>
            <a:endParaRPr lang="en-US" sz="405" dirty="0"/>
          </a:p>
        </p:txBody>
      </p:sp>
      <p:sp>
        <p:nvSpPr>
          <p:cNvPr id="84" name="Text 82"/>
          <p:cNvSpPr/>
          <p:nvPr/>
        </p:nvSpPr>
        <p:spPr>
          <a:xfrm>
            <a:off x="3614166" y="2633471"/>
            <a:ext cx="54864" cy="54864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 lnSpcReduction="10000"/>
          </a:bodyPr>
          <a:lstStyle/>
          <a:p>
            <a:r>
              <a:rPr lang="en-US" sz="375" b="1" dirty="0">
                <a:solidFill>
                  <a:srgbClr val="7E6CF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%</a:t>
            </a:r>
            <a:endParaRPr lang="en-US" sz="375" dirty="0"/>
          </a:p>
        </p:txBody>
      </p:sp>
      <p:sp>
        <p:nvSpPr>
          <p:cNvPr id="85" name="Text 83"/>
          <p:cNvSpPr/>
          <p:nvPr/>
        </p:nvSpPr>
        <p:spPr>
          <a:xfrm>
            <a:off x="1666494" y="2729483"/>
            <a:ext cx="685800" cy="68580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/>
          </a:bodyPr>
          <a:lstStyle/>
          <a:p>
            <a:r>
              <a:rPr lang="en-US" sz="428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프로젝트 설명</a:t>
            </a:r>
            <a:endParaRPr lang="en-US" sz="428" dirty="0"/>
          </a:p>
        </p:txBody>
      </p:sp>
      <p:sp>
        <p:nvSpPr>
          <p:cNvPr id="86" name="Shape 84"/>
          <p:cNvSpPr/>
          <p:nvPr/>
        </p:nvSpPr>
        <p:spPr>
          <a:xfrm>
            <a:off x="1666494" y="2818637"/>
            <a:ext cx="3470148" cy="150876"/>
          </a:xfrm>
          <a:prstGeom prst="roundRect">
            <a:avLst>
              <a:gd name="adj" fmla="val 11364"/>
            </a:avLst>
          </a:prstGeom>
          <a:solidFill>
            <a:srgbClr val="2C2A49"/>
          </a:solidFill>
          <a:ln w="6985">
            <a:solidFill>
              <a:srgbClr val="5D5A82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1714500" y="2852927"/>
            <a:ext cx="1028700" cy="48006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 fontScale="85000" lnSpcReduction="10000"/>
          </a:bodyPr>
          <a:lstStyle/>
          <a:p>
            <a:r>
              <a:rPr lang="en-US" sz="383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차세대 보험코어 시스템 구축</a:t>
            </a:r>
            <a:endParaRPr lang="en-US" sz="383" dirty="0"/>
          </a:p>
        </p:txBody>
      </p:sp>
      <p:sp>
        <p:nvSpPr>
          <p:cNvPr id="88" name="Text 86"/>
          <p:cNvSpPr/>
          <p:nvPr/>
        </p:nvSpPr>
        <p:spPr>
          <a:xfrm>
            <a:off x="1666494" y="2981267"/>
            <a:ext cx="445770" cy="61722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/>
          </a:bodyPr>
          <a:lstStyle/>
          <a:p>
            <a:r>
              <a:rPr lang="en-US" sz="383" dirty="0">
                <a:solidFill>
                  <a:srgbClr val="C7C5E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현재 진척도</a:t>
            </a:r>
            <a:endParaRPr lang="en-US" sz="383" dirty="0"/>
          </a:p>
        </p:txBody>
      </p:sp>
      <p:sp>
        <p:nvSpPr>
          <p:cNvPr id="89" name="Shape 87"/>
          <p:cNvSpPr/>
          <p:nvPr/>
        </p:nvSpPr>
        <p:spPr>
          <a:xfrm>
            <a:off x="1666494" y="3038093"/>
            <a:ext cx="3470148" cy="34290"/>
          </a:xfrm>
          <a:prstGeom prst="rect">
            <a:avLst/>
          </a:prstGeom>
          <a:solidFill>
            <a:srgbClr val="484568"/>
          </a:solidFill>
          <a:ln w="12700">
            <a:solidFill>
              <a:srgbClr val="484568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1666495" y="3077279"/>
            <a:ext cx="2741417" cy="34290"/>
          </a:xfrm>
          <a:prstGeom prst="rect">
            <a:avLst/>
          </a:prstGeom>
          <a:solidFill>
            <a:srgbClr val="6F5AE8"/>
          </a:solidFill>
          <a:ln w="12700">
            <a:solidFill>
              <a:srgbClr val="6F5AE8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1666494" y="3125285"/>
            <a:ext cx="192024" cy="48006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 fontScale="92500"/>
          </a:bodyPr>
          <a:lstStyle/>
          <a:p>
            <a:r>
              <a:rPr lang="en-US" sz="360" dirty="0">
                <a:solidFill>
                  <a:srgbClr val="C7C5E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0%</a:t>
            </a:r>
            <a:endParaRPr lang="en-US" sz="360" dirty="0"/>
          </a:p>
        </p:txBody>
      </p:sp>
      <p:sp>
        <p:nvSpPr>
          <p:cNvPr id="92" name="Text 90"/>
          <p:cNvSpPr/>
          <p:nvPr/>
        </p:nvSpPr>
        <p:spPr>
          <a:xfrm>
            <a:off x="3545586" y="3125285"/>
            <a:ext cx="192024" cy="48006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 fontScale="92500"/>
          </a:bodyPr>
          <a:lstStyle/>
          <a:p>
            <a:pPr algn="ctr"/>
            <a:r>
              <a:rPr lang="en-US" sz="360" dirty="0">
                <a:solidFill>
                  <a:srgbClr val="7E6CF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79%</a:t>
            </a:r>
            <a:endParaRPr lang="en-US" sz="360" dirty="0"/>
          </a:p>
        </p:txBody>
      </p:sp>
      <p:sp>
        <p:nvSpPr>
          <p:cNvPr id="93" name="Text 91"/>
          <p:cNvSpPr/>
          <p:nvPr/>
        </p:nvSpPr>
        <p:spPr>
          <a:xfrm>
            <a:off x="4869180" y="3125285"/>
            <a:ext cx="240030" cy="48006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 fontScale="92500"/>
          </a:bodyPr>
          <a:lstStyle/>
          <a:p>
            <a:pPr algn="r"/>
            <a:r>
              <a:rPr lang="en-US" sz="360" dirty="0">
                <a:solidFill>
                  <a:srgbClr val="C7C5E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100%</a:t>
            </a:r>
            <a:endParaRPr lang="en-US" sz="360" dirty="0"/>
          </a:p>
        </p:txBody>
      </p:sp>
      <p:sp>
        <p:nvSpPr>
          <p:cNvPr id="94" name="Shape 92"/>
          <p:cNvSpPr/>
          <p:nvPr/>
        </p:nvSpPr>
        <p:spPr>
          <a:xfrm>
            <a:off x="4094226" y="2942081"/>
            <a:ext cx="108585" cy="108585"/>
          </a:xfrm>
          <a:prstGeom prst="ellipse">
            <a:avLst/>
          </a:prstGeom>
          <a:solidFill>
            <a:srgbClr val="FFFFFF">
              <a:alpha val="0"/>
            </a:srgbClr>
          </a:solidFill>
          <a:ln w="16510">
            <a:solidFill>
              <a:srgbClr val="FF0000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4094226" y="2944139"/>
            <a:ext cx="108585" cy="10858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522" b="1" dirty="0">
                <a:solidFill>
                  <a:srgbClr val="FF000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3</a:t>
            </a:r>
            <a:endParaRPr lang="en-US" sz="522" dirty="0"/>
          </a:p>
        </p:txBody>
      </p:sp>
      <p:sp>
        <p:nvSpPr>
          <p:cNvPr id="96" name="Shape 94"/>
          <p:cNvSpPr/>
          <p:nvPr/>
        </p:nvSpPr>
        <p:spPr>
          <a:xfrm>
            <a:off x="1556766" y="3219518"/>
            <a:ext cx="3689604" cy="603504"/>
          </a:xfrm>
          <a:prstGeom prst="roundRect">
            <a:avLst>
              <a:gd name="adj" fmla="val 4545"/>
            </a:avLst>
          </a:prstGeom>
          <a:solidFill>
            <a:srgbClr val="33304F"/>
          </a:solidFill>
          <a:ln w="7620">
            <a:solidFill>
              <a:srgbClr val="5D5A82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1639062" y="3288098"/>
            <a:ext cx="54864" cy="54864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 fontScale="85000" lnSpcReduction="20000"/>
          </a:bodyPr>
          <a:lstStyle/>
          <a:p>
            <a:pPr algn="ctr"/>
            <a:r>
              <a:rPr lang="en-US" sz="450" dirty="0">
                <a:solidFill>
                  <a:srgbClr val="7E6CF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●</a:t>
            </a:r>
            <a:endParaRPr lang="en-US" sz="450" dirty="0"/>
          </a:p>
        </p:txBody>
      </p:sp>
      <p:sp>
        <p:nvSpPr>
          <p:cNvPr id="98" name="Text 96"/>
          <p:cNvSpPr/>
          <p:nvPr/>
        </p:nvSpPr>
        <p:spPr>
          <a:xfrm>
            <a:off x="1645920" y="3288098"/>
            <a:ext cx="41148" cy="54864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/>
          </a:bodyPr>
          <a:lstStyle/>
          <a:p>
            <a:pPr algn="ctr"/>
            <a:r>
              <a:rPr lang="en-US" sz="345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2</a:t>
            </a:r>
            <a:endParaRPr lang="en-US" sz="345" dirty="0"/>
          </a:p>
        </p:txBody>
      </p:sp>
      <p:sp>
        <p:nvSpPr>
          <p:cNvPr id="99" name="Text 97"/>
          <p:cNvSpPr/>
          <p:nvPr/>
        </p:nvSpPr>
        <p:spPr>
          <a:xfrm>
            <a:off x="1741932" y="3281240"/>
            <a:ext cx="425196" cy="82296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/>
          </a:bodyPr>
          <a:lstStyle/>
          <a:p>
            <a:r>
              <a:rPr lang="en-US" sz="465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기술스택</a:t>
            </a:r>
            <a:endParaRPr lang="en-US" sz="465" dirty="0"/>
          </a:p>
        </p:txBody>
      </p:sp>
      <p:sp>
        <p:nvSpPr>
          <p:cNvPr id="100" name="Text 98"/>
          <p:cNvSpPr/>
          <p:nvPr/>
        </p:nvSpPr>
        <p:spPr>
          <a:xfrm>
            <a:off x="2119122" y="3281240"/>
            <a:ext cx="240030" cy="82296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/>
          </a:bodyPr>
          <a:lstStyle/>
          <a:p>
            <a:r>
              <a:rPr lang="en-US" sz="375" dirty="0">
                <a:solidFill>
                  <a:srgbClr val="7E6CF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+ 수정</a:t>
            </a:r>
            <a:endParaRPr lang="en-US" sz="375" dirty="0"/>
          </a:p>
        </p:txBody>
      </p:sp>
      <p:sp>
        <p:nvSpPr>
          <p:cNvPr id="101" name="Shape 99"/>
          <p:cNvSpPr/>
          <p:nvPr/>
        </p:nvSpPr>
        <p:spPr>
          <a:xfrm>
            <a:off x="1584198" y="3274382"/>
            <a:ext cx="108585" cy="108585"/>
          </a:xfrm>
          <a:prstGeom prst="ellipse">
            <a:avLst/>
          </a:prstGeom>
          <a:solidFill>
            <a:srgbClr val="FFFFFF">
              <a:alpha val="0"/>
            </a:srgbClr>
          </a:solidFill>
          <a:ln w="16510">
            <a:solidFill>
              <a:srgbClr val="FF0000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1584198" y="3276439"/>
            <a:ext cx="108585" cy="10858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522" b="1" dirty="0">
                <a:solidFill>
                  <a:srgbClr val="FF000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4</a:t>
            </a:r>
            <a:endParaRPr lang="en-US" sz="522" dirty="0"/>
          </a:p>
        </p:txBody>
      </p:sp>
      <p:sp>
        <p:nvSpPr>
          <p:cNvPr id="103" name="Shape 101"/>
          <p:cNvSpPr/>
          <p:nvPr/>
        </p:nvSpPr>
        <p:spPr>
          <a:xfrm>
            <a:off x="1666494" y="3432116"/>
            <a:ext cx="3470148" cy="178308"/>
          </a:xfrm>
          <a:prstGeom prst="roundRect">
            <a:avLst>
              <a:gd name="adj" fmla="val 11538"/>
            </a:avLst>
          </a:prstGeom>
          <a:solidFill>
            <a:srgbClr val="FFFFFF">
              <a:alpha val="0"/>
            </a:srgbClr>
          </a:solidFill>
          <a:ln w="6985">
            <a:solidFill>
              <a:srgbClr val="484568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1741932" y="3466406"/>
            <a:ext cx="246888" cy="123444"/>
          </a:xfrm>
          <a:prstGeom prst="roundRect">
            <a:avLst>
              <a:gd name="adj" fmla="val 22222"/>
            </a:avLst>
          </a:prstGeom>
          <a:solidFill>
            <a:srgbClr val="2C2A49"/>
          </a:solidFill>
          <a:ln w="6985">
            <a:solidFill>
              <a:srgbClr val="5D5A82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1769364" y="3480122"/>
            <a:ext cx="192024" cy="822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398" dirty="0">
                <a:solidFill>
                  <a:srgbClr val="DAD7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Vue  ×</a:t>
            </a:r>
            <a:endParaRPr lang="en-US" sz="398" dirty="0"/>
          </a:p>
        </p:txBody>
      </p:sp>
      <p:sp>
        <p:nvSpPr>
          <p:cNvPr id="106" name="Shape 104"/>
          <p:cNvSpPr/>
          <p:nvPr/>
        </p:nvSpPr>
        <p:spPr>
          <a:xfrm>
            <a:off x="2071116" y="3466406"/>
            <a:ext cx="370332" cy="123444"/>
          </a:xfrm>
          <a:prstGeom prst="roundRect">
            <a:avLst>
              <a:gd name="adj" fmla="val 22222"/>
            </a:avLst>
          </a:prstGeom>
          <a:solidFill>
            <a:srgbClr val="2C2A49"/>
          </a:solidFill>
          <a:ln w="6985">
            <a:solidFill>
              <a:srgbClr val="5D5A82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2098548" y="3480122"/>
            <a:ext cx="315468" cy="822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398" dirty="0">
                <a:solidFill>
                  <a:srgbClr val="DAD7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Python  ×</a:t>
            </a:r>
            <a:endParaRPr lang="en-US" sz="398" dirty="0"/>
          </a:p>
        </p:txBody>
      </p:sp>
      <p:sp>
        <p:nvSpPr>
          <p:cNvPr id="108" name="Shape 106"/>
          <p:cNvSpPr/>
          <p:nvPr/>
        </p:nvSpPr>
        <p:spPr>
          <a:xfrm>
            <a:off x="2516886" y="3466406"/>
            <a:ext cx="329184" cy="123444"/>
          </a:xfrm>
          <a:prstGeom prst="roundRect">
            <a:avLst>
              <a:gd name="adj" fmla="val 22222"/>
            </a:avLst>
          </a:prstGeom>
          <a:solidFill>
            <a:srgbClr val="2C2A49"/>
          </a:solidFill>
          <a:ln w="6985">
            <a:solidFill>
              <a:srgbClr val="5D5A82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2544318" y="3480122"/>
            <a:ext cx="274320" cy="822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398" dirty="0">
                <a:solidFill>
                  <a:srgbClr val="DAD7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Oracle  ×</a:t>
            </a:r>
            <a:endParaRPr lang="en-US" sz="398" dirty="0"/>
          </a:p>
        </p:txBody>
      </p:sp>
      <p:sp>
        <p:nvSpPr>
          <p:cNvPr id="110" name="Shape 108"/>
          <p:cNvSpPr/>
          <p:nvPr/>
        </p:nvSpPr>
        <p:spPr>
          <a:xfrm>
            <a:off x="2921508" y="3466406"/>
            <a:ext cx="329184" cy="123444"/>
          </a:xfrm>
          <a:prstGeom prst="roundRect">
            <a:avLst>
              <a:gd name="adj" fmla="val 22222"/>
            </a:avLst>
          </a:prstGeom>
          <a:solidFill>
            <a:srgbClr val="2C2A49"/>
          </a:solidFill>
          <a:ln w="6985">
            <a:solidFill>
              <a:srgbClr val="5D5A82"/>
            </a:solidFill>
            <a:prstDash val="solid"/>
          </a:ln>
        </p:spPr>
      </p:sp>
      <p:sp>
        <p:nvSpPr>
          <p:cNvPr id="111" name="Text 109"/>
          <p:cNvSpPr/>
          <p:nvPr/>
        </p:nvSpPr>
        <p:spPr>
          <a:xfrm>
            <a:off x="2948940" y="3480122"/>
            <a:ext cx="274320" cy="822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398" dirty="0">
                <a:solidFill>
                  <a:srgbClr val="DAD7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MySQL  ×</a:t>
            </a:r>
            <a:endParaRPr lang="en-US" sz="398" dirty="0"/>
          </a:p>
        </p:txBody>
      </p:sp>
      <p:sp>
        <p:nvSpPr>
          <p:cNvPr id="112" name="Shape 110"/>
          <p:cNvSpPr/>
          <p:nvPr/>
        </p:nvSpPr>
        <p:spPr>
          <a:xfrm>
            <a:off x="3326130" y="3466406"/>
            <a:ext cx="356616" cy="123444"/>
          </a:xfrm>
          <a:prstGeom prst="roundRect">
            <a:avLst>
              <a:gd name="adj" fmla="val 22222"/>
            </a:avLst>
          </a:prstGeom>
          <a:solidFill>
            <a:srgbClr val="2C2A49"/>
          </a:solidFill>
          <a:ln w="6985">
            <a:solidFill>
              <a:srgbClr val="5D5A82"/>
            </a:solidFill>
            <a:prstDash val="solid"/>
          </a:ln>
        </p:spPr>
      </p:sp>
      <p:sp>
        <p:nvSpPr>
          <p:cNvPr id="113" name="Text 111"/>
          <p:cNvSpPr/>
          <p:nvPr/>
        </p:nvSpPr>
        <p:spPr>
          <a:xfrm>
            <a:off x="3353562" y="3480122"/>
            <a:ext cx="301752" cy="822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398" dirty="0">
                <a:solidFill>
                  <a:srgbClr val="DAD7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Docker  ×</a:t>
            </a:r>
            <a:endParaRPr lang="en-US" sz="398" dirty="0"/>
          </a:p>
        </p:txBody>
      </p:sp>
      <p:sp>
        <p:nvSpPr>
          <p:cNvPr id="114" name="Shape 112"/>
          <p:cNvSpPr/>
          <p:nvPr/>
        </p:nvSpPr>
        <p:spPr>
          <a:xfrm>
            <a:off x="3751326" y="3466406"/>
            <a:ext cx="246888" cy="123444"/>
          </a:xfrm>
          <a:prstGeom prst="roundRect">
            <a:avLst>
              <a:gd name="adj" fmla="val 22222"/>
            </a:avLst>
          </a:prstGeom>
          <a:solidFill>
            <a:srgbClr val="2C2A49"/>
          </a:solidFill>
          <a:ln w="6985">
            <a:solidFill>
              <a:srgbClr val="5D5A82"/>
            </a:solidFill>
            <a:prstDash val="solid"/>
          </a:ln>
        </p:spPr>
      </p:sp>
      <p:sp>
        <p:nvSpPr>
          <p:cNvPr id="115" name="Text 113"/>
          <p:cNvSpPr/>
          <p:nvPr/>
        </p:nvSpPr>
        <p:spPr>
          <a:xfrm>
            <a:off x="3778758" y="3480122"/>
            <a:ext cx="192024" cy="822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398" dirty="0">
                <a:solidFill>
                  <a:srgbClr val="DAD7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Git  ×</a:t>
            </a:r>
            <a:endParaRPr lang="en-US" sz="398" dirty="0"/>
          </a:p>
        </p:txBody>
      </p:sp>
      <p:sp>
        <p:nvSpPr>
          <p:cNvPr id="116" name="Shape 114"/>
          <p:cNvSpPr/>
          <p:nvPr/>
        </p:nvSpPr>
        <p:spPr>
          <a:xfrm>
            <a:off x="1666494" y="3651572"/>
            <a:ext cx="3312414" cy="116586"/>
          </a:xfrm>
          <a:prstGeom prst="roundRect">
            <a:avLst>
              <a:gd name="adj" fmla="val 14706"/>
            </a:avLst>
          </a:prstGeom>
          <a:solidFill>
            <a:srgbClr val="2C2A49"/>
          </a:solidFill>
          <a:ln w="6985">
            <a:solidFill>
              <a:srgbClr val="5D5A82"/>
            </a:solidFill>
            <a:prstDash val="solid"/>
          </a:ln>
        </p:spPr>
      </p:sp>
      <p:sp>
        <p:nvSpPr>
          <p:cNvPr id="117" name="Text 115"/>
          <p:cNvSpPr/>
          <p:nvPr/>
        </p:nvSpPr>
        <p:spPr>
          <a:xfrm>
            <a:off x="1707642" y="3679004"/>
            <a:ext cx="685800" cy="41148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 fontScale="85000" lnSpcReduction="20000"/>
          </a:bodyPr>
          <a:lstStyle/>
          <a:p>
            <a:r>
              <a:rPr lang="en-US" sz="383" dirty="0">
                <a:solidFill>
                  <a:srgbClr val="B7B5D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기술스택 직접 입력...</a:t>
            </a:r>
            <a:endParaRPr lang="en-US" sz="383" dirty="0"/>
          </a:p>
        </p:txBody>
      </p:sp>
      <p:sp>
        <p:nvSpPr>
          <p:cNvPr id="118" name="Shape 116"/>
          <p:cNvSpPr/>
          <p:nvPr/>
        </p:nvSpPr>
        <p:spPr>
          <a:xfrm>
            <a:off x="5013198" y="3651572"/>
            <a:ext cx="123444" cy="116586"/>
          </a:xfrm>
          <a:prstGeom prst="roundRect">
            <a:avLst>
              <a:gd name="adj" fmla="val 14706"/>
            </a:avLst>
          </a:prstGeom>
          <a:solidFill>
            <a:srgbClr val="2C2A49"/>
          </a:solidFill>
          <a:ln w="6985">
            <a:solidFill>
              <a:srgbClr val="5D5A82"/>
            </a:solidFill>
            <a:prstDash val="solid"/>
          </a:ln>
        </p:spPr>
      </p:sp>
      <p:sp>
        <p:nvSpPr>
          <p:cNvPr id="119" name="Text 117"/>
          <p:cNvSpPr/>
          <p:nvPr/>
        </p:nvSpPr>
        <p:spPr>
          <a:xfrm>
            <a:off x="5040630" y="3679004"/>
            <a:ext cx="54864" cy="41148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 fontScale="77500" lnSpcReduction="20000"/>
          </a:bodyPr>
          <a:lstStyle/>
          <a:p>
            <a:pPr algn="ctr"/>
            <a:r>
              <a:rPr lang="en-US" sz="450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+</a:t>
            </a:r>
            <a:endParaRPr lang="en-US" sz="450" dirty="0"/>
          </a:p>
        </p:txBody>
      </p:sp>
      <p:sp>
        <p:nvSpPr>
          <p:cNvPr id="120" name="Shape 118"/>
          <p:cNvSpPr/>
          <p:nvPr/>
        </p:nvSpPr>
        <p:spPr>
          <a:xfrm>
            <a:off x="4958334" y="3637856"/>
            <a:ext cx="108585" cy="108585"/>
          </a:xfrm>
          <a:prstGeom prst="ellipse">
            <a:avLst/>
          </a:prstGeom>
          <a:solidFill>
            <a:srgbClr val="FFFFFF">
              <a:alpha val="0"/>
            </a:srgbClr>
          </a:solidFill>
          <a:ln w="16510">
            <a:solidFill>
              <a:srgbClr val="FF0000"/>
            </a:solidFill>
            <a:prstDash val="solid"/>
          </a:ln>
        </p:spPr>
      </p:sp>
      <p:sp>
        <p:nvSpPr>
          <p:cNvPr id="121" name="Text 119"/>
          <p:cNvSpPr/>
          <p:nvPr/>
        </p:nvSpPr>
        <p:spPr>
          <a:xfrm>
            <a:off x="4958334" y="3639913"/>
            <a:ext cx="108585" cy="10858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522" b="1" dirty="0">
                <a:solidFill>
                  <a:srgbClr val="FF000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5</a:t>
            </a:r>
            <a:endParaRPr lang="en-US" sz="522" dirty="0"/>
          </a:p>
        </p:txBody>
      </p:sp>
      <p:sp>
        <p:nvSpPr>
          <p:cNvPr id="122" name="Shape 120"/>
          <p:cNvSpPr/>
          <p:nvPr/>
        </p:nvSpPr>
        <p:spPr>
          <a:xfrm>
            <a:off x="1556766" y="3869156"/>
            <a:ext cx="3689604" cy="342900"/>
          </a:xfrm>
          <a:prstGeom prst="roundRect">
            <a:avLst>
              <a:gd name="adj" fmla="val 8000"/>
            </a:avLst>
          </a:prstGeom>
          <a:solidFill>
            <a:srgbClr val="33304F"/>
          </a:solidFill>
          <a:ln w="7620">
            <a:solidFill>
              <a:srgbClr val="5D5A82"/>
            </a:solidFill>
            <a:prstDash val="solid"/>
          </a:ln>
        </p:spPr>
      </p:sp>
      <p:sp>
        <p:nvSpPr>
          <p:cNvPr id="123" name="Text 121"/>
          <p:cNvSpPr/>
          <p:nvPr/>
        </p:nvSpPr>
        <p:spPr>
          <a:xfrm>
            <a:off x="1639062" y="3924020"/>
            <a:ext cx="617220" cy="61722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 lnSpcReduction="10000"/>
          </a:bodyPr>
          <a:lstStyle/>
          <a:p>
            <a:r>
              <a:rPr lang="en-US" sz="435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수정 정보 미리보기</a:t>
            </a:r>
            <a:endParaRPr lang="en-US" sz="435" dirty="0"/>
          </a:p>
        </p:txBody>
      </p:sp>
      <p:sp>
        <p:nvSpPr>
          <p:cNvPr id="124" name="Shape 122"/>
          <p:cNvSpPr/>
          <p:nvPr/>
        </p:nvSpPr>
        <p:spPr>
          <a:xfrm>
            <a:off x="1522476" y="3917162"/>
            <a:ext cx="108585" cy="108585"/>
          </a:xfrm>
          <a:prstGeom prst="ellipse">
            <a:avLst/>
          </a:prstGeom>
          <a:solidFill>
            <a:srgbClr val="FFFFFF">
              <a:alpha val="0"/>
            </a:srgbClr>
          </a:solidFill>
          <a:ln w="16510">
            <a:solidFill>
              <a:srgbClr val="FF0000"/>
            </a:solidFill>
            <a:prstDash val="solid"/>
          </a:ln>
        </p:spPr>
      </p:sp>
      <p:sp>
        <p:nvSpPr>
          <p:cNvPr id="125" name="Text 123"/>
          <p:cNvSpPr/>
          <p:nvPr/>
        </p:nvSpPr>
        <p:spPr>
          <a:xfrm>
            <a:off x="1522476" y="3919219"/>
            <a:ext cx="108585" cy="10858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522" b="1" dirty="0">
                <a:solidFill>
                  <a:srgbClr val="FF000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6</a:t>
            </a:r>
            <a:endParaRPr lang="en-US" sz="522" dirty="0"/>
          </a:p>
        </p:txBody>
      </p:sp>
      <p:sp>
        <p:nvSpPr>
          <p:cNvPr id="126" name="Text 124"/>
          <p:cNvSpPr/>
          <p:nvPr/>
        </p:nvSpPr>
        <p:spPr>
          <a:xfrm>
            <a:off x="1666494" y="4040606"/>
            <a:ext cx="342900" cy="48006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 fontScale="92500"/>
          </a:bodyPr>
          <a:lstStyle/>
          <a:p>
            <a:r>
              <a:rPr lang="en-US" sz="353" dirty="0">
                <a:solidFill>
                  <a:srgbClr val="C7C5E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프로젝트명</a:t>
            </a:r>
            <a:endParaRPr lang="en-US" sz="353" dirty="0"/>
          </a:p>
        </p:txBody>
      </p:sp>
      <p:sp>
        <p:nvSpPr>
          <p:cNvPr id="127" name="Text 125"/>
          <p:cNvSpPr/>
          <p:nvPr/>
        </p:nvSpPr>
        <p:spPr>
          <a:xfrm>
            <a:off x="1666494" y="4129760"/>
            <a:ext cx="685800" cy="34290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 fontScale="62500" lnSpcReduction="20000"/>
          </a:bodyPr>
          <a:lstStyle/>
          <a:p>
            <a:r>
              <a:rPr lang="en-US" sz="375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D보험 차세대시스템</a:t>
            </a:r>
            <a:endParaRPr lang="en-US" sz="375" dirty="0"/>
          </a:p>
        </p:txBody>
      </p:sp>
      <p:sp>
        <p:nvSpPr>
          <p:cNvPr id="128" name="Text 126"/>
          <p:cNvSpPr/>
          <p:nvPr/>
        </p:nvSpPr>
        <p:spPr>
          <a:xfrm>
            <a:off x="2825496" y="4040606"/>
            <a:ext cx="274320" cy="48006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 fontScale="92500"/>
          </a:bodyPr>
          <a:lstStyle/>
          <a:p>
            <a:r>
              <a:rPr lang="en-US" sz="353" dirty="0">
                <a:solidFill>
                  <a:srgbClr val="C7C5E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고객사</a:t>
            </a:r>
            <a:endParaRPr lang="en-US" sz="353" dirty="0"/>
          </a:p>
        </p:txBody>
      </p:sp>
      <p:sp>
        <p:nvSpPr>
          <p:cNvPr id="129" name="Text 127"/>
          <p:cNvSpPr/>
          <p:nvPr/>
        </p:nvSpPr>
        <p:spPr>
          <a:xfrm>
            <a:off x="2825496" y="4129760"/>
            <a:ext cx="445770" cy="34290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 fontScale="62500" lnSpcReduction="20000"/>
          </a:bodyPr>
          <a:lstStyle/>
          <a:p>
            <a:r>
              <a:rPr lang="en-US" sz="375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D보험그룹</a:t>
            </a:r>
            <a:endParaRPr lang="en-US" sz="375" dirty="0"/>
          </a:p>
        </p:txBody>
      </p:sp>
      <p:sp>
        <p:nvSpPr>
          <p:cNvPr id="130" name="Text 128"/>
          <p:cNvSpPr/>
          <p:nvPr/>
        </p:nvSpPr>
        <p:spPr>
          <a:xfrm>
            <a:off x="3682746" y="4040606"/>
            <a:ext cx="445770" cy="48006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 fontScale="92500"/>
          </a:bodyPr>
          <a:lstStyle/>
          <a:p>
            <a:r>
              <a:rPr lang="en-US" sz="353" dirty="0">
                <a:solidFill>
                  <a:srgbClr val="C7C5E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프로젝트 기간</a:t>
            </a:r>
            <a:endParaRPr lang="en-US" sz="353" dirty="0"/>
          </a:p>
        </p:txBody>
      </p:sp>
      <p:sp>
        <p:nvSpPr>
          <p:cNvPr id="131" name="Text 129"/>
          <p:cNvSpPr/>
          <p:nvPr/>
        </p:nvSpPr>
        <p:spPr>
          <a:xfrm>
            <a:off x="3682746" y="4129760"/>
            <a:ext cx="857250" cy="34290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 fontScale="62500" lnSpcReduction="20000"/>
          </a:bodyPr>
          <a:lstStyle/>
          <a:p>
            <a:r>
              <a:rPr lang="en-US" sz="375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2026-06-16 ~ 2026-10-29</a:t>
            </a:r>
            <a:endParaRPr lang="en-US" sz="375" dirty="0"/>
          </a:p>
        </p:txBody>
      </p:sp>
      <p:sp>
        <p:nvSpPr>
          <p:cNvPr id="132" name="Text 130"/>
          <p:cNvSpPr/>
          <p:nvPr/>
        </p:nvSpPr>
        <p:spPr>
          <a:xfrm>
            <a:off x="4677156" y="4040606"/>
            <a:ext cx="205740" cy="48006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 fontScale="92500"/>
          </a:bodyPr>
          <a:lstStyle/>
          <a:p>
            <a:r>
              <a:rPr lang="en-US" sz="353" dirty="0">
                <a:solidFill>
                  <a:srgbClr val="C7C5E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상태</a:t>
            </a:r>
            <a:endParaRPr lang="en-US" sz="353" dirty="0"/>
          </a:p>
        </p:txBody>
      </p:sp>
      <p:sp>
        <p:nvSpPr>
          <p:cNvPr id="133" name="Shape 131"/>
          <p:cNvSpPr/>
          <p:nvPr/>
        </p:nvSpPr>
        <p:spPr>
          <a:xfrm>
            <a:off x="4677156" y="4122902"/>
            <a:ext cx="150876" cy="68580"/>
          </a:xfrm>
          <a:prstGeom prst="roundRect">
            <a:avLst>
              <a:gd name="adj" fmla="val 20000"/>
            </a:avLst>
          </a:prstGeom>
          <a:solidFill>
            <a:srgbClr val="256D9A"/>
          </a:solidFill>
          <a:ln w="12700">
            <a:solidFill>
              <a:srgbClr val="256D9A"/>
            </a:solidFill>
            <a:prstDash val="solid"/>
          </a:ln>
        </p:spPr>
      </p:sp>
      <p:sp>
        <p:nvSpPr>
          <p:cNvPr id="134" name="Text 132"/>
          <p:cNvSpPr/>
          <p:nvPr/>
        </p:nvSpPr>
        <p:spPr>
          <a:xfrm>
            <a:off x="4694301" y="4133189"/>
            <a:ext cx="116586" cy="27432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 fontScale="85000" lnSpcReduction="20000"/>
          </a:bodyPr>
          <a:lstStyle/>
          <a:p>
            <a:pPr algn="ctr"/>
            <a:r>
              <a:rPr lang="en-US" sz="278" dirty="0">
                <a:solidFill>
                  <a:srgbClr val="A8F4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예정</a:t>
            </a:r>
            <a:endParaRPr lang="en-US" sz="278" dirty="0"/>
          </a:p>
        </p:txBody>
      </p:sp>
      <p:sp>
        <p:nvSpPr>
          <p:cNvPr id="135" name="Text 133"/>
          <p:cNvSpPr/>
          <p:nvPr/>
        </p:nvSpPr>
        <p:spPr>
          <a:xfrm>
            <a:off x="5726430" y="678942"/>
            <a:ext cx="1028700" cy="192024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/>
          </a:bodyPr>
          <a:lstStyle/>
          <a:p>
            <a:r>
              <a:rPr lang="en-US" sz="1200" b="1" dirty="0">
                <a:solidFill>
                  <a:srgbClr val="1118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Description</a:t>
            </a:r>
            <a:endParaRPr lang="en-US" sz="1200" dirty="0"/>
          </a:p>
        </p:txBody>
      </p:sp>
      <p:sp>
        <p:nvSpPr>
          <p:cNvPr id="136" name="Text 134"/>
          <p:cNvSpPr/>
          <p:nvPr/>
        </p:nvSpPr>
        <p:spPr>
          <a:xfrm>
            <a:off x="8257032" y="720090"/>
            <a:ext cx="342900" cy="82296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 fontScale="92500" lnSpcReduction="20000"/>
          </a:bodyPr>
          <a:lstStyle/>
          <a:p>
            <a:pPr algn="r"/>
            <a:r>
              <a:rPr lang="en-US" sz="600" b="1" dirty="0">
                <a:solidFill>
                  <a:srgbClr val="2563EB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검토용</a:t>
            </a:r>
            <a:endParaRPr lang="en-US" sz="600" dirty="0"/>
          </a:p>
        </p:txBody>
      </p:sp>
      <p:graphicFrame>
        <p:nvGraphicFramePr>
          <p:cNvPr id="13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95499147"/>
              </p:ext>
            </p:extLst>
          </p:nvPr>
        </p:nvGraphicFramePr>
        <p:xfrm>
          <a:off x="5657850" y="994410"/>
          <a:ext cx="2983230" cy="2523744"/>
        </p:xfrm>
        <a:graphic>
          <a:graphicData uri="http://schemas.openxmlformats.org/drawingml/2006/table">
            <a:tbl>
              <a:tblPr/>
              <a:tblGrid>
                <a:gridCol w="64465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3857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945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600" b="1" dirty="0">
                          <a:solidFill>
                            <a:srgbClr val="FFFFFF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구분</a:t>
                      </a:r>
                      <a:endParaRPr lang="en-US" sz="6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27432" marR="27432" marT="27432" marB="27432">
                    <a:lnL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1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600" b="1" dirty="0">
                          <a:solidFill>
                            <a:srgbClr val="FFFFFF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기획 내용</a:t>
                      </a:r>
                      <a:endParaRPr lang="en-US" sz="6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27432" marR="27432" marT="27432" marB="27432">
                    <a:lnL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1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975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500" dirty="0">
                          <a:solidFill>
                            <a:srgbClr val="111827"/>
                          </a:solidFill>
                          <a:latin typeface="+mn-ea"/>
                          <a:ea typeface="+mn-ea"/>
                          <a:cs typeface="Noto Sans CJK KR" pitchFamily="34" charset="-120"/>
                        </a:rPr>
                        <a:t>1 기본 정보</a:t>
                      </a:r>
                      <a:endParaRPr lang="en-US" sz="500" dirty="0">
                        <a:latin typeface="+mn-ea"/>
                        <a:ea typeface="+mn-ea"/>
                        <a:cs typeface="Noto Sans CJK KR" charset="0"/>
                      </a:endParaRPr>
                    </a:p>
                  </a:txBody>
                  <a:tcPr marL="41148" marR="41148" marT="41148" marB="41148">
                    <a:lnL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500" dirty="0">
                          <a:solidFill>
                            <a:srgbClr val="111827"/>
                          </a:solidFill>
                          <a:latin typeface="+mn-ea"/>
                          <a:ea typeface="+mn-ea"/>
                          <a:cs typeface="Noto Sans CJK KR" pitchFamily="34" charset="-120"/>
                        </a:rPr>
                        <a:t>프로젝트명/고객사/기간/상태/진척도/설명 조회 및 수정</a:t>
                      </a:r>
                      <a:endParaRPr lang="en-US" sz="500" dirty="0">
                        <a:latin typeface="+mn-ea"/>
                        <a:ea typeface="+mn-ea"/>
                        <a:cs typeface="Noto Sans CJK KR" charset="0"/>
                      </a:endParaRPr>
                    </a:p>
                  </a:txBody>
                  <a:tcPr marL="41148" marR="41148" marT="41148" marB="41148">
                    <a:lnL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500" dirty="0">
                          <a:solidFill>
                            <a:srgbClr val="111827"/>
                          </a:solidFill>
                          <a:latin typeface="+mn-ea"/>
                          <a:ea typeface="+mn-ea"/>
                          <a:cs typeface="Noto Sans CJK KR" pitchFamily="34" charset="-120"/>
                        </a:rPr>
                        <a:t>2 저장/취소</a:t>
                      </a:r>
                      <a:endParaRPr lang="en-US" sz="500" dirty="0">
                        <a:latin typeface="+mn-ea"/>
                        <a:ea typeface="+mn-ea"/>
                        <a:cs typeface="Noto Sans CJK KR" charset="0"/>
                      </a:endParaRPr>
                    </a:p>
                  </a:txBody>
                  <a:tcPr marL="41148" marR="41148" marT="41148" marB="41148">
                    <a:lnL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500" dirty="0">
                          <a:solidFill>
                            <a:srgbClr val="111827"/>
                          </a:solidFill>
                          <a:latin typeface="+mn-ea"/>
                          <a:ea typeface="+mn-ea"/>
                          <a:cs typeface="Noto Sans CJK KR" pitchFamily="34" charset="-120"/>
                        </a:rPr>
                        <a:t>취소: 상세 화면 복귀</a:t>
                      </a:r>
                      <a:endParaRPr lang="en-US" sz="500" dirty="0">
                        <a:latin typeface="+mn-ea"/>
                        <a:ea typeface="+mn-ea"/>
                        <a:cs typeface="Noto Sans CJK KR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500" dirty="0">
                          <a:solidFill>
                            <a:srgbClr val="111827"/>
                          </a:solidFill>
                          <a:latin typeface="+mn-ea"/>
                          <a:ea typeface="+mn-ea"/>
                          <a:cs typeface="Noto Sans CJK KR" pitchFamily="34" charset="-120"/>
                        </a:rPr>
                        <a:t>수정: 저장 후 상세 화면 이동</a:t>
                      </a:r>
                      <a:endParaRPr lang="en-US" sz="500" dirty="0">
                        <a:latin typeface="+mn-ea"/>
                        <a:ea typeface="+mn-ea"/>
                        <a:cs typeface="Noto Sans CJK KR" charset="0"/>
                      </a:endParaRPr>
                    </a:p>
                  </a:txBody>
                  <a:tcPr marL="41148" marR="41148" marT="41148" marB="41148">
                    <a:lnL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776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500" dirty="0">
                          <a:solidFill>
                            <a:srgbClr val="111827"/>
                          </a:solidFill>
                          <a:latin typeface="+mn-ea"/>
                          <a:ea typeface="+mn-ea"/>
                          <a:cs typeface="Noto Sans CJK KR" pitchFamily="34" charset="-120"/>
                        </a:rPr>
                        <a:t>3 진척도</a:t>
                      </a:r>
                      <a:endParaRPr lang="en-US" sz="500" dirty="0">
                        <a:latin typeface="+mn-ea"/>
                        <a:ea typeface="+mn-ea"/>
                        <a:cs typeface="Noto Sans CJK KR" charset="0"/>
                      </a:endParaRPr>
                    </a:p>
                  </a:txBody>
                  <a:tcPr marL="41148" marR="41148" marT="41148" marB="41148">
                    <a:lnL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500" dirty="0">
                          <a:solidFill>
                            <a:srgbClr val="111827"/>
                          </a:solidFill>
                          <a:latin typeface="+mn-ea"/>
                          <a:ea typeface="+mn-ea"/>
                          <a:cs typeface="Noto Sans CJK KR" pitchFamily="34" charset="-120"/>
                        </a:rPr>
                        <a:t>0~100 수치 입력, 및 하단 바 직접 수정</a:t>
                      </a:r>
                      <a:endParaRPr lang="en-US" sz="500" dirty="0">
                        <a:latin typeface="+mn-ea"/>
                        <a:ea typeface="+mn-ea"/>
                        <a:cs typeface="Noto Sans CJK KR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500" dirty="0">
                          <a:solidFill>
                            <a:srgbClr val="111827"/>
                          </a:solidFill>
                          <a:latin typeface="+mn-ea"/>
                          <a:ea typeface="+mn-ea"/>
                          <a:cs typeface="Noto Sans CJK KR" pitchFamily="34" charset="-120"/>
                        </a:rPr>
                        <a:t>현재 진척도 바와 하단 수치 반영</a:t>
                      </a:r>
                      <a:endParaRPr lang="en-US" sz="500" dirty="0">
                        <a:latin typeface="+mn-ea"/>
                        <a:ea typeface="+mn-ea"/>
                        <a:cs typeface="Noto Sans CJK KR" charset="0"/>
                      </a:endParaRPr>
                    </a:p>
                  </a:txBody>
                  <a:tcPr marL="41148" marR="41148" marT="41148" marB="41148">
                    <a:lnL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090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500" dirty="0">
                          <a:solidFill>
                            <a:srgbClr val="111827"/>
                          </a:solidFill>
                          <a:latin typeface="+mn-ea"/>
                          <a:ea typeface="+mn-ea"/>
                          <a:cs typeface="Noto Sans CJK KR" pitchFamily="34" charset="-120"/>
                        </a:rPr>
                        <a:t>4 기술스택</a:t>
                      </a:r>
                      <a:endParaRPr lang="en-US" sz="500" dirty="0">
                        <a:latin typeface="+mn-ea"/>
                        <a:ea typeface="+mn-ea"/>
                        <a:cs typeface="Noto Sans CJK KR" charset="0"/>
                      </a:endParaRPr>
                    </a:p>
                  </a:txBody>
                  <a:tcPr marL="41148" marR="41148" marT="41148" marB="41148">
                    <a:lnL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500" dirty="0">
                          <a:solidFill>
                            <a:srgbClr val="111827"/>
                          </a:solidFill>
                          <a:latin typeface="+mn-ea"/>
                          <a:ea typeface="+mn-ea"/>
                          <a:cs typeface="Noto Sans CJK KR" pitchFamily="34" charset="-120"/>
                        </a:rPr>
                        <a:t>기존 기술스택 태그 표시</a:t>
                      </a:r>
                      <a:endParaRPr lang="en-US" sz="500" dirty="0">
                        <a:latin typeface="+mn-ea"/>
                        <a:ea typeface="+mn-ea"/>
                        <a:cs typeface="Noto Sans CJK KR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500" dirty="0">
                          <a:solidFill>
                            <a:srgbClr val="111827"/>
                          </a:solidFill>
                          <a:latin typeface="+mn-ea"/>
                          <a:ea typeface="+mn-ea"/>
                          <a:cs typeface="Noto Sans CJK KR" pitchFamily="34" charset="-120"/>
                        </a:rPr>
                        <a:t>태그 x 버튼으로 삭제 가능</a:t>
                      </a:r>
                      <a:endParaRPr lang="en-US" sz="500" dirty="0">
                        <a:latin typeface="+mn-ea"/>
                        <a:ea typeface="+mn-ea"/>
                        <a:cs typeface="Noto Sans CJK KR" charset="0"/>
                      </a:endParaRPr>
                    </a:p>
                  </a:txBody>
                  <a:tcPr marL="41148" marR="41148" marT="41148" marB="41148">
                    <a:lnL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776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500" dirty="0">
                          <a:solidFill>
                            <a:srgbClr val="111827"/>
                          </a:solidFill>
                          <a:latin typeface="+mn-ea"/>
                          <a:ea typeface="+mn-ea"/>
                          <a:cs typeface="Noto Sans CJK KR" pitchFamily="34" charset="-120"/>
                        </a:rPr>
                        <a:t>5 기술 추가</a:t>
                      </a:r>
                      <a:endParaRPr lang="en-US" sz="500" dirty="0">
                        <a:latin typeface="+mn-ea"/>
                        <a:ea typeface="+mn-ea"/>
                        <a:cs typeface="Noto Sans CJK KR" charset="0"/>
                      </a:endParaRPr>
                    </a:p>
                  </a:txBody>
                  <a:tcPr marL="41148" marR="41148" marT="41148" marB="41148">
                    <a:lnL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500" dirty="0">
                          <a:solidFill>
                            <a:srgbClr val="111827"/>
                          </a:solidFill>
                          <a:latin typeface="+mn-ea"/>
                          <a:ea typeface="+mn-ea"/>
                          <a:cs typeface="Noto Sans CJK KR" pitchFamily="34" charset="-120"/>
                        </a:rPr>
                        <a:t>직접 입력 후 Enter 또는 + 버튼 추가</a:t>
                      </a:r>
                      <a:endParaRPr lang="en-US" sz="500" dirty="0">
                        <a:latin typeface="+mn-ea"/>
                        <a:ea typeface="+mn-ea"/>
                        <a:cs typeface="Noto Sans CJK KR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500" dirty="0">
                          <a:solidFill>
                            <a:srgbClr val="111827"/>
                          </a:solidFill>
                          <a:latin typeface="+mn-ea"/>
                          <a:ea typeface="+mn-ea"/>
                          <a:cs typeface="Noto Sans CJK KR" pitchFamily="34" charset="-120"/>
                        </a:rPr>
                        <a:t>추천 기술 클릭 시 태그 추가</a:t>
                      </a:r>
                      <a:endParaRPr lang="en-US" sz="500" dirty="0">
                        <a:latin typeface="+mn-ea"/>
                        <a:ea typeface="+mn-ea"/>
                        <a:cs typeface="Noto Sans CJK KR" charset="0"/>
                      </a:endParaRPr>
                    </a:p>
                  </a:txBody>
                  <a:tcPr marL="41148" marR="41148" marT="41148" marB="41148">
                    <a:lnL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500" dirty="0">
                          <a:solidFill>
                            <a:srgbClr val="111827"/>
                          </a:solidFill>
                          <a:latin typeface="+mn-ea"/>
                          <a:ea typeface="+mn-ea"/>
                          <a:cs typeface="Noto Sans CJK KR" pitchFamily="34" charset="-120"/>
                        </a:rPr>
                        <a:t>6 미리보기</a:t>
                      </a:r>
                      <a:endParaRPr lang="en-US" sz="500" dirty="0">
                        <a:latin typeface="+mn-ea"/>
                        <a:ea typeface="+mn-ea"/>
                        <a:cs typeface="Noto Sans CJK KR" charset="0"/>
                      </a:endParaRPr>
                    </a:p>
                  </a:txBody>
                  <a:tcPr marL="41148" marR="41148" marT="41148" marB="41148">
                    <a:lnL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500" dirty="0">
                          <a:solidFill>
                            <a:srgbClr val="111827"/>
                          </a:solidFill>
                          <a:latin typeface="+mn-ea"/>
                          <a:ea typeface="+mn-ea"/>
                          <a:cs typeface="Noto Sans CJK KR" pitchFamily="34" charset="-120"/>
                        </a:rPr>
                        <a:t>수정 정보 미리보기 영역에 핵심 정보 요약 표시</a:t>
                      </a:r>
                      <a:endParaRPr lang="en-US" sz="500" dirty="0">
                        <a:latin typeface="+mn-ea"/>
                        <a:ea typeface="+mn-ea"/>
                        <a:cs typeface="Noto Sans CJK KR" charset="0"/>
                      </a:endParaRPr>
                    </a:p>
                  </a:txBody>
                  <a:tcPr marL="41148" marR="41148" marT="41148" marB="41148">
                    <a:lnL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38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81567417"/>
              </p:ext>
            </p:extLst>
          </p:nvPr>
        </p:nvGraphicFramePr>
        <p:xfrm>
          <a:off x="5657850" y="3621024"/>
          <a:ext cx="2983230" cy="987552"/>
        </p:xfrm>
        <a:graphic>
          <a:graphicData uri="http://schemas.openxmlformats.org/drawingml/2006/table">
            <a:tbl>
              <a:tblPr/>
              <a:tblGrid>
                <a:gridCol w="64465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3857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945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600" b="1" dirty="0">
                          <a:solidFill>
                            <a:srgbClr val="FFFFFF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구분</a:t>
                      </a:r>
                      <a:endParaRPr lang="en-US" sz="6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27432" marR="27432" marT="27432" marB="27432">
                    <a:lnL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1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600" b="1" dirty="0">
                          <a:solidFill>
                            <a:srgbClr val="FFFFFF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수정/추가</a:t>
                      </a:r>
                      <a:endParaRPr lang="en-US" sz="6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27432" marR="27432" marT="27432" marB="27432">
                    <a:lnL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1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500" dirty="0">
                          <a:solidFill>
                            <a:srgbClr val="111827"/>
                          </a:solidFill>
                          <a:latin typeface="+mn-ea"/>
                          <a:ea typeface="+mn-ea"/>
                          <a:cs typeface="Noto Sans CJK KR" pitchFamily="34" charset="-120"/>
                        </a:rPr>
                        <a:t>7 날짜</a:t>
                      </a:r>
                      <a:endParaRPr lang="en-US" sz="500" dirty="0">
                        <a:latin typeface="+mn-ea"/>
                        <a:ea typeface="+mn-ea"/>
                        <a:cs typeface="Noto Sans CJK KR" charset="0"/>
                      </a:endParaRPr>
                    </a:p>
                  </a:txBody>
                  <a:tcPr marL="41148" marR="41148" marT="41148" marB="41148">
                    <a:lnL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500" dirty="0">
                          <a:solidFill>
                            <a:srgbClr val="111827"/>
                          </a:solidFill>
                          <a:latin typeface="+mn-ea"/>
                          <a:ea typeface="+mn-ea"/>
                          <a:cs typeface="Noto Sans CJK KR" pitchFamily="34" charset="-120"/>
                        </a:rPr>
                        <a:t>시작일/종료일 datepicker 적용</a:t>
                      </a:r>
                      <a:endParaRPr lang="en-US" sz="500" dirty="0">
                        <a:latin typeface="+mn-ea"/>
                        <a:ea typeface="+mn-ea"/>
                        <a:cs typeface="Noto Sans CJK KR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500" dirty="0">
                          <a:solidFill>
                            <a:srgbClr val="111827"/>
                          </a:solidFill>
                          <a:latin typeface="+mn-ea"/>
                          <a:ea typeface="+mn-ea"/>
                          <a:cs typeface="Noto Sans CJK KR" pitchFamily="34" charset="-120"/>
                        </a:rPr>
                        <a:t>기존 프로젝트 기간 기본값 로딩</a:t>
                      </a:r>
                      <a:endParaRPr lang="en-US" sz="500" dirty="0">
                        <a:latin typeface="+mn-ea"/>
                        <a:ea typeface="+mn-ea"/>
                        <a:cs typeface="Noto Sans CJK KR" charset="0"/>
                      </a:endParaRPr>
                    </a:p>
                  </a:txBody>
                  <a:tcPr marL="41148" marR="41148" marT="41148" marB="41148">
                    <a:lnL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500" dirty="0">
                          <a:solidFill>
                            <a:srgbClr val="111827"/>
                          </a:solidFill>
                          <a:latin typeface="+mn-ea"/>
                          <a:ea typeface="+mn-ea"/>
                          <a:cs typeface="Noto Sans CJK KR" pitchFamily="34" charset="-120"/>
                        </a:rPr>
                        <a:t>8 검증/예외</a:t>
                      </a:r>
                      <a:endParaRPr lang="en-US" sz="500" dirty="0">
                        <a:latin typeface="+mn-ea"/>
                        <a:ea typeface="+mn-ea"/>
                        <a:cs typeface="Noto Sans CJK KR" charset="0"/>
                      </a:endParaRPr>
                    </a:p>
                  </a:txBody>
                  <a:tcPr marL="41148" marR="41148" marT="41148" marB="41148">
                    <a:lnL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500" dirty="0">
                          <a:solidFill>
                            <a:srgbClr val="111827"/>
                          </a:solidFill>
                          <a:latin typeface="+mn-ea"/>
                          <a:ea typeface="+mn-ea"/>
                          <a:cs typeface="Noto Sans CJK KR" pitchFamily="34" charset="-120"/>
                        </a:rPr>
                        <a:t>필수값 미입력 시 붉은 테두리 및 안내 문구 표시</a:t>
                      </a:r>
                      <a:endParaRPr lang="en-US" sz="500" dirty="0">
                        <a:latin typeface="+mn-ea"/>
                        <a:ea typeface="+mn-ea"/>
                        <a:cs typeface="Noto Sans CJK KR" charset="0"/>
                      </a:endParaRPr>
                    </a:p>
                  </a:txBody>
                  <a:tcPr marL="41148" marR="41148" marT="41148" marB="41148">
                    <a:lnL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39" name="Text 135"/>
          <p:cNvSpPr/>
          <p:nvPr/>
        </p:nvSpPr>
        <p:spPr>
          <a:xfrm>
            <a:off x="480060" y="4828032"/>
            <a:ext cx="3429000" cy="82296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/>
          </a:bodyPr>
          <a:lstStyle/>
          <a:p>
            <a:r>
              <a:rPr lang="en-US" sz="510" dirty="0">
                <a:solidFill>
                  <a:srgbClr val="0F213A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* 본 문서는 화면 설계 검토용이며, 실제 구현 상태와 다를 수 있습니다.</a:t>
            </a:r>
            <a:endParaRPr lang="en-US" sz="510" dirty="0"/>
          </a:p>
        </p:txBody>
      </p:sp>
      <p:sp>
        <p:nvSpPr>
          <p:cNvPr id="140" name="Text 136"/>
          <p:cNvSpPr/>
          <p:nvPr/>
        </p:nvSpPr>
        <p:spPr>
          <a:xfrm>
            <a:off x="8469630" y="4828032"/>
            <a:ext cx="445770" cy="82296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/>
          </a:bodyPr>
          <a:lstStyle/>
          <a:p>
            <a:pPr algn="r"/>
            <a:r>
              <a:rPr lang="en-US" sz="488" dirty="0">
                <a:solidFill>
                  <a:srgbClr val="0F213A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Confidential</a:t>
            </a:r>
            <a:endParaRPr lang="en-US" sz="488" dirty="0"/>
          </a:p>
        </p:txBody>
      </p:sp>
      <p:pic>
        <p:nvPicPr>
          <p:cNvPr id="141" name="그림 14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79276" y="4442459"/>
            <a:ext cx="1958042" cy="6326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404202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50876" y="68580"/>
            <a:ext cx="8833104" cy="425196"/>
          </a:xfrm>
          <a:prstGeom prst="rect">
            <a:avLst/>
          </a:prstGeom>
          <a:solidFill>
            <a:srgbClr val="0D223A"/>
          </a:solidFill>
          <a:ln w="12700">
            <a:solidFill>
              <a:srgbClr val="0D223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45770" y="171450"/>
            <a:ext cx="1371600" cy="123444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 lnSpcReduction="10000"/>
          </a:bodyPr>
          <a:lstStyle/>
          <a:p>
            <a:r>
              <a:rPr lang="en-US" sz="825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Peoplelify UI 기획서</a:t>
            </a:r>
            <a:endParaRPr lang="en-US" sz="825" dirty="0"/>
          </a:p>
        </p:txBody>
      </p:sp>
      <p:sp>
        <p:nvSpPr>
          <p:cNvPr id="4" name="Text 2"/>
          <p:cNvSpPr/>
          <p:nvPr/>
        </p:nvSpPr>
        <p:spPr>
          <a:xfrm>
            <a:off x="3223260" y="109728"/>
            <a:ext cx="2743200" cy="288036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pPr algn="ctr"/>
            <a:r>
              <a:rPr lang="en-US" sz="16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프로젝트 상세 개요 탭 설계</a:t>
            </a:r>
            <a:endParaRPr lang="en-US" sz="1650" dirty="0"/>
          </a:p>
        </p:txBody>
      </p:sp>
      <p:sp>
        <p:nvSpPr>
          <p:cNvPr id="5" name="Text 3"/>
          <p:cNvSpPr/>
          <p:nvPr/>
        </p:nvSpPr>
        <p:spPr>
          <a:xfrm>
            <a:off x="7098030" y="192024"/>
            <a:ext cx="1303020" cy="109728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pPr algn="r"/>
            <a:r>
              <a:rPr lang="en-US" sz="525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project 도메인 · /project/project-detail/:id</a:t>
            </a:r>
            <a:endParaRPr lang="en-US" sz="525" dirty="0"/>
          </a:p>
        </p:txBody>
      </p:sp>
      <p:sp>
        <p:nvSpPr>
          <p:cNvPr id="6" name="Text 4"/>
          <p:cNvSpPr/>
          <p:nvPr/>
        </p:nvSpPr>
        <p:spPr>
          <a:xfrm>
            <a:off x="8517636" y="192024"/>
            <a:ext cx="205740" cy="109728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pPr algn="ctr"/>
            <a:r>
              <a:rPr lang="en-US" sz="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08</a:t>
            </a:r>
            <a:endParaRPr lang="en-US" sz="600" dirty="0"/>
          </a:p>
        </p:txBody>
      </p:sp>
      <p:sp>
        <p:nvSpPr>
          <p:cNvPr id="7" name="Text 5"/>
          <p:cNvSpPr/>
          <p:nvPr/>
        </p:nvSpPr>
        <p:spPr>
          <a:xfrm>
            <a:off x="582930" y="699516"/>
            <a:ext cx="1371600" cy="171450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105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설계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5726430" y="699516"/>
            <a:ext cx="1234440" cy="178308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 lnSpcReduction="10000"/>
          </a:bodyPr>
          <a:lstStyle/>
          <a:p>
            <a:r>
              <a:rPr lang="en-US" sz="12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Description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263890" y="713232"/>
            <a:ext cx="480060" cy="123444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600" b="1" dirty="0">
                <a:solidFill>
                  <a:srgbClr val="005B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검토용</a:t>
            </a:r>
            <a:endParaRPr lang="en-US" sz="600" dirty="0"/>
          </a:p>
        </p:txBody>
      </p:sp>
      <p:sp>
        <p:nvSpPr>
          <p:cNvPr id="10" name="Shape 8"/>
          <p:cNvSpPr/>
          <p:nvPr/>
        </p:nvSpPr>
        <p:spPr>
          <a:xfrm>
            <a:off x="425196" y="946404"/>
            <a:ext cx="5177790" cy="3669030"/>
          </a:xfrm>
          <a:prstGeom prst="roundRect">
            <a:avLst>
              <a:gd name="adj" fmla="val 1121"/>
            </a:avLst>
          </a:prstGeom>
          <a:solidFill>
            <a:srgbClr val="FFFFFF"/>
          </a:solidFill>
          <a:ln w="7620">
            <a:solidFill>
              <a:srgbClr val="C9D6E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34924" y="1062990"/>
            <a:ext cx="4937760" cy="3545586"/>
          </a:xfrm>
          <a:prstGeom prst="rect">
            <a:avLst/>
          </a:prstGeom>
          <a:solidFill>
            <a:srgbClr val="1F1D3B"/>
          </a:solidFill>
          <a:ln w="12700">
            <a:solidFill>
              <a:srgbClr val="1F1D3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34924" y="1062990"/>
            <a:ext cx="973836" cy="3545586"/>
          </a:xfrm>
          <a:prstGeom prst="rect">
            <a:avLst/>
          </a:prstGeom>
          <a:solidFill>
            <a:srgbClr val="302E50"/>
          </a:solidFill>
          <a:ln w="12700">
            <a:solidFill>
              <a:srgbClr val="302E5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508760" y="1062990"/>
            <a:ext cx="3963924" cy="384048"/>
          </a:xfrm>
          <a:prstGeom prst="rect">
            <a:avLst/>
          </a:prstGeom>
          <a:solidFill>
            <a:srgbClr val="312F52"/>
          </a:solidFill>
          <a:ln w="12700">
            <a:solidFill>
              <a:srgbClr val="312F5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17220" y="1165860"/>
            <a:ext cx="617220" cy="89154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428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⚙  인력관리 시스템</a:t>
            </a:r>
            <a:endParaRPr lang="en-US" sz="428" dirty="0"/>
          </a:p>
        </p:txBody>
      </p:sp>
      <p:sp>
        <p:nvSpPr>
          <p:cNvPr id="15" name="Text 13"/>
          <p:cNvSpPr/>
          <p:nvPr/>
        </p:nvSpPr>
        <p:spPr>
          <a:xfrm>
            <a:off x="692658" y="1248156"/>
            <a:ext cx="480060" cy="68580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323" dirty="0">
                <a:solidFill>
                  <a:srgbClr val="B7B4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Peoplelify v1.0</a:t>
            </a:r>
            <a:endParaRPr lang="en-US" sz="323" dirty="0"/>
          </a:p>
        </p:txBody>
      </p:sp>
      <p:sp>
        <p:nvSpPr>
          <p:cNvPr id="16" name="Text 14"/>
          <p:cNvSpPr/>
          <p:nvPr/>
        </p:nvSpPr>
        <p:spPr>
          <a:xfrm>
            <a:off x="610362" y="1645920"/>
            <a:ext cx="548640" cy="82296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345" dirty="0">
                <a:solidFill>
                  <a:srgbClr val="9390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메인 메뉴</a:t>
            </a:r>
            <a:endParaRPr lang="en-US" sz="345" dirty="0"/>
          </a:p>
        </p:txBody>
      </p:sp>
      <p:sp>
        <p:nvSpPr>
          <p:cNvPr id="17" name="Text 15"/>
          <p:cNvSpPr/>
          <p:nvPr/>
        </p:nvSpPr>
        <p:spPr>
          <a:xfrm>
            <a:off x="644652" y="1851660"/>
            <a:ext cx="685800" cy="82296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375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▣  대시보드</a:t>
            </a:r>
            <a:endParaRPr lang="en-US" sz="375" dirty="0"/>
          </a:p>
        </p:txBody>
      </p:sp>
      <p:sp>
        <p:nvSpPr>
          <p:cNvPr id="18" name="Text 16"/>
          <p:cNvSpPr/>
          <p:nvPr/>
        </p:nvSpPr>
        <p:spPr>
          <a:xfrm>
            <a:off x="644652" y="2084832"/>
            <a:ext cx="685800" cy="82296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375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▣  직원관리</a:t>
            </a:r>
            <a:endParaRPr lang="en-US" sz="375" dirty="0"/>
          </a:p>
        </p:txBody>
      </p:sp>
      <p:sp>
        <p:nvSpPr>
          <p:cNvPr id="19" name="Shape 17"/>
          <p:cNvSpPr/>
          <p:nvPr/>
        </p:nvSpPr>
        <p:spPr>
          <a:xfrm>
            <a:off x="576072" y="2304288"/>
            <a:ext cx="850392" cy="157734"/>
          </a:xfrm>
          <a:prstGeom prst="roundRect">
            <a:avLst>
              <a:gd name="adj" fmla="val 17391"/>
            </a:avLst>
          </a:prstGeom>
          <a:solidFill>
            <a:srgbClr val="3B3865"/>
          </a:solidFill>
          <a:ln w="12700">
            <a:solidFill>
              <a:srgbClr val="3B386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4652" y="2318004"/>
            <a:ext cx="685800" cy="82296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375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▣  프로젝트</a:t>
            </a:r>
            <a:endParaRPr lang="en-US" sz="375" dirty="0"/>
          </a:p>
        </p:txBody>
      </p:sp>
      <p:sp>
        <p:nvSpPr>
          <p:cNvPr id="21" name="Text 19"/>
          <p:cNvSpPr/>
          <p:nvPr/>
        </p:nvSpPr>
        <p:spPr>
          <a:xfrm>
            <a:off x="644652" y="2551176"/>
            <a:ext cx="685800" cy="82296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375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▣  근태관리</a:t>
            </a:r>
            <a:endParaRPr lang="en-US" sz="375" dirty="0"/>
          </a:p>
        </p:txBody>
      </p:sp>
      <p:sp>
        <p:nvSpPr>
          <p:cNvPr id="22" name="Text 20"/>
          <p:cNvSpPr/>
          <p:nvPr/>
        </p:nvSpPr>
        <p:spPr>
          <a:xfrm>
            <a:off x="644652" y="2784348"/>
            <a:ext cx="685800" cy="82296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375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▣  리포트</a:t>
            </a:r>
            <a:endParaRPr lang="en-US" sz="375" dirty="0"/>
          </a:p>
        </p:txBody>
      </p:sp>
      <p:sp>
        <p:nvSpPr>
          <p:cNvPr id="23" name="Text 21"/>
          <p:cNvSpPr/>
          <p:nvPr/>
        </p:nvSpPr>
        <p:spPr>
          <a:xfrm>
            <a:off x="610362" y="3017520"/>
            <a:ext cx="548640" cy="82296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345" dirty="0">
                <a:solidFill>
                  <a:srgbClr val="9390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퍼플리싱(임시)</a:t>
            </a:r>
            <a:endParaRPr lang="en-US" sz="345" dirty="0"/>
          </a:p>
        </p:txBody>
      </p:sp>
      <p:sp>
        <p:nvSpPr>
          <p:cNvPr id="24" name="Text 22"/>
          <p:cNvSpPr/>
          <p:nvPr/>
        </p:nvSpPr>
        <p:spPr>
          <a:xfrm>
            <a:off x="644652" y="3223260"/>
            <a:ext cx="685800" cy="82296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375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▣  대시보드</a:t>
            </a:r>
            <a:endParaRPr lang="en-US" sz="375" dirty="0"/>
          </a:p>
        </p:txBody>
      </p:sp>
      <p:sp>
        <p:nvSpPr>
          <p:cNvPr id="25" name="Text 23"/>
          <p:cNvSpPr/>
          <p:nvPr/>
        </p:nvSpPr>
        <p:spPr>
          <a:xfrm>
            <a:off x="644652" y="3456432"/>
            <a:ext cx="685800" cy="82296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375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▣  직원관리</a:t>
            </a:r>
            <a:endParaRPr lang="en-US" sz="375" dirty="0"/>
          </a:p>
        </p:txBody>
      </p:sp>
      <p:sp>
        <p:nvSpPr>
          <p:cNvPr id="26" name="Text 24"/>
          <p:cNvSpPr/>
          <p:nvPr/>
        </p:nvSpPr>
        <p:spPr>
          <a:xfrm>
            <a:off x="644652" y="3689604"/>
            <a:ext cx="685800" cy="82296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375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▣  프로젝트</a:t>
            </a:r>
            <a:endParaRPr lang="en-US" sz="375" dirty="0"/>
          </a:p>
        </p:txBody>
      </p:sp>
      <p:sp>
        <p:nvSpPr>
          <p:cNvPr id="27" name="Text 25"/>
          <p:cNvSpPr/>
          <p:nvPr/>
        </p:nvSpPr>
        <p:spPr>
          <a:xfrm>
            <a:off x="644652" y="3922776"/>
            <a:ext cx="685800" cy="82296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375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▣  근태관리</a:t>
            </a:r>
            <a:endParaRPr lang="en-US" sz="375" dirty="0"/>
          </a:p>
        </p:txBody>
      </p:sp>
      <p:sp>
        <p:nvSpPr>
          <p:cNvPr id="28" name="Text 26"/>
          <p:cNvSpPr/>
          <p:nvPr/>
        </p:nvSpPr>
        <p:spPr>
          <a:xfrm>
            <a:off x="644652" y="4155948"/>
            <a:ext cx="685800" cy="82296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375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▣  로그인</a:t>
            </a:r>
            <a:endParaRPr lang="en-US" sz="375" dirty="0"/>
          </a:p>
        </p:txBody>
      </p:sp>
      <p:sp>
        <p:nvSpPr>
          <p:cNvPr id="29" name="Shape 27"/>
          <p:cNvSpPr/>
          <p:nvPr/>
        </p:nvSpPr>
        <p:spPr>
          <a:xfrm>
            <a:off x="1604772" y="1172718"/>
            <a:ext cx="171450" cy="178308"/>
          </a:xfrm>
          <a:prstGeom prst="roundRect">
            <a:avLst>
              <a:gd name="adj" fmla="val 32000"/>
            </a:avLst>
          </a:prstGeom>
          <a:solidFill>
            <a:srgbClr val="312F52"/>
          </a:solidFill>
          <a:ln w="7620">
            <a:solidFill>
              <a:srgbClr val="676184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632204" y="1186434"/>
            <a:ext cx="116586" cy="150876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pPr algn="ctr"/>
            <a:r>
              <a:rPr lang="en-US" sz="488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☰</a:t>
            </a:r>
            <a:endParaRPr lang="en-US" sz="488" dirty="0"/>
          </a:p>
        </p:txBody>
      </p:sp>
      <p:sp>
        <p:nvSpPr>
          <p:cNvPr id="31" name="Shape 29"/>
          <p:cNvSpPr/>
          <p:nvPr/>
        </p:nvSpPr>
        <p:spPr>
          <a:xfrm>
            <a:off x="1872234" y="1172718"/>
            <a:ext cx="1817370" cy="178308"/>
          </a:xfrm>
          <a:prstGeom prst="roundRect">
            <a:avLst>
              <a:gd name="adj" fmla="val 30769"/>
            </a:avLst>
          </a:prstGeom>
          <a:solidFill>
            <a:srgbClr val="312F52"/>
          </a:solidFill>
          <a:ln w="7620">
            <a:solidFill>
              <a:srgbClr val="676184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899666" y="1186434"/>
            <a:ext cx="1762506" cy="150876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338" dirty="0">
                <a:solidFill>
                  <a:srgbClr val="AAA6C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⌕  Search or type command...</a:t>
            </a:r>
            <a:endParaRPr lang="en-US" sz="338" dirty="0"/>
          </a:p>
        </p:txBody>
      </p:sp>
      <p:sp>
        <p:nvSpPr>
          <p:cNvPr id="33" name="Shape 31"/>
          <p:cNvSpPr/>
          <p:nvPr/>
        </p:nvSpPr>
        <p:spPr>
          <a:xfrm>
            <a:off x="4841748" y="1165860"/>
            <a:ext cx="377190" cy="178308"/>
          </a:xfrm>
          <a:prstGeom prst="roundRect">
            <a:avLst>
              <a:gd name="adj" fmla="val 30769"/>
            </a:avLst>
          </a:prstGeom>
          <a:solidFill>
            <a:srgbClr val="19172F"/>
          </a:solidFill>
          <a:ln w="7620">
            <a:solidFill>
              <a:srgbClr val="19172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869180" y="1179576"/>
            <a:ext cx="322326" cy="150876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pPr algn="ctr"/>
            <a:r>
              <a:rPr lang="en-US" sz="368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GitHub ↗</a:t>
            </a:r>
            <a:endParaRPr lang="en-US" sz="368" dirty="0"/>
          </a:p>
        </p:txBody>
      </p:sp>
      <p:sp>
        <p:nvSpPr>
          <p:cNvPr id="35" name="Shape 33"/>
          <p:cNvSpPr/>
          <p:nvPr/>
        </p:nvSpPr>
        <p:spPr>
          <a:xfrm>
            <a:off x="5232654" y="1159002"/>
            <a:ext cx="178308" cy="178308"/>
          </a:xfrm>
          <a:prstGeom prst="ellipse">
            <a:avLst/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636668" y="1495746"/>
            <a:ext cx="1371600" cy="82296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360" dirty="0">
                <a:solidFill>
                  <a:srgbClr val="AAA6C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프로젝트  ›  D보험 차세대시스템</a:t>
            </a:r>
            <a:endParaRPr lang="en-US" sz="360" dirty="0"/>
          </a:p>
        </p:txBody>
      </p:sp>
      <p:sp>
        <p:nvSpPr>
          <p:cNvPr id="37" name="Text 35"/>
          <p:cNvSpPr/>
          <p:nvPr/>
        </p:nvSpPr>
        <p:spPr>
          <a:xfrm>
            <a:off x="1636668" y="1605474"/>
            <a:ext cx="1577340" cy="150876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86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D보험 차세대시스템</a:t>
            </a:r>
            <a:endParaRPr lang="en-US" sz="863" dirty="0"/>
          </a:p>
        </p:txBody>
      </p:sp>
      <p:sp>
        <p:nvSpPr>
          <p:cNvPr id="38" name="Shape 36"/>
          <p:cNvSpPr/>
          <p:nvPr/>
        </p:nvSpPr>
        <p:spPr>
          <a:xfrm>
            <a:off x="3929724" y="1516320"/>
            <a:ext cx="308610" cy="164592"/>
          </a:xfrm>
          <a:prstGeom prst="roundRect">
            <a:avLst>
              <a:gd name="adj" fmla="val 33333"/>
            </a:avLst>
          </a:prstGeom>
          <a:solidFill>
            <a:srgbClr val="312F52"/>
          </a:solidFill>
          <a:ln w="7620">
            <a:solidFill>
              <a:srgbClr val="676184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957156" y="1530036"/>
            <a:ext cx="253746" cy="137160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pPr algn="ctr"/>
            <a:r>
              <a:rPr lang="en-US" sz="36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목록으로</a:t>
            </a:r>
            <a:endParaRPr lang="en-US" sz="360" dirty="0"/>
          </a:p>
        </p:txBody>
      </p:sp>
      <p:sp>
        <p:nvSpPr>
          <p:cNvPr id="40" name="Shape 38"/>
          <p:cNvSpPr/>
          <p:nvPr/>
        </p:nvSpPr>
        <p:spPr>
          <a:xfrm>
            <a:off x="4272624" y="1516320"/>
            <a:ext cx="260604" cy="164592"/>
          </a:xfrm>
          <a:prstGeom prst="roundRect">
            <a:avLst>
              <a:gd name="adj" fmla="val 33333"/>
            </a:avLst>
          </a:prstGeom>
          <a:solidFill>
            <a:srgbClr val="312F52"/>
          </a:solidFill>
          <a:ln w="7620">
            <a:solidFill>
              <a:srgbClr val="676184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300056" y="1530036"/>
            <a:ext cx="205740" cy="137160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pPr algn="ctr"/>
            <a:r>
              <a:rPr lang="en-US" sz="36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수정</a:t>
            </a:r>
            <a:endParaRPr lang="en-US" sz="360" dirty="0"/>
          </a:p>
        </p:txBody>
      </p:sp>
      <p:sp>
        <p:nvSpPr>
          <p:cNvPr id="42" name="Shape 40"/>
          <p:cNvSpPr/>
          <p:nvPr/>
        </p:nvSpPr>
        <p:spPr>
          <a:xfrm>
            <a:off x="4567518" y="1516320"/>
            <a:ext cx="397764" cy="164592"/>
          </a:xfrm>
          <a:prstGeom prst="roundRect">
            <a:avLst>
              <a:gd name="adj" fmla="val 33333"/>
            </a:avLst>
          </a:prstGeom>
          <a:solidFill>
            <a:srgbClr val="7C5CFF"/>
          </a:solidFill>
          <a:ln w="7620">
            <a:solidFill>
              <a:srgbClr val="7C5CFF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594950" y="1530036"/>
            <a:ext cx="342900" cy="137160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pPr algn="ctr"/>
            <a:r>
              <a:rPr lang="en-US" sz="36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인력 배정</a:t>
            </a:r>
            <a:endParaRPr lang="en-US" sz="360" dirty="0"/>
          </a:p>
        </p:txBody>
      </p:sp>
      <p:sp>
        <p:nvSpPr>
          <p:cNvPr id="44" name="Shape 42"/>
          <p:cNvSpPr/>
          <p:nvPr/>
        </p:nvSpPr>
        <p:spPr>
          <a:xfrm>
            <a:off x="5006430" y="1516320"/>
            <a:ext cx="260604" cy="164592"/>
          </a:xfrm>
          <a:prstGeom prst="roundRect">
            <a:avLst>
              <a:gd name="adj" fmla="val 33333"/>
            </a:avLst>
          </a:prstGeom>
          <a:solidFill>
            <a:srgbClr val="251D35"/>
          </a:solidFill>
          <a:ln w="7620">
            <a:solidFill>
              <a:srgbClr val="FF245C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033862" y="1530036"/>
            <a:ext cx="205740" cy="137160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pPr algn="ctr"/>
            <a:r>
              <a:rPr lang="en-US" sz="360" b="1" dirty="0">
                <a:solidFill>
                  <a:srgbClr val="FF24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삭제</a:t>
            </a:r>
            <a:endParaRPr lang="en-US" sz="360" dirty="0"/>
          </a:p>
        </p:txBody>
      </p:sp>
      <p:sp>
        <p:nvSpPr>
          <p:cNvPr id="46" name="Shape 44"/>
          <p:cNvSpPr/>
          <p:nvPr/>
        </p:nvSpPr>
        <p:spPr>
          <a:xfrm>
            <a:off x="1636668" y="1736111"/>
            <a:ext cx="3634740" cy="1210914"/>
          </a:xfrm>
          <a:prstGeom prst="roundRect">
            <a:avLst>
              <a:gd name="adj" fmla="val 3247"/>
            </a:avLst>
          </a:prstGeom>
          <a:solidFill>
            <a:srgbClr val="353253"/>
          </a:solidFill>
          <a:ln w="7620">
            <a:solidFill>
              <a:srgbClr val="676184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1739538" y="1852697"/>
            <a:ext cx="960120" cy="82296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338" dirty="0">
                <a:solidFill>
                  <a:srgbClr val="A6B0D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프로젝트명</a:t>
            </a:r>
            <a:endParaRPr lang="en-US" sz="338" dirty="0"/>
          </a:p>
        </p:txBody>
      </p:sp>
      <p:sp>
        <p:nvSpPr>
          <p:cNvPr id="48" name="Text 46"/>
          <p:cNvSpPr/>
          <p:nvPr/>
        </p:nvSpPr>
        <p:spPr>
          <a:xfrm>
            <a:off x="1739538" y="1934993"/>
            <a:ext cx="960120" cy="89154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39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D보험 차세대시스템</a:t>
            </a:r>
            <a:endParaRPr lang="en-US" sz="390" dirty="0"/>
          </a:p>
        </p:txBody>
      </p:sp>
      <p:sp>
        <p:nvSpPr>
          <p:cNvPr id="49" name="Text 47"/>
          <p:cNvSpPr/>
          <p:nvPr/>
        </p:nvSpPr>
        <p:spPr>
          <a:xfrm>
            <a:off x="3159144" y="1852697"/>
            <a:ext cx="788670" cy="82296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338" dirty="0">
                <a:solidFill>
                  <a:srgbClr val="A6B0D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고객사</a:t>
            </a:r>
            <a:endParaRPr lang="en-US" sz="338" dirty="0"/>
          </a:p>
        </p:txBody>
      </p:sp>
      <p:sp>
        <p:nvSpPr>
          <p:cNvPr id="50" name="Text 48"/>
          <p:cNvSpPr/>
          <p:nvPr/>
        </p:nvSpPr>
        <p:spPr>
          <a:xfrm>
            <a:off x="3159144" y="1934993"/>
            <a:ext cx="788670" cy="89154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39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D보험그룹</a:t>
            </a:r>
            <a:endParaRPr lang="en-US" sz="390" dirty="0"/>
          </a:p>
        </p:txBody>
      </p:sp>
      <p:sp>
        <p:nvSpPr>
          <p:cNvPr id="51" name="Text 49"/>
          <p:cNvSpPr/>
          <p:nvPr/>
        </p:nvSpPr>
        <p:spPr>
          <a:xfrm>
            <a:off x="4512564" y="1982297"/>
            <a:ext cx="1062990" cy="82296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338" dirty="0">
                <a:solidFill>
                  <a:srgbClr val="A6B0D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프로젝트 기간</a:t>
            </a:r>
            <a:endParaRPr lang="en-US" sz="338" dirty="0"/>
          </a:p>
        </p:txBody>
      </p:sp>
      <p:sp>
        <p:nvSpPr>
          <p:cNvPr id="52" name="Text 50"/>
          <p:cNvSpPr/>
          <p:nvPr/>
        </p:nvSpPr>
        <p:spPr>
          <a:xfrm>
            <a:off x="4512564" y="2064593"/>
            <a:ext cx="1062990" cy="89154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39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2026.06.16 ~ 2026.10.29</a:t>
            </a:r>
            <a:endParaRPr lang="en-US" sz="390" dirty="0"/>
          </a:p>
        </p:txBody>
      </p:sp>
      <p:sp>
        <p:nvSpPr>
          <p:cNvPr id="53" name="Text 51"/>
          <p:cNvSpPr/>
          <p:nvPr/>
        </p:nvSpPr>
        <p:spPr>
          <a:xfrm>
            <a:off x="5644134" y="2125980"/>
            <a:ext cx="411480" cy="82296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338" dirty="0">
                <a:solidFill>
                  <a:srgbClr val="A6B0D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</a:t>
            </a:r>
            <a:endParaRPr lang="en-US" sz="338" dirty="0"/>
          </a:p>
        </p:txBody>
      </p:sp>
      <p:sp>
        <p:nvSpPr>
          <p:cNvPr id="54" name="Text 52"/>
          <p:cNvSpPr/>
          <p:nvPr/>
        </p:nvSpPr>
        <p:spPr>
          <a:xfrm>
            <a:off x="5644134" y="2208276"/>
            <a:ext cx="411480" cy="89154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39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투입중</a:t>
            </a:r>
            <a:endParaRPr lang="en-US" sz="390" dirty="0"/>
          </a:p>
        </p:txBody>
      </p:sp>
      <p:sp>
        <p:nvSpPr>
          <p:cNvPr id="55" name="Shape 53"/>
          <p:cNvSpPr/>
          <p:nvPr/>
        </p:nvSpPr>
        <p:spPr>
          <a:xfrm>
            <a:off x="5630418" y="2228850"/>
            <a:ext cx="315468" cy="116586"/>
          </a:xfrm>
          <a:prstGeom prst="roundRect">
            <a:avLst>
              <a:gd name="adj" fmla="val 47059"/>
            </a:avLst>
          </a:prstGeom>
          <a:solidFill>
            <a:srgbClr val="10A37F"/>
          </a:solidFill>
          <a:ln w="7620">
            <a:solidFill>
              <a:srgbClr val="10A37F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657850" y="2242566"/>
            <a:ext cx="260604" cy="89154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pPr algn="ctr"/>
            <a:r>
              <a:rPr lang="en-US" sz="338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투입중</a:t>
            </a:r>
            <a:endParaRPr lang="en-US" sz="338" dirty="0"/>
          </a:p>
        </p:txBody>
      </p:sp>
      <p:sp>
        <p:nvSpPr>
          <p:cNvPr id="57" name="Text 55"/>
          <p:cNvSpPr/>
          <p:nvPr/>
        </p:nvSpPr>
        <p:spPr>
          <a:xfrm>
            <a:off x="1739538" y="2181881"/>
            <a:ext cx="411480" cy="82296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338" dirty="0">
                <a:solidFill>
                  <a:srgbClr val="A6B0D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진척도</a:t>
            </a:r>
            <a:endParaRPr lang="en-US" sz="338" dirty="0"/>
          </a:p>
        </p:txBody>
      </p:sp>
      <p:sp>
        <p:nvSpPr>
          <p:cNvPr id="58" name="Text 56"/>
          <p:cNvSpPr/>
          <p:nvPr/>
        </p:nvSpPr>
        <p:spPr>
          <a:xfrm>
            <a:off x="1739538" y="2264177"/>
            <a:ext cx="411480" cy="89154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39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79%</a:t>
            </a:r>
            <a:endParaRPr lang="en-US" sz="390" dirty="0"/>
          </a:p>
        </p:txBody>
      </p:sp>
      <p:sp>
        <p:nvSpPr>
          <p:cNvPr id="59" name="Text 57"/>
          <p:cNvSpPr/>
          <p:nvPr/>
        </p:nvSpPr>
        <p:spPr>
          <a:xfrm>
            <a:off x="3159144" y="2181881"/>
            <a:ext cx="1165860" cy="82296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338" dirty="0">
                <a:solidFill>
                  <a:srgbClr val="A6B0D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프로젝트 설명</a:t>
            </a:r>
            <a:endParaRPr lang="en-US" sz="338" dirty="0"/>
          </a:p>
        </p:txBody>
      </p:sp>
      <p:sp>
        <p:nvSpPr>
          <p:cNvPr id="60" name="Text 58"/>
          <p:cNvSpPr/>
          <p:nvPr/>
        </p:nvSpPr>
        <p:spPr>
          <a:xfrm>
            <a:off x="3159144" y="2264177"/>
            <a:ext cx="1165860" cy="89154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39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차세대 보험코어 시스템 구축</a:t>
            </a:r>
            <a:endParaRPr lang="en-US" sz="390" dirty="0"/>
          </a:p>
        </p:txBody>
      </p:sp>
      <p:sp>
        <p:nvSpPr>
          <p:cNvPr id="61" name="Text 59"/>
          <p:cNvSpPr/>
          <p:nvPr/>
        </p:nvSpPr>
        <p:spPr>
          <a:xfrm>
            <a:off x="1739538" y="2449343"/>
            <a:ext cx="480060" cy="68580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323" dirty="0">
                <a:solidFill>
                  <a:srgbClr val="A6B0D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진척도</a:t>
            </a:r>
            <a:endParaRPr lang="en-US" sz="323" dirty="0"/>
          </a:p>
        </p:txBody>
      </p:sp>
      <p:sp>
        <p:nvSpPr>
          <p:cNvPr id="62" name="Shape 60"/>
          <p:cNvSpPr/>
          <p:nvPr/>
        </p:nvSpPr>
        <p:spPr>
          <a:xfrm>
            <a:off x="1739538" y="2559071"/>
            <a:ext cx="3394710" cy="34290"/>
          </a:xfrm>
          <a:prstGeom prst="roundRect">
            <a:avLst>
              <a:gd name="adj" fmla="val 40000"/>
            </a:avLst>
          </a:prstGeom>
          <a:solidFill>
            <a:srgbClr val="454168"/>
          </a:solidFill>
          <a:ln w="12700">
            <a:solidFill>
              <a:srgbClr val="454168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1739538" y="2559071"/>
            <a:ext cx="2681821" cy="34290"/>
          </a:xfrm>
          <a:prstGeom prst="roundRect">
            <a:avLst>
              <a:gd name="adj" fmla="val 4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4976514" y="2469917"/>
            <a:ext cx="192024" cy="75438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pPr algn="r"/>
            <a:r>
              <a:rPr lang="en-US" sz="330" b="1" dirty="0">
                <a:solidFill>
                  <a:srgbClr val="7C5C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79%</a:t>
            </a:r>
            <a:endParaRPr lang="en-US" sz="330" dirty="0"/>
          </a:p>
        </p:txBody>
      </p:sp>
      <p:sp>
        <p:nvSpPr>
          <p:cNvPr id="65" name="Text 63"/>
          <p:cNvSpPr/>
          <p:nvPr/>
        </p:nvSpPr>
        <p:spPr>
          <a:xfrm>
            <a:off x="1739538" y="2675657"/>
            <a:ext cx="411480" cy="68580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315" dirty="0">
                <a:solidFill>
                  <a:srgbClr val="A6B0D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기술 스택</a:t>
            </a:r>
            <a:endParaRPr lang="en-US" sz="315" dirty="0"/>
          </a:p>
        </p:txBody>
      </p:sp>
      <p:sp>
        <p:nvSpPr>
          <p:cNvPr id="66" name="Shape 64"/>
          <p:cNvSpPr/>
          <p:nvPr/>
        </p:nvSpPr>
        <p:spPr>
          <a:xfrm>
            <a:off x="1739538" y="2771669"/>
            <a:ext cx="219456" cy="123444"/>
          </a:xfrm>
          <a:prstGeom prst="roundRect">
            <a:avLst>
              <a:gd name="adj" fmla="val 44444"/>
            </a:avLst>
          </a:prstGeom>
          <a:solidFill>
            <a:srgbClr val="111827"/>
          </a:solidFill>
          <a:ln w="7620">
            <a:solidFill>
              <a:srgbClr val="111827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1766970" y="2785385"/>
            <a:ext cx="164592" cy="96012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pPr algn="ctr"/>
            <a:r>
              <a:rPr lang="en-US" sz="36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Vue</a:t>
            </a:r>
            <a:endParaRPr lang="en-US" sz="360" dirty="0"/>
          </a:p>
        </p:txBody>
      </p:sp>
      <p:sp>
        <p:nvSpPr>
          <p:cNvPr id="68" name="Shape 66"/>
          <p:cNvSpPr/>
          <p:nvPr/>
        </p:nvSpPr>
        <p:spPr>
          <a:xfrm>
            <a:off x="1993284" y="2771669"/>
            <a:ext cx="329184" cy="123444"/>
          </a:xfrm>
          <a:prstGeom prst="roundRect">
            <a:avLst>
              <a:gd name="adj" fmla="val 44444"/>
            </a:avLst>
          </a:prstGeom>
          <a:solidFill>
            <a:srgbClr val="111827"/>
          </a:solidFill>
          <a:ln w="7620">
            <a:solidFill>
              <a:srgbClr val="111827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2020716" y="2785385"/>
            <a:ext cx="274320" cy="96012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pPr algn="ctr"/>
            <a:r>
              <a:rPr lang="en-US" sz="36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Python</a:t>
            </a:r>
            <a:endParaRPr lang="en-US" sz="360" dirty="0"/>
          </a:p>
        </p:txBody>
      </p:sp>
      <p:sp>
        <p:nvSpPr>
          <p:cNvPr id="70" name="Shape 68"/>
          <p:cNvSpPr/>
          <p:nvPr/>
        </p:nvSpPr>
        <p:spPr>
          <a:xfrm>
            <a:off x="2356758" y="2771669"/>
            <a:ext cx="342900" cy="123444"/>
          </a:xfrm>
          <a:prstGeom prst="roundRect">
            <a:avLst>
              <a:gd name="adj" fmla="val 44444"/>
            </a:avLst>
          </a:prstGeom>
          <a:solidFill>
            <a:srgbClr val="111827"/>
          </a:solidFill>
          <a:ln w="7620">
            <a:solidFill>
              <a:srgbClr val="111827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2384190" y="2785385"/>
            <a:ext cx="288036" cy="96012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pPr algn="ctr"/>
            <a:r>
              <a:rPr lang="en-US" sz="36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Oracle</a:t>
            </a:r>
            <a:endParaRPr lang="en-US" sz="360" dirty="0"/>
          </a:p>
        </p:txBody>
      </p:sp>
      <p:sp>
        <p:nvSpPr>
          <p:cNvPr id="72" name="Shape 70"/>
          <p:cNvSpPr/>
          <p:nvPr/>
        </p:nvSpPr>
        <p:spPr>
          <a:xfrm>
            <a:off x="2733948" y="2771669"/>
            <a:ext cx="342900" cy="123444"/>
          </a:xfrm>
          <a:prstGeom prst="roundRect">
            <a:avLst>
              <a:gd name="adj" fmla="val 44444"/>
            </a:avLst>
          </a:prstGeom>
          <a:solidFill>
            <a:srgbClr val="111827"/>
          </a:solidFill>
          <a:ln w="7620">
            <a:solidFill>
              <a:srgbClr val="111827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2761380" y="2785385"/>
            <a:ext cx="288036" cy="96012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pPr algn="ctr"/>
            <a:r>
              <a:rPr lang="en-US" sz="36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MySQL</a:t>
            </a:r>
            <a:endParaRPr lang="en-US" sz="360" dirty="0"/>
          </a:p>
        </p:txBody>
      </p:sp>
      <p:sp>
        <p:nvSpPr>
          <p:cNvPr id="74" name="Shape 72"/>
          <p:cNvSpPr/>
          <p:nvPr/>
        </p:nvSpPr>
        <p:spPr>
          <a:xfrm>
            <a:off x="3111138" y="2771669"/>
            <a:ext cx="342900" cy="123444"/>
          </a:xfrm>
          <a:prstGeom prst="roundRect">
            <a:avLst>
              <a:gd name="adj" fmla="val 44444"/>
            </a:avLst>
          </a:prstGeom>
          <a:solidFill>
            <a:srgbClr val="111827"/>
          </a:solidFill>
          <a:ln w="7620">
            <a:solidFill>
              <a:srgbClr val="111827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3138570" y="2785385"/>
            <a:ext cx="288036" cy="96012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pPr algn="ctr"/>
            <a:r>
              <a:rPr lang="en-US" sz="36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Docker</a:t>
            </a:r>
            <a:endParaRPr lang="en-US" sz="360" dirty="0"/>
          </a:p>
        </p:txBody>
      </p:sp>
      <p:sp>
        <p:nvSpPr>
          <p:cNvPr id="76" name="Shape 74"/>
          <p:cNvSpPr/>
          <p:nvPr/>
        </p:nvSpPr>
        <p:spPr>
          <a:xfrm>
            <a:off x="3488328" y="2771669"/>
            <a:ext cx="219456" cy="123444"/>
          </a:xfrm>
          <a:prstGeom prst="roundRect">
            <a:avLst>
              <a:gd name="adj" fmla="val 44444"/>
            </a:avLst>
          </a:prstGeom>
          <a:solidFill>
            <a:srgbClr val="111827"/>
          </a:solidFill>
          <a:ln w="7620">
            <a:solidFill>
              <a:srgbClr val="111827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3515760" y="2785385"/>
            <a:ext cx="164592" cy="96012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pPr algn="ctr"/>
            <a:r>
              <a:rPr lang="en-US" sz="36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Git</a:t>
            </a:r>
            <a:endParaRPr lang="en-US" sz="360" dirty="0"/>
          </a:p>
        </p:txBody>
      </p:sp>
      <p:sp>
        <p:nvSpPr>
          <p:cNvPr id="78" name="Text 76"/>
          <p:cNvSpPr/>
          <p:nvPr/>
        </p:nvSpPr>
        <p:spPr>
          <a:xfrm>
            <a:off x="1698390" y="3029321"/>
            <a:ext cx="377190" cy="82296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375" b="1" dirty="0">
                <a:solidFill>
                  <a:srgbClr val="7C5C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기본정보 ★</a:t>
            </a:r>
            <a:endParaRPr lang="en-US" sz="375" dirty="0"/>
          </a:p>
        </p:txBody>
      </p:sp>
      <p:sp>
        <p:nvSpPr>
          <p:cNvPr id="79" name="Text 77"/>
          <p:cNvSpPr/>
          <p:nvPr/>
        </p:nvSpPr>
        <p:spPr>
          <a:xfrm>
            <a:off x="2185308" y="3029321"/>
            <a:ext cx="377190" cy="82296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375" dirty="0">
                <a:solidFill>
                  <a:srgbClr val="C6C2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투입 이력</a:t>
            </a:r>
            <a:endParaRPr lang="en-US" sz="375" dirty="0"/>
          </a:p>
        </p:txBody>
      </p:sp>
      <p:sp>
        <p:nvSpPr>
          <p:cNvPr id="80" name="Text 78"/>
          <p:cNvSpPr/>
          <p:nvPr/>
        </p:nvSpPr>
        <p:spPr>
          <a:xfrm>
            <a:off x="2589930" y="3029321"/>
            <a:ext cx="240030" cy="82296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375" dirty="0">
                <a:solidFill>
                  <a:srgbClr val="C6C2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일정</a:t>
            </a:r>
            <a:endParaRPr lang="en-US" sz="375" dirty="0"/>
          </a:p>
        </p:txBody>
      </p:sp>
      <p:sp>
        <p:nvSpPr>
          <p:cNvPr id="81" name="Text 79"/>
          <p:cNvSpPr/>
          <p:nvPr/>
        </p:nvSpPr>
        <p:spPr>
          <a:xfrm>
            <a:off x="2871108" y="3029321"/>
            <a:ext cx="377190" cy="82296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375" dirty="0">
                <a:solidFill>
                  <a:srgbClr val="C6C2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계약정보</a:t>
            </a:r>
            <a:endParaRPr lang="en-US" sz="375" dirty="0"/>
          </a:p>
        </p:txBody>
      </p:sp>
      <p:sp>
        <p:nvSpPr>
          <p:cNvPr id="82" name="Shape 80"/>
          <p:cNvSpPr/>
          <p:nvPr/>
        </p:nvSpPr>
        <p:spPr>
          <a:xfrm>
            <a:off x="1636668" y="3120764"/>
            <a:ext cx="3634740" cy="0"/>
          </a:xfrm>
          <a:prstGeom prst="line">
            <a:avLst/>
          </a:prstGeom>
          <a:noFill/>
          <a:ln w="10160">
            <a:solidFill>
              <a:srgbClr val="474465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1698390" y="3120764"/>
            <a:ext cx="342900" cy="0"/>
          </a:xfrm>
          <a:prstGeom prst="line">
            <a:avLst/>
          </a:prstGeom>
          <a:noFill/>
          <a:ln w="16510">
            <a:solidFill>
              <a:srgbClr val="7C5CFF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1636668" y="3162240"/>
            <a:ext cx="3634740" cy="548640"/>
          </a:xfrm>
          <a:prstGeom prst="roundRect">
            <a:avLst>
              <a:gd name="adj" fmla="val 6250"/>
            </a:avLst>
          </a:prstGeom>
          <a:solidFill>
            <a:srgbClr val="353253"/>
          </a:solidFill>
          <a:ln w="7620">
            <a:solidFill>
              <a:srgbClr val="676184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1739538" y="3244536"/>
            <a:ext cx="617220" cy="96012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472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투입 구성 요약</a:t>
            </a:r>
            <a:endParaRPr lang="en-US" sz="472" dirty="0"/>
          </a:p>
        </p:txBody>
      </p:sp>
      <p:sp>
        <p:nvSpPr>
          <p:cNvPr id="86" name="Text 84"/>
          <p:cNvSpPr/>
          <p:nvPr/>
        </p:nvSpPr>
        <p:spPr>
          <a:xfrm>
            <a:off x="1739538" y="3340548"/>
            <a:ext cx="1508760" cy="82296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338" dirty="0">
                <a:solidFill>
                  <a:srgbClr val="A6B0D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프로젝트에 배정된 인력을 역할 기준으로 요약합니다.</a:t>
            </a:r>
            <a:endParaRPr lang="en-US" sz="338" dirty="0"/>
          </a:p>
        </p:txBody>
      </p:sp>
      <p:sp>
        <p:nvSpPr>
          <p:cNvPr id="87" name="Shape 85"/>
          <p:cNvSpPr/>
          <p:nvPr/>
        </p:nvSpPr>
        <p:spPr>
          <a:xfrm>
            <a:off x="4805064" y="3244536"/>
            <a:ext cx="342900" cy="109728"/>
          </a:xfrm>
          <a:prstGeom prst="roundRect">
            <a:avLst>
              <a:gd name="adj" fmla="val 50000"/>
            </a:avLst>
          </a:prstGeom>
          <a:solidFill>
            <a:srgbClr val="195D66"/>
          </a:solidFill>
          <a:ln w="7620">
            <a:solidFill>
              <a:srgbClr val="33B8A4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4832496" y="3258252"/>
            <a:ext cx="288036" cy="82296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pPr algn="ctr"/>
            <a:r>
              <a:rPr lang="en-US" sz="32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 완료</a:t>
            </a:r>
            <a:endParaRPr lang="en-US" sz="323" dirty="0"/>
          </a:p>
        </p:txBody>
      </p:sp>
      <p:sp>
        <p:nvSpPr>
          <p:cNvPr id="89" name="Shape 87"/>
          <p:cNvSpPr/>
          <p:nvPr/>
        </p:nvSpPr>
        <p:spPr>
          <a:xfrm>
            <a:off x="1739538" y="3484566"/>
            <a:ext cx="1085850" cy="205740"/>
          </a:xfrm>
          <a:prstGeom prst="roundRect">
            <a:avLst>
              <a:gd name="adj" fmla="val 10000"/>
            </a:avLst>
          </a:prstGeom>
          <a:solidFill>
            <a:srgbClr val="353253"/>
          </a:solidFill>
          <a:ln w="7620">
            <a:solidFill>
              <a:srgbClr val="585474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1794402" y="3511998"/>
            <a:ext cx="548640" cy="54864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293" dirty="0">
                <a:solidFill>
                  <a:srgbClr val="A6B0D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총 투입 인원</a:t>
            </a:r>
            <a:endParaRPr lang="en-US" sz="293" dirty="0"/>
          </a:p>
        </p:txBody>
      </p:sp>
      <p:sp>
        <p:nvSpPr>
          <p:cNvPr id="91" name="Text 89"/>
          <p:cNvSpPr/>
          <p:nvPr/>
        </p:nvSpPr>
        <p:spPr>
          <a:xfrm>
            <a:off x="1794402" y="3566862"/>
            <a:ext cx="274320" cy="89154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 lnSpcReduction="10000"/>
          </a:bodyPr>
          <a:lstStyle/>
          <a:p>
            <a:r>
              <a:rPr lang="en-US" sz="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7명</a:t>
            </a:r>
            <a:endParaRPr lang="en-US" sz="600" dirty="0"/>
          </a:p>
        </p:txBody>
      </p:sp>
      <p:sp>
        <p:nvSpPr>
          <p:cNvPr id="92" name="Shape 90"/>
          <p:cNvSpPr/>
          <p:nvPr/>
        </p:nvSpPr>
        <p:spPr>
          <a:xfrm>
            <a:off x="2880252" y="3484566"/>
            <a:ext cx="1085850" cy="205740"/>
          </a:xfrm>
          <a:prstGeom prst="roundRect">
            <a:avLst>
              <a:gd name="adj" fmla="val 10000"/>
            </a:avLst>
          </a:prstGeom>
          <a:solidFill>
            <a:srgbClr val="353253"/>
          </a:solidFill>
          <a:ln w="7620">
            <a:solidFill>
              <a:srgbClr val="585474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2935116" y="3511998"/>
            <a:ext cx="548640" cy="54864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293" dirty="0">
                <a:solidFill>
                  <a:srgbClr val="A6B0D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배정 역할군</a:t>
            </a:r>
            <a:endParaRPr lang="en-US" sz="293" dirty="0"/>
          </a:p>
        </p:txBody>
      </p:sp>
      <p:sp>
        <p:nvSpPr>
          <p:cNvPr id="94" name="Text 92"/>
          <p:cNvSpPr/>
          <p:nvPr/>
        </p:nvSpPr>
        <p:spPr>
          <a:xfrm>
            <a:off x="2935116" y="3566862"/>
            <a:ext cx="274320" cy="89154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 lnSpcReduction="10000"/>
          </a:bodyPr>
          <a:lstStyle/>
          <a:p>
            <a:r>
              <a:rPr lang="en-US" sz="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5개</a:t>
            </a:r>
            <a:endParaRPr lang="en-US" sz="600" dirty="0"/>
          </a:p>
        </p:txBody>
      </p:sp>
      <p:sp>
        <p:nvSpPr>
          <p:cNvPr id="95" name="Shape 93"/>
          <p:cNvSpPr/>
          <p:nvPr/>
        </p:nvSpPr>
        <p:spPr>
          <a:xfrm>
            <a:off x="4020966" y="3484566"/>
            <a:ext cx="1085850" cy="205740"/>
          </a:xfrm>
          <a:prstGeom prst="roundRect">
            <a:avLst>
              <a:gd name="adj" fmla="val 10000"/>
            </a:avLst>
          </a:prstGeom>
          <a:solidFill>
            <a:srgbClr val="353253"/>
          </a:solidFill>
          <a:ln w="7620">
            <a:solidFill>
              <a:srgbClr val="585474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4075830" y="3511998"/>
            <a:ext cx="548640" cy="54864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293" dirty="0">
                <a:solidFill>
                  <a:srgbClr val="A6B0D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등록 역할</a:t>
            </a:r>
            <a:endParaRPr lang="en-US" sz="293" dirty="0"/>
          </a:p>
        </p:txBody>
      </p:sp>
      <p:sp>
        <p:nvSpPr>
          <p:cNvPr id="97" name="Text 95"/>
          <p:cNvSpPr/>
          <p:nvPr/>
        </p:nvSpPr>
        <p:spPr>
          <a:xfrm>
            <a:off x="4075830" y="3566862"/>
            <a:ext cx="274320" cy="89154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 lnSpcReduction="10000"/>
          </a:bodyPr>
          <a:lstStyle/>
          <a:p>
            <a:r>
              <a:rPr lang="en-US" sz="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5개</a:t>
            </a:r>
            <a:endParaRPr lang="en-US" sz="600" dirty="0"/>
          </a:p>
        </p:txBody>
      </p:sp>
      <p:sp>
        <p:nvSpPr>
          <p:cNvPr id="98" name="Shape 96"/>
          <p:cNvSpPr/>
          <p:nvPr/>
        </p:nvSpPr>
        <p:spPr>
          <a:xfrm>
            <a:off x="1636668" y="3710880"/>
            <a:ext cx="3634740" cy="740664"/>
          </a:xfrm>
          <a:prstGeom prst="roundRect">
            <a:avLst>
              <a:gd name="adj" fmla="val 4630"/>
            </a:avLst>
          </a:prstGeom>
          <a:solidFill>
            <a:srgbClr val="353253"/>
          </a:solidFill>
          <a:ln w="7620">
            <a:solidFill>
              <a:srgbClr val="676184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1739538" y="3793176"/>
            <a:ext cx="651510" cy="96012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4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역할별 투입 현황</a:t>
            </a:r>
            <a:endParaRPr lang="en-US" sz="450" dirty="0"/>
          </a:p>
        </p:txBody>
      </p:sp>
      <p:sp>
        <p:nvSpPr>
          <p:cNvPr id="100" name="Text 98"/>
          <p:cNvSpPr/>
          <p:nvPr/>
        </p:nvSpPr>
        <p:spPr>
          <a:xfrm>
            <a:off x="1739538" y="3896046"/>
            <a:ext cx="1440180" cy="68580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323" dirty="0">
                <a:solidFill>
                  <a:srgbClr val="A6B0D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역할군별 배정 인원과 주요 투입자를 확인합니다.</a:t>
            </a:r>
            <a:endParaRPr lang="en-US" sz="323" dirty="0"/>
          </a:p>
        </p:txBody>
      </p:sp>
      <p:sp>
        <p:nvSpPr>
          <p:cNvPr id="101" name="Shape 99"/>
          <p:cNvSpPr/>
          <p:nvPr/>
        </p:nvSpPr>
        <p:spPr>
          <a:xfrm>
            <a:off x="1739538" y="3992058"/>
            <a:ext cx="1108710" cy="198882"/>
          </a:xfrm>
          <a:prstGeom prst="roundRect">
            <a:avLst>
              <a:gd name="adj" fmla="val 13793"/>
            </a:avLst>
          </a:prstGeom>
          <a:solidFill>
            <a:srgbClr val="3B3265"/>
          </a:solidFill>
          <a:ln w="7620">
            <a:solidFill>
              <a:srgbClr val="805FE9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1787544" y="4016061"/>
            <a:ext cx="548640" cy="41148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 fontScale="85000" lnSpcReduction="20000"/>
          </a:bodyPr>
          <a:lstStyle/>
          <a:p>
            <a:r>
              <a:rPr lang="en-US" sz="39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PM</a:t>
            </a:r>
            <a:endParaRPr lang="en-US" sz="390" dirty="0"/>
          </a:p>
        </p:txBody>
      </p:sp>
      <p:sp>
        <p:nvSpPr>
          <p:cNvPr id="103" name="Text 101"/>
          <p:cNvSpPr/>
          <p:nvPr/>
        </p:nvSpPr>
        <p:spPr>
          <a:xfrm>
            <a:off x="1787544" y="4070925"/>
            <a:ext cx="754380" cy="41148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 lnSpcReduction="10000"/>
          </a:bodyPr>
          <a:lstStyle/>
          <a:p>
            <a:r>
              <a:rPr lang="en-US" sz="293" dirty="0">
                <a:solidFill>
                  <a:srgbClr val="A6B0D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프로젝트 총괄</a:t>
            </a:r>
            <a:endParaRPr lang="en-US" sz="293" dirty="0"/>
          </a:p>
        </p:txBody>
      </p:sp>
      <p:sp>
        <p:nvSpPr>
          <p:cNvPr id="104" name="Shape 102"/>
          <p:cNvSpPr/>
          <p:nvPr/>
        </p:nvSpPr>
        <p:spPr>
          <a:xfrm>
            <a:off x="2587644" y="4022919"/>
            <a:ext cx="192024" cy="89154"/>
          </a:xfrm>
          <a:prstGeom prst="roundRect">
            <a:avLst>
              <a:gd name="adj" fmla="val 61538"/>
            </a:avLst>
          </a:prstGeom>
          <a:solidFill>
            <a:srgbClr val="9B5CFF"/>
          </a:solidFill>
          <a:ln w="7620">
            <a:solidFill>
              <a:srgbClr val="9B5CFF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2615076" y="4036635"/>
            <a:ext cx="137160" cy="61722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pPr algn="ctr"/>
            <a:r>
              <a:rPr lang="en-US" sz="338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1명</a:t>
            </a:r>
            <a:endParaRPr lang="en-US" sz="338" dirty="0"/>
          </a:p>
        </p:txBody>
      </p:sp>
      <p:sp>
        <p:nvSpPr>
          <p:cNvPr id="106" name="Shape 104"/>
          <p:cNvSpPr/>
          <p:nvPr/>
        </p:nvSpPr>
        <p:spPr>
          <a:xfrm>
            <a:off x="1787544" y="4132647"/>
            <a:ext cx="294894" cy="123444"/>
          </a:xfrm>
          <a:prstGeom prst="roundRect">
            <a:avLst>
              <a:gd name="adj" fmla="val 44444"/>
            </a:avLst>
          </a:prstGeom>
          <a:solidFill>
            <a:srgbClr val="111827"/>
          </a:solidFill>
          <a:ln w="7620">
            <a:solidFill>
              <a:srgbClr val="111827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1814976" y="4146363"/>
            <a:ext cx="240030" cy="96012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pPr algn="ctr"/>
            <a:r>
              <a:rPr lang="en-US" sz="36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임동현</a:t>
            </a:r>
            <a:endParaRPr lang="en-US" sz="360" dirty="0"/>
          </a:p>
        </p:txBody>
      </p:sp>
      <p:sp>
        <p:nvSpPr>
          <p:cNvPr id="108" name="Shape 106"/>
          <p:cNvSpPr/>
          <p:nvPr/>
        </p:nvSpPr>
        <p:spPr>
          <a:xfrm>
            <a:off x="2903112" y="3992058"/>
            <a:ext cx="1108710" cy="198882"/>
          </a:xfrm>
          <a:prstGeom prst="roundRect">
            <a:avLst>
              <a:gd name="adj" fmla="val 13793"/>
            </a:avLst>
          </a:prstGeom>
          <a:solidFill>
            <a:srgbClr val="3B3265"/>
          </a:solidFill>
          <a:ln w="7620">
            <a:solidFill>
              <a:srgbClr val="805FE9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2951118" y="4016061"/>
            <a:ext cx="548640" cy="41148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 fontScale="85000" lnSpcReduction="20000"/>
          </a:bodyPr>
          <a:lstStyle/>
          <a:p>
            <a:r>
              <a:rPr lang="en-US" sz="39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PL</a:t>
            </a:r>
            <a:endParaRPr lang="en-US" sz="390" dirty="0"/>
          </a:p>
        </p:txBody>
      </p:sp>
      <p:sp>
        <p:nvSpPr>
          <p:cNvPr id="110" name="Text 108"/>
          <p:cNvSpPr/>
          <p:nvPr/>
        </p:nvSpPr>
        <p:spPr>
          <a:xfrm>
            <a:off x="2951118" y="4070925"/>
            <a:ext cx="754380" cy="41148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 lnSpcReduction="10000"/>
          </a:bodyPr>
          <a:lstStyle/>
          <a:p>
            <a:r>
              <a:rPr lang="en-US" sz="293" dirty="0">
                <a:solidFill>
                  <a:srgbClr val="A6B0D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파트 리딩</a:t>
            </a:r>
            <a:endParaRPr lang="en-US" sz="293" dirty="0"/>
          </a:p>
        </p:txBody>
      </p:sp>
      <p:sp>
        <p:nvSpPr>
          <p:cNvPr id="111" name="Shape 109"/>
          <p:cNvSpPr/>
          <p:nvPr/>
        </p:nvSpPr>
        <p:spPr>
          <a:xfrm>
            <a:off x="3751218" y="4022919"/>
            <a:ext cx="192024" cy="89154"/>
          </a:xfrm>
          <a:prstGeom prst="roundRect">
            <a:avLst>
              <a:gd name="adj" fmla="val 61538"/>
            </a:avLst>
          </a:prstGeom>
          <a:solidFill>
            <a:srgbClr val="9B5CFF"/>
          </a:solidFill>
          <a:ln w="7620">
            <a:solidFill>
              <a:srgbClr val="9B5CFF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3778650" y="4036635"/>
            <a:ext cx="137160" cy="61722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pPr algn="ctr"/>
            <a:r>
              <a:rPr lang="en-US" sz="338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1명</a:t>
            </a:r>
            <a:endParaRPr lang="en-US" sz="338" dirty="0"/>
          </a:p>
        </p:txBody>
      </p:sp>
      <p:sp>
        <p:nvSpPr>
          <p:cNvPr id="113" name="Shape 111"/>
          <p:cNvSpPr/>
          <p:nvPr/>
        </p:nvSpPr>
        <p:spPr>
          <a:xfrm>
            <a:off x="2951118" y="4132647"/>
            <a:ext cx="294894" cy="123444"/>
          </a:xfrm>
          <a:prstGeom prst="roundRect">
            <a:avLst>
              <a:gd name="adj" fmla="val 44444"/>
            </a:avLst>
          </a:prstGeom>
          <a:solidFill>
            <a:srgbClr val="111827"/>
          </a:solidFill>
          <a:ln w="7620">
            <a:solidFill>
              <a:srgbClr val="111827"/>
            </a:solidFill>
            <a:prstDash val="solid"/>
          </a:ln>
        </p:spPr>
      </p:sp>
      <p:sp>
        <p:nvSpPr>
          <p:cNvPr id="114" name="Text 112"/>
          <p:cNvSpPr/>
          <p:nvPr/>
        </p:nvSpPr>
        <p:spPr>
          <a:xfrm>
            <a:off x="2978550" y="4146363"/>
            <a:ext cx="240030" cy="96012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pPr algn="ctr"/>
            <a:r>
              <a:rPr lang="en-US" sz="36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테스트1</a:t>
            </a:r>
            <a:endParaRPr lang="en-US" sz="360" dirty="0"/>
          </a:p>
        </p:txBody>
      </p:sp>
      <p:sp>
        <p:nvSpPr>
          <p:cNvPr id="115" name="Shape 113"/>
          <p:cNvSpPr/>
          <p:nvPr/>
        </p:nvSpPr>
        <p:spPr>
          <a:xfrm>
            <a:off x="4066686" y="3992058"/>
            <a:ext cx="1108710" cy="198882"/>
          </a:xfrm>
          <a:prstGeom prst="roundRect">
            <a:avLst>
              <a:gd name="adj" fmla="val 13793"/>
            </a:avLst>
          </a:prstGeom>
          <a:solidFill>
            <a:srgbClr val="3B3265"/>
          </a:solidFill>
          <a:ln w="7620">
            <a:solidFill>
              <a:srgbClr val="805FE9"/>
            </a:solidFill>
            <a:prstDash val="solid"/>
          </a:ln>
        </p:spPr>
      </p:sp>
      <p:sp>
        <p:nvSpPr>
          <p:cNvPr id="116" name="Text 114"/>
          <p:cNvSpPr/>
          <p:nvPr/>
        </p:nvSpPr>
        <p:spPr>
          <a:xfrm>
            <a:off x="4114692" y="4016061"/>
            <a:ext cx="548640" cy="41148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 fontScale="85000" lnSpcReduction="20000"/>
          </a:bodyPr>
          <a:lstStyle/>
          <a:p>
            <a:r>
              <a:rPr lang="en-US" sz="39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개발자</a:t>
            </a:r>
            <a:endParaRPr lang="en-US" sz="390" dirty="0"/>
          </a:p>
        </p:txBody>
      </p:sp>
      <p:sp>
        <p:nvSpPr>
          <p:cNvPr id="117" name="Text 115"/>
          <p:cNvSpPr/>
          <p:nvPr/>
        </p:nvSpPr>
        <p:spPr>
          <a:xfrm>
            <a:off x="4114692" y="4070925"/>
            <a:ext cx="754380" cy="41148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 lnSpcReduction="10000"/>
          </a:bodyPr>
          <a:lstStyle/>
          <a:p>
            <a:r>
              <a:rPr lang="en-US" sz="293" dirty="0">
                <a:solidFill>
                  <a:srgbClr val="A6B0D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개발 수행</a:t>
            </a:r>
            <a:endParaRPr lang="en-US" sz="293" dirty="0"/>
          </a:p>
        </p:txBody>
      </p:sp>
      <p:sp>
        <p:nvSpPr>
          <p:cNvPr id="118" name="Shape 116"/>
          <p:cNvSpPr/>
          <p:nvPr/>
        </p:nvSpPr>
        <p:spPr>
          <a:xfrm>
            <a:off x="4914792" y="4022919"/>
            <a:ext cx="192024" cy="89154"/>
          </a:xfrm>
          <a:prstGeom prst="roundRect">
            <a:avLst>
              <a:gd name="adj" fmla="val 61538"/>
            </a:avLst>
          </a:prstGeom>
          <a:solidFill>
            <a:srgbClr val="9B5CFF"/>
          </a:solidFill>
          <a:ln w="7620">
            <a:solidFill>
              <a:srgbClr val="9B5CFF"/>
            </a:solidFill>
            <a:prstDash val="solid"/>
          </a:ln>
        </p:spPr>
      </p:sp>
      <p:sp>
        <p:nvSpPr>
          <p:cNvPr id="119" name="Text 117"/>
          <p:cNvSpPr/>
          <p:nvPr/>
        </p:nvSpPr>
        <p:spPr>
          <a:xfrm>
            <a:off x="4942224" y="4036635"/>
            <a:ext cx="137160" cy="61722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pPr algn="ctr"/>
            <a:r>
              <a:rPr lang="en-US" sz="338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2명</a:t>
            </a:r>
            <a:endParaRPr lang="en-US" sz="338" dirty="0"/>
          </a:p>
        </p:txBody>
      </p:sp>
      <p:sp>
        <p:nvSpPr>
          <p:cNvPr id="120" name="Shape 118"/>
          <p:cNvSpPr/>
          <p:nvPr/>
        </p:nvSpPr>
        <p:spPr>
          <a:xfrm>
            <a:off x="4114692" y="4132647"/>
            <a:ext cx="432054" cy="123444"/>
          </a:xfrm>
          <a:prstGeom prst="roundRect">
            <a:avLst>
              <a:gd name="adj" fmla="val 44444"/>
            </a:avLst>
          </a:prstGeom>
          <a:solidFill>
            <a:srgbClr val="111827"/>
          </a:solidFill>
          <a:ln w="7620">
            <a:solidFill>
              <a:srgbClr val="111827"/>
            </a:solidFill>
            <a:prstDash val="solid"/>
          </a:ln>
        </p:spPr>
      </p:sp>
      <p:sp>
        <p:nvSpPr>
          <p:cNvPr id="121" name="Text 119"/>
          <p:cNvSpPr/>
          <p:nvPr/>
        </p:nvSpPr>
        <p:spPr>
          <a:xfrm>
            <a:off x="4142124" y="4146363"/>
            <a:ext cx="377190" cy="96012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pPr algn="ctr"/>
            <a:r>
              <a:rPr lang="en-US" sz="36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황정우  정다운</a:t>
            </a:r>
            <a:endParaRPr lang="en-US" sz="360" dirty="0"/>
          </a:p>
        </p:txBody>
      </p:sp>
      <p:sp>
        <p:nvSpPr>
          <p:cNvPr id="122" name="Shape 120"/>
          <p:cNvSpPr/>
          <p:nvPr/>
        </p:nvSpPr>
        <p:spPr>
          <a:xfrm>
            <a:off x="1739538" y="4245804"/>
            <a:ext cx="1108710" cy="198882"/>
          </a:xfrm>
          <a:prstGeom prst="roundRect">
            <a:avLst>
              <a:gd name="adj" fmla="val 13793"/>
            </a:avLst>
          </a:prstGeom>
          <a:solidFill>
            <a:srgbClr val="3B3265"/>
          </a:solidFill>
          <a:ln w="7620">
            <a:solidFill>
              <a:srgbClr val="805FE9"/>
            </a:solidFill>
            <a:prstDash val="solid"/>
          </a:ln>
        </p:spPr>
      </p:sp>
      <p:sp>
        <p:nvSpPr>
          <p:cNvPr id="123" name="Text 121"/>
          <p:cNvSpPr/>
          <p:nvPr/>
        </p:nvSpPr>
        <p:spPr>
          <a:xfrm>
            <a:off x="1787544" y="4269807"/>
            <a:ext cx="548640" cy="41148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 fontScale="85000" lnSpcReduction="20000"/>
          </a:bodyPr>
          <a:lstStyle/>
          <a:p>
            <a:r>
              <a:rPr lang="en-US" sz="39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퍼블리셔/디자인</a:t>
            </a:r>
            <a:endParaRPr lang="en-US" sz="390" dirty="0"/>
          </a:p>
        </p:txBody>
      </p:sp>
      <p:sp>
        <p:nvSpPr>
          <p:cNvPr id="124" name="Text 122"/>
          <p:cNvSpPr/>
          <p:nvPr/>
        </p:nvSpPr>
        <p:spPr>
          <a:xfrm>
            <a:off x="1787544" y="4324671"/>
            <a:ext cx="754380" cy="41148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 lnSpcReduction="10000"/>
          </a:bodyPr>
          <a:lstStyle/>
          <a:p>
            <a:r>
              <a:rPr lang="en-US" sz="293" dirty="0">
                <a:solidFill>
                  <a:srgbClr val="A6B0D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UI 구현 및 디자인</a:t>
            </a:r>
            <a:endParaRPr lang="en-US" sz="293" dirty="0"/>
          </a:p>
        </p:txBody>
      </p:sp>
      <p:sp>
        <p:nvSpPr>
          <p:cNvPr id="125" name="Shape 123"/>
          <p:cNvSpPr/>
          <p:nvPr/>
        </p:nvSpPr>
        <p:spPr>
          <a:xfrm>
            <a:off x="2587644" y="4276665"/>
            <a:ext cx="192024" cy="89154"/>
          </a:xfrm>
          <a:prstGeom prst="roundRect">
            <a:avLst>
              <a:gd name="adj" fmla="val 61538"/>
            </a:avLst>
          </a:prstGeom>
          <a:solidFill>
            <a:srgbClr val="9B5CFF"/>
          </a:solidFill>
          <a:ln w="7620">
            <a:solidFill>
              <a:srgbClr val="9B5CFF"/>
            </a:solidFill>
            <a:prstDash val="solid"/>
          </a:ln>
        </p:spPr>
      </p:sp>
      <p:sp>
        <p:nvSpPr>
          <p:cNvPr id="126" name="Text 124"/>
          <p:cNvSpPr/>
          <p:nvPr/>
        </p:nvSpPr>
        <p:spPr>
          <a:xfrm>
            <a:off x="2615076" y="4290381"/>
            <a:ext cx="137160" cy="61722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pPr algn="ctr"/>
            <a:r>
              <a:rPr lang="en-US" sz="338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2명</a:t>
            </a:r>
            <a:endParaRPr lang="en-US" sz="338" dirty="0"/>
          </a:p>
        </p:txBody>
      </p:sp>
      <p:sp>
        <p:nvSpPr>
          <p:cNvPr id="127" name="Shape 125"/>
          <p:cNvSpPr/>
          <p:nvPr/>
        </p:nvSpPr>
        <p:spPr>
          <a:xfrm>
            <a:off x="1787544" y="4386393"/>
            <a:ext cx="432054" cy="123444"/>
          </a:xfrm>
          <a:prstGeom prst="roundRect">
            <a:avLst>
              <a:gd name="adj" fmla="val 44444"/>
            </a:avLst>
          </a:prstGeom>
          <a:solidFill>
            <a:srgbClr val="111827"/>
          </a:solidFill>
          <a:ln w="7620">
            <a:solidFill>
              <a:srgbClr val="111827"/>
            </a:solidFill>
            <a:prstDash val="solid"/>
          </a:ln>
        </p:spPr>
      </p:sp>
      <p:sp>
        <p:nvSpPr>
          <p:cNvPr id="128" name="Text 126"/>
          <p:cNvSpPr/>
          <p:nvPr/>
        </p:nvSpPr>
        <p:spPr>
          <a:xfrm>
            <a:off x="1814976" y="4400109"/>
            <a:ext cx="377190" cy="96012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pPr algn="ctr"/>
            <a:r>
              <a:rPr lang="en-US" sz="36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나도연  윤지수</a:t>
            </a:r>
            <a:endParaRPr lang="en-US" sz="360" dirty="0"/>
          </a:p>
        </p:txBody>
      </p:sp>
      <p:sp>
        <p:nvSpPr>
          <p:cNvPr id="129" name="Shape 127"/>
          <p:cNvSpPr/>
          <p:nvPr/>
        </p:nvSpPr>
        <p:spPr>
          <a:xfrm>
            <a:off x="2903112" y="4245804"/>
            <a:ext cx="1108710" cy="198882"/>
          </a:xfrm>
          <a:prstGeom prst="roundRect">
            <a:avLst>
              <a:gd name="adj" fmla="val 13793"/>
            </a:avLst>
          </a:prstGeom>
          <a:solidFill>
            <a:srgbClr val="353450"/>
          </a:solidFill>
          <a:ln w="7620">
            <a:solidFill>
              <a:srgbClr val="4B4867"/>
            </a:solidFill>
            <a:prstDash val="solid"/>
          </a:ln>
        </p:spPr>
      </p:sp>
      <p:sp>
        <p:nvSpPr>
          <p:cNvPr id="130" name="Text 128"/>
          <p:cNvSpPr/>
          <p:nvPr/>
        </p:nvSpPr>
        <p:spPr>
          <a:xfrm>
            <a:off x="2951118" y="4269807"/>
            <a:ext cx="548640" cy="41148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 fontScale="85000" lnSpcReduction="20000"/>
          </a:bodyPr>
          <a:lstStyle/>
          <a:p>
            <a:r>
              <a:rPr lang="en-US" sz="390" b="1" dirty="0">
                <a:solidFill>
                  <a:srgbClr val="A09A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사업관리</a:t>
            </a:r>
            <a:endParaRPr lang="en-US" sz="390" dirty="0"/>
          </a:p>
        </p:txBody>
      </p:sp>
      <p:sp>
        <p:nvSpPr>
          <p:cNvPr id="131" name="Text 129"/>
          <p:cNvSpPr/>
          <p:nvPr/>
        </p:nvSpPr>
        <p:spPr>
          <a:xfrm>
            <a:off x="2951118" y="4324671"/>
            <a:ext cx="754380" cy="41148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 lnSpcReduction="10000"/>
          </a:bodyPr>
          <a:lstStyle/>
          <a:p>
            <a:r>
              <a:rPr lang="en-US" sz="293" dirty="0">
                <a:solidFill>
                  <a:srgbClr val="A6B0D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사업/운영 관리</a:t>
            </a:r>
            <a:endParaRPr lang="en-US" sz="293" dirty="0"/>
          </a:p>
        </p:txBody>
      </p:sp>
      <p:sp>
        <p:nvSpPr>
          <p:cNvPr id="132" name="Shape 130"/>
          <p:cNvSpPr/>
          <p:nvPr/>
        </p:nvSpPr>
        <p:spPr>
          <a:xfrm>
            <a:off x="3751218" y="4276665"/>
            <a:ext cx="192024" cy="89154"/>
          </a:xfrm>
          <a:prstGeom prst="roundRect">
            <a:avLst>
              <a:gd name="adj" fmla="val 61538"/>
            </a:avLst>
          </a:prstGeom>
          <a:solidFill>
            <a:srgbClr val="45516B"/>
          </a:solidFill>
          <a:ln w="7620">
            <a:solidFill>
              <a:srgbClr val="45516B"/>
            </a:solidFill>
            <a:prstDash val="solid"/>
          </a:ln>
        </p:spPr>
      </p:sp>
      <p:sp>
        <p:nvSpPr>
          <p:cNvPr id="133" name="Text 131"/>
          <p:cNvSpPr/>
          <p:nvPr/>
        </p:nvSpPr>
        <p:spPr>
          <a:xfrm>
            <a:off x="3778650" y="4290381"/>
            <a:ext cx="137160" cy="61722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pPr algn="ctr"/>
            <a:r>
              <a:rPr lang="en-US" sz="338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0명</a:t>
            </a:r>
            <a:endParaRPr lang="en-US" sz="338" dirty="0"/>
          </a:p>
        </p:txBody>
      </p:sp>
      <p:sp>
        <p:nvSpPr>
          <p:cNvPr id="134" name="Text 132"/>
          <p:cNvSpPr/>
          <p:nvPr/>
        </p:nvSpPr>
        <p:spPr>
          <a:xfrm>
            <a:off x="2951118" y="4386393"/>
            <a:ext cx="274320" cy="54864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323" dirty="0">
                <a:solidFill>
                  <a:srgbClr val="A09A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미배정</a:t>
            </a:r>
            <a:endParaRPr lang="en-US" sz="323" dirty="0"/>
          </a:p>
        </p:txBody>
      </p:sp>
      <p:sp>
        <p:nvSpPr>
          <p:cNvPr id="135" name="Shape 133"/>
          <p:cNvSpPr/>
          <p:nvPr/>
        </p:nvSpPr>
        <p:spPr>
          <a:xfrm>
            <a:off x="4066686" y="4245804"/>
            <a:ext cx="1108710" cy="198882"/>
          </a:xfrm>
          <a:prstGeom prst="roundRect">
            <a:avLst>
              <a:gd name="adj" fmla="val 13793"/>
            </a:avLst>
          </a:prstGeom>
          <a:solidFill>
            <a:srgbClr val="3B3265"/>
          </a:solidFill>
          <a:ln w="7620">
            <a:solidFill>
              <a:srgbClr val="805FE9"/>
            </a:solidFill>
            <a:prstDash val="solid"/>
          </a:ln>
        </p:spPr>
      </p:sp>
      <p:sp>
        <p:nvSpPr>
          <p:cNvPr id="136" name="Text 134"/>
          <p:cNvSpPr/>
          <p:nvPr/>
        </p:nvSpPr>
        <p:spPr>
          <a:xfrm>
            <a:off x="4114692" y="4269807"/>
            <a:ext cx="548640" cy="41148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 fontScale="85000" lnSpcReduction="20000"/>
          </a:bodyPr>
          <a:lstStyle/>
          <a:p>
            <a:r>
              <a:rPr lang="en-US" sz="39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QA/테스터</a:t>
            </a:r>
            <a:endParaRPr lang="en-US" sz="390" dirty="0"/>
          </a:p>
        </p:txBody>
      </p:sp>
      <p:sp>
        <p:nvSpPr>
          <p:cNvPr id="137" name="Text 135"/>
          <p:cNvSpPr/>
          <p:nvPr/>
        </p:nvSpPr>
        <p:spPr>
          <a:xfrm>
            <a:off x="4114692" y="4324671"/>
            <a:ext cx="754380" cy="41148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 lnSpcReduction="10000"/>
          </a:bodyPr>
          <a:lstStyle/>
          <a:p>
            <a:r>
              <a:rPr lang="en-US" sz="293" dirty="0">
                <a:solidFill>
                  <a:srgbClr val="A6B0D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 및 테스트</a:t>
            </a:r>
            <a:endParaRPr lang="en-US" sz="293" dirty="0"/>
          </a:p>
        </p:txBody>
      </p:sp>
      <p:sp>
        <p:nvSpPr>
          <p:cNvPr id="138" name="Shape 136"/>
          <p:cNvSpPr/>
          <p:nvPr/>
        </p:nvSpPr>
        <p:spPr>
          <a:xfrm>
            <a:off x="4914792" y="4276665"/>
            <a:ext cx="192024" cy="89154"/>
          </a:xfrm>
          <a:prstGeom prst="roundRect">
            <a:avLst>
              <a:gd name="adj" fmla="val 61538"/>
            </a:avLst>
          </a:prstGeom>
          <a:solidFill>
            <a:srgbClr val="9B5CFF"/>
          </a:solidFill>
          <a:ln w="7620">
            <a:solidFill>
              <a:srgbClr val="9B5CFF"/>
            </a:solidFill>
            <a:prstDash val="solid"/>
          </a:ln>
        </p:spPr>
      </p:sp>
      <p:sp>
        <p:nvSpPr>
          <p:cNvPr id="139" name="Text 137"/>
          <p:cNvSpPr/>
          <p:nvPr/>
        </p:nvSpPr>
        <p:spPr>
          <a:xfrm>
            <a:off x="4942224" y="4290381"/>
            <a:ext cx="137160" cy="61722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pPr algn="ctr"/>
            <a:r>
              <a:rPr lang="en-US" sz="338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1명</a:t>
            </a:r>
            <a:endParaRPr lang="en-US" sz="338" dirty="0"/>
          </a:p>
        </p:txBody>
      </p:sp>
      <p:sp>
        <p:nvSpPr>
          <p:cNvPr id="140" name="Shape 138"/>
          <p:cNvSpPr/>
          <p:nvPr/>
        </p:nvSpPr>
        <p:spPr>
          <a:xfrm>
            <a:off x="4114692" y="4386393"/>
            <a:ext cx="294894" cy="123444"/>
          </a:xfrm>
          <a:prstGeom prst="roundRect">
            <a:avLst>
              <a:gd name="adj" fmla="val 44444"/>
            </a:avLst>
          </a:prstGeom>
          <a:solidFill>
            <a:srgbClr val="111827"/>
          </a:solidFill>
          <a:ln w="7620">
            <a:solidFill>
              <a:srgbClr val="111827"/>
            </a:solidFill>
            <a:prstDash val="solid"/>
          </a:ln>
        </p:spPr>
      </p:sp>
      <p:sp>
        <p:nvSpPr>
          <p:cNvPr id="141" name="Text 139"/>
          <p:cNvSpPr/>
          <p:nvPr/>
        </p:nvSpPr>
        <p:spPr>
          <a:xfrm>
            <a:off x="4142124" y="4400109"/>
            <a:ext cx="240030" cy="96012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pPr algn="ctr"/>
            <a:r>
              <a:rPr lang="en-US" sz="36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테스트2</a:t>
            </a:r>
            <a:endParaRPr lang="en-US" sz="360" dirty="0"/>
          </a:p>
        </p:txBody>
      </p:sp>
      <p:sp>
        <p:nvSpPr>
          <p:cNvPr id="142" name="Shape 140"/>
          <p:cNvSpPr/>
          <p:nvPr/>
        </p:nvSpPr>
        <p:spPr>
          <a:xfrm>
            <a:off x="1670958" y="1784117"/>
            <a:ext cx="116586" cy="116586"/>
          </a:xfrm>
          <a:prstGeom prst="ellipse">
            <a:avLst/>
          </a:prstGeom>
          <a:solidFill>
            <a:srgbClr val="FF0000"/>
          </a:solidFill>
          <a:ln w="12700">
            <a:solidFill>
              <a:srgbClr val="FF0000"/>
            </a:solidFill>
            <a:prstDash val="solid"/>
          </a:ln>
        </p:spPr>
      </p:sp>
      <p:sp>
        <p:nvSpPr>
          <p:cNvPr id="143" name="Text 141"/>
          <p:cNvSpPr/>
          <p:nvPr/>
        </p:nvSpPr>
        <p:spPr>
          <a:xfrm>
            <a:off x="1670958" y="1788232"/>
            <a:ext cx="116586" cy="102870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pPr algn="ctr"/>
            <a:r>
              <a:rPr lang="en-US" sz="39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390" dirty="0"/>
          </a:p>
        </p:txBody>
      </p:sp>
      <p:sp>
        <p:nvSpPr>
          <p:cNvPr id="144" name="Shape 142"/>
          <p:cNvSpPr/>
          <p:nvPr/>
        </p:nvSpPr>
        <p:spPr>
          <a:xfrm>
            <a:off x="4183470" y="1468314"/>
            <a:ext cx="116586" cy="116586"/>
          </a:xfrm>
          <a:prstGeom prst="ellipse">
            <a:avLst/>
          </a:prstGeom>
          <a:solidFill>
            <a:srgbClr val="FF0000"/>
          </a:solidFill>
          <a:ln w="12700">
            <a:solidFill>
              <a:srgbClr val="FF0000"/>
            </a:solidFill>
            <a:prstDash val="solid"/>
          </a:ln>
        </p:spPr>
      </p:sp>
      <p:sp>
        <p:nvSpPr>
          <p:cNvPr id="145" name="Text 143"/>
          <p:cNvSpPr/>
          <p:nvPr/>
        </p:nvSpPr>
        <p:spPr>
          <a:xfrm>
            <a:off x="4183470" y="1472429"/>
            <a:ext cx="116586" cy="102870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pPr algn="ctr"/>
            <a:r>
              <a:rPr lang="en-US" sz="39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390" dirty="0"/>
          </a:p>
        </p:txBody>
      </p:sp>
      <p:sp>
        <p:nvSpPr>
          <p:cNvPr id="146" name="Shape 144"/>
          <p:cNvSpPr/>
          <p:nvPr/>
        </p:nvSpPr>
        <p:spPr>
          <a:xfrm>
            <a:off x="1629810" y="3045326"/>
            <a:ext cx="116586" cy="116586"/>
          </a:xfrm>
          <a:prstGeom prst="ellipse">
            <a:avLst/>
          </a:prstGeom>
          <a:solidFill>
            <a:srgbClr val="FF0000"/>
          </a:solidFill>
          <a:ln w="12700">
            <a:solidFill>
              <a:srgbClr val="FF0000"/>
            </a:solidFill>
            <a:prstDash val="solid"/>
          </a:ln>
        </p:spPr>
      </p:sp>
      <p:sp>
        <p:nvSpPr>
          <p:cNvPr id="147" name="Text 145"/>
          <p:cNvSpPr/>
          <p:nvPr/>
        </p:nvSpPr>
        <p:spPr>
          <a:xfrm>
            <a:off x="1629810" y="3049441"/>
            <a:ext cx="116586" cy="102870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pPr algn="ctr"/>
            <a:r>
              <a:rPr lang="en-US" sz="39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390" dirty="0"/>
          </a:p>
        </p:txBody>
      </p:sp>
      <p:sp>
        <p:nvSpPr>
          <p:cNvPr id="148" name="Shape 146"/>
          <p:cNvSpPr/>
          <p:nvPr/>
        </p:nvSpPr>
        <p:spPr>
          <a:xfrm>
            <a:off x="1670958" y="3210246"/>
            <a:ext cx="116586" cy="116586"/>
          </a:xfrm>
          <a:prstGeom prst="ellipse">
            <a:avLst/>
          </a:prstGeom>
          <a:solidFill>
            <a:srgbClr val="FF0000"/>
          </a:solidFill>
          <a:ln w="12700">
            <a:solidFill>
              <a:srgbClr val="FF0000"/>
            </a:solidFill>
            <a:prstDash val="solid"/>
          </a:ln>
        </p:spPr>
      </p:sp>
      <p:sp>
        <p:nvSpPr>
          <p:cNvPr id="149" name="Text 147"/>
          <p:cNvSpPr/>
          <p:nvPr/>
        </p:nvSpPr>
        <p:spPr>
          <a:xfrm>
            <a:off x="1670958" y="3214361"/>
            <a:ext cx="116586" cy="102870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pPr algn="ctr"/>
            <a:r>
              <a:rPr lang="en-US" sz="39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390" dirty="0"/>
          </a:p>
        </p:txBody>
      </p:sp>
      <p:sp>
        <p:nvSpPr>
          <p:cNvPr id="150" name="Shape 148"/>
          <p:cNvSpPr/>
          <p:nvPr/>
        </p:nvSpPr>
        <p:spPr>
          <a:xfrm>
            <a:off x="1670958" y="3758886"/>
            <a:ext cx="116586" cy="116586"/>
          </a:xfrm>
          <a:prstGeom prst="ellipse">
            <a:avLst/>
          </a:prstGeom>
          <a:solidFill>
            <a:srgbClr val="FF0000"/>
          </a:solidFill>
          <a:ln w="12700">
            <a:solidFill>
              <a:srgbClr val="FF0000"/>
            </a:solidFill>
            <a:prstDash val="solid"/>
          </a:ln>
        </p:spPr>
      </p:sp>
      <p:sp>
        <p:nvSpPr>
          <p:cNvPr id="151" name="Text 149"/>
          <p:cNvSpPr/>
          <p:nvPr/>
        </p:nvSpPr>
        <p:spPr>
          <a:xfrm>
            <a:off x="1670958" y="3763001"/>
            <a:ext cx="116586" cy="102870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pPr algn="ctr"/>
            <a:r>
              <a:rPr lang="en-US" sz="39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390" dirty="0"/>
          </a:p>
        </p:txBody>
      </p:sp>
      <p:sp>
        <p:nvSpPr>
          <p:cNvPr id="152" name="Shape 150"/>
          <p:cNvSpPr/>
          <p:nvPr/>
        </p:nvSpPr>
        <p:spPr>
          <a:xfrm>
            <a:off x="1650384" y="2613935"/>
            <a:ext cx="116586" cy="116586"/>
          </a:xfrm>
          <a:prstGeom prst="ellipse">
            <a:avLst/>
          </a:prstGeom>
          <a:solidFill>
            <a:srgbClr val="FF0000"/>
          </a:solidFill>
          <a:ln w="12700">
            <a:solidFill>
              <a:srgbClr val="FF0000"/>
            </a:solidFill>
            <a:prstDash val="solid"/>
          </a:ln>
        </p:spPr>
      </p:sp>
      <p:sp>
        <p:nvSpPr>
          <p:cNvPr id="153" name="Text 151"/>
          <p:cNvSpPr/>
          <p:nvPr/>
        </p:nvSpPr>
        <p:spPr>
          <a:xfrm>
            <a:off x="1650384" y="2618050"/>
            <a:ext cx="116586" cy="102870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pPr algn="ctr"/>
            <a:r>
              <a:rPr lang="en-US" sz="39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390" dirty="0"/>
          </a:p>
        </p:txBody>
      </p:sp>
      <p:sp>
        <p:nvSpPr>
          <p:cNvPr id="154" name="Shape 152"/>
          <p:cNvSpPr/>
          <p:nvPr/>
        </p:nvSpPr>
        <p:spPr>
          <a:xfrm>
            <a:off x="4482738" y="4190940"/>
            <a:ext cx="116586" cy="116586"/>
          </a:xfrm>
          <a:prstGeom prst="ellipse">
            <a:avLst/>
          </a:prstGeom>
          <a:solidFill>
            <a:srgbClr val="FF0000"/>
          </a:solidFill>
          <a:ln w="12700">
            <a:solidFill>
              <a:srgbClr val="FF0000"/>
            </a:solidFill>
            <a:prstDash val="solid"/>
          </a:ln>
        </p:spPr>
      </p:sp>
      <p:sp>
        <p:nvSpPr>
          <p:cNvPr id="155" name="Text 153"/>
          <p:cNvSpPr/>
          <p:nvPr/>
        </p:nvSpPr>
        <p:spPr>
          <a:xfrm>
            <a:off x="4482738" y="4195055"/>
            <a:ext cx="116586" cy="102870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pPr algn="ctr"/>
            <a:r>
              <a:rPr lang="en-US" sz="39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en-US" sz="390" dirty="0"/>
          </a:p>
        </p:txBody>
      </p:sp>
      <p:sp>
        <p:nvSpPr>
          <p:cNvPr id="156" name="Shape 154"/>
          <p:cNvSpPr/>
          <p:nvPr/>
        </p:nvSpPr>
        <p:spPr>
          <a:xfrm>
            <a:off x="2576214" y="3045326"/>
            <a:ext cx="116586" cy="116586"/>
          </a:xfrm>
          <a:prstGeom prst="ellipse">
            <a:avLst/>
          </a:prstGeom>
          <a:solidFill>
            <a:srgbClr val="FF0000"/>
          </a:solidFill>
          <a:ln w="12700">
            <a:solidFill>
              <a:srgbClr val="FF0000"/>
            </a:solidFill>
            <a:prstDash val="solid"/>
          </a:ln>
        </p:spPr>
      </p:sp>
      <p:sp>
        <p:nvSpPr>
          <p:cNvPr id="157" name="Text 155"/>
          <p:cNvSpPr/>
          <p:nvPr/>
        </p:nvSpPr>
        <p:spPr>
          <a:xfrm>
            <a:off x="2576214" y="3049441"/>
            <a:ext cx="116586" cy="102870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pPr algn="ctr"/>
            <a:r>
              <a:rPr lang="en-US" sz="39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</a:t>
            </a:r>
            <a:endParaRPr lang="en-US" sz="390" dirty="0"/>
          </a:p>
        </p:txBody>
      </p:sp>
      <p:graphicFrame>
        <p:nvGraphicFramePr>
          <p:cNvPr id="158" name="Table 0"/>
          <p:cNvGraphicFramePr>
            <a:graphicFrameLocks noGrp="1"/>
          </p:cNvGraphicFramePr>
          <p:nvPr>
            <p:extLst/>
          </p:nvPr>
        </p:nvGraphicFramePr>
        <p:xfrm>
          <a:off x="5637276" y="973836"/>
          <a:ext cx="3051810" cy="2201418"/>
        </p:xfrm>
        <a:graphic>
          <a:graphicData uri="http://schemas.openxmlformats.org/drawingml/2006/table">
            <a:tbl>
              <a:tblPr/>
              <a:tblGrid>
                <a:gridCol w="65151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003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259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600" b="1" dirty="0">
                          <a:solidFill>
                            <a:srgbClr val="FFFFFF"/>
                          </a:solidFill>
                        </a:rPr>
                        <a:t>구분</a:t>
                      </a:r>
                      <a:endParaRPr lang="en-US" sz="600" dirty="0"/>
                    </a:p>
                  </a:txBody>
                  <a:tcPr marL="20574" marR="20574" marT="20574" marB="20574">
                    <a:lnL w="10160" cap="flat" cmpd="sng" algn="ctr">
                      <a:solidFill>
                        <a:srgbClr val="C9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C9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C9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C9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2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600" b="1" dirty="0">
                          <a:solidFill>
                            <a:srgbClr val="FFFFFF"/>
                          </a:solidFill>
                        </a:rPr>
                        <a:t>기획 내용</a:t>
                      </a:r>
                      <a:endParaRPr lang="en-US" sz="600" dirty="0"/>
                    </a:p>
                  </a:txBody>
                  <a:tcPr marL="20574" marR="20574" marT="20574" marB="20574">
                    <a:lnL w="10160" cap="flat" cmpd="sng" algn="ctr">
                      <a:solidFill>
                        <a:srgbClr val="C9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C9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C9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C9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2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77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500" dirty="0">
                          <a:solidFill>
                            <a:srgbClr val="0F172A"/>
                          </a:solidFill>
                        </a:rPr>
                        <a:t>1. 기본 정보</a:t>
                      </a:r>
                      <a:endParaRPr lang="en-US" sz="500" dirty="0"/>
                    </a:p>
                  </a:txBody>
                  <a:tcPr marL="27432" marR="27432" marT="27432" marB="27432">
                    <a:lnL w="10160" cap="flat" cmpd="sng" algn="ctr">
                      <a:solidFill>
                        <a:srgbClr val="C9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C9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C9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C9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500" dirty="0">
                          <a:solidFill>
                            <a:srgbClr val="0F172A"/>
                          </a:solidFill>
                        </a:rPr>
                        <a:t>프로젝트명/고객사/프로젝트 기간/상태/설명 조회</a:t>
                      </a:r>
                      <a:endParaRPr lang="en-US" sz="500" dirty="0"/>
                    </a:p>
                    <a:p>
                      <a:pPr marL="0" indent="0">
                        <a:buNone/>
                      </a:pPr>
                      <a:r>
                        <a:rPr lang="en-US" sz="500" dirty="0">
                          <a:solidFill>
                            <a:srgbClr val="0F172A"/>
                          </a:solidFill>
                        </a:rPr>
                        <a:t>현재 진척도와 기술스택 상단 요약 표시</a:t>
                      </a:r>
                      <a:endParaRPr lang="en-US" sz="500" dirty="0"/>
                    </a:p>
                  </a:txBody>
                  <a:tcPr marL="27432" marR="27432" marT="27432" marB="27432">
                    <a:lnL w="10160" cap="flat" cmpd="sng" algn="ctr">
                      <a:solidFill>
                        <a:srgbClr val="C9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C9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C9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C9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77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500" dirty="0">
                          <a:solidFill>
                            <a:srgbClr val="0F172A"/>
                          </a:solidFill>
                        </a:rPr>
                        <a:t>2. 액션 버튼</a:t>
                      </a:r>
                      <a:endParaRPr lang="en-US" sz="500" dirty="0"/>
                    </a:p>
                  </a:txBody>
                  <a:tcPr marL="27432" marR="27432" marT="27432" marB="27432">
                    <a:lnL w="10160" cap="flat" cmpd="sng" algn="ctr">
                      <a:solidFill>
                        <a:srgbClr val="C9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C9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C9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C9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500" dirty="0">
                          <a:solidFill>
                            <a:srgbClr val="0F172A"/>
                          </a:solidFill>
                        </a:rPr>
                        <a:t>목록으로: 프로젝트 목록 화면 이동</a:t>
                      </a:r>
                      <a:endParaRPr lang="en-US" sz="500" dirty="0"/>
                    </a:p>
                    <a:p>
                      <a:pPr marL="0" indent="0">
                        <a:buNone/>
                      </a:pPr>
                      <a:r>
                        <a:rPr lang="en-US" sz="500" dirty="0">
                          <a:solidFill>
                            <a:srgbClr val="0F172A"/>
                          </a:solidFill>
                        </a:rPr>
                        <a:t>수정: 프로젝트 수정 화면 이동</a:t>
                      </a:r>
                      <a:endParaRPr lang="en-US" sz="500" dirty="0"/>
                    </a:p>
                    <a:p>
                      <a:pPr marL="0" indent="0">
                        <a:buNone/>
                      </a:pPr>
                      <a:r>
                        <a:rPr lang="en-US" sz="500" dirty="0">
                          <a:solidFill>
                            <a:srgbClr val="0F172A"/>
                          </a:solidFill>
                        </a:rPr>
                        <a:t>인력 배정: 해당 프로젝트 기준 배정 화면 이동</a:t>
                      </a:r>
                      <a:endParaRPr lang="en-US" sz="500" dirty="0"/>
                    </a:p>
                    <a:p>
                      <a:pPr marL="0" indent="0">
                        <a:buNone/>
                      </a:pPr>
                      <a:r>
                        <a:rPr lang="en-US" sz="500" dirty="0">
                          <a:solidFill>
                            <a:srgbClr val="0F172A"/>
                          </a:solidFill>
                        </a:rPr>
                        <a:t>삭제: 삭제 처리</a:t>
                      </a:r>
                      <a:endParaRPr lang="en-US" sz="500" dirty="0"/>
                    </a:p>
                  </a:txBody>
                  <a:tcPr marL="27432" marR="27432" marT="27432" marB="27432">
                    <a:lnL w="10160" cap="flat" cmpd="sng" algn="ctr">
                      <a:solidFill>
                        <a:srgbClr val="C9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C9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C9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C9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77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500" dirty="0">
                          <a:solidFill>
                            <a:srgbClr val="0F172A"/>
                          </a:solidFill>
                        </a:rPr>
                        <a:t>3. 탭 메뉴</a:t>
                      </a:r>
                      <a:endParaRPr lang="en-US" sz="500" dirty="0"/>
                    </a:p>
                  </a:txBody>
                  <a:tcPr marL="27432" marR="27432" marT="27432" marB="27432">
                    <a:lnL w="10160" cap="flat" cmpd="sng" algn="ctr">
                      <a:solidFill>
                        <a:srgbClr val="C9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C9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C9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C9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500" dirty="0">
                          <a:solidFill>
                            <a:srgbClr val="0F172A"/>
                          </a:solidFill>
                        </a:rPr>
                        <a:t>기본정보/투입이력/일정/계약정보 탭 구성</a:t>
                      </a:r>
                      <a:endParaRPr lang="en-US" sz="500" dirty="0"/>
                    </a:p>
                    <a:p>
                      <a:pPr marL="0" indent="0">
                        <a:buNone/>
                      </a:pPr>
                      <a:r>
                        <a:rPr lang="en-US" sz="500" dirty="0">
                          <a:solidFill>
                            <a:srgbClr val="0F172A"/>
                          </a:solidFill>
                        </a:rPr>
                        <a:t>선택 탭은 강조 색상으로 표시</a:t>
                      </a:r>
                      <a:endParaRPr lang="en-US" sz="500" dirty="0"/>
                    </a:p>
                  </a:txBody>
                  <a:tcPr marL="27432" marR="27432" marT="27432" marB="27432">
                    <a:lnL w="10160" cap="flat" cmpd="sng" algn="ctr">
                      <a:solidFill>
                        <a:srgbClr val="C9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C9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C9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C9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77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500" dirty="0">
                          <a:solidFill>
                            <a:srgbClr val="0F172A"/>
                          </a:solidFill>
                        </a:rPr>
                        <a:t>4. 투입 구성 요약</a:t>
                      </a:r>
                      <a:endParaRPr lang="en-US" sz="500" dirty="0"/>
                    </a:p>
                  </a:txBody>
                  <a:tcPr marL="27432" marR="27432" marT="27432" marB="27432">
                    <a:lnL w="10160" cap="flat" cmpd="sng" algn="ctr">
                      <a:solidFill>
                        <a:srgbClr val="C9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C9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C9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C9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500" dirty="0">
                          <a:solidFill>
                            <a:srgbClr val="0F172A"/>
                          </a:solidFill>
                        </a:rPr>
                        <a:t>총 투입 인원/배정 역할군/등록 역할을 카드로 표시</a:t>
                      </a:r>
                      <a:endParaRPr lang="en-US" sz="500" dirty="0"/>
                    </a:p>
                    <a:p>
                      <a:pPr marL="0" indent="0">
                        <a:buNone/>
                      </a:pPr>
                      <a:r>
                        <a:rPr lang="en-US" sz="500" dirty="0">
                          <a:solidFill>
                            <a:srgbClr val="0F172A"/>
                          </a:solidFill>
                        </a:rPr>
                        <a:t>구성 완료 상태 배지 노출</a:t>
                      </a:r>
                      <a:endParaRPr lang="en-US" sz="500" dirty="0"/>
                    </a:p>
                  </a:txBody>
                  <a:tcPr marL="27432" marR="27432" marT="27432" marB="27432">
                    <a:lnL w="10160" cap="flat" cmpd="sng" algn="ctr">
                      <a:solidFill>
                        <a:srgbClr val="C9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C9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C9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C9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77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500" dirty="0">
                          <a:solidFill>
                            <a:srgbClr val="0F172A"/>
                          </a:solidFill>
                        </a:rPr>
                        <a:t>5. 역할별 투입 현황</a:t>
                      </a:r>
                      <a:endParaRPr lang="en-US" sz="500" dirty="0"/>
                    </a:p>
                  </a:txBody>
                  <a:tcPr marL="27432" marR="27432" marT="27432" marB="27432">
                    <a:lnL w="10160" cap="flat" cmpd="sng" algn="ctr">
                      <a:solidFill>
                        <a:srgbClr val="C9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C9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C9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C9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500" dirty="0">
                          <a:solidFill>
                            <a:srgbClr val="0F172A"/>
                          </a:solidFill>
                        </a:rPr>
                        <a:t>PM/PL/개발자/퍼블리셔·디자인/사업관리/QA·테스터</a:t>
                      </a:r>
                      <a:endParaRPr lang="en-US" sz="500" dirty="0"/>
                    </a:p>
                    <a:p>
                      <a:pPr marL="0" indent="0">
                        <a:buNone/>
                      </a:pPr>
                      <a:r>
                        <a:rPr lang="en-US" sz="500" dirty="0">
                          <a:solidFill>
                            <a:srgbClr val="0F172A"/>
                          </a:solidFill>
                        </a:rPr>
                        <a:t>역할별 인원과 이름을 카드 형태로 표시</a:t>
                      </a:r>
                      <a:endParaRPr lang="en-US" sz="500" dirty="0"/>
                    </a:p>
                  </a:txBody>
                  <a:tcPr marL="27432" marR="27432" marT="27432" marB="27432">
                    <a:lnL w="10160" cap="flat" cmpd="sng" algn="ctr">
                      <a:solidFill>
                        <a:srgbClr val="C9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C9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C9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C9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15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77792678"/>
              </p:ext>
            </p:extLst>
          </p:nvPr>
        </p:nvGraphicFramePr>
        <p:xfrm>
          <a:off x="5637276" y="3173321"/>
          <a:ext cx="3051810" cy="1135170"/>
        </p:xfrm>
        <a:graphic>
          <a:graphicData uri="http://schemas.openxmlformats.org/drawingml/2006/table">
            <a:tbl>
              <a:tblPr/>
              <a:tblGrid>
                <a:gridCol w="65151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003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3964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altLang="ko-KR" sz="500" dirty="0" smtClean="0">
                          <a:solidFill>
                            <a:srgbClr val="0F172A"/>
                          </a:solidFill>
                        </a:rPr>
                        <a:t>6. </a:t>
                      </a:r>
                      <a:r>
                        <a:rPr lang="en-US" altLang="ko-KR" sz="500" dirty="0" err="1" smtClean="0">
                          <a:solidFill>
                            <a:srgbClr val="0F172A"/>
                          </a:solidFill>
                        </a:rPr>
                        <a:t>진척도·기술스택</a:t>
                      </a:r>
                      <a:endParaRPr lang="en-US" altLang="ko-KR" sz="500" dirty="0"/>
                    </a:p>
                  </a:txBody>
                  <a:tcPr marL="20574" marR="20574" marT="20574" marB="20574">
                    <a:lnL w="10160" cap="flat" cmpd="sng" algn="ctr">
                      <a:solidFill>
                        <a:srgbClr val="C9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C9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C9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C9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altLang="ko-KR" sz="600" dirty="0" smtClean="0">
                          <a:solidFill>
                            <a:srgbClr val="0F172A"/>
                          </a:solidFill>
                        </a:rPr>
                        <a:t>0~100% </a:t>
                      </a:r>
                      <a:r>
                        <a:rPr lang="en-US" altLang="ko-KR" sz="600" dirty="0" err="1" smtClean="0">
                          <a:solidFill>
                            <a:srgbClr val="0F172A"/>
                          </a:solidFill>
                        </a:rPr>
                        <a:t>기준</a:t>
                      </a:r>
                      <a:r>
                        <a:rPr lang="en-US" altLang="ko-KR" sz="600" dirty="0" smtClean="0">
                          <a:solidFill>
                            <a:srgbClr val="0F172A"/>
                          </a:solidFill>
                        </a:rPr>
                        <a:t> </a:t>
                      </a:r>
                      <a:r>
                        <a:rPr lang="en-US" altLang="ko-KR" sz="600" dirty="0" err="1" smtClean="0">
                          <a:solidFill>
                            <a:srgbClr val="0F172A"/>
                          </a:solidFill>
                        </a:rPr>
                        <a:t>진척도</a:t>
                      </a:r>
                      <a:r>
                        <a:rPr lang="en-US" altLang="ko-KR" sz="600" dirty="0" smtClean="0">
                          <a:solidFill>
                            <a:srgbClr val="0F172A"/>
                          </a:solidFill>
                        </a:rPr>
                        <a:t> 바 </a:t>
                      </a:r>
                      <a:r>
                        <a:rPr lang="en-US" altLang="ko-KR" sz="600" dirty="0" err="1" smtClean="0">
                          <a:solidFill>
                            <a:srgbClr val="0F172A"/>
                          </a:solidFill>
                        </a:rPr>
                        <a:t>표시</a:t>
                      </a:r>
                      <a:endParaRPr lang="en-US" altLang="ko-KR" sz="600" dirty="0" smtClean="0"/>
                    </a:p>
                    <a:p>
                      <a:pPr marL="0" indent="0">
                        <a:buNone/>
                      </a:pPr>
                      <a:r>
                        <a:rPr lang="en-US" altLang="ko-KR" sz="600" dirty="0" err="1" smtClean="0">
                          <a:solidFill>
                            <a:srgbClr val="0F172A"/>
                          </a:solidFill>
                        </a:rPr>
                        <a:t>프로젝트</a:t>
                      </a:r>
                      <a:r>
                        <a:rPr lang="en-US" altLang="ko-KR" sz="600" dirty="0" smtClean="0">
                          <a:solidFill>
                            <a:srgbClr val="0F172A"/>
                          </a:solidFill>
                        </a:rPr>
                        <a:t> </a:t>
                      </a:r>
                      <a:r>
                        <a:rPr lang="en-US" altLang="ko-KR" sz="600" dirty="0" err="1" smtClean="0">
                          <a:solidFill>
                            <a:srgbClr val="0F172A"/>
                          </a:solidFill>
                        </a:rPr>
                        <a:t>보유</a:t>
                      </a:r>
                      <a:r>
                        <a:rPr lang="en-US" altLang="ko-KR" sz="600" dirty="0" smtClean="0">
                          <a:solidFill>
                            <a:srgbClr val="0F172A"/>
                          </a:solidFill>
                        </a:rPr>
                        <a:t> </a:t>
                      </a:r>
                      <a:r>
                        <a:rPr lang="en-US" altLang="ko-KR" sz="600" dirty="0" err="1" smtClean="0">
                          <a:solidFill>
                            <a:srgbClr val="0F172A"/>
                          </a:solidFill>
                        </a:rPr>
                        <a:t>기술을</a:t>
                      </a:r>
                      <a:r>
                        <a:rPr lang="en-US" altLang="ko-KR" sz="600" dirty="0" smtClean="0">
                          <a:solidFill>
                            <a:srgbClr val="0F172A"/>
                          </a:solidFill>
                        </a:rPr>
                        <a:t> </a:t>
                      </a:r>
                      <a:r>
                        <a:rPr lang="en-US" altLang="ko-KR" sz="600" dirty="0" err="1" smtClean="0">
                          <a:solidFill>
                            <a:srgbClr val="0F172A"/>
                          </a:solidFill>
                        </a:rPr>
                        <a:t>태그</a:t>
                      </a:r>
                      <a:r>
                        <a:rPr lang="en-US" altLang="ko-KR" sz="600" dirty="0" smtClean="0">
                          <a:solidFill>
                            <a:srgbClr val="0F172A"/>
                          </a:solidFill>
                        </a:rPr>
                        <a:t> </a:t>
                      </a:r>
                      <a:r>
                        <a:rPr lang="en-US" altLang="ko-KR" sz="600" dirty="0" err="1" smtClean="0">
                          <a:solidFill>
                            <a:srgbClr val="0F172A"/>
                          </a:solidFill>
                        </a:rPr>
                        <a:t>형태로</a:t>
                      </a:r>
                      <a:r>
                        <a:rPr lang="en-US" altLang="ko-KR" sz="600" dirty="0" smtClean="0">
                          <a:solidFill>
                            <a:srgbClr val="0F172A"/>
                          </a:solidFill>
                        </a:rPr>
                        <a:t> </a:t>
                      </a:r>
                      <a:r>
                        <a:rPr lang="en-US" altLang="ko-KR" sz="600" dirty="0" err="1" smtClean="0">
                          <a:solidFill>
                            <a:srgbClr val="0F172A"/>
                          </a:solidFill>
                        </a:rPr>
                        <a:t>표시</a:t>
                      </a:r>
                      <a:endParaRPr lang="en-US" altLang="ko-KR" sz="600" dirty="0" smtClean="0"/>
                    </a:p>
                    <a:p>
                      <a:pPr marL="0" indent="0" algn="ctr">
                        <a:buNone/>
                      </a:pPr>
                      <a:endParaRPr lang="en-US" sz="600" dirty="0"/>
                    </a:p>
                  </a:txBody>
                  <a:tcPr marL="20574" marR="20574" marT="20574" marB="20574">
                    <a:lnL w="10160" cap="flat" cmpd="sng" algn="ctr">
                      <a:solidFill>
                        <a:srgbClr val="C9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C9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C9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C9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77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500" dirty="0">
                          <a:solidFill>
                            <a:srgbClr val="0F172A"/>
                          </a:solidFill>
                        </a:rPr>
                        <a:t>7. 미배정 역할</a:t>
                      </a:r>
                      <a:endParaRPr lang="en-US" sz="500" dirty="0"/>
                    </a:p>
                  </a:txBody>
                  <a:tcPr marL="27432" marR="27432" marT="27432" marB="27432">
                    <a:lnL w="10160" cap="flat" cmpd="sng" algn="ctr">
                      <a:solidFill>
                        <a:srgbClr val="C9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C9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C9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C9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500" dirty="0">
                          <a:solidFill>
                            <a:srgbClr val="0F172A"/>
                          </a:solidFill>
                        </a:rPr>
                        <a:t>0명 역할은 비활성 톤으로 표시</a:t>
                      </a:r>
                      <a:endParaRPr lang="en-US" sz="500" dirty="0"/>
                    </a:p>
                    <a:p>
                      <a:pPr marL="0" indent="0">
                        <a:buNone/>
                      </a:pPr>
                      <a:r>
                        <a:rPr lang="en-US" sz="500" dirty="0">
                          <a:solidFill>
                            <a:srgbClr val="0F172A"/>
                          </a:solidFill>
                        </a:rPr>
                        <a:t>공석 역할을 즉시 파악 가능하도록 구성</a:t>
                      </a:r>
                      <a:endParaRPr lang="en-US" sz="500" dirty="0"/>
                    </a:p>
                  </a:txBody>
                  <a:tcPr marL="27432" marR="27432" marT="27432" marB="27432">
                    <a:lnL w="10160" cap="flat" cmpd="sng" algn="ctr">
                      <a:solidFill>
                        <a:srgbClr val="C9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C9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C9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C9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77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500" dirty="0">
                          <a:solidFill>
                            <a:srgbClr val="0F172A"/>
                          </a:solidFill>
                        </a:rPr>
                        <a:t>8. 제외/분리 기준</a:t>
                      </a:r>
                      <a:endParaRPr lang="en-US" sz="500" dirty="0"/>
                    </a:p>
                  </a:txBody>
                  <a:tcPr marL="27432" marR="27432" marT="27432" marB="27432">
                    <a:lnL w="10160" cap="flat" cmpd="sng" algn="ctr">
                      <a:solidFill>
                        <a:srgbClr val="C9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C9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C9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C9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500" dirty="0">
                          <a:solidFill>
                            <a:srgbClr val="0F172A"/>
                          </a:solidFill>
                        </a:rPr>
                        <a:t>진척도·기술스택 등 상단 중복 정보는 하단 개요 카드에서 제외</a:t>
                      </a:r>
                      <a:endParaRPr lang="en-US" sz="500" dirty="0"/>
                    </a:p>
                    <a:p>
                      <a:pPr marL="0" indent="0">
                        <a:buNone/>
                      </a:pPr>
                      <a:r>
                        <a:rPr lang="en-US" sz="500" dirty="0">
                          <a:solidFill>
                            <a:srgbClr val="0F172A"/>
                          </a:solidFill>
                        </a:rPr>
                        <a:t>투입이력/일정/계약정보는 별도 탭에서 확인</a:t>
                      </a:r>
                      <a:endParaRPr lang="en-US" sz="500" dirty="0"/>
                    </a:p>
                  </a:txBody>
                  <a:tcPr marL="27432" marR="27432" marT="27432" marB="27432">
                    <a:lnL w="10160" cap="flat" cmpd="sng" algn="ctr">
                      <a:solidFill>
                        <a:srgbClr val="C9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C9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C9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C9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60" name="Text 156"/>
          <p:cNvSpPr/>
          <p:nvPr/>
        </p:nvSpPr>
        <p:spPr>
          <a:xfrm>
            <a:off x="493776" y="4821174"/>
            <a:ext cx="3429000" cy="96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51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* 본 문서는 화면 설계 검토용이며, 실제 구현 상태와 다를 수 있습니다.</a:t>
            </a:r>
            <a:endParaRPr lang="en-US" sz="510" dirty="0"/>
          </a:p>
        </p:txBody>
      </p:sp>
      <p:sp>
        <p:nvSpPr>
          <p:cNvPr id="161" name="Text 157"/>
          <p:cNvSpPr/>
          <p:nvPr/>
        </p:nvSpPr>
        <p:spPr>
          <a:xfrm>
            <a:off x="8366760" y="4703616"/>
            <a:ext cx="548640" cy="96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51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Confidential</a:t>
            </a:r>
            <a:endParaRPr lang="en-US" sz="510" dirty="0"/>
          </a:p>
        </p:txBody>
      </p:sp>
    </p:spTree>
    <p:extLst>
      <p:ext uri="{BB962C8B-B14F-4D97-AF65-F5344CB8AC3E}">
        <p14:creationId xmlns:p14="http://schemas.microsoft.com/office/powerpoint/2010/main" val="309758431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37160" y="61722"/>
            <a:ext cx="8867394" cy="397764"/>
          </a:xfrm>
          <a:prstGeom prst="rect">
            <a:avLst/>
          </a:prstGeom>
          <a:solidFill>
            <a:srgbClr val="0F213A"/>
          </a:solidFill>
          <a:ln w="12700">
            <a:solidFill>
              <a:srgbClr val="0F213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25196" y="164592"/>
            <a:ext cx="1028700" cy="123444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 lnSpcReduction="10000"/>
          </a:bodyPr>
          <a:lstStyle/>
          <a:p>
            <a:r>
              <a:rPr lang="en-US" sz="825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Peoplify UI 기획서</a:t>
            </a:r>
            <a:endParaRPr lang="en-US" sz="825" dirty="0"/>
          </a:p>
        </p:txBody>
      </p:sp>
      <p:sp>
        <p:nvSpPr>
          <p:cNvPr id="4" name="Text 2"/>
          <p:cNvSpPr/>
          <p:nvPr/>
        </p:nvSpPr>
        <p:spPr>
          <a:xfrm>
            <a:off x="3017520" y="123444"/>
            <a:ext cx="3120390" cy="192024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 fontScale="92500" lnSpcReduction="20000"/>
          </a:bodyPr>
          <a:lstStyle/>
          <a:p>
            <a:pPr algn="ctr"/>
            <a:r>
              <a:rPr lang="en-US" sz="16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프로젝트 상세 화면 설계</a:t>
            </a:r>
            <a:endParaRPr lang="en-US" sz="1650" dirty="0"/>
          </a:p>
        </p:txBody>
      </p:sp>
      <p:sp>
        <p:nvSpPr>
          <p:cNvPr id="5" name="Text 3"/>
          <p:cNvSpPr/>
          <p:nvPr/>
        </p:nvSpPr>
        <p:spPr>
          <a:xfrm>
            <a:off x="6892290" y="164592"/>
            <a:ext cx="1611630" cy="96012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/>
          </a:bodyPr>
          <a:lstStyle/>
          <a:p>
            <a:pPr algn="r"/>
            <a:r>
              <a:rPr lang="en-US" sz="54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project 도메인 · /project/project-detail/:id</a:t>
            </a:r>
            <a:endParaRPr lang="en-US" sz="540" dirty="0"/>
          </a:p>
        </p:txBody>
      </p:sp>
      <p:sp>
        <p:nvSpPr>
          <p:cNvPr id="6" name="Text 4"/>
          <p:cNvSpPr/>
          <p:nvPr/>
        </p:nvSpPr>
        <p:spPr>
          <a:xfrm>
            <a:off x="8586216" y="164592"/>
            <a:ext cx="171450" cy="96012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/>
          </a:bodyPr>
          <a:lstStyle/>
          <a:p>
            <a:pPr algn="r"/>
            <a:r>
              <a:rPr lang="en-US" sz="615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</a:t>
            </a:r>
            <a:endParaRPr lang="en-US" sz="615" dirty="0"/>
          </a:p>
        </p:txBody>
      </p:sp>
      <p:sp>
        <p:nvSpPr>
          <p:cNvPr id="7" name="Text 5"/>
          <p:cNvSpPr/>
          <p:nvPr/>
        </p:nvSpPr>
        <p:spPr>
          <a:xfrm>
            <a:off x="493776" y="665226"/>
            <a:ext cx="822960" cy="150876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/>
          </a:bodyPr>
          <a:lstStyle/>
          <a:p>
            <a:r>
              <a:rPr lang="en-US" sz="975" b="1" dirty="0">
                <a:solidFill>
                  <a:srgbClr val="0F21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설계</a:t>
            </a:r>
            <a:endParaRPr lang="en-US" sz="975" dirty="0"/>
          </a:p>
        </p:txBody>
      </p:sp>
      <p:sp>
        <p:nvSpPr>
          <p:cNvPr id="8" name="Shape 6"/>
          <p:cNvSpPr/>
          <p:nvPr/>
        </p:nvSpPr>
        <p:spPr>
          <a:xfrm>
            <a:off x="356616" y="884682"/>
            <a:ext cx="5143500" cy="3051810"/>
          </a:xfrm>
          <a:prstGeom prst="roundRect">
            <a:avLst>
              <a:gd name="adj" fmla="val 1124"/>
            </a:avLst>
          </a:prstGeom>
          <a:solidFill>
            <a:srgbClr val="FFFFFF"/>
          </a:solidFill>
          <a:ln w="8890">
            <a:solidFill>
              <a:srgbClr val="D1D9E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45770" y="1014983"/>
            <a:ext cx="4937760" cy="2872861"/>
          </a:xfrm>
          <a:prstGeom prst="rect">
            <a:avLst/>
          </a:prstGeom>
          <a:solidFill>
            <a:srgbClr val="1F1D3A"/>
          </a:solidFill>
          <a:ln w="12700">
            <a:solidFill>
              <a:srgbClr val="1F1D3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45770" y="1014983"/>
            <a:ext cx="973836" cy="2872861"/>
          </a:xfrm>
          <a:prstGeom prst="rect">
            <a:avLst/>
          </a:prstGeom>
          <a:solidFill>
            <a:srgbClr val="302E4D"/>
          </a:solidFill>
          <a:ln w="12700">
            <a:solidFill>
              <a:srgbClr val="302E4D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419606" y="1014984"/>
            <a:ext cx="3963924" cy="329184"/>
          </a:xfrm>
          <a:prstGeom prst="rect">
            <a:avLst/>
          </a:prstGeom>
          <a:solidFill>
            <a:srgbClr val="33314F"/>
          </a:solidFill>
          <a:ln w="12700">
            <a:solidFill>
              <a:srgbClr val="33314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28066" y="1110996"/>
            <a:ext cx="754380" cy="96012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/>
          </a:bodyPr>
          <a:lstStyle/>
          <a:p>
            <a:r>
              <a:rPr lang="en-US" sz="51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⚙  인력관리 시스템</a:t>
            </a:r>
            <a:endParaRPr lang="en-US" sz="510" dirty="0"/>
          </a:p>
        </p:txBody>
      </p:sp>
      <p:sp>
        <p:nvSpPr>
          <p:cNvPr id="13" name="Text 11"/>
          <p:cNvSpPr/>
          <p:nvPr/>
        </p:nvSpPr>
        <p:spPr>
          <a:xfrm>
            <a:off x="637794" y="1207008"/>
            <a:ext cx="480060" cy="61722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/>
          </a:bodyPr>
          <a:lstStyle/>
          <a:p>
            <a:r>
              <a:rPr lang="en-US" sz="353" dirty="0">
                <a:solidFill>
                  <a:srgbClr val="C8C5E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Peoplify v1.0</a:t>
            </a:r>
            <a:endParaRPr lang="en-US" sz="353" dirty="0"/>
          </a:p>
        </p:txBody>
      </p:sp>
      <p:sp>
        <p:nvSpPr>
          <p:cNvPr id="14" name="Text 12"/>
          <p:cNvSpPr/>
          <p:nvPr/>
        </p:nvSpPr>
        <p:spPr>
          <a:xfrm>
            <a:off x="534924" y="1467612"/>
            <a:ext cx="342900" cy="68580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/>
          </a:bodyPr>
          <a:lstStyle/>
          <a:p>
            <a:r>
              <a:rPr lang="en-US" sz="368" dirty="0">
                <a:solidFill>
                  <a:srgbClr val="B5B2D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메인 메뉴</a:t>
            </a:r>
            <a:endParaRPr lang="en-US" sz="368" dirty="0"/>
          </a:p>
        </p:txBody>
      </p:sp>
      <p:sp>
        <p:nvSpPr>
          <p:cNvPr id="15" name="Text 13"/>
          <p:cNvSpPr/>
          <p:nvPr/>
        </p:nvSpPr>
        <p:spPr>
          <a:xfrm>
            <a:off x="541782" y="1652778"/>
            <a:ext cx="89154" cy="822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413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▦</a:t>
            </a:r>
            <a:endParaRPr lang="en-US" sz="413" dirty="0"/>
          </a:p>
        </p:txBody>
      </p:sp>
      <p:sp>
        <p:nvSpPr>
          <p:cNvPr id="16" name="Text 14"/>
          <p:cNvSpPr/>
          <p:nvPr/>
        </p:nvSpPr>
        <p:spPr>
          <a:xfrm>
            <a:off x="665226" y="1652778"/>
            <a:ext cx="562356" cy="822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413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대시보드</a:t>
            </a:r>
            <a:endParaRPr lang="en-US" sz="413" dirty="0"/>
          </a:p>
        </p:txBody>
      </p:sp>
      <p:sp>
        <p:nvSpPr>
          <p:cNvPr id="17" name="Text 15"/>
          <p:cNvSpPr/>
          <p:nvPr/>
        </p:nvSpPr>
        <p:spPr>
          <a:xfrm>
            <a:off x="1248156" y="1652778"/>
            <a:ext cx="54864" cy="822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375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⌄</a:t>
            </a:r>
            <a:endParaRPr lang="en-US" sz="375" dirty="0"/>
          </a:p>
        </p:txBody>
      </p:sp>
      <p:sp>
        <p:nvSpPr>
          <p:cNvPr id="18" name="Text 16"/>
          <p:cNvSpPr/>
          <p:nvPr/>
        </p:nvSpPr>
        <p:spPr>
          <a:xfrm>
            <a:off x="541782" y="1858518"/>
            <a:ext cx="89154" cy="822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413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♟</a:t>
            </a:r>
            <a:endParaRPr lang="en-US" sz="413" dirty="0"/>
          </a:p>
        </p:txBody>
      </p:sp>
      <p:sp>
        <p:nvSpPr>
          <p:cNvPr id="19" name="Text 17"/>
          <p:cNvSpPr/>
          <p:nvPr/>
        </p:nvSpPr>
        <p:spPr>
          <a:xfrm>
            <a:off x="665226" y="1858518"/>
            <a:ext cx="562356" cy="822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413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직원관리</a:t>
            </a:r>
            <a:endParaRPr lang="en-US" sz="413" dirty="0"/>
          </a:p>
        </p:txBody>
      </p:sp>
      <p:sp>
        <p:nvSpPr>
          <p:cNvPr id="20" name="Text 18"/>
          <p:cNvSpPr/>
          <p:nvPr/>
        </p:nvSpPr>
        <p:spPr>
          <a:xfrm>
            <a:off x="1248156" y="1858518"/>
            <a:ext cx="54864" cy="822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375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⌄</a:t>
            </a:r>
            <a:endParaRPr lang="en-US" sz="375" dirty="0"/>
          </a:p>
        </p:txBody>
      </p:sp>
      <p:sp>
        <p:nvSpPr>
          <p:cNvPr id="21" name="Shape 19"/>
          <p:cNvSpPr/>
          <p:nvPr/>
        </p:nvSpPr>
        <p:spPr>
          <a:xfrm>
            <a:off x="507492" y="2053971"/>
            <a:ext cx="857250" cy="164592"/>
          </a:xfrm>
          <a:prstGeom prst="roundRect">
            <a:avLst>
              <a:gd name="adj" fmla="val 16667"/>
            </a:avLst>
          </a:prstGeom>
          <a:solidFill>
            <a:srgbClr val="3C395D"/>
          </a:solidFill>
          <a:ln w="12700">
            <a:solidFill>
              <a:srgbClr val="3C395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41782" y="2064258"/>
            <a:ext cx="89154" cy="822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413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▣</a:t>
            </a:r>
            <a:endParaRPr lang="en-US" sz="413" dirty="0"/>
          </a:p>
        </p:txBody>
      </p:sp>
      <p:sp>
        <p:nvSpPr>
          <p:cNvPr id="23" name="Text 21"/>
          <p:cNvSpPr/>
          <p:nvPr/>
        </p:nvSpPr>
        <p:spPr>
          <a:xfrm>
            <a:off x="665226" y="2064258"/>
            <a:ext cx="562356" cy="822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4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프로젝트</a:t>
            </a:r>
            <a:endParaRPr lang="en-US" sz="413" dirty="0"/>
          </a:p>
        </p:txBody>
      </p:sp>
      <p:sp>
        <p:nvSpPr>
          <p:cNvPr id="24" name="Text 22"/>
          <p:cNvSpPr/>
          <p:nvPr/>
        </p:nvSpPr>
        <p:spPr>
          <a:xfrm>
            <a:off x="1248156" y="2064258"/>
            <a:ext cx="54864" cy="822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375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⌄</a:t>
            </a:r>
            <a:endParaRPr lang="en-US" sz="375" dirty="0"/>
          </a:p>
        </p:txBody>
      </p:sp>
      <p:sp>
        <p:nvSpPr>
          <p:cNvPr id="25" name="Text 23"/>
          <p:cNvSpPr/>
          <p:nvPr/>
        </p:nvSpPr>
        <p:spPr>
          <a:xfrm>
            <a:off x="541782" y="2269998"/>
            <a:ext cx="89154" cy="822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413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⊕</a:t>
            </a:r>
            <a:endParaRPr lang="en-US" sz="413" dirty="0"/>
          </a:p>
        </p:txBody>
      </p:sp>
      <p:sp>
        <p:nvSpPr>
          <p:cNvPr id="26" name="Text 24"/>
          <p:cNvSpPr/>
          <p:nvPr/>
        </p:nvSpPr>
        <p:spPr>
          <a:xfrm>
            <a:off x="665226" y="2269998"/>
            <a:ext cx="562356" cy="822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413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근태관리</a:t>
            </a:r>
            <a:endParaRPr lang="en-US" sz="413" dirty="0"/>
          </a:p>
        </p:txBody>
      </p:sp>
      <p:sp>
        <p:nvSpPr>
          <p:cNvPr id="27" name="Text 25"/>
          <p:cNvSpPr/>
          <p:nvPr/>
        </p:nvSpPr>
        <p:spPr>
          <a:xfrm>
            <a:off x="1248156" y="2269998"/>
            <a:ext cx="54864" cy="822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375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⌄</a:t>
            </a:r>
            <a:endParaRPr lang="en-US" sz="375" dirty="0"/>
          </a:p>
        </p:txBody>
      </p:sp>
      <p:sp>
        <p:nvSpPr>
          <p:cNvPr id="28" name="Text 26"/>
          <p:cNvSpPr/>
          <p:nvPr/>
        </p:nvSpPr>
        <p:spPr>
          <a:xfrm>
            <a:off x="541782" y="2475738"/>
            <a:ext cx="89154" cy="822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413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▥</a:t>
            </a:r>
            <a:endParaRPr lang="en-US" sz="413" dirty="0"/>
          </a:p>
        </p:txBody>
      </p:sp>
      <p:sp>
        <p:nvSpPr>
          <p:cNvPr id="29" name="Text 27"/>
          <p:cNvSpPr/>
          <p:nvPr/>
        </p:nvSpPr>
        <p:spPr>
          <a:xfrm>
            <a:off x="665226" y="2475738"/>
            <a:ext cx="562356" cy="822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413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리포트</a:t>
            </a:r>
            <a:endParaRPr lang="en-US" sz="413" dirty="0"/>
          </a:p>
        </p:txBody>
      </p:sp>
      <p:sp>
        <p:nvSpPr>
          <p:cNvPr id="30" name="Text 28"/>
          <p:cNvSpPr/>
          <p:nvPr/>
        </p:nvSpPr>
        <p:spPr>
          <a:xfrm>
            <a:off x="1248156" y="2475738"/>
            <a:ext cx="54864" cy="822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375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⌄</a:t>
            </a:r>
            <a:endParaRPr lang="en-US" sz="375" dirty="0"/>
          </a:p>
        </p:txBody>
      </p:sp>
      <p:sp>
        <p:nvSpPr>
          <p:cNvPr id="31" name="Text 29"/>
          <p:cNvSpPr/>
          <p:nvPr/>
        </p:nvSpPr>
        <p:spPr>
          <a:xfrm>
            <a:off x="534924" y="2688336"/>
            <a:ext cx="514350" cy="68580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/>
          </a:bodyPr>
          <a:lstStyle/>
          <a:p>
            <a:r>
              <a:rPr lang="en-US" sz="345" dirty="0">
                <a:solidFill>
                  <a:srgbClr val="8E8BA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퍼플리싱(임시)</a:t>
            </a:r>
            <a:endParaRPr lang="en-US" sz="345" dirty="0"/>
          </a:p>
        </p:txBody>
      </p:sp>
      <p:sp>
        <p:nvSpPr>
          <p:cNvPr id="32" name="Text 30"/>
          <p:cNvSpPr/>
          <p:nvPr/>
        </p:nvSpPr>
        <p:spPr>
          <a:xfrm>
            <a:off x="541782" y="2880360"/>
            <a:ext cx="89154" cy="822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413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▦</a:t>
            </a:r>
            <a:endParaRPr lang="en-US" sz="413" dirty="0"/>
          </a:p>
        </p:txBody>
      </p:sp>
      <p:sp>
        <p:nvSpPr>
          <p:cNvPr id="33" name="Text 31"/>
          <p:cNvSpPr/>
          <p:nvPr/>
        </p:nvSpPr>
        <p:spPr>
          <a:xfrm>
            <a:off x="665226" y="2880360"/>
            <a:ext cx="562356" cy="822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413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대시보드</a:t>
            </a:r>
            <a:endParaRPr lang="en-US" sz="413" dirty="0"/>
          </a:p>
        </p:txBody>
      </p:sp>
      <p:sp>
        <p:nvSpPr>
          <p:cNvPr id="34" name="Text 32"/>
          <p:cNvSpPr/>
          <p:nvPr/>
        </p:nvSpPr>
        <p:spPr>
          <a:xfrm>
            <a:off x="1248156" y="2880360"/>
            <a:ext cx="54864" cy="822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375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⌄</a:t>
            </a:r>
            <a:endParaRPr lang="en-US" sz="375" dirty="0"/>
          </a:p>
        </p:txBody>
      </p:sp>
      <p:sp>
        <p:nvSpPr>
          <p:cNvPr id="35" name="Text 33"/>
          <p:cNvSpPr/>
          <p:nvPr/>
        </p:nvSpPr>
        <p:spPr>
          <a:xfrm>
            <a:off x="541782" y="3086100"/>
            <a:ext cx="89154" cy="822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413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□</a:t>
            </a:r>
            <a:endParaRPr lang="en-US" sz="413" dirty="0"/>
          </a:p>
        </p:txBody>
      </p:sp>
      <p:sp>
        <p:nvSpPr>
          <p:cNvPr id="36" name="Text 34"/>
          <p:cNvSpPr/>
          <p:nvPr/>
        </p:nvSpPr>
        <p:spPr>
          <a:xfrm>
            <a:off x="665226" y="3086100"/>
            <a:ext cx="562356" cy="822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413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프로젝트</a:t>
            </a:r>
            <a:endParaRPr lang="en-US" sz="413" dirty="0"/>
          </a:p>
        </p:txBody>
      </p:sp>
      <p:sp>
        <p:nvSpPr>
          <p:cNvPr id="37" name="Text 35"/>
          <p:cNvSpPr/>
          <p:nvPr/>
        </p:nvSpPr>
        <p:spPr>
          <a:xfrm>
            <a:off x="1248156" y="3086100"/>
            <a:ext cx="54864" cy="822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375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⌄</a:t>
            </a:r>
            <a:endParaRPr lang="en-US" sz="375" dirty="0"/>
          </a:p>
        </p:txBody>
      </p:sp>
      <p:sp>
        <p:nvSpPr>
          <p:cNvPr id="38" name="Text 36"/>
          <p:cNvSpPr/>
          <p:nvPr/>
        </p:nvSpPr>
        <p:spPr>
          <a:xfrm>
            <a:off x="541782" y="3291840"/>
            <a:ext cx="89154" cy="822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413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⊕</a:t>
            </a:r>
            <a:endParaRPr lang="en-US" sz="413" dirty="0"/>
          </a:p>
        </p:txBody>
      </p:sp>
      <p:sp>
        <p:nvSpPr>
          <p:cNvPr id="39" name="Text 37"/>
          <p:cNvSpPr/>
          <p:nvPr/>
        </p:nvSpPr>
        <p:spPr>
          <a:xfrm>
            <a:off x="665226" y="3291840"/>
            <a:ext cx="562356" cy="822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413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근태관리</a:t>
            </a:r>
            <a:endParaRPr lang="en-US" sz="413" dirty="0"/>
          </a:p>
        </p:txBody>
      </p:sp>
      <p:sp>
        <p:nvSpPr>
          <p:cNvPr id="40" name="Text 38"/>
          <p:cNvSpPr/>
          <p:nvPr/>
        </p:nvSpPr>
        <p:spPr>
          <a:xfrm>
            <a:off x="1248156" y="3291840"/>
            <a:ext cx="54864" cy="822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375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⌄</a:t>
            </a:r>
            <a:endParaRPr lang="en-US" sz="375" dirty="0"/>
          </a:p>
        </p:txBody>
      </p:sp>
      <p:sp>
        <p:nvSpPr>
          <p:cNvPr id="41" name="Text 39"/>
          <p:cNvSpPr/>
          <p:nvPr/>
        </p:nvSpPr>
        <p:spPr>
          <a:xfrm>
            <a:off x="534924" y="3497580"/>
            <a:ext cx="480060" cy="82296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/>
          </a:bodyPr>
          <a:lstStyle/>
          <a:p>
            <a:r>
              <a:rPr lang="en-US" sz="398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↪  로그인</a:t>
            </a:r>
            <a:endParaRPr lang="en-US" sz="398" dirty="0"/>
          </a:p>
        </p:txBody>
      </p:sp>
      <p:sp>
        <p:nvSpPr>
          <p:cNvPr id="42" name="Shape 40"/>
          <p:cNvSpPr/>
          <p:nvPr/>
        </p:nvSpPr>
        <p:spPr>
          <a:xfrm>
            <a:off x="1508760" y="1097280"/>
            <a:ext cx="171450" cy="192024"/>
          </a:xfrm>
          <a:prstGeom prst="roundRect">
            <a:avLst>
              <a:gd name="adj" fmla="val 14000"/>
            </a:avLst>
          </a:prstGeom>
          <a:solidFill>
            <a:srgbClr val="2C2A49"/>
          </a:solidFill>
          <a:ln w="6985">
            <a:solidFill>
              <a:srgbClr val="5D5A82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543050" y="1145286"/>
            <a:ext cx="82296" cy="54864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 fontScale="92500" lnSpcReduction="20000"/>
          </a:bodyPr>
          <a:lstStyle/>
          <a:p>
            <a:pPr algn="ctr"/>
            <a:r>
              <a:rPr lang="en-US" sz="435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☰</a:t>
            </a:r>
            <a:endParaRPr lang="en-US" sz="435" dirty="0"/>
          </a:p>
        </p:txBody>
      </p:sp>
      <p:sp>
        <p:nvSpPr>
          <p:cNvPr id="44" name="Shape 42"/>
          <p:cNvSpPr/>
          <p:nvPr/>
        </p:nvSpPr>
        <p:spPr>
          <a:xfrm>
            <a:off x="1762506" y="1097280"/>
            <a:ext cx="1885950" cy="192024"/>
          </a:xfrm>
          <a:prstGeom prst="roundRect">
            <a:avLst>
              <a:gd name="adj" fmla="val 12500"/>
            </a:avLst>
          </a:prstGeom>
          <a:solidFill>
            <a:srgbClr val="2C2A49"/>
          </a:solidFill>
          <a:ln w="6985">
            <a:solidFill>
              <a:srgbClr val="5D5A82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1831086" y="1145286"/>
            <a:ext cx="1097280" cy="54864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 lnSpcReduction="10000"/>
          </a:bodyPr>
          <a:lstStyle/>
          <a:p>
            <a:r>
              <a:rPr lang="en-US" sz="383" dirty="0">
                <a:solidFill>
                  <a:srgbClr val="C7C5D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⌕  Search or type command...</a:t>
            </a:r>
            <a:endParaRPr lang="en-US" sz="383" dirty="0"/>
          </a:p>
        </p:txBody>
      </p:sp>
      <p:sp>
        <p:nvSpPr>
          <p:cNvPr id="46" name="Text 44"/>
          <p:cNvSpPr/>
          <p:nvPr/>
        </p:nvSpPr>
        <p:spPr>
          <a:xfrm>
            <a:off x="4594860" y="1145286"/>
            <a:ext cx="123444" cy="54864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 lnSpcReduction="10000"/>
          </a:bodyPr>
          <a:lstStyle/>
          <a:p>
            <a:pPr algn="ctr"/>
            <a:r>
              <a:rPr lang="en-US" sz="360" dirty="0">
                <a:solidFill>
                  <a:srgbClr val="B8B5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⌘K</a:t>
            </a:r>
            <a:endParaRPr lang="en-US" sz="360" dirty="0"/>
          </a:p>
        </p:txBody>
      </p:sp>
      <p:sp>
        <p:nvSpPr>
          <p:cNvPr id="47" name="Text 45"/>
          <p:cNvSpPr/>
          <p:nvPr/>
        </p:nvSpPr>
        <p:spPr>
          <a:xfrm>
            <a:off x="4807458" y="1138428"/>
            <a:ext cx="89154" cy="61722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 fontScale="92500"/>
          </a:bodyPr>
          <a:lstStyle/>
          <a:p>
            <a:pPr algn="ctr"/>
            <a:r>
              <a:rPr lang="en-US" sz="4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☼</a:t>
            </a:r>
            <a:endParaRPr lang="en-US" sz="450" dirty="0"/>
          </a:p>
        </p:txBody>
      </p:sp>
      <p:sp>
        <p:nvSpPr>
          <p:cNvPr id="48" name="Shape 46"/>
          <p:cNvSpPr/>
          <p:nvPr/>
        </p:nvSpPr>
        <p:spPr>
          <a:xfrm>
            <a:off x="4958334" y="1097280"/>
            <a:ext cx="363474" cy="192024"/>
          </a:xfrm>
          <a:prstGeom prst="roundRect">
            <a:avLst>
              <a:gd name="adj" fmla="val 21429"/>
            </a:avLst>
          </a:prstGeom>
          <a:solidFill>
            <a:srgbClr val="24223F"/>
          </a:solidFill>
          <a:ln w="12700">
            <a:solidFill>
              <a:srgbClr val="24223F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978908" y="1138428"/>
            <a:ext cx="315468" cy="61722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/>
          </a:bodyPr>
          <a:lstStyle/>
          <a:p>
            <a:pPr algn="ctr"/>
            <a:r>
              <a:rPr lang="en-US" sz="39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GitHub ↗</a:t>
            </a:r>
            <a:endParaRPr lang="en-US" sz="390" dirty="0"/>
          </a:p>
        </p:txBody>
      </p:sp>
      <p:sp>
        <p:nvSpPr>
          <p:cNvPr id="50" name="Shape 48"/>
          <p:cNvSpPr/>
          <p:nvPr/>
        </p:nvSpPr>
        <p:spPr>
          <a:xfrm>
            <a:off x="5280660" y="1097280"/>
            <a:ext cx="171450" cy="171450"/>
          </a:xfrm>
          <a:prstGeom prst="ellipse">
            <a:avLst/>
          </a:prstGeom>
          <a:solidFill>
            <a:srgbClr val="7E6CF4"/>
          </a:solidFill>
          <a:ln w="12700">
            <a:solidFill>
              <a:srgbClr val="7E6CF4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1556766" y="1488186"/>
            <a:ext cx="1371600" cy="82296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/>
          </a:bodyPr>
          <a:lstStyle/>
          <a:p>
            <a:r>
              <a:rPr lang="en-US" sz="383" dirty="0">
                <a:solidFill>
                  <a:srgbClr val="B8B5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프로젝트  ›  D보험 차세대시스템</a:t>
            </a:r>
            <a:endParaRPr lang="en-US" sz="383" dirty="0"/>
          </a:p>
        </p:txBody>
      </p:sp>
      <p:sp>
        <p:nvSpPr>
          <p:cNvPr id="52" name="Text 50"/>
          <p:cNvSpPr/>
          <p:nvPr/>
        </p:nvSpPr>
        <p:spPr>
          <a:xfrm>
            <a:off x="1556766" y="1604772"/>
            <a:ext cx="1234440" cy="123444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 lnSpcReduction="10000"/>
          </a:bodyPr>
          <a:lstStyle/>
          <a:p>
            <a:r>
              <a:rPr lang="en-US" sz="832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D보험 차세대시스템</a:t>
            </a:r>
            <a:endParaRPr lang="en-US" sz="832" dirty="0"/>
          </a:p>
        </p:txBody>
      </p:sp>
      <p:sp>
        <p:nvSpPr>
          <p:cNvPr id="53" name="Shape 51"/>
          <p:cNvSpPr/>
          <p:nvPr/>
        </p:nvSpPr>
        <p:spPr>
          <a:xfrm>
            <a:off x="4055164" y="1570482"/>
            <a:ext cx="301752" cy="150876"/>
          </a:xfrm>
          <a:prstGeom prst="roundRect">
            <a:avLst>
              <a:gd name="adj" fmla="val 15909"/>
            </a:avLst>
          </a:prstGeom>
          <a:solidFill>
            <a:srgbClr val="2C2A49"/>
          </a:solidFill>
          <a:ln w="6985">
            <a:solidFill>
              <a:srgbClr val="5D5A82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068880" y="1608201"/>
            <a:ext cx="274320" cy="548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36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목록으로</a:t>
            </a:r>
            <a:endParaRPr lang="en-US" sz="360" dirty="0"/>
          </a:p>
        </p:txBody>
      </p:sp>
      <p:sp>
        <p:nvSpPr>
          <p:cNvPr id="55" name="Shape 53"/>
          <p:cNvSpPr/>
          <p:nvPr/>
        </p:nvSpPr>
        <p:spPr>
          <a:xfrm>
            <a:off x="4398064" y="1570482"/>
            <a:ext cx="233172" cy="150876"/>
          </a:xfrm>
          <a:prstGeom prst="roundRect">
            <a:avLst>
              <a:gd name="adj" fmla="val 15909"/>
            </a:avLst>
          </a:prstGeom>
          <a:solidFill>
            <a:srgbClr val="2C2A49"/>
          </a:solidFill>
          <a:ln w="6985">
            <a:solidFill>
              <a:srgbClr val="5D5A82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411780" y="1608201"/>
            <a:ext cx="205740" cy="548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36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✎ 수정</a:t>
            </a:r>
            <a:endParaRPr lang="en-US" sz="360" dirty="0"/>
          </a:p>
        </p:txBody>
      </p:sp>
      <p:sp>
        <p:nvSpPr>
          <p:cNvPr id="57" name="Shape 55"/>
          <p:cNvSpPr/>
          <p:nvPr/>
        </p:nvSpPr>
        <p:spPr>
          <a:xfrm>
            <a:off x="4665526" y="1570482"/>
            <a:ext cx="390906" cy="150876"/>
          </a:xfrm>
          <a:prstGeom prst="roundRect">
            <a:avLst>
              <a:gd name="adj" fmla="val 15909"/>
            </a:avLst>
          </a:prstGeom>
          <a:solidFill>
            <a:srgbClr val="6F5AE8"/>
          </a:solidFill>
          <a:ln w="6985">
            <a:solidFill>
              <a:srgbClr val="6F5AE8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679242" y="1608201"/>
            <a:ext cx="363474" cy="548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36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⚭ 인력 배정</a:t>
            </a:r>
            <a:endParaRPr lang="en-US" sz="360" dirty="0"/>
          </a:p>
        </p:txBody>
      </p:sp>
      <p:sp>
        <p:nvSpPr>
          <p:cNvPr id="59" name="Shape 57"/>
          <p:cNvSpPr/>
          <p:nvPr/>
        </p:nvSpPr>
        <p:spPr>
          <a:xfrm>
            <a:off x="5077006" y="1570482"/>
            <a:ext cx="219456" cy="150876"/>
          </a:xfrm>
          <a:prstGeom prst="roundRect">
            <a:avLst>
              <a:gd name="adj" fmla="val 15909"/>
            </a:avLst>
          </a:prstGeom>
          <a:solidFill>
            <a:srgbClr val="2C2A49"/>
          </a:solidFill>
          <a:ln w="6985">
            <a:solidFill>
              <a:srgbClr val="E11D48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090722" y="1608201"/>
            <a:ext cx="192024" cy="548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360" b="1" dirty="0">
                <a:solidFill>
                  <a:srgbClr val="E11D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삭제</a:t>
            </a:r>
            <a:endParaRPr lang="en-US" sz="360" dirty="0"/>
          </a:p>
        </p:txBody>
      </p:sp>
      <p:sp>
        <p:nvSpPr>
          <p:cNvPr id="61" name="Text 59"/>
          <p:cNvSpPr/>
          <p:nvPr/>
        </p:nvSpPr>
        <p:spPr>
          <a:xfrm>
            <a:off x="4315768" y="1529334"/>
            <a:ext cx="137160" cy="1234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lang="en-US" sz="900" b="1" dirty="0">
                <a:solidFill>
                  <a:srgbClr val="FF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1556766" y="1865376"/>
            <a:ext cx="3689604" cy="637794"/>
          </a:xfrm>
          <a:prstGeom prst="roundRect">
            <a:avLst>
              <a:gd name="adj" fmla="val 4651"/>
            </a:avLst>
          </a:prstGeom>
          <a:solidFill>
            <a:srgbClr val="33304F"/>
          </a:solidFill>
          <a:ln w="7620">
            <a:solidFill>
              <a:srgbClr val="5D5A82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1512357" y="1906524"/>
            <a:ext cx="137160" cy="1234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lang="en-US" sz="900" b="1" dirty="0">
                <a:solidFill>
                  <a:srgbClr val="FF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</a:t>
            </a:r>
            <a:endParaRPr lang="en-US" sz="900" dirty="0"/>
          </a:p>
        </p:txBody>
      </p:sp>
      <p:sp>
        <p:nvSpPr>
          <p:cNvPr id="64" name="Text 62"/>
          <p:cNvSpPr/>
          <p:nvPr/>
        </p:nvSpPr>
        <p:spPr>
          <a:xfrm>
            <a:off x="1666494" y="1927098"/>
            <a:ext cx="342900" cy="54864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 lnSpcReduction="10000"/>
          </a:bodyPr>
          <a:lstStyle/>
          <a:p>
            <a:r>
              <a:rPr lang="en-US" sz="375" b="1" dirty="0">
                <a:solidFill>
                  <a:srgbClr val="C8C5E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프로젝트명</a:t>
            </a:r>
            <a:endParaRPr lang="en-US" sz="375" dirty="0"/>
          </a:p>
        </p:txBody>
      </p:sp>
      <p:sp>
        <p:nvSpPr>
          <p:cNvPr id="65" name="Text 63"/>
          <p:cNvSpPr/>
          <p:nvPr/>
        </p:nvSpPr>
        <p:spPr>
          <a:xfrm>
            <a:off x="1666494" y="2029968"/>
            <a:ext cx="685800" cy="54864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 fontScale="92500" lnSpcReduction="20000"/>
          </a:bodyPr>
          <a:lstStyle/>
          <a:p>
            <a:r>
              <a:rPr lang="en-US" sz="42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D보험 차세대시스템</a:t>
            </a:r>
            <a:endParaRPr lang="en-US" sz="420" dirty="0"/>
          </a:p>
        </p:txBody>
      </p:sp>
      <p:sp>
        <p:nvSpPr>
          <p:cNvPr id="66" name="Text 64"/>
          <p:cNvSpPr/>
          <p:nvPr/>
        </p:nvSpPr>
        <p:spPr>
          <a:xfrm>
            <a:off x="2654046" y="1927098"/>
            <a:ext cx="246888" cy="54864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 lnSpcReduction="10000"/>
          </a:bodyPr>
          <a:lstStyle/>
          <a:p>
            <a:r>
              <a:rPr lang="en-US" sz="375" b="1" dirty="0">
                <a:solidFill>
                  <a:srgbClr val="C8C5E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고객사</a:t>
            </a:r>
            <a:endParaRPr lang="en-US" sz="375" dirty="0"/>
          </a:p>
        </p:txBody>
      </p:sp>
      <p:sp>
        <p:nvSpPr>
          <p:cNvPr id="67" name="Text 65"/>
          <p:cNvSpPr/>
          <p:nvPr/>
        </p:nvSpPr>
        <p:spPr>
          <a:xfrm>
            <a:off x="2654046" y="2029968"/>
            <a:ext cx="548640" cy="54864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 fontScale="92500" lnSpcReduction="20000"/>
          </a:bodyPr>
          <a:lstStyle/>
          <a:p>
            <a:r>
              <a:rPr lang="en-US" sz="42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D보험그룹</a:t>
            </a:r>
            <a:endParaRPr lang="en-US" sz="420" dirty="0"/>
          </a:p>
        </p:txBody>
      </p:sp>
      <p:sp>
        <p:nvSpPr>
          <p:cNvPr id="68" name="Text 66"/>
          <p:cNvSpPr/>
          <p:nvPr/>
        </p:nvSpPr>
        <p:spPr>
          <a:xfrm>
            <a:off x="3648456" y="1927098"/>
            <a:ext cx="445770" cy="54864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 lnSpcReduction="10000"/>
          </a:bodyPr>
          <a:lstStyle/>
          <a:p>
            <a:r>
              <a:rPr lang="en-US" sz="375" b="1" dirty="0">
                <a:solidFill>
                  <a:srgbClr val="C8C5E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프로젝트 기간</a:t>
            </a:r>
            <a:endParaRPr lang="en-US" sz="375" dirty="0"/>
          </a:p>
        </p:txBody>
      </p:sp>
      <p:sp>
        <p:nvSpPr>
          <p:cNvPr id="69" name="Text 67"/>
          <p:cNvSpPr/>
          <p:nvPr/>
        </p:nvSpPr>
        <p:spPr>
          <a:xfrm>
            <a:off x="3648456" y="2029968"/>
            <a:ext cx="918972" cy="54864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 fontScale="92500" lnSpcReduction="20000"/>
          </a:bodyPr>
          <a:lstStyle/>
          <a:p>
            <a:r>
              <a:rPr lang="en-US" sz="42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2026.06.16 ~ 2026.10.29</a:t>
            </a:r>
            <a:endParaRPr lang="en-US" sz="420" dirty="0"/>
          </a:p>
        </p:txBody>
      </p:sp>
      <p:sp>
        <p:nvSpPr>
          <p:cNvPr id="70" name="Text 68"/>
          <p:cNvSpPr/>
          <p:nvPr/>
        </p:nvSpPr>
        <p:spPr>
          <a:xfrm>
            <a:off x="4711446" y="1927098"/>
            <a:ext cx="192024" cy="54864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 lnSpcReduction="10000"/>
          </a:bodyPr>
          <a:lstStyle/>
          <a:p>
            <a:r>
              <a:rPr lang="en-US" sz="375" b="1" dirty="0">
                <a:solidFill>
                  <a:srgbClr val="C8C5E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</a:t>
            </a:r>
            <a:endParaRPr lang="en-US" sz="375" dirty="0"/>
          </a:p>
        </p:txBody>
      </p:sp>
      <p:sp>
        <p:nvSpPr>
          <p:cNvPr id="71" name="Shape 69"/>
          <p:cNvSpPr/>
          <p:nvPr/>
        </p:nvSpPr>
        <p:spPr>
          <a:xfrm>
            <a:off x="4711446" y="2023110"/>
            <a:ext cx="233172" cy="96012"/>
          </a:xfrm>
          <a:prstGeom prst="roundRect">
            <a:avLst>
              <a:gd name="adj" fmla="val 21429"/>
            </a:avLst>
          </a:prstGeom>
          <a:solidFill>
            <a:srgbClr val="115B49"/>
          </a:solidFill>
          <a:ln w="12700">
            <a:solidFill>
              <a:srgbClr val="115B49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4732020" y="2047113"/>
            <a:ext cx="192024" cy="3429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77500" lnSpcReduction="20000"/>
          </a:bodyPr>
          <a:lstStyle/>
          <a:p>
            <a:pPr algn="ctr"/>
            <a:r>
              <a:rPr lang="en-US" sz="300" b="1" dirty="0">
                <a:solidFill>
                  <a:srgbClr val="87F5C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투입중</a:t>
            </a:r>
            <a:endParaRPr lang="en-US" sz="300" dirty="0"/>
          </a:p>
        </p:txBody>
      </p:sp>
      <p:sp>
        <p:nvSpPr>
          <p:cNvPr id="73" name="Text 71"/>
          <p:cNvSpPr/>
          <p:nvPr/>
        </p:nvSpPr>
        <p:spPr>
          <a:xfrm>
            <a:off x="1666494" y="2160270"/>
            <a:ext cx="246888" cy="54864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 lnSpcReduction="10000"/>
          </a:bodyPr>
          <a:lstStyle/>
          <a:p>
            <a:r>
              <a:rPr lang="en-US" sz="375" b="1" dirty="0">
                <a:solidFill>
                  <a:srgbClr val="C8C5E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진척도</a:t>
            </a:r>
            <a:endParaRPr lang="en-US" sz="375" dirty="0"/>
          </a:p>
        </p:txBody>
      </p:sp>
      <p:sp>
        <p:nvSpPr>
          <p:cNvPr id="74" name="Text 72"/>
          <p:cNvSpPr/>
          <p:nvPr/>
        </p:nvSpPr>
        <p:spPr>
          <a:xfrm>
            <a:off x="1666494" y="2249424"/>
            <a:ext cx="171450" cy="54864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 fontScale="92500" lnSpcReduction="20000"/>
          </a:bodyPr>
          <a:lstStyle/>
          <a:p>
            <a:r>
              <a:rPr lang="en-US" sz="42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79%</a:t>
            </a:r>
            <a:endParaRPr lang="en-US" sz="420" dirty="0"/>
          </a:p>
        </p:txBody>
      </p:sp>
      <p:sp>
        <p:nvSpPr>
          <p:cNvPr id="75" name="Text 73"/>
          <p:cNvSpPr/>
          <p:nvPr/>
        </p:nvSpPr>
        <p:spPr>
          <a:xfrm>
            <a:off x="2654046" y="2160270"/>
            <a:ext cx="480060" cy="54864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 lnSpcReduction="10000"/>
          </a:bodyPr>
          <a:lstStyle/>
          <a:p>
            <a:r>
              <a:rPr lang="en-US" sz="375" b="1" dirty="0">
                <a:solidFill>
                  <a:srgbClr val="C8C5E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프로젝트 설명</a:t>
            </a:r>
            <a:endParaRPr lang="en-US" sz="375" dirty="0"/>
          </a:p>
        </p:txBody>
      </p:sp>
      <p:sp>
        <p:nvSpPr>
          <p:cNvPr id="76" name="Text 74"/>
          <p:cNvSpPr/>
          <p:nvPr/>
        </p:nvSpPr>
        <p:spPr>
          <a:xfrm>
            <a:off x="2654046" y="2249424"/>
            <a:ext cx="994410" cy="54864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 fontScale="92500" lnSpcReduction="20000"/>
          </a:bodyPr>
          <a:lstStyle/>
          <a:p>
            <a:r>
              <a:rPr lang="en-US" sz="405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차세대 보험코어 시스템 구축</a:t>
            </a:r>
            <a:endParaRPr lang="en-US" sz="405" dirty="0"/>
          </a:p>
        </p:txBody>
      </p:sp>
      <p:sp>
        <p:nvSpPr>
          <p:cNvPr id="77" name="Text 75"/>
          <p:cNvSpPr/>
          <p:nvPr/>
        </p:nvSpPr>
        <p:spPr>
          <a:xfrm>
            <a:off x="1666494" y="2345436"/>
            <a:ext cx="411480" cy="48006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 fontScale="92500"/>
          </a:bodyPr>
          <a:lstStyle/>
          <a:p>
            <a:r>
              <a:rPr lang="en-US" sz="360" dirty="0">
                <a:solidFill>
                  <a:srgbClr val="C8C5E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진척도</a:t>
            </a:r>
            <a:endParaRPr lang="en-US" sz="360" dirty="0"/>
          </a:p>
        </p:txBody>
      </p:sp>
      <p:sp>
        <p:nvSpPr>
          <p:cNvPr id="78" name="Shape 76"/>
          <p:cNvSpPr/>
          <p:nvPr/>
        </p:nvSpPr>
        <p:spPr>
          <a:xfrm>
            <a:off x="1666494" y="2414016"/>
            <a:ext cx="3470148" cy="34290"/>
          </a:xfrm>
          <a:prstGeom prst="rect">
            <a:avLst/>
          </a:prstGeom>
          <a:solidFill>
            <a:srgbClr val="484568"/>
          </a:solidFill>
          <a:ln w="12700">
            <a:solidFill>
              <a:srgbClr val="484568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1666495" y="2414016"/>
            <a:ext cx="2741417" cy="34290"/>
          </a:xfrm>
          <a:prstGeom prst="rect">
            <a:avLst/>
          </a:prstGeom>
          <a:solidFill>
            <a:srgbClr val="6F5AE8"/>
          </a:solidFill>
          <a:ln w="12700">
            <a:solidFill>
              <a:srgbClr val="6F5AE8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4869180" y="2345436"/>
            <a:ext cx="274320" cy="48006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 fontScale="92500"/>
          </a:bodyPr>
          <a:lstStyle/>
          <a:p>
            <a:pPr algn="r"/>
            <a:r>
              <a:rPr lang="en-US" sz="375" b="1" dirty="0">
                <a:solidFill>
                  <a:srgbClr val="7E6CF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79%</a:t>
            </a:r>
            <a:endParaRPr lang="en-US" sz="375" dirty="0"/>
          </a:p>
        </p:txBody>
      </p:sp>
      <p:sp>
        <p:nvSpPr>
          <p:cNvPr id="81" name="Text 79"/>
          <p:cNvSpPr/>
          <p:nvPr/>
        </p:nvSpPr>
        <p:spPr>
          <a:xfrm>
            <a:off x="3922776" y="2324862"/>
            <a:ext cx="137160" cy="1234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lang="en-US" sz="900" b="1" dirty="0">
                <a:solidFill>
                  <a:srgbClr val="FF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⑦</a:t>
            </a:r>
            <a:endParaRPr lang="en-US" sz="900" dirty="0"/>
          </a:p>
        </p:txBody>
      </p:sp>
      <p:sp>
        <p:nvSpPr>
          <p:cNvPr id="82" name="Text 80"/>
          <p:cNvSpPr/>
          <p:nvPr/>
        </p:nvSpPr>
        <p:spPr>
          <a:xfrm>
            <a:off x="1625346" y="2564892"/>
            <a:ext cx="171450" cy="68580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/>
          </a:bodyPr>
          <a:lstStyle/>
          <a:p>
            <a:r>
              <a:rPr lang="en-US" sz="390" dirty="0">
                <a:solidFill>
                  <a:srgbClr val="C9C6E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개요</a:t>
            </a:r>
            <a:endParaRPr lang="en-US" sz="390" dirty="0"/>
          </a:p>
        </p:txBody>
      </p:sp>
      <p:sp>
        <p:nvSpPr>
          <p:cNvPr id="83" name="Text 81"/>
          <p:cNvSpPr/>
          <p:nvPr/>
        </p:nvSpPr>
        <p:spPr>
          <a:xfrm>
            <a:off x="1844802" y="2564892"/>
            <a:ext cx="356616" cy="68580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/>
          </a:bodyPr>
          <a:lstStyle/>
          <a:p>
            <a:r>
              <a:rPr lang="en-US" sz="390" b="1" dirty="0">
                <a:solidFill>
                  <a:srgbClr val="7E6CF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투입 인력</a:t>
            </a:r>
            <a:endParaRPr lang="en-US" sz="390" dirty="0"/>
          </a:p>
        </p:txBody>
      </p:sp>
      <p:sp>
        <p:nvSpPr>
          <p:cNvPr id="84" name="Text 82"/>
          <p:cNvSpPr/>
          <p:nvPr/>
        </p:nvSpPr>
        <p:spPr>
          <a:xfrm>
            <a:off x="2276856" y="2564892"/>
            <a:ext cx="171450" cy="68580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/>
          </a:bodyPr>
          <a:lstStyle/>
          <a:p>
            <a:r>
              <a:rPr lang="en-US" sz="390" dirty="0">
                <a:solidFill>
                  <a:srgbClr val="C9C6E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일정</a:t>
            </a:r>
            <a:endParaRPr lang="en-US" sz="390" dirty="0"/>
          </a:p>
        </p:txBody>
      </p:sp>
      <p:sp>
        <p:nvSpPr>
          <p:cNvPr id="85" name="Text 83"/>
          <p:cNvSpPr/>
          <p:nvPr/>
        </p:nvSpPr>
        <p:spPr>
          <a:xfrm>
            <a:off x="2530602" y="2564892"/>
            <a:ext cx="171450" cy="68580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/>
          </a:bodyPr>
          <a:lstStyle/>
          <a:p>
            <a:r>
              <a:rPr lang="en-US" sz="390" dirty="0">
                <a:solidFill>
                  <a:srgbClr val="C9C6E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계약</a:t>
            </a:r>
            <a:endParaRPr lang="en-US" sz="390" dirty="0"/>
          </a:p>
        </p:txBody>
      </p:sp>
      <p:sp>
        <p:nvSpPr>
          <p:cNvPr id="86" name="Shape 84"/>
          <p:cNvSpPr/>
          <p:nvPr/>
        </p:nvSpPr>
        <p:spPr>
          <a:xfrm>
            <a:off x="1556766" y="2688336"/>
            <a:ext cx="3689604" cy="6858"/>
          </a:xfrm>
          <a:prstGeom prst="rect">
            <a:avLst/>
          </a:prstGeom>
          <a:solidFill>
            <a:srgbClr val="47445F"/>
          </a:solidFill>
          <a:ln w="12700">
            <a:solidFill>
              <a:srgbClr val="47445F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1837944" y="2678049"/>
            <a:ext cx="377190" cy="13716"/>
          </a:xfrm>
          <a:prstGeom prst="rect">
            <a:avLst/>
          </a:prstGeom>
          <a:solidFill>
            <a:srgbClr val="6F5AE8"/>
          </a:solidFill>
          <a:ln w="12700">
            <a:solidFill>
              <a:srgbClr val="6F5AE8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1748790" y="2544318"/>
            <a:ext cx="137160" cy="1234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lang="en-US" sz="900" b="1" dirty="0">
                <a:solidFill>
                  <a:srgbClr val="FF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</a:t>
            </a:r>
            <a:endParaRPr lang="en-US" sz="900" dirty="0"/>
          </a:p>
        </p:txBody>
      </p:sp>
      <p:sp>
        <p:nvSpPr>
          <p:cNvPr id="89" name="Text 87"/>
          <p:cNvSpPr/>
          <p:nvPr/>
        </p:nvSpPr>
        <p:spPr>
          <a:xfrm>
            <a:off x="2393442" y="2544318"/>
            <a:ext cx="137160" cy="1234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lang="en-US" sz="900" b="1" dirty="0">
                <a:solidFill>
                  <a:srgbClr val="FF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⑧</a:t>
            </a:r>
            <a:endParaRPr lang="en-US" sz="900" dirty="0"/>
          </a:p>
        </p:txBody>
      </p:sp>
      <p:sp>
        <p:nvSpPr>
          <p:cNvPr id="90" name="Shape 88"/>
          <p:cNvSpPr/>
          <p:nvPr/>
        </p:nvSpPr>
        <p:spPr>
          <a:xfrm>
            <a:off x="1556766" y="2770632"/>
            <a:ext cx="3689604" cy="534924"/>
          </a:xfrm>
          <a:prstGeom prst="roundRect">
            <a:avLst>
              <a:gd name="adj" fmla="val 5128"/>
            </a:avLst>
          </a:prstGeom>
          <a:solidFill>
            <a:srgbClr val="33304F"/>
          </a:solidFill>
          <a:ln w="7620">
            <a:solidFill>
              <a:srgbClr val="5D5A82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1625346" y="2825496"/>
            <a:ext cx="548640" cy="68580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/>
          </a:bodyPr>
          <a:lstStyle/>
          <a:p>
            <a:r>
              <a:rPr lang="en-US" sz="405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투입 인력 (2명)</a:t>
            </a:r>
            <a:endParaRPr lang="en-US" sz="405" dirty="0"/>
          </a:p>
        </p:txBody>
      </p:sp>
      <p:sp>
        <p:nvSpPr>
          <p:cNvPr id="92" name="Text 90"/>
          <p:cNvSpPr/>
          <p:nvPr/>
        </p:nvSpPr>
        <p:spPr>
          <a:xfrm>
            <a:off x="1477899" y="2731161"/>
            <a:ext cx="137160" cy="1234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lang="en-US" sz="900" b="1" dirty="0" smtClean="0">
                <a:solidFill>
                  <a:srgbClr val="FF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</a:t>
            </a:r>
            <a:endParaRPr lang="en-US" sz="900" dirty="0"/>
          </a:p>
        </p:txBody>
      </p:sp>
      <p:sp>
        <p:nvSpPr>
          <p:cNvPr id="93" name="Shape 91"/>
          <p:cNvSpPr/>
          <p:nvPr/>
        </p:nvSpPr>
        <p:spPr>
          <a:xfrm>
            <a:off x="1556766" y="2955798"/>
            <a:ext cx="3689604" cy="123444"/>
          </a:xfrm>
          <a:prstGeom prst="rect">
            <a:avLst/>
          </a:prstGeom>
          <a:solidFill>
            <a:srgbClr val="3B3858"/>
          </a:solidFill>
          <a:ln w="12700">
            <a:solidFill>
              <a:srgbClr val="3B3858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1625346" y="2993517"/>
            <a:ext cx="377190" cy="3429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70000" lnSpcReduction="20000"/>
          </a:bodyPr>
          <a:lstStyle/>
          <a:p>
            <a:r>
              <a:rPr lang="en-US" sz="338" b="1" dirty="0">
                <a:solidFill>
                  <a:srgbClr val="DAD7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이름</a:t>
            </a:r>
            <a:endParaRPr lang="en-US" sz="338" dirty="0"/>
          </a:p>
        </p:txBody>
      </p:sp>
      <p:sp>
        <p:nvSpPr>
          <p:cNvPr id="95" name="Text 93"/>
          <p:cNvSpPr/>
          <p:nvPr/>
        </p:nvSpPr>
        <p:spPr>
          <a:xfrm>
            <a:off x="2311146" y="2993517"/>
            <a:ext cx="445770" cy="3429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70000" lnSpcReduction="20000"/>
          </a:bodyPr>
          <a:lstStyle/>
          <a:p>
            <a:r>
              <a:rPr lang="en-US" sz="338" b="1" dirty="0">
                <a:solidFill>
                  <a:srgbClr val="DAD7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역할</a:t>
            </a:r>
            <a:endParaRPr lang="en-US" sz="338" dirty="0"/>
          </a:p>
        </p:txBody>
      </p:sp>
      <p:sp>
        <p:nvSpPr>
          <p:cNvPr id="96" name="Text 94"/>
          <p:cNvSpPr/>
          <p:nvPr/>
        </p:nvSpPr>
        <p:spPr>
          <a:xfrm>
            <a:off x="3223260" y="2993517"/>
            <a:ext cx="308610" cy="3429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70000" lnSpcReduction="20000"/>
          </a:bodyPr>
          <a:lstStyle/>
          <a:p>
            <a:r>
              <a:rPr lang="en-US" sz="338" b="1" dirty="0">
                <a:solidFill>
                  <a:srgbClr val="DAD7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투입률</a:t>
            </a:r>
            <a:endParaRPr lang="en-US" sz="338" dirty="0"/>
          </a:p>
        </p:txBody>
      </p:sp>
      <p:sp>
        <p:nvSpPr>
          <p:cNvPr id="97" name="Text 95"/>
          <p:cNvSpPr/>
          <p:nvPr/>
        </p:nvSpPr>
        <p:spPr>
          <a:xfrm>
            <a:off x="3785616" y="2993517"/>
            <a:ext cx="397764" cy="3429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70000" lnSpcReduction="20000"/>
          </a:bodyPr>
          <a:lstStyle/>
          <a:p>
            <a:r>
              <a:rPr lang="en-US" sz="338" b="1" dirty="0">
                <a:solidFill>
                  <a:srgbClr val="DAD7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투입일</a:t>
            </a:r>
            <a:endParaRPr lang="en-US" sz="338" dirty="0"/>
          </a:p>
        </p:txBody>
      </p:sp>
      <p:sp>
        <p:nvSpPr>
          <p:cNvPr id="98" name="Text 96"/>
          <p:cNvSpPr/>
          <p:nvPr/>
        </p:nvSpPr>
        <p:spPr>
          <a:xfrm>
            <a:off x="4368546" y="2993517"/>
            <a:ext cx="411480" cy="3429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70000" lnSpcReduction="20000"/>
          </a:bodyPr>
          <a:lstStyle/>
          <a:p>
            <a:r>
              <a:rPr lang="en-US" sz="338" b="1" dirty="0">
                <a:solidFill>
                  <a:srgbClr val="DAD7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철수예정</a:t>
            </a:r>
            <a:endParaRPr lang="en-US" sz="338" dirty="0"/>
          </a:p>
        </p:txBody>
      </p:sp>
      <p:sp>
        <p:nvSpPr>
          <p:cNvPr id="99" name="Text 97"/>
          <p:cNvSpPr/>
          <p:nvPr/>
        </p:nvSpPr>
        <p:spPr>
          <a:xfrm>
            <a:off x="4834890" y="2993517"/>
            <a:ext cx="205740" cy="3429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70000" lnSpcReduction="20000"/>
          </a:bodyPr>
          <a:lstStyle/>
          <a:p>
            <a:pPr algn="ctr"/>
            <a:r>
              <a:rPr lang="en-US" sz="338" b="1" dirty="0">
                <a:solidFill>
                  <a:srgbClr val="DAD7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제외</a:t>
            </a:r>
            <a:endParaRPr lang="en-US" sz="338" dirty="0"/>
          </a:p>
        </p:txBody>
      </p:sp>
      <p:sp>
        <p:nvSpPr>
          <p:cNvPr id="100" name="Shape 98"/>
          <p:cNvSpPr/>
          <p:nvPr/>
        </p:nvSpPr>
        <p:spPr>
          <a:xfrm>
            <a:off x="1556766" y="3079242"/>
            <a:ext cx="3689604" cy="150876"/>
          </a:xfrm>
          <a:prstGeom prst="rect">
            <a:avLst/>
          </a:prstGeom>
          <a:solidFill>
            <a:srgbClr val="33304F"/>
          </a:solidFill>
          <a:ln w="3810">
            <a:solidFill>
              <a:srgbClr val="555177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1625346" y="3110103"/>
            <a:ext cx="82296" cy="82296"/>
          </a:xfrm>
          <a:prstGeom prst="ellipse">
            <a:avLst/>
          </a:prstGeom>
          <a:solidFill>
            <a:srgbClr val="E7E6FF"/>
          </a:solidFill>
          <a:ln w="12700">
            <a:solidFill>
              <a:srgbClr val="E7E6FF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1644548" y="3125876"/>
            <a:ext cx="34290" cy="3086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/>
          </a:bodyPr>
          <a:lstStyle/>
          <a:p>
            <a:pPr algn="ctr"/>
            <a:r>
              <a:rPr lang="en-US" sz="248" b="1" dirty="0">
                <a:solidFill>
                  <a:srgbClr val="6F5AE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윤</a:t>
            </a:r>
            <a:endParaRPr lang="en-US" sz="248" dirty="0"/>
          </a:p>
        </p:txBody>
      </p:sp>
      <p:sp>
        <p:nvSpPr>
          <p:cNvPr id="103" name="Text 101"/>
          <p:cNvSpPr/>
          <p:nvPr/>
        </p:nvSpPr>
        <p:spPr>
          <a:xfrm>
            <a:off x="1728216" y="3127248"/>
            <a:ext cx="308610" cy="411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r>
              <a:rPr lang="en-US" sz="338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윤지수</a:t>
            </a:r>
            <a:endParaRPr lang="en-US" sz="338" dirty="0"/>
          </a:p>
        </p:txBody>
      </p:sp>
      <p:sp>
        <p:nvSpPr>
          <p:cNvPr id="104" name="Text 102"/>
          <p:cNvSpPr/>
          <p:nvPr/>
        </p:nvSpPr>
        <p:spPr>
          <a:xfrm>
            <a:off x="2311146" y="3127248"/>
            <a:ext cx="445770" cy="411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r>
              <a:rPr lang="en-US" sz="315" dirty="0">
                <a:solidFill>
                  <a:srgbClr val="7E6CF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프로젝트 관리자</a:t>
            </a:r>
            <a:endParaRPr lang="en-US" sz="315" dirty="0"/>
          </a:p>
        </p:txBody>
      </p:sp>
      <p:sp>
        <p:nvSpPr>
          <p:cNvPr id="105" name="Text 103"/>
          <p:cNvSpPr/>
          <p:nvPr/>
        </p:nvSpPr>
        <p:spPr>
          <a:xfrm>
            <a:off x="3236976" y="3127248"/>
            <a:ext cx="226314" cy="411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r>
              <a:rPr lang="en-US" sz="315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100%</a:t>
            </a:r>
            <a:endParaRPr lang="en-US" sz="315" dirty="0"/>
          </a:p>
        </p:txBody>
      </p:sp>
      <p:sp>
        <p:nvSpPr>
          <p:cNvPr id="106" name="Text 104"/>
          <p:cNvSpPr/>
          <p:nvPr/>
        </p:nvSpPr>
        <p:spPr>
          <a:xfrm>
            <a:off x="3785616" y="3127248"/>
            <a:ext cx="411480" cy="411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r>
              <a:rPr lang="en-US" sz="315" dirty="0">
                <a:solidFill>
                  <a:srgbClr val="C9C6E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2026.06.16</a:t>
            </a:r>
            <a:endParaRPr lang="en-US" sz="315" dirty="0"/>
          </a:p>
        </p:txBody>
      </p:sp>
      <p:sp>
        <p:nvSpPr>
          <p:cNvPr id="107" name="Text 105"/>
          <p:cNvSpPr/>
          <p:nvPr/>
        </p:nvSpPr>
        <p:spPr>
          <a:xfrm>
            <a:off x="4368546" y="3127248"/>
            <a:ext cx="411480" cy="411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r>
              <a:rPr lang="en-US" sz="315" dirty="0">
                <a:solidFill>
                  <a:srgbClr val="C9C6E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2026.08.21</a:t>
            </a:r>
            <a:endParaRPr lang="en-US" sz="315" dirty="0"/>
          </a:p>
        </p:txBody>
      </p:sp>
      <p:sp>
        <p:nvSpPr>
          <p:cNvPr id="108" name="Text 106"/>
          <p:cNvSpPr/>
          <p:nvPr/>
        </p:nvSpPr>
        <p:spPr>
          <a:xfrm>
            <a:off x="4869180" y="3127248"/>
            <a:ext cx="150876" cy="411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algn="ctr"/>
            <a:r>
              <a:rPr lang="en-US" sz="308" b="1" dirty="0">
                <a:solidFill>
                  <a:srgbClr val="E11D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삭제</a:t>
            </a:r>
            <a:endParaRPr lang="en-US" sz="308" dirty="0"/>
          </a:p>
        </p:txBody>
      </p:sp>
      <p:sp>
        <p:nvSpPr>
          <p:cNvPr id="109" name="Shape 107"/>
          <p:cNvSpPr/>
          <p:nvPr/>
        </p:nvSpPr>
        <p:spPr>
          <a:xfrm>
            <a:off x="1556766" y="3236976"/>
            <a:ext cx="3689604" cy="150876"/>
          </a:xfrm>
          <a:prstGeom prst="rect">
            <a:avLst/>
          </a:prstGeom>
          <a:solidFill>
            <a:srgbClr val="33304F"/>
          </a:solidFill>
          <a:ln w="3810">
            <a:solidFill>
              <a:srgbClr val="555177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1625346" y="3267837"/>
            <a:ext cx="82296" cy="82296"/>
          </a:xfrm>
          <a:prstGeom prst="ellipse">
            <a:avLst/>
          </a:prstGeom>
          <a:solidFill>
            <a:srgbClr val="E7E6FF"/>
          </a:solidFill>
          <a:ln w="12700">
            <a:solidFill>
              <a:srgbClr val="E7E6FF"/>
            </a:solidFill>
            <a:prstDash val="solid"/>
          </a:ln>
        </p:spPr>
      </p:sp>
      <p:sp>
        <p:nvSpPr>
          <p:cNvPr id="111" name="Text 109"/>
          <p:cNvSpPr/>
          <p:nvPr/>
        </p:nvSpPr>
        <p:spPr>
          <a:xfrm>
            <a:off x="1644548" y="3283610"/>
            <a:ext cx="34290" cy="3086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/>
          </a:bodyPr>
          <a:lstStyle/>
          <a:p>
            <a:pPr algn="ctr"/>
            <a:r>
              <a:rPr lang="en-US" sz="248" b="1" dirty="0">
                <a:solidFill>
                  <a:srgbClr val="6F5AE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임</a:t>
            </a:r>
            <a:endParaRPr lang="en-US" sz="248" dirty="0"/>
          </a:p>
        </p:txBody>
      </p:sp>
      <p:sp>
        <p:nvSpPr>
          <p:cNvPr id="112" name="Text 110"/>
          <p:cNvSpPr/>
          <p:nvPr/>
        </p:nvSpPr>
        <p:spPr>
          <a:xfrm>
            <a:off x="1728216" y="3284982"/>
            <a:ext cx="308610" cy="411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r>
              <a:rPr lang="en-US" sz="338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임동현</a:t>
            </a:r>
            <a:endParaRPr lang="en-US" sz="338" dirty="0"/>
          </a:p>
        </p:txBody>
      </p:sp>
      <p:sp>
        <p:nvSpPr>
          <p:cNvPr id="113" name="Text 111"/>
          <p:cNvSpPr/>
          <p:nvPr/>
        </p:nvSpPr>
        <p:spPr>
          <a:xfrm>
            <a:off x="2311146" y="3284982"/>
            <a:ext cx="445770" cy="411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r>
              <a:rPr lang="en-US" sz="315" dirty="0">
                <a:solidFill>
                  <a:srgbClr val="7E6CF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백엔드 개발자</a:t>
            </a:r>
            <a:endParaRPr lang="en-US" sz="315" dirty="0"/>
          </a:p>
        </p:txBody>
      </p:sp>
      <p:sp>
        <p:nvSpPr>
          <p:cNvPr id="114" name="Text 112"/>
          <p:cNvSpPr/>
          <p:nvPr/>
        </p:nvSpPr>
        <p:spPr>
          <a:xfrm>
            <a:off x="3236976" y="3284982"/>
            <a:ext cx="226314" cy="411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r>
              <a:rPr lang="en-US" sz="315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100%</a:t>
            </a:r>
            <a:endParaRPr lang="en-US" sz="315" dirty="0"/>
          </a:p>
        </p:txBody>
      </p:sp>
      <p:sp>
        <p:nvSpPr>
          <p:cNvPr id="115" name="Text 113"/>
          <p:cNvSpPr/>
          <p:nvPr/>
        </p:nvSpPr>
        <p:spPr>
          <a:xfrm>
            <a:off x="3785616" y="3284982"/>
            <a:ext cx="411480" cy="411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r>
              <a:rPr lang="en-US" sz="315" dirty="0">
                <a:solidFill>
                  <a:srgbClr val="C9C6E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2026.06.16</a:t>
            </a:r>
            <a:endParaRPr lang="en-US" sz="315" dirty="0"/>
          </a:p>
        </p:txBody>
      </p:sp>
      <p:sp>
        <p:nvSpPr>
          <p:cNvPr id="116" name="Text 114"/>
          <p:cNvSpPr/>
          <p:nvPr/>
        </p:nvSpPr>
        <p:spPr>
          <a:xfrm>
            <a:off x="4368546" y="3284982"/>
            <a:ext cx="411480" cy="411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r>
              <a:rPr lang="en-US" sz="315" dirty="0">
                <a:solidFill>
                  <a:srgbClr val="C9C6E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2026.08.21</a:t>
            </a:r>
            <a:endParaRPr lang="en-US" sz="315" dirty="0"/>
          </a:p>
        </p:txBody>
      </p:sp>
      <p:sp>
        <p:nvSpPr>
          <p:cNvPr id="117" name="Text 115"/>
          <p:cNvSpPr/>
          <p:nvPr/>
        </p:nvSpPr>
        <p:spPr>
          <a:xfrm>
            <a:off x="4869180" y="3284982"/>
            <a:ext cx="150876" cy="411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algn="ctr"/>
            <a:r>
              <a:rPr lang="en-US" sz="308" b="1" dirty="0">
                <a:solidFill>
                  <a:srgbClr val="E11D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삭제</a:t>
            </a:r>
            <a:endParaRPr lang="en-US" sz="308" dirty="0"/>
          </a:p>
        </p:txBody>
      </p:sp>
      <p:sp>
        <p:nvSpPr>
          <p:cNvPr id="119" name="Shape 117"/>
          <p:cNvSpPr/>
          <p:nvPr/>
        </p:nvSpPr>
        <p:spPr>
          <a:xfrm>
            <a:off x="1556766" y="3387852"/>
            <a:ext cx="3689604" cy="329184"/>
          </a:xfrm>
          <a:prstGeom prst="roundRect">
            <a:avLst>
              <a:gd name="adj" fmla="val 8333"/>
            </a:avLst>
          </a:prstGeom>
          <a:solidFill>
            <a:srgbClr val="33304F"/>
          </a:solidFill>
          <a:ln w="7620">
            <a:solidFill>
              <a:srgbClr val="5D5A82"/>
            </a:solidFill>
            <a:prstDash val="solid"/>
          </a:ln>
        </p:spPr>
      </p:sp>
      <p:sp>
        <p:nvSpPr>
          <p:cNvPr id="118" name="Text 116"/>
          <p:cNvSpPr/>
          <p:nvPr/>
        </p:nvSpPr>
        <p:spPr>
          <a:xfrm>
            <a:off x="1481361" y="3388954"/>
            <a:ext cx="137160" cy="1234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lang="en-US" sz="900" b="1" dirty="0">
                <a:solidFill>
                  <a:srgbClr val="FF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⑤</a:t>
            </a:r>
            <a:endParaRPr lang="en-US" sz="900" dirty="0"/>
          </a:p>
        </p:txBody>
      </p:sp>
      <p:sp>
        <p:nvSpPr>
          <p:cNvPr id="120" name="Text 118"/>
          <p:cNvSpPr/>
          <p:nvPr/>
        </p:nvSpPr>
        <p:spPr>
          <a:xfrm>
            <a:off x="1625346" y="3442716"/>
            <a:ext cx="342900" cy="68580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/>
          </a:bodyPr>
          <a:lstStyle/>
          <a:p>
            <a:r>
              <a:rPr lang="en-US" sz="405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기술스택</a:t>
            </a:r>
            <a:endParaRPr lang="en-US" sz="405" dirty="0"/>
          </a:p>
        </p:txBody>
      </p:sp>
      <p:sp>
        <p:nvSpPr>
          <p:cNvPr id="121" name="Text 119"/>
          <p:cNvSpPr/>
          <p:nvPr/>
        </p:nvSpPr>
        <p:spPr>
          <a:xfrm>
            <a:off x="4730306" y="3185541"/>
            <a:ext cx="137160" cy="1234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lang="en-US" sz="900" b="1" dirty="0">
                <a:solidFill>
                  <a:srgbClr val="FF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⑥</a:t>
            </a:r>
            <a:endParaRPr lang="en-US" sz="900" dirty="0"/>
          </a:p>
        </p:txBody>
      </p:sp>
      <p:sp>
        <p:nvSpPr>
          <p:cNvPr id="122" name="Shape 120"/>
          <p:cNvSpPr/>
          <p:nvPr/>
        </p:nvSpPr>
        <p:spPr>
          <a:xfrm>
            <a:off x="1639062" y="3559302"/>
            <a:ext cx="192024" cy="123444"/>
          </a:xfrm>
          <a:prstGeom prst="roundRect">
            <a:avLst>
              <a:gd name="adj" fmla="val 22222"/>
            </a:avLst>
          </a:prstGeom>
          <a:solidFill>
            <a:srgbClr val="13243F"/>
          </a:solidFill>
          <a:ln w="12700">
            <a:solidFill>
              <a:srgbClr val="13243F"/>
            </a:solidFill>
            <a:prstDash val="solid"/>
          </a:ln>
        </p:spPr>
      </p:sp>
      <p:sp>
        <p:nvSpPr>
          <p:cNvPr id="123" name="Text 121"/>
          <p:cNvSpPr/>
          <p:nvPr/>
        </p:nvSpPr>
        <p:spPr>
          <a:xfrm>
            <a:off x="1659636" y="3576447"/>
            <a:ext cx="150876" cy="754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375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Vue</a:t>
            </a:r>
            <a:endParaRPr lang="en-US" sz="375" dirty="0"/>
          </a:p>
        </p:txBody>
      </p:sp>
      <p:sp>
        <p:nvSpPr>
          <p:cNvPr id="124" name="Shape 122"/>
          <p:cNvSpPr/>
          <p:nvPr/>
        </p:nvSpPr>
        <p:spPr>
          <a:xfrm>
            <a:off x="1879092" y="3559302"/>
            <a:ext cx="294894" cy="123444"/>
          </a:xfrm>
          <a:prstGeom prst="roundRect">
            <a:avLst>
              <a:gd name="adj" fmla="val 22222"/>
            </a:avLst>
          </a:prstGeom>
          <a:solidFill>
            <a:srgbClr val="13243F"/>
          </a:solidFill>
          <a:ln w="12700">
            <a:solidFill>
              <a:srgbClr val="13243F"/>
            </a:solidFill>
            <a:prstDash val="solid"/>
          </a:ln>
        </p:spPr>
      </p:sp>
      <p:sp>
        <p:nvSpPr>
          <p:cNvPr id="125" name="Text 123"/>
          <p:cNvSpPr/>
          <p:nvPr/>
        </p:nvSpPr>
        <p:spPr>
          <a:xfrm>
            <a:off x="1899666" y="3576447"/>
            <a:ext cx="253746" cy="754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375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Python</a:t>
            </a:r>
            <a:endParaRPr lang="en-US" sz="375" dirty="0"/>
          </a:p>
        </p:txBody>
      </p:sp>
      <p:sp>
        <p:nvSpPr>
          <p:cNvPr id="126" name="Shape 124"/>
          <p:cNvSpPr/>
          <p:nvPr/>
        </p:nvSpPr>
        <p:spPr>
          <a:xfrm>
            <a:off x="2221992" y="3559302"/>
            <a:ext cx="274320" cy="123444"/>
          </a:xfrm>
          <a:prstGeom prst="roundRect">
            <a:avLst>
              <a:gd name="adj" fmla="val 22222"/>
            </a:avLst>
          </a:prstGeom>
          <a:solidFill>
            <a:srgbClr val="13243F"/>
          </a:solidFill>
          <a:ln w="12700">
            <a:solidFill>
              <a:srgbClr val="13243F"/>
            </a:solidFill>
            <a:prstDash val="solid"/>
          </a:ln>
        </p:spPr>
      </p:sp>
      <p:sp>
        <p:nvSpPr>
          <p:cNvPr id="127" name="Text 125"/>
          <p:cNvSpPr/>
          <p:nvPr/>
        </p:nvSpPr>
        <p:spPr>
          <a:xfrm>
            <a:off x="2242566" y="3576447"/>
            <a:ext cx="233172" cy="754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375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Oracle</a:t>
            </a:r>
            <a:endParaRPr lang="en-US" sz="375" dirty="0"/>
          </a:p>
        </p:txBody>
      </p:sp>
      <p:sp>
        <p:nvSpPr>
          <p:cNvPr id="128" name="Shape 126"/>
          <p:cNvSpPr/>
          <p:nvPr/>
        </p:nvSpPr>
        <p:spPr>
          <a:xfrm>
            <a:off x="2544318" y="3559302"/>
            <a:ext cx="288036" cy="123444"/>
          </a:xfrm>
          <a:prstGeom prst="roundRect">
            <a:avLst>
              <a:gd name="adj" fmla="val 22222"/>
            </a:avLst>
          </a:prstGeom>
          <a:solidFill>
            <a:srgbClr val="13243F"/>
          </a:solidFill>
          <a:ln w="12700">
            <a:solidFill>
              <a:srgbClr val="13243F"/>
            </a:solidFill>
            <a:prstDash val="solid"/>
          </a:ln>
        </p:spPr>
      </p:sp>
      <p:sp>
        <p:nvSpPr>
          <p:cNvPr id="129" name="Text 127"/>
          <p:cNvSpPr/>
          <p:nvPr/>
        </p:nvSpPr>
        <p:spPr>
          <a:xfrm>
            <a:off x="2564892" y="3576447"/>
            <a:ext cx="246888" cy="754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375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MySQL</a:t>
            </a:r>
            <a:endParaRPr lang="en-US" sz="375" dirty="0"/>
          </a:p>
        </p:txBody>
      </p:sp>
      <p:sp>
        <p:nvSpPr>
          <p:cNvPr id="130" name="Shape 128"/>
          <p:cNvSpPr/>
          <p:nvPr/>
        </p:nvSpPr>
        <p:spPr>
          <a:xfrm>
            <a:off x="2880360" y="3559302"/>
            <a:ext cx="301752" cy="123444"/>
          </a:xfrm>
          <a:prstGeom prst="roundRect">
            <a:avLst>
              <a:gd name="adj" fmla="val 22222"/>
            </a:avLst>
          </a:prstGeom>
          <a:solidFill>
            <a:srgbClr val="13243F"/>
          </a:solidFill>
          <a:ln w="12700">
            <a:solidFill>
              <a:srgbClr val="13243F"/>
            </a:solidFill>
            <a:prstDash val="solid"/>
          </a:ln>
        </p:spPr>
      </p:sp>
      <p:sp>
        <p:nvSpPr>
          <p:cNvPr id="131" name="Text 129"/>
          <p:cNvSpPr/>
          <p:nvPr/>
        </p:nvSpPr>
        <p:spPr>
          <a:xfrm>
            <a:off x="2900934" y="3576447"/>
            <a:ext cx="260604" cy="754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375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Docker</a:t>
            </a:r>
            <a:endParaRPr lang="en-US" sz="375" dirty="0"/>
          </a:p>
        </p:txBody>
      </p:sp>
      <p:sp>
        <p:nvSpPr>
          <p:cNvPr id="132" name="Shape 130"/>
          <p:cNvSpPr/>
          <p:nvPr/>
        </p:nvSpPr>
        <p:spPr>
          <a:xfrm>
            <a:off x="3230118" y="3559302"/>
            <a:ext cx="205740" cy="123444"/>
          </a:xfrm>
          <a:prstGeom prst="roundRect">
            <a:avLst>
              <a:gd name="adj" fmla="val 22222"/>
            </a:avLst>
          </a:prstGeom>
          <a:solidFill>
            <a:srgbClr val="13243F"/>
          </a:solidFill>
          <a:ln w="12700">
            <a:solidFill>
              <a:srgbClr val="13243F"/>
            </a:solidFill>
            <a:prstDash val="solid"/>
          </a:ln>
        </p:spPr>
      </p:sp>
      <p:sp>
        <p:nvSpPr>
          <p:cNvPr id="133" name="Text 131"/>
          <p:cNvSpPr/>
          <p:nvPr/>
        </p:nvSpPr>
        <p:spPr>
          <a:xfrm>
            <a:off x="3250692" y="3576447"/>
            <a:ext cx="164592" cy="754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375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Git</a:t>
            </a:r>
            <a:endParaRPr lang="en-US" sz="375" dirty="0"/>
          </a:p>
        </p:txBody>
      </p:sp>
      <p:sp>
        <p:nvSpPr>
          <p:cNvPr id="134" name="Text 132"/>
          <p:cNvSpPr/>
          <p:nvPr/>
        </p:nvSpPr>
        <p:spPr>
          <a:xfrm>
            <a:off x="5726430" y="678942"/>
            <a:ext cx="1028700" cy="192024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/>
          </a:bodyPr>
          <a:lstStyle/>
          <a:p>
            <a:r>
              <a:rPr lang="en-US" sz="1200" b="1" dirty="0">
                <a:solidFill>
                  <a:srgbClr val="1118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Description</a:t>
            </a:r>
            <a:endParaRPr lang="en-US" sz="1200" dirty="0"/>
          </a:p>
        </p:txBody>
      </p:sp>
      <p:sp>
        <p:nvSpPr>
          <p:cNvPr id="135" name="Text 133"/>
          <p:cNvSpPr/>
          <p:nvPr/>
        </p:nvSpPr>
        <p:spPr>
          <a:xfrm>
            <a:off x="8257032" y="720090"/>
            <a:ext cx="342900" cy="82296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 fontScale="92500" lnSpcReduction="20000"/>
          </a:bodyPr>
          <a:lstStyle/>
          <a:p>
            <a:pPr algn="r"/>
            <a:r>
              <a:rPr lang="en-US" sz="600" b="1" dirty="0">
                <a:solidFill>
                  <a:srgbClr val="2563E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검토용</a:t>
            </a:r>
            <a:endParaRPr lang="en-US" sz="600" dirty="0"/>
          </a:p>
        </p:txBody>
      </p:sp>
      <p:graphicFrame>
        <p:nvGraphicFramePr>
          <p:cNvPr id="13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09885037"/>
              </p:ext>
            </p:extLst>
          </p:nvPr>
        </p:nvGraphicFramePr>
        <p:xfrm>
          <a:off x="5657850" y="960120"/>
          <a:ext cx="3044952" cy="2119122"/>
        </p:xfrm>
        <a:graphic>
          <a:graphicData uri="http://schemas.openxmlformats.org/drawingml/2006/table">
            <a:tbl>
              <a:tblPr/>
              <a:tblGrid>
                <a:gridCol w="64465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003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945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6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구분</a:t>
                      </a:r>
                      <a:endParaRPr lang="en-US" sz="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>
                    <a:lnL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1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6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기획 내용</a:t>
                      </a:r>
                      <a:endParaRPr lang="en-US" sz="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>
                    <a:lnL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1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500" dirty="0">
                          <a:solidFill>
                            <a:srgbClr val="1118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1. 기본 정보</a:t>
                      </a:r>
                      <a:endParaRPr lang="en-US" sz="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1148" marR="41148" marT="41148" marB="41148">
                    <a:lnL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500" dirty="0">
                          <a:solidFill>
                            <a:srgbClr val="1118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프로젝트명/고객사/프로젝트 기간/상태 조회</a:t>
                      </a:r>
                      <a:endParaRPr lang="en-US" sz="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500" dirty="0">
                          <a:solidFill>
                            <a:srgbClr val="1118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프로젝트 설명 및 진척도 표시</a:t>
                      </a:r>
                      <a:endParaRPr lang="en-US" sz="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1148" marR="41148" marT="41148" marB="41148">
                    <a:lnL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6634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500" dirty="0">
                          <a:solidFill>
                            <a:srgbClr val="1118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2. 액션 버튼</a:t>
                      </a:r>
                      <a:endParaRPr lang="en-US" sz="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1148" marR="41148" marT="41148" marB="41148">
                    <a:lnL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500" dirty="0">
                          <a:solidFill>
                            <a:srgbClr val="1118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목록으로: 프로젝트 목록 화면 이동</a:t>
                      </a:r>
                      <a:endParaRPr lang="en-US" sz="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500" dirty="0">
                          <a:solidFill>
                            <a:srgbClr val="1118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수정: 프로젝트 수정 화면 이동</a:t>
                      </a:r>
                      <a:endParaRPr lang="en-US" sz="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500" dirty="0">
                          <a:solidFill>
                            <a:srgbClr val="1118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인력 배정: 해당 프로젝트 기준 배정 화면 이동</a:t>
                      </a:r>
                      <a:endParaRPr lang="en-US" sz="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1148" marR="41148" marT="41148" marB="41148">
                    <a:lnL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500" dirty="0">
                          <a:solidFill>
                            <a:srgbClr val="1118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 탭 메뉴</a:t>
                      </a:r>
                      <a:endParaRPr lang="en-US" sz="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1148" marR="41148" marT="41148" marB="41148">
                    <a:lnL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500" dirty="0">
                          <a:solidFill>
                            <a:srgbClr val="1118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개요/투입 인력/일정/계약 탭 구성</a:t>
                      </a:r>
                      <a:endParaRPr lang="en-US" sz="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500" dirty="0">
                          <a:solidFill>
                            <a:srgbClr val="1118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선택 탭은 강조 색상으로 표시</a:t>
                      </a:r>
                      <a:endParaRPr lang="en-US" sz="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1148" marR="41148" marT="41148" marB="41148">
                    <a:lnL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776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500" dirty="0">
                          <a:solidFill>
                            <a:srgbClr val="1118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4. 투입 인력</a:t>
                      </a:r>
                      <a:endParaRPr lang="en-US" sz="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1148" marR="41148" marT="41148" marB="41148">
                    <a:lnL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500" dirty="0">
                          <a:solidFill>
                            <a:srgbClr val="1118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투입자 이름/역할/투입률/투입일/철수예정 표시</a:t>
                      </a:r>
                      <a:endParaRPr lang="en-US" sz="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500" dirty="0">
                          <a:solidFill>
                            <a:srgbClr val="1118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투입 인력 수를 섹션 제목에 표시</a:t>
                      </a:r>
                      <a:endParaRPr lang="en-US" sz="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1148" marR="41148" marT="41148" marB="41148">
                    <a:lnL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232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500" dirty="0">
                          <a:solidFill>
                            <a:srgbClr val="1118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5. 기술스택</a:t>
                      </a:r>
                      <a:endParaRPr lang="en-US" sz="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1148" marR="41148" marT="41148" marB="41148">
                    <a:lnL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500" dirty="0">
                          <a:solidFill>
                            <a:srgbClr val="1118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프로젝트 보유 기술을 태그 형태로 표시</a:t>
                      </a:r>
                      <a:endParaRPr lang="en-US" sz="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1148" marR="41148" marT="41148" marB="41148">
                    <a:lnL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13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84699578"/>
              </p:ext>
            </p:extLst>
          </p:nvPr>
        </p:nvGraphicFramePr>
        <p:xfrm>
          <a:off x="5657850" y="3401568"/>
          <a:ext cx="3044952" cy="1330452"/>
        </p:xfrm>
        <a:graphic>
          <a:graphicData uri="http://schemas.openxmlformats.org/drawingml/2006/table">
            <a:tbl>
              <a:tblPr/>
              <a:tblGrid>
                <a:gridCol w="64465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003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945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6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구분</a:t>
                      </a:r>
                      <a:endParaRPr lang="en-US" sz="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>
                    <a:lnL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1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6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수정/추가</a:t>
                      </a:r>
                      <a:endParaRPr lang="en-US" sz="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>
                    <a:lnL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1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776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500" dirty="0">
                          <a:solidFill>
                            <a:srgbClr val="1118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6. 삭제/제외</a:t>
                      </a:r>
                      <a:endParaRPr lang="en-US" sz="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1148" marR="41148" marT="41148" marB="41148">
                    <a:lnL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500" dirty="0">
                          <a:solidFill>
                            <a:srgbClr val="1118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삭제 및 투입인력 제외 처리 시 확인 팝업 적용</a:t>
                      </a:r>
                      <a:endParaRPr lang="en-US" sz="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500" dirty="0">
                          <a:solidFill>
                            <a:srgbClr val="1118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삭제 성공 후 목록 또는 상세 데이터 재조회</a:t>
                      </a:r>
                      <a:endParaRPr lang="en-US" sz="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1148" marR="41148" marT="41148" marB="41148">
                    <a:lnL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500" dirty="0">
                          <a:solidFill>
                            <a:srgbClr val="1118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7. 진척도</a:t>
                      </a:r>
                      <a:endParaRPr lang="en-US" sz="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1148" marR="41148" marT="41148" marB="41148">
                    <a:lnL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500" dirty="0">
                          <a:solidFill>
                            <a:srgbClr val="1118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진척도 수치와 진행률 바 동기화</a:t>
                      </a:r>
                      <a:endParaRPr lang="en-US" sz="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500" dirty="0">
                          <a:solidFill>
                            <a:srgbClr val="1118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0~100% 범위 기준으로 표시</a:t>
                      </a:r>
                      <a:endParaRPr lang="en-US" sz="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1148" marR="41148" marT="41148" marB="41148">
                    <a:lnL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500" dirty="0">
                          <a:solidFill>
                            <a:srgbClr val="1118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8. 후속 탭</a:t>
                      </a:r>
                      <a:endParaRPr lang="en-US" sz="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1148" marR="41148" marT="41148" marB="41148">
                    <a:lnL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500" dirty="0">
                          <a:solidFill>
                            <a:srgbClr val="1118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일정/계약 탭은 후속 데이터 연동 영역으로 </a:t>
                      </a:r>
                      <a:r>
                        <a:rPr lang="en-US" sz="500" dirty="0" err="1">
                          <a:solidFill>
                            <a:srgbClr val="1118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확장</a:t>
                      </a:r>
                      <a:r>
                        <a:rPr lang="en-US" sz="500" dirty="0">
                          <a:solidFill>
                            <a:srgbClr val="1118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</a:t>
                      </a:r>
                      <a:r>
                        <a:rPr lang="en-US" sz="500" dirty="0" err="1" smtClean="0">
                          <a:solidFill>
                            <a:srgbClr val="1118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가능</a:t>
                      </a:r>
                      <a:r>
                        <a:rPr lang="en-US" sz="500" dirty="0" smtClean="0">
                          <a:solidFill>
                            <a:srgbClr val="1118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</a:t>
                      </a:r>
                      <a:r>
                        <a:rPr lang="ko-KR" altLang="en-US" sz="500" dirty="0" err="1" smtClean="0">
                          <a:solidFill>
                            <a:srgbClr val="1118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미구현</a:t>
                      </a:r>
                      <a:r>
                        <a:rPr lang="en-US" sz="500" dirty="0" smtClean="0">
                          <a:solidFill>
                            <a:srgbClr val="1118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)</a:t>
                      </a:r>
                      <a:endParaRPr lang="en-US" sz="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1148" marR="41148" marT="41148" marB="41148">
                    <a:lnL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38" name="Text 134"/>
          <p:cNvSpPr/>
          <p:nvPr/>
        </p:nvSpPr>
        <p:spPr>
          <a:xfrm>
            <a:off x="480060" y="4828032"/>
            <a:ext cx="3429000" cy="82296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/>
          </a:bodyPr>
          <a:lstStyle/>
          <a:p>
            <a:r>
              <a:rPr lang="en-US" sz="510" dirty="0">
                <a:solidFill>
                  <a:srgbClr val="0F21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* 본 문서는 화면 설계 검토용이며, 실제 구현 상태와 다를 수 있습니다.</a:t>
            </a:r>
            <a:endParaRPr lang="en-US" sz="510" dirty="0"/>
          </a:p>
        </p:txBody>
      </p:sp>
      <p:sp>
        <p:nvSpPr>
          <p:cNvPr id="139" name="Text 135"/>
          <p:cNvSpPr/>
          <p:nvPr/>
        </p:nvSpPr>
        <p:spPr>
          <a:xfrm>
            <a:off x="8469630" y="4828032"/>
            <a:ext cx="445770" cy="82296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/>
          </a:bodyPr>
          <a:lstStyle/>
          <a:p>
            <a:pPr algn="r"/>
            <a:r>
              <a:rPr lang="en-US" sz="488" dirty="0">
                <a:solidFill>
                  <a:srgbClr val="0F21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Confidential</a:t>
            </a:r>
            <a:endParaRPr lang="en-US" sz="488" dirty="0"/>
          </a:p>
        </p:txBody>
      </p:sp>
    </p:spTree>
    <p:extLst>
      <p:ext uri="{BB962C8B-B14F-4D97-AF65-F5344CB8AC3E}">
        <p14:creationId xmlns:p14="http://schemas.microsoft.com/office/powerpoint/2010/main" val="392475967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02870" y="54864"/>
            <a:ext cx="8949690" cy="411480"/>
          </a:xfrm>
          <a:prstGeom prst="rect">
            <a:avLst/>
          </a:prstGeom>
          <a:solidFill>
            <a:srgbClr val="0B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50"/>
          </a:p>
        </p:txBody>
      </p:sp>
      <p:sp>
        <p:nvSpPr>
          <p:cNvPr id="3" name="TextBox 2"/>
          <p:cNvSpPr txBox="1"/>
          <p:nvPr/>
        </p:nvSpPr>
        <p:spPr>
          <a:xfrm>
            <a:off x="377190" y="161163"/>
            <a:ext cx="1234440" cy="148952"/>
          </a:xfrm>
          <a:prstGeom prst="rect">
            <a:avLst/>
          </a:prstGeom>
          <a:noFill/>
        </p:spPr>
        <p:txBody>
          <a:bodyPr wrap="square" lIns="27432" tIns="13716" rIns="27432" bIns="13716" anchor="t">
            <a:spAutoFit/>
          </a:bodyPr>
          <a:lstStyle/>
          <a:p>
            <a:pPr algn="l">
              <a:defRPr sz="1050" b="1">
                <a:solidFill>
                  <a:srgbClr val="FFFFFF"/>
                </a:solidFill>
                <a:latin typeface="Noto Sans CJK KR"/>
              </a:defRPr>
            </a:pPr>
            <a:r>
              <a:rPr sz="788"/>
              <a:t>Peoplify UI 기획서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497580" y="116586"/>
            <a:ext cx="2194560" cy="246991"/>
          </a:xfrm>
          <a:prstGeom prst="rect">
            <a:avLst/>
          </a:prstGeom>
          <a:noFill/>
        </p:spPr>
        <p:txBody>
          <a:bodyPr wrap="square" lIns="27432" tIns="13716" rIns="27432" bIns="13716" anchor="t">
            <a:spAutoFit/>
          </a:bodyPr>
          <a:lstStyle/>
          <a:p>
            <a:pPr algn="ctr">
              <a:defRPr sz="1900" b="1">
                <a:solidFill>
                  <a:srgbClr val="FFFFFF"/>
                </a:solidFill>
                <a:latin typeface="Noto Sans CJK KR"/>
              </a:defRPr>
            </a:pPr>
            <a:r>
              <a:rPr sz="1425"/>
              <a:t>프로젝트 상세 화면 설계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0" y="150876"/>
            <a:ext cx="1508760" cy="100348"/>
          </a:xfrm>
          <a:prstGeom prst="rect">
            <a:avLst/>
          </a:prstGeom>
          <a:noFill/>
        </p:spPr>
        <p:txBody>
          <a:bodyPr wrap="square" lIns="27432" tIns="13716" rIns="27432" bIns="13716" anchor="t">
            <a:spAutoFit/>
          </a:bodyPr>
          <a:lstStyle/>
          <a:p>
            <a:pPr algn="r">
              <a:defRPr sz="630" b="0">
                <a:solidFill>
                  <a:srgbClr val="FFFFFF"/>
                </a:solidFill>
                <a:latin typeface="Noto Sans CJK KR"/>
              </a:defRPr>
            </a:pPr>
            <a:r>
              <a:rPr sz="472"/>
              <a:t>project 도메인 - /project/project-detail/:id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06790" y="150876"/>
            <a:ext cx="240030" cy="120033"/>
          </a:xfrm>
          <a:prstGeom prst="rect">
            <a:avLst/>
          </a:prstGeom>
          <a:noFill/>
        </p:spPr>
        <p:txBody>
          <a:bodyPr wrap="square" lIns="27432" tIns="13716" rIns="27432" bIns="13716" anchor="t">
            <a:spAutoFit/>
          </a:bodyPr>
          <a:lstStyle/>
          <a:p>
            <a:pPr algn="ctr">
              <a:defRPr sz="800" b="1">
                <a:solidFill>
                  <a:srgbClr val="FFFFFF"/>
                </a:solidFill>
                <a:latin typeface="Noto Sans CJK KR"/>
              </a:defRPr>
            </a:pPr>
            <a:r>
              <a:rPr sz="600"/>
              <a:t>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2628" y="658368"/>
            <a:ext cx="822960" cy="189283"/>
          </a:xfrm>
          <a:prstGeom prst="rect">
            <a:avLst/>
          </a:prstGeom>
          <a:noFill/>
        </p:spPr>
        <p:txBody>
          <a:bodyPr wrap="square" lIns="27432" tIns="13716" rIns="27432" bIns="13716" anchor="t">
            <a:spAutoFit/>
          </a:bodyPr>
          <a:lstStyle/>
          <a:p>
            <a:pPr algn="l">
              <a:defRPr sz="1400" b="1">
                <a:solidFill>
                  <a:srgbClr val="0B1F35"/>
                </a:solidFill>
                <a:latin typeface="Noto Sans CJK KR"/>
              </a:defRPr>
            </a:pPr>
            <a:r>
              <a:rPr sz="1050"/>
              <a:t>화면 설계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40145" y="692659"/>
            <a:ext cx="1371600" cy="212366"/>
          </a:xfrm>
          <a:prstGeom prst="rect">
            <a:avLst/>
          </a:prstGeom>
          <a:noFill/>
        </p:spPr>
        <p:txBody>
          <a:bodyPr wrap="square" lIns="27432" tIns="13716" rIns="27432" bIns="13716" anchor="t">
            <a:spAutoFit/>
          </a:bodyPr>
          <a:lstStyle/>
          <a:p>
            <a:pPr algn="l">
              <a:defRPr sz="1600" b="1">
                <a:solidFill>
                  <a:srgbClr val="0F172A"/>
                </a:solidFill>
                <a:latin typeface="Noto Sans CJK KR"/>
              </a:defRPr>
            </a:pPr>
            <a:r>
              <a:rPr sz="1200"/>
              <a:t>Description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63890" y="726948"/>
            <a:ext cx="480060" cy="108491"/>
          </a:xfrm>
          <a:prstGeom prst="rect">
            <a:avLst/>
          </a:prstGeom>
          <a:noFill/>
        </p:spPr>
        <p:txBody>
          <a:bodyPr wrap="square" lIns="27432" tIns="13716" rIns="27432" bIns="13716" anchor="t">
            <a:spAutoFit/>
          </a:bodyPr>
          <a:lstStyle/>
          <a:p>
            <a:pPr algn="r">
              <a:defRPr sz="700" b="1">
                <a:solidFill>
                  <a:srgbClr val="2563EB"/>
                </a:solidFill>
                <a:latin typeface="Noto Sans CJK KR"/>
              </a:defRPr>
            </a:pPr>
            <a:r>
              <a:rPr sz="525"/>
              <a:t>검토용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2900" y="891540"/>
            <a:ext cx="5177790" cy="3758184"/>
          </a:xfrm>
          <a:prstGeom prst="rect">
            <a:avLst/>
          </a:prstGeom>
          <a:solidFill>
            <a:srgbClr val="FFFFFF"/>
          </a:solidFill>
          <a:ln w="10160">
            <a:solidFill>
              <a:srgbClr val="CED7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50"/>
          </a:p>
        </p:txBody>
      </p:sp>
      <p:sp>
        <p:nvSpPr>
          <p:cNvPr id="11" name="Rectangle 10"/>
          <p:cNvSpPr/>
          <p:nvPr/>
        </p:nvSpPr>
        <p:spPr>
          <a:xfrm>
            <a:off x="411480" y="1008126"/>
            <a:ext cx="5020056" cy="3538728"/>
          </a:xfrm>
          <a:prstGeom prst="rect">
            <a:avLst/>
          </a:prstGeom>
          <a:solidFill>
            <a:srgbClr val="211E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50"/>
          </a:p>
        </p:txBody>
      </p:sp>
      <p:sp>
        <p:nvSpPr>
          <p:cNvPr id="12" name="Rectangle 11"/>
          <p:cNvSpPr/>
          <p:nvPr/>
        </p:nvSpPr>
        <p:spPr>
          <a:xfrm>
            <a:off x="411480" y="1008126"/>
            <a:ext cx="994410" cy="3538728"/>
          </a:xfrm>
          <a:prstGeom prst="rect">
            <a:avLst/>
          </a:prstGeom>
          <a:solidFill>
            <a:srgbClr val="302D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50"/>
          </a:p>
        </p:txBody>
      </p:sp>
      <p:sp>
        <p:nvSpPr>
          <p:cNvPr id="13" name="TextBox 12"/>
          <p:cNvSpPr txBox="1"/>
          <p:nvPr/>
        </p:nvSpPr>
        <p:spPr>
          <a:xfrm>
            <a:off x="514350" y="1110996"/>
            <a:ext cx="754380" cy="138499"/>
          </a:xfrm>
          <a:prstGeom prst="rect">
            <a:avLst/>
          </a:prstGeom>
          <a:noFill/>
        </p:spPr>
        <p:txBody>
          <a:bodyPr wrap="square" lIns="27432" tIns="13716" rIns="27432" bIns="13716" anchor="t">
            <a:spAutoFit/>
          </a:bodyPr>
          <a:lstStyle/>
          <a:p>
            <a:pPr algn="l">
              <a:defRPr sz="480" b="1">
                <a:solidFill>
                  <a:srgbClr val="FFFFFF"/>
                </a:solidFill>
                <a:latin typeface="Noto Sans CJK KR"/>
              </a:defRPr>
            </a:pPr>
            <a:r>
              <a:rPr sz="360"/>
              <a:t>⚙  인력관리 시스템</a:t>
            </a:r>
            <a:br>
              <a:rPr sz="360"/>
            </a:br>
            <a:r>
              <a:rPr sz="360"/>
              <a:t>    Peoplify v1.0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66344" y="1577340"/>
            <a:ext cx="836676" cy="164592"/>
          </a:xfrm>
          <a:prstGeom prst="roundRect">
            <a:avLst/>
          </a:prstGeom>
          <a:solidFill>
            <a:srgbClr val="302D52"/>
          </a:solidFill>
          <a:ln w="10160">
            <a:solidFill>
              <a:srgbClr val="302D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50"/>
          </a:p>
        </p:txBody>
      </p:sp>
      <p:sp>
        <p:nvSpPr>
          <p:cNvPr id="15" name="TextBox 14"/>
          <p:cNvSpPr txBox="1"/>
          <p:nvPr/>
        </p:nvSpPr>
        <p:spPr>
          <a:xfrm>
            <a:off x="528066" y="1604773"/>
            <a:ext cx="617220" cy="79702"/>
          </a:xfrm>
          <a:prstGeom prst="rect">
            <a:avLst/>
          </a:prstGeom>
          <a:noFill/>
        </p:spPr>
        <p:txBody>
          <a:bodyPr wrap="square" lIns="27432" tIns="13716" rIns="27432" bIns="13716" anchor="t">
            <a:spAutoFit/>
          </a:bodyPr>
          <a:lstStyle/>
          <a:p>
            <a:pPr algn="l">
              <a:defRPr sz="450" b="0">
                <a:solidFill>
                  <a:srgbClr val="FFFFFF"/>
                </a:solidFill>
                <a:latin typeface="Noto Sans CJK KR"/>
              </a:defRPr>
            </a:pPr>
            <a:r>
              <a:rPr sz="338"/>
              <a:t>▣  대시보드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66344" y="1851659"/>
            <a:ext cx="836676" cy="164592"/>
          </a:xfrm>
          <a:prstGeom prst="roundRect">
            <a:avLst/>
          </a:prstGeom>
          <a:solidFill>
            <a:srgbClr val="302D52"/>
          </a:solidFill>
          <a:ln w="10160">
            <a:solidFill>
              <a:srgbClr val="302D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50"/>
          </a:p>
        </p:txBody>
      </p:sp>
      <p:sp>
        <p:nvSpPr>
          <p:cNvPr id="17" name="TextBox 16"/>
          <p:cNvSpPr txBox="1"/>
          <p:nvPr/>
        </p:nvSpPr>
        <p:spPr>
          <a:xfrm>
            <a:off x="528066" y="1879093"/>
            <a:ext cx="617220" cy="79702"/>
          </a:xfrm>
          <a:prstGeom prst="rect">
            <a:avLst/>
          </a:prstGeom>
          <a:noFill/>
        </p:spPr>
        <p:txBody>
          <a:bodyPr wrap="square" lIns="27432" tIns="13716" rIns="27432" bIns="13716" anchor="t">
            <a:spAutoFit/>
          </a:bodyPr>
          <a:lstStyle/>
          <a:p>
            <a:pPr algn="l">
              <a:defRPr sz="450" b="0">
                <a:solidFill>
                  <a:srgbClr val="FFFFFF"/>
                </a:solidFill>
                <a:latin typeface="Noto Sans CJK KR"/>
              </a:defRPr>
            </a:pPr>
            <a:r>
              <a:rPr sz="338"/>
              <a:t>▣  직원관리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66344" y="2125979"/>
            <a:ext cx="836676" cy="164592"/>
          </a:xfrm>
          <a:prstGeom prst="roundRect">
            <a:avLst/>
          </a:prstGeom>
          <a:solidFill>
            <a:srgbClr val="433D69"/>
          </a:solidFill>
          <a:ln w="10160">
            <a:solidFill>
              <a:srgbClr val="433D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50"/>
          </a:p>
        </p:txBody>
      </p:sp>
      <p:sp>
        <p:nvSpPr>
          <p:cNvPr id="19" name="TextBox 18"/>
          <p:cNvSpPr txBox="1"/>
          <p:nvPr/>
        </p:nvSpPr>
        <p:spPr>
          <a:xfrm>
            <a:off x="528066" y="2153412"/>
            <a:ext cx="617220" cy="79702"/>
          </a:xfrm>
          <a:prstGeom prst="rect">
            <a:avLst/>
          </a:prstGeom>
          <a:noFill/>
        </p:spPr>
        <p:txBody>
          <a:bodyPr wrap="square" lIns="27432" tIns="13716" rIns="27432" bIns="13716" anchor="t">
            <a:spAutoFit/>
          </a:bodyPr>
          <a:lstStyle/>
          <a:p>
            <a:pPr algn="l">
              <a:defRPr sz="450" b="1">
                <a:solidFill>
                  <a:srgbClr val="FFFFFF"/>
                </a:solidFill>
                <a:latin typeface="Noto Sans CJK KR"/>
              </a:defRPr>
            </a:pPr>
            <a:r>
              <a:rPr sz="338"/>
              <a:t>▣  프로젝트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66344" y="2400300"/>
            <a:ext cx="836676" cy="164592"/>
          </a:xfrm>
          <a:prstGeom prst="roundRect">
            <a:avLst/>
          </a:prstGeom>
          <a:solidFill>
            <a:srgbClr val="302D52"/>
          </a:solidFill>
          <a:ln w="10160">
            <a:solidFill>
              <a:srgbClr val="302D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50"/>
          </a:p>
        </p:txBody>
      </p:sp>
      <p:sp>
        <p:nvSpPr>
          <p:cNvPr id="21" name="TextBox 20"/>
          <p:cNvSpPr txBox="1"/>
          <p:nvPr/>
        </p:nvSpPr>
        <p:spPr>
          <a:xfrm>
            <a:off x="528066" y="2427732"/>
            <a:ext cx="617220" cy="79702"/>
          </a:xfrm>
          <a:prstGeom prst="rect">
            <a:avLst/>
          </a:prstGeom>
          <a:noFill/>
        </p:spPr>
        <p:txBody>
          <a:bodyPr wrap="square" lIns="27432" tIns="13716" rIns="27432" bIns="13716" anchor="t">
            <a:spAutoFit/>
          </a:bodyPr>
          <a:lstStyle/>
          <a:p>
            <a:pPr algn="l">
              <a:defRPr sz="450" b="0">
                <a:solidFill>
                  <a:srgbClr val="FFFFFF"/>
                </a:solidFill>
                <a:latin typeface="Noto Sans CJK KR"/>
              </a:defRPr>
            </a:pPr>
            <a:r>
              <a:rPr sz="338"/>
              <a:t>▣  근태관리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66344" y="2674620"/>
            <a:ext cx="836676" cy="164592"/>
          </a:xfrm>
          <a:prstGeom prst="roundRect">
            <a:avLst/>
          </a:prstGeom>
          <a:solidFill>
            <a:srgbClr val="302D52"/>
          </a:solidFill>
          <a:ln w="10160">
            <a:solidFill>
              <a:srgbClr val="302D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50"/>
          </a:p>
        </p:txBody>
      </p:sp>
      <p:sp>
        <p:nvSpPr>
          <p:cNvPr id="23" name="TextBox 22"/>
          <p:cNvSpPr txBox="1"/>
          <p:nvPr/>
        </p:nvSpPr>
        <p:spPr>
          <a:xfrm>
            <a:off x="528066" y="2702053"/>
            <a:ext cx="617220" cy="79702"/>
          </a:xfrm>
          <a:prstGeom prst="rect">
            <a:avLst/>
          </a:prstGeom>
          <a:noFill/>
        </p:spPr>
        <p:txBody>
          <a:bodyPr wrap="square" lIns="27432" tIns="13716" rIns="27432" bIns="13716" anchor="t">
            <a:spAutoFit/>
          </a:bodyPr>
          <a:lstStyle/>
          <a:p>
            <a:pPr algn="l">
              <a:defRPr sz="450" b="0">
                <a:solidFill>
                  <a:srgbClr val="FFFFFF"/>
                </a:solidFill>
                <a:latin typeface="Noto Sans CJK KR"/>
              </a:defRPr>
            </a:pPr>
            <a:r>
              <a:rPr sz="338"/>
              <a:t>▣  리포트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405889" y="1008126"/>
            <a:ext cx="4025646" cy="377190"/>
          </a:xfrm>
          <a:prstGeom prst="rect">
            <a:avLst/>
          </a:prstGeom>
          <a:solidFill>
            <a:srgbClr val="3734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50"/>
          </a:p>
        </p:txBody>
      </p:sp>
      <p:sp>
        <p:nvSpPr>
          <p:cNvPr id="25" name="Rounded Rectangle 24"/>
          <p:cNvSpPr/>
          <p:nvPr/>
        </p:nvSpPr>
        <p:spPr>
          <a:xfrm>
            <a:off x="1522476" y="1097280"/>
            <a:ext cx="171450" cy="198882"/>
          </a:xfrm>
          <a:prstGeom prst="roundRect">
            <a:avLst/>
          </a:prstGeom>
          <a:solidFill>
            <a:srgbClr val="373457"/>
          </a:solidFill>
          <a:ln w="10160">
            <a:solidFill>
              <a:srgbClr val="655C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50"/>
          </a:p>
        </p:txBody>
      </p:sp>
      <p:sp>
        <p:nvSpPr>
          <p:cNvPr id="26" name="Rounded Rectangle 25"/>
          <p:cNvSpPr/>
          <p:nvPr/>
        </p:nvSpPr>
        <p:spPr>
          <a:xfrm>
            <a:off x="1783080" y="1097280"/>
            <a:ext cx="1851660" cy="198882"/>
          </a:xfrm>
          <a:prstGeom prst="roundRect">
            <a:avLst/>
          </a:prstGeom>
          <a:solidFill>
            <a:srgbClr val="373457"/>
          </a:solidFill>
          <a:ln w="10160">
            <a:solidFill>
              <a:srgbClr val="655C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50"/>
          </a:p>
        </p:txBody>
      </p:sp>
      <p:sp>
        <p:nvSpPr>
          <p:cNvPr id="27" name="TextBox 26"/>
          <p:cNvSpPr txBox="1"/>
          <p:nvPr/>
        </p:nvSpPr>
        <p:spPr>
          <a:xfrm>
            <a:off x="1865376" y="1148716"/>
            <a:ext cx="925830" cy="71558"/>
          </a:xfrm>
          <a:prstGeom prst="rect">
            <a:avLst/>
          </a:prstGeom>
          <a:noFill/>
        </p:spPr>
        <p:txBody>
          <a:bodyPr wrap="square" lIns="27432" tIns="13716" rIns="27432" bIns="13716" anchor="t">
            <a:spAutoFit/>
          </a:bodyPr>
          <a:lstStyle/>
          <a:p>
            <a:pPr algn="l">
              <a:defRPr sz="380" b="0">
                <a:solidFill>
                  <a:srgbClr val="A8A2C1"/>
                </a:solidFill>
                <a:latin typeface="Noto Sans CJK KR"/>
              </a:defRPr>
            </a:pPr>
            <a:r>
              <a:rPr sz="285"/>
              <a:t>Search or type command...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972050" y="1097280"/>
            <a:ext cx="308610" cy="123444"/>
          </a:xfrm>
          <a:prstGeom prst="roundRect">
            <a:avLst/>
          </a:prstGeom>
          <a:solidFill>
            <a:srgbClr val="211E3D"/>
          </a:solidFill>
          <a:ln w="10160">
            <a:solidFill>
              <a:srgbClr val="211E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50"/>
          </a:p>
        </p:txBody>
      </p:sp>
      <p:sp>
        <p:nvSpPr>
          <p:cNvPr id="29" name="TextBox 28"/>
          <p:cNvSpPr txBox="1"/>
          <p:nvPr/>
        </p:nvSpPr>
        <p:spPr>
          <a:xfrm>
            <a:off x="4992624" y="1114057"/>
            <a:ext cx="267462" cy="76175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ctr">
              <a:defRPr sz="420" b="1">
                <a:solidFill>
                  <a:srgbClr val="FFFFFF"/>
                </a:solidFill>
                <a:latin typeface="Noto Sans CJK KR"/>
              </a:defRPr>
            </a:pPr>
            <a:r>
              <a:rPr sz="315"/>
              <a:t>GitHub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43050" y="1529334"/>
            <a:ext cx="1234440" cy="76175"/>
          </a:xfrm>
          <a:prstGeom prst="rect">
            <a:avLst/>
          </a:prstGeom>
          <a:noFill/>
        </p:spPr>
        <p:txBody>
          <a:bodyPr wrap="square" lIns="27432" tIns="13716" rIns="27432" bIns="13716" anchor="t">
            <a:spAutoFit/>
          </a:bodyPr>
          <a:lstStyle/>
          <a:p>
            <a:pPr algn="l">
              <a:defRPr sz="420" b="0">
                <a:solidFill>
                  <a:srgbClr val="938AC4"/>
                </a:solidFill>
                <a:latin typeface="Noto Sans CJK KR"/>
              </a:defRPr>
            </a:pPr>
            <a:r>
              <a:rPr sz="315"/>
              <a:t>프로젝트  &gt;  D보험 차세대시스템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43050" y="1645920"/>
            <a:ext cx="1577340" cy="123560"/>
          </a:xfrm>
          <a:prstGeom prst="rect">
            <a:avLst/>
          </a:prstGeom>
          <a:noFill/>
        </p:spPr>
        <p:txBody>
          <a:bodyPr wrap="square" lIns="27432" tIns="13716" rIns="27432" bIns="13716" anchor="t">
            <a:spAutoFit/>
          </a:bodyPr>
          <a:lstStyle/>
          <a:p>
            <a:pPr algn="l">
              <a:defRPr sz="830" b="1">
                <a:solidFill>
                  <a:srgbClr val="FFFFFF"/>
                </a:solidFill>
                <a:latin typeface="Noto Sans CJK KR"/>
              </a:defRPr>
            </a:pPr>
            <a:r>
              <a:rPr sz="623"/>
              <a:t>D보험 차세대시스템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970782" y="1611630"/>
            <a:ext cx="288036" cy="123444"/>
          </a:xfrm>
          <a:prstGeom prst="roundRect">
            <a:avLst/>
          </a:prstGeom>
          <a:solidFill>
            <a:srgbClr val="211E3D"/>
          </a:solidFill>
          <a:ln w="10160">
            <a:solidFill>
              <a:srgbClr val="655C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50"/>
          </a:p>
        </p:txBody>
      </p:sp>
      <p:sp>
        <p:nvSpPr>
          <p:cNvPr id="33" name="TextBox 32"/>
          <p:cNvSpPr txBox="1"/>
          <p:nvPr/>
        </p:nvSpPr>
        <p:spPr>
          <a:xfrm>
            <a:off x="3991356" y="1629562"/>
            <a:ext cx="246888" cy="73866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ctr">
              <a:defRPr sz="400" b="1">
                <a:solidFill>
                  <a:srgbClr val="FFFFFF"/>
                </a:solidFill>
                <a:latin typeface="Noto Sans CJK KR"/>
              </a:defRPr>
            </a:pPr>
            <a:r>
              <a:rPr sz="300"/>
              <a:t>목록으로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313682" y="1611630"/>
            <a:ext cx="246888" cy="123444"/>
          </a:xfrm>
          <a:prstGeom prst="roundRect">
            <a:avLst/>
          </a:prstGeom>
          <a:solidFill>
            <a:srgbClr val="211E3D"/>
          </a:solidFill>
          <a:ln w="10160">
            <a:solidFill>
              <a:srgbClr val="655C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50"/>
          </a:p>
        </p:txBody>
      </p:sp>
      <p:sp>
        <p:nvSpPr>
          <p:cNvPr id="35" name="TextBox 34"/>
          <p:cNvSpPr txBox="1"/>
          <p:nvPr/>
        </p:nvSpPr>
        <p:spPr>
          <a:xfrm>
            <a:off x="4334256" y="1629562"/>
            <a:ext cx="205740" cy="73866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ctr">
              <a:defRPr sz="400" b="1">
                <a:solidFill>
                  <a:srgbClr val="FFFFFF"/>
                </a:solidFill>
                <a:latin typeface="Noto Sans CJK KR"/>
              </a:defRPr>
            </a:pPr>
            <a:r>
              <a:rPr sz="300"/>
              <a:t>수정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608576" y="1611630"/>
            <a:ext cx="425196" cy="123444"/>
          </a:xfrm>
          <a:prstGeom prst="roundRect">
            <a:avLst/>
          </a:prstGeom>
          <a:solidFill>
            <a:srgbClr val="7C4DFF"/>
          </a:solidFill>
          <a:ln w="10160">
            <a:solidFill>
              <a:srgbClr val="7C4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50"/>
          </a:p>
        </p:txBody>
      </p:sp>
      <p:sp>
        <p:nvSpPr>
          <p:cNvPr id="37" name="TextBox 36"/>
          <p:cNvSpPr txBox="1"/>
          <p:nvPr/>
        </p:nvSpPr>
        <p:spPr>
          <a:xfrm>
            <a:off x="4629150" y="1629562"/>
            <a:ext cx="384048" cy="73866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ctr">
              <a:defRPr sz="400" b="1">
                <a:solidFill>
                  <a:srgbClr val="FFFFFF"/>
                </a:solidFill>
                <a:latin typeface="Noto Sans CJK KR"/>
              </a:defRPr>
            </a:pPr>
            <a:r>
              <a:rPr sz="300"/>
              <a:t>인력 배정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088636" y="1611630"/>
            <a:ext cx="260604" cy="123444"/>
          </a:xfrm>
          <a:prstGeom prst="roundRect">
            <a:avLst/>
          </a:prstGeom>
          <a:solidFill>
            <a:srgbClr val="211E3D"/>
          </a:solidFill>
          <a:ln w="10160">
            <a:solidFill>
              <a:srgbClr val="FF4F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50"/>
          </a:p>
        </p:txBody>
      </p:sp>
      <p:sp>
        <p:nvSpPr>
          <p:cNvPr id="39" name="TextBox 38"/>
          <p:cNvSpPr txBox="1"/>
          <p:nvPr/>
        </p:nvSpPr>
        <p:spPr>
          <a:xfrm>
            <a:off x="5109210" y="1629562"/>
            <a:ext cx="219456" cy="73866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ctr">
              <a:defRPr sz="400" b="1">
                <a:solidFill>
                  <a:srgbClr val="FF4F71"/>
                </a:solidFill>
                <a:latin typeface="Noto Sans CJK KR"/>
              </a:defRPr>
            </a:pPr>
            <a:r>
              <a:rPr sz="300"/>
              <a:t>삭제</a:t>
            </a:r>
          </a:p>
        </p:txBody>
      </p:sp>
      <p:sp>
        <p:nvSpPr>
          <p:cNvPr id="40" name="Oval 39"/>
          <p:cNvSpPr/>
          <p:nvPr/>
        </p:nvSpPr>
        <p:spPr>
          <a:xfrm>
            <a:off x="4279392" y="1597914"/>
            <a:ext cx="109728" cy="109728"/>
          </a:xfrm>
          <a:prstGeom prst="ellipse">
            <a:avLst/>
          </a:prstGeom>
          <a:solidFill>
            <a:srgbClr val="E60012"/>
          </a:solidFill>
          <a:ln>
            <a:solidFill>
              <a:srgbClr val="E600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defRPr sz="800" b="1">
                <a:solidFill>
                  <a:srgbClr val="FFFFFF"/>
                </a:solidFill>
                <a:latin typeface="Noto Sans CJK KR"/>
              </a:defRPr>
            </a:pPr>
            <a:r>
              <a:rPr sz="600"/>
              <a:t>2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543050" y="1769364"/>
            <a:ext cx="3854196" cy="603504"/>
          </a:xfrm>
          <a:prstGeom prst="roundRect">
            <a:avLst/>
          </a:prstGeom>
          <a:solidFill>
            <a:srgbClr val="2E2C4F"/>
          </a:solidFill>
          <a:ln w="10160">
            <a:solidFill>
              <a:srgbClr val="5B56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50"/>
          </a:p>
        </p:txBody>
      </p:sp>
      <p:sp>
        <p:nvSpPr>
          <p:cNvPr id="42" name="TextBox 41"/>
          <p:cNvSpPr txBox="1"/>
          <p:nvPr/>
        </p:nvSpPr>
        <p:spPr>
          <a:xfrm>
            <a:off x="1639062" y="1837945"/>
            <a:ext cx="857250" cy="127086"/>
          </a:xfrm>
          <a:prstGeom prst="rect">
            <a:avLst/>
          </a:prstGeom>
          <a:noFill/>
        </p:spPr>
        <p:txBody>
          <a:bodyPr wrap="square" lIns="27432" tIns="13716" rIns="27432" bIns="13716" anchor="t">
            <a:spAutoFit/>
          </a:bodyPr>
          <a:lstStyle/>
          <a:p>
            <a:pPr algn="l">
              <a:defRPr sz="430" b="1">
                <a:solidFill>
                  <a:srgbClr val="FFFFFF"/>
                </a:solidFill>
                <a:latin typeface="Noto Sans CJK KR"/>
              </a:defRPr>
            </a:pPr>
            <a:r>
              <a:rPr sz="323"/>
              <a:t>프로젝트명</a:t>
            </a:r>
            <a:br>
              <a:rPr sz="323"/>
            </a:br>
            <a:r>
              <a:rPr sz="323"/>
              <a:t>D보험 차세대시스템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743200" y="1837945"/>
            <a:ext cx="754380" cy="127086"/>
          </a:xfrm>
          <a:prstGeom prst="rect">
            <a:avLst/>
          </a:prstGeom>
          <a:noFill/>
        </p:spPr>
        <p:txBody>
          <a:bodyPr wrap="square" lIns="27432" tIns="13716" rIns="27432" bIns="13716" anchor="t">
            <a:spAutoFit/>
          </a:bodyPr>
          <a:lstStyle/>
          <a:p>
            <a:pPr algn="l">
              <a:defRPr sz="430" b="1">
                <a:solidFill>
                  <a:srgbClr val="FFFFFF"/>
                </a:solidFill>
                <a:latin typeface="Noto Sans CJK KR"/>
              </a:defRPr>
            </a:pPr>
            <a:r>
              <a:rPr sz="323"/>
              <a:t>고객사</a:t>
            </a:r>
            <a:br>
              <a:rPr sz="323"/>
            </a:br>
            <a:r>
              <a:rPr sz="323"/>
              <a:t>D보험그룹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669030" y="1837945"/>
            <a:ext cx="1097280" cy="127086"/>
          </a:xfrm>
          <a:prstGeom prst="rect">
            <a:avLst/>
          </a:prstGeom>
          <a:noFill/>
        </p:spPr>
        <p:txBody>
          <a:bodyPr wrap="square" lIns="27432" tIns="13716" rIns="27432" bIns="13716" anchor="t">
            <a:spAutoFit/>
          </a:bodyPr>
          <a:lstStyle/>
          <a:p>
            <a:pPr algn="l">
              <a:defRPr sz="430" b="1">
                <a:solidFill>
                  <a:srgbClr val="FFFFFF"/>
                </a:solidFill>
                <a:latin typeface="Noto Sans CJK KR"/>
              </a:defRPr>
            </a:pPr>
            <a:r>
              <a:rPr sz="323"/>
              <a:t>프로젝트 기간</a:t>
            </a:r>
            <a:br>
              <a:rPr sz="323"/>
            </a:br>
            <a:r>
              <a:rPr sz="323"/>
              <a:t>2026.06.16 ~ 2026.10.29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855464" y="1885950"/>
            <a:ext cx="288036" cy="123444"/>
          </a:xfrm>
          <a:prstGeom prst="roundRect">
            <a:avLst/>
          </a:prstGeom>
          <a:solidFill>
            <a:srgbClr val="18BC89"/>
          </a:solidFill>
          <a:ln w="10160">
            <a:solidFill>
              <a:srgbClr val="18BC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50"/>
          </a:p>
        </p:txBody>
      </p:sp>
      <p:sp>
        <p:nvSpPr>
          <p:cNvPr id="46" name="TextBox 45"/>
          <p:cNvSpPr txBox="1"/>
          <p:nvPr/>
        </p:nvSpPr>
        <p:spPr>
          <a:xfrm>
            <a:off x="4876038" y="1905580"/>
            <a:ext cx="246888" cy="70469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ctr">
              <a:defRPr sz="370" b="1">
                <a:solidFill>
                  <a:srgbClr val="FFFFFF"/>
                </a:solidFill>
                <a:latin typeface="Noto Sans CJK KR"/>
              </a:defRPr>
            </a:pPr>
            <a:r>
              <a:rPr sz="278"/>
              <a:t>투입중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639062" y="2091691"/>
            <a:ext cx="548640" cy="129266"/>
          </a:xfrm>
          <a:prstGeom prst="rect">
            <a:avLst/>
          </a:prstGeom>
          <a:noFill/>
        </p:spPr>
        <p:txBody>
          <a:bodyPr wrap="square" lIns="27432" tIns="13716" rIns="27432" bIns="13716" anchor="t">
            <a:spAutoFit/>
          </a:bodyPr>
          <a:lstStyle/>
          <a:p>
            <a:pPr algn="l">
              <a:defRPr sz="440" b="1">
                <a:solidFill>
                  <a:srgbClr val="FFFFFF"/>
                </a:solidFill>
                <a:latin typeface="Noto Sans CJK KR"/>
              </a:defRPr>
            </a:pPr>
            <a:r>
              <a:rPr sz="330"/>
              <a:t>진척도</a:t>
            </a:r>
            <a:br>
              <a:rPr sz="330"/>
            </a:br>
            <a:r>
              <a:rPr sz="330"/>
              <a:t>79%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639062" y="2269999"/>
            <a:ext cx="445770" cy="66941"/>
          </a:xfrm>
          <a:prstGeom prst="rect">
            <a:avLst/>
          </a:prstGeom>
          <a:noFill/>
        </p:spPr>
        <p:txBody>
          <a:bodyPr wrap="square" lIns="27432" tIns="13716" rIns="27432" bIns="13716" anchor="t">
            <a:spAutoFit/>
          </a:bodyPr>
          <a:lstStyle/>
          <a:p>
            <a:pPr algn="l">
              <a:defRPr sz="340" b="0">
                <a:solidFill>
                  <a:srgbClr val="A8A2C1"/>
                </a:solidFill>
                <a:latin typeface="Noto Sans CJK KR"/>
              </a:defRPr>
            </a:pPr>
            <a:r>
              <a:rPr sz="255"/>
              <a:t>현재 진척도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2077974" y="2290572"/>
            <a:ext cx="3120390" cy="34290"/>
          </a:xfrm>
          <a:prstGeom prst="roundRect">
            <a:avLst/>
          </a:prstGeom>
          <a:solidFill>
            <a:srgbClr val="3F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50"/>
          </a:p>
        </p:txBody>
      </p:sp>
      <p:sp>
        <p:nvSpPr>
          <p:cNvPr id="50" name="Rounded Rectangle 49"/>
          <p:cNvSpPr/>
          <p:nvPr/>
        </p:nvSpPr>
        <p:spPr>
          <a:xfrm>
            <a:off x="2077974" y="2290572"/>
            <a:ext cx="2468880" cy="34290"/>
          </a:xfrm>
          <a:prstGeom prst="roundRect">
            <a:avLst/>
          </a:prstGeom>
          <a:solidFill>
            <a:srgbClr val="7C4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50"/>
          </a:p>
        </p:txBody>
      </p:sp>
      <p:sp>
        <p:nvSpPr>
          <p:cNvPr id="51" name="Oval 50"/>
          <p:cNvSpPr/>
          <p:nvPr/>
        </p:nvSpPr>
        <p:spPr>
          <a:xfrm>
            <a:off x="1501902" y="1810512"/>
            <a:ext cx="109728" cy="109728"/>
          </a:xfrm>
          <a:prstGeom prst="ellipse">
            <a:avLst/>
          </a:prstGeom>
          <a:solidFill>
            <a:srgbClr val="E60012"/>
          </a:solidFill>
          <a:ln>
            <a:solidFill>
              <a:srgbClr val="E600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defRPr sz="800" b="1">
                <a:solidFill>
                  <a:srgbClr val="FFFFFF"/>
                </a:solidFill>
                <a:latin typeface="Noto Sans CJK KR"/>
              </a:defRPr>
            </a:pPr>
            <a:r>
              <a:rPr sz="600"/>
              <a:t>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543050" y="2489455"/>
            <a:ext cx="329184" cy="77393"/>
          </a:xfrm>
          <a:prstGeom prst="rect">
            <a:avLst/>
          </a:prstGeom>
          <a:noFill/>
        </p:spPr>
        <p:txBody>
          <a:bodyPr wrap="square" lIns="27432" tIns="13716" rIns="27432" bIns="13716" anchor="t">
            <a:spAutoFit/>
          </a:bodyPr>
          <a:lstStyle/>
          <a:p>
            <a:pPr algn="ctr">
              <a:defRPr sz="430" b="0">
                <a:solidFill>
                  <a:srgbClr val="958BC8"/>
                </a:solidFill>
                <a:latin typeface="Noto Sans CJK KR"/>
              </a:defRPr>
            </a:pPr>
            <a:r>
              <a:rPr sz="323"/>
              <a:t>기본정보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940814" y="2489455"/>
            <a:ext cx="329184" cy="77393"/>
          </a:xfrm>
          <a:prstGeom prst="rect">
            <a:avLst/>
          </a:prstGeom>
          <a:noFill/>
        </p:spPr>
        <p:txBody>
          <a:bodyPr wrap="square" lIns="27432" tIns="13716" rIns="27432" bIns="13716" anchor="t">
            <a:spAutoFit/>
          </a:bodyPr>
          <a:lstStyle/>
          <a:p>
            <a:pPr algn="ctr">
              <a:defRPr sz="430" b="0">
                <a:solidFill>
                  <a:srgbClr val="958BC8"/>
                </a:solidFill>
                <a:latin typeface="Noto Sans CJK KR"/>
              </a:defRPr>
            </a:pPr>
            <a:r>
              <a:rPr sz="323"/>
              <a:t>투입이력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338578" y="2489455"/>
            <a:ext cx="329184" cy="77393"/>
          </a:xfrm>
          <a:prstGeom prst="rect">
            <a:avLst/>
          </a:prstGeom>
          <a:noFill/>
        </p:spPr>
        <p:txBody>
          <a:bodyPr wrap="square" lIns="27432" tIns="13716" rIns="27432" bIns="13716" anchor="t">
            <a:spAutoFit/>
          </a:bodyPr>
          <a:lstStyle/>
          <a:p>
            <a:pPr algn="ctr">
              <a:defRPr sz="430" b="1">
                <a:solidFill>
                  <a:srgbClr val="FFFFFF"/>
                </a:solidFill>
                <a:latin typeface="Noto Sans CJK KR"/>
              </a:defRPr>
            </a:pPr>
            <a:r>
              <a:rPr sz="323"/>
              <a:t>일정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736342" y="2489455"/>
            <a:ext cx="329184" cy="77393"/>
          </a:xfrm>
          <a:prstGeom prst="rect">
            <a:avLst/>
          </a:prstGeom>
          <a:noFill/>
        </p:spPr>
        <p:txBody>
          <a:bodyPr wrap="square" lIns="27432" tIns="13716" rIns="27432" bIns="13716" anchor="t">
            <a:spAutoFit/>
          </a:bodyPr>
          <a:lstStyle/>
          <a:p>
            <a:pPr algn="ctr">
              <a:defRPr sz="430" b="0">
                <a:solidFill>
                  <a:srgbClr val="958BC8"/>
                </a:solidFill>
                <a:latin typeface="Noto Sans CJK KR"/>
              </a:defRPr>
            </a:pPr>
            <a:r>
              <a:rPr sz="323"/>
              <a:t>계약정보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1543050" y="2576000"/>
            <a:ext cx="3854196" cy="0"/>
          </a:xfrm>
          <a:prstGeom prst="line">
            <a:avLst/>
          </a:prstGeom>
          <a:ln w="6350">
            <a:solidFill>
              <a:srgbClr val="4E4A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2338578" y="2576000"/>
            <a:ext cx="288036" cy="0"/>
          </a:xfrm>
          <a:prstGeom prst="line">
            <a:avLst/>
          </a:prstGeom>
          <a:ln w="22860">
            <a:solidFill>
              <a:srgbClr val="7C4D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Oval 57"/>
          <p:cNvSpPr/>
          <p:nvPr/>
        </p:nvSpPr>
        <p:spPr>
          <a:xfrm>
            <a:off x="2427732" y="2441448"/>
            <a:ext cx="109728" cy="109728"/>
          </a:xfrm>
          <a:prstGeom prst="ellipse">
            <a:avLst/>
          </a:prstGeom>
          <a:solidFill>
            <a:srgbClr val="E60012"/>
          </a:solidFill>
          <a:ln>
            <a:solidFill>
              <a:srgbClr val="E600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defRPr sz="800" b="1">
                <a:solidFill>
                  <a:srgbClr val="FFFFFF"/>
                </a:solidFill>
                <a:latin typeface="Noto Sans CJK KR"/>
              </a:defRPr>
            </a:pPr>
            <a:r>
              <a:rPr sz="600"/>
              <a:t>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543050" y="2596574"/>
            <a:ext cx="548640" cy="85408"/>
          </a:xfrm>
          <a:prstGeom prst="rect">
            <a:avLst/>
          </a:prstGeom>
          <a:noFill/>
        </p:spPr>
        <p:txBody>
          <a:bodyPr wrap="square" lIns="27432" tIns="13716" rIns="27432" bIns="13716" anchor="t">
            <a:spAutoFit/>
          </a:bodyPr>
          <a:lstStyle/>
          <a:p>
            <a:pPr algn="l">
              <a:defRPr sz="500" b="1">
                <a:solidFill>
                  <a:srgbClr val="FFFFFF"/>
                </a:solidFill>
                <a:latin typeface="Noto Sans CJK KR"/>
              </a:defRPr>
            </a:pPr>
            <a:r>
              <a:rPr sz="375"/>
              <a:t>일정 요약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543050" y="2706302"/>
            <a:ext cx="1645920" cy="71558"/>
          </a:xfrm>
          <a:prstGeom prst="rect">
            <a:avLst/>
          </a:prstGeom>
          <a:noFill/>
        </p:spPr>
        <p:txBody>
          <a:bodyPr wrap="square" lIns="27432" tIns="13716" rIns="27432" bIns="13716" anchor="t">
            <a:spAutoFit/>
          </a:bodyPr>
          <a:lstStyle/>
          <a:p>
            <a:pPr algn="l">
              <a:defRPr sz="380" b="0">
                <a:solidFill>
                  <a:srgbClr val="A8A2C1"/>
                </a:solidFill>
                <a:latin typeface="Noto Sans CJK KR"/>
              </a:defRPr>
            </a:pPr>
            <a:r>
              <a:rPr sz="285"/>
              <a:t>프로젝트 기간과 인력별 투입 기간을 확인합니다.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1543050" y="2781740"/>
            <a:ext cx="1131570" cy="274320"/>
          </a:xfrm>
          <a:prstGeom prst="roundRect">
            <a:avLst/>
          </a:prstGeom>
          <a:solidFill>
            <a:srgbClr val="2E2C4F"/>
          </a:solidFill>
          <a:ln w="10160">
            <a:solidFill>
              <a:srgbClr val="524E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50"/>
          </a:p>
        </p:txBody>
      </p:sp>
      <p:sp>
        <p:nvSpPr>
          <p:cNvPr id="62" name="TextBox 61"/>
          <p:cNvSpPr txBox="1"/>
          <p:nvPr/>
        </p:nvSpPr>
        <p:spPr>
          <a:xfrm>
            <a:off x="1597914" y="2843462"/>
            <a:ext cx="480060" cy="68160"/>
          </a:xfrm>
          <a:prstGeom prst="rect">
            <a:avLst/>
          </a:prstGeom>
          <a:noFill/>
        </p:spPr>
        <p:txBody>
          <a:bodyPr wrap="square" lIns="27432" tIns="13716" rIns="27432" bIns="13716" anchor="t">
            <a:spAutoFit/>
          </a:bodyPr>
          <a:lstStyle/>
          <a:p>
            <a:pPr algn="l">
              <a:defRPr sz="350" b="0">
                <a:solidFill>
                  <a:srgbClr val="A8A2C1"/>
                </a:solidFill>
                <a:latin typeface="Noto Sans CJK KR"/>
              </a:defRPr>
            </a:pPr>
            <a:r>
              <a:rPr sz="263"/>
              <a:t>프로젝트 기간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597914" y="2925758"/>
            <a:ext cx="308610" cy="99258"/>
          </a:xfrm>
          <a:prstGeom prst="rect">
            <a:avLst/>
          </a:prstGeom>
          <a:noFill/>
        </p:spPr>
        <p:txBody>
          <a:bodyPr wrap="square" lIns="27432" tIns="13716" rIns="27432" bIns="13716" anchor="t">
            <a:spAutoFit/>
          </a:bodyPr>
          <a:lstStyle/>
          <a:p>
            <a:pPr algn="l">
              <a:defRPr sz="620" b="1">
                <a:solidFill>
                  <a:srgbClr val="FFFFFF"/>
                </a:solidFill>
                <a:latin typeface="Noto Sans CJK KR"/>
              </a:defRPr>
            </a:pPr>
            <a:r>
              <a:rPr sz="465"/>
              <a:t>136일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2798064" y="2781740"/>
            <a:ext cx="1131570" cy="274320"/>
          </a:xfrm>
          <a:prstGeom prst="roundRect">
            <a:avLst/>
          </a:prstGeom>
          <a:solidFill>
            <a:srgbClr val="2E2C4F"/>
          </a:solidFill>
          <a:ln w="10160">
            <a:solidFill>
              <a:srgbClr val="524E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50"/>
          </a:p>
        </p:txBody>
      </p:sp>
      <p:sp>
        <p:nvSpPr>
          <p:cNvPr id="65" name="TextBox 64"/>
          <p:cNvSpPr txBox="1"/>
          <p:nvPr/>
        </p:nvSpPr>
        <p:spPr>
          <a:xfrm>
            <a:off x="2852928" y="2843462"/>
            <a:ext cx="480060" cy="68160"/>
          </a:xfrm>
          <a:prstGeom prst="rect">
            <a:avLst/>
          </a:prstGeom>
          <a:noFill/>
        </p:spPr>
        <p:txBody>
          <a:bodyPr wrap="square" lIns="27432" tIns="13716" rIns="27432" bIns="13716" anchor="t">
            <a:spAutoFit/>
          </a:bodyPr>
          <a:lstStyle/>
          <a:p>
            <a:pPr algn="l">
              <a:defRPr sz="350" b="0">
                <a:solidFill>
                  <a:srgbClr val="A8A2C1"/>
                </a:solidFill>
                <a:latin typeface="Noto Sans CJK KR"/>
              </a:defRPr>
            </a:pPr>
            <a:r>
              <a:rPr sz="263"/>
              <a:t>투입 인원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852928" y="2925758"/>
            <a:ext cx="308610" cy="99258"/>
          </a:xfrm>
          <a:prstGeom prst="rect">
            <a:avLst/>
          </a:prstGeom>
          <a:noFill/>
        </p:spPr>
        <p:txBody>
          <a:bodyPr wrap="square" lIns="27432" tIns="13716" rIns="27432" bIns="13716" anchor="t">
            <a:spAutoFit/>
          </a:bodyPr>
          <a:lstStyle/>
          <a:p>
            <a:pPr algn="l">
              <a:defRPr sz="620" b="1">
                <a:solidFill>
                  <a:srgbClr val="FFFFFF"/>
                </a:solidFill>
                <a:latin typeface="Noto Sans CJK KR"/>
              </a:defRPr>
            </a:pPr>
            <a:r>
              <a:rPr sz="465"/>
              <a:t>6명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4053078" y="2781740"/>
            <a:ext cx="1131570" cy="274320"/>
          </a:xfrm>
          <a:prstGeom prst="roundRect">
            <a:avLst/>
          </a:prstGeom>
          <a:solidFill>
            <a:srgbClr val="2E2C4F"/>
          </a:solidFill>
          <a:ln w="10160">
            <a:solidFill>
              <a:srgbClr val="524E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50"/>
          </a:p>
        </p:txBody>
      </p:sp>
      <p:sp>
        <p:nvSpPr>
          <p:cNvPr id="68" name="TextBox 67"/>
          <p:cNvSpPr txBox="1"/>
          <p:nvPr/>
        </p:nvSpPr>
        <p:spPr>
          <a:xfrm>
            <a:off x="4107942" y="2843462"/>
            <a:ext cx="480060" cy="68160"/>
          </a:xfrm>
          <a:prstGeom prst="rect">
            <a:avLst/>
          </a:prstGeom>
          <a:noFill/>
        </p:spPr>
        <p:txBody>
          <a:bodyPr wrap="square" lIns="27432" tIns="13716" rIns="27432" bIns="13716" anchor="t">
            <a:spAutoFit/>
          </a:bodyPr>
          <a:lstStyle/>
          <a:p>
            <a:pPr algn="l">
              <a:defRPr sz="350" b="0">
                <a:solidFill>
                  <a:srgbClr val="A8A2C1"/>
                </a:solidFill>
                <a:latin typeface="Noto Sans CJK KR"/>
              </a:defRPr>
            </a:pPr>
            <a:r>
              <a:rPr sz="263"/>
              <a:t>역할군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107942" y="2925758"/>
            <a:ext cx="308610" cy="99258"/>
          </a:xfrm>
          <a:prstGeom prst="rect">
            <a:avLst/>
          </a:prstGeom>
          <a:noFill/>
        </p:spPr>
        <p:txBody>
          <a:bodyPr wrap="square" lIns="27432" tIns="13716" rIns="27432" bIns="13716" anchor="t">
            <a:spAutoFit/>
          </a:bodyPr>
          <a:lstStyle/>
          <a:p>
            <a:pPr algn="l">
              <a:defRPr sz="620" b="1">
                <a:solidFill>
                  <a:srgbClr val="FFFFFF"/>
                </a:solidFill>
                <a:latin typeface="Noto Sans CJK KR"/>
              </a:defRPr>
            </a:pPr>
            <a:r>
              <a:rPr sz="465"/>
              <a:t>5개</a:t>
            </a:r>
          </a:p>
        </p:txBody>
      </p:sp>
      <p:sp>
        <p:nvSpPr>
          <p:cNvPr id="70" name="Oval 69"/>
          <p:cNvSpPr/>
          <p:nvPr/>
        </p:nvSpPr>
        <p:spPr>
          <a:xfrm>
            <a:off x="1501902" y="2747449"/>
            <a:ext cx="109728" cy="109728"/>
          </a:xfrm>
          <a:prstGeom prst="ellipse">
            <a:avLst/>
          </a:prstGeom>
          <a:solidFill>
            <a:srgbClr val="E60012"/>
          </a:solidFill>
          <a:ln>
            <a:solidFill>
              <a:srgbClr val="E600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defRPr sz="800" b="1">
                <a:solidFill>
                  <a:srgbClr val="FFFFFF"/>
                </a:solidFill>
                <a:latin typeface="Noto Sans CJK KR"/>
              </a:defRPr>
            </a:pPr>
            <a:r>
              <a:rPr sz="600"/>
              <a:t>4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1543050" y="3200077"/>
            <a:ext cx="3854196" cy="1261873"/>
          </a:xfrm>
          <a:prstGeom prst="roundRect">
            <a:avLst/>
          </a:prstGeom>
          <a:solidFill>
            <a:srgbClr val="2E2C4F"/>
          </a:solidFill>
          <a:ln w="10160">
            <a:solidFill>
              <a:srgbClr val="524E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50"/>
          </a:p>
        </p:txBody>
      </p:sp>
      <p:sp>
        <p:nvSpPr>
          <p:cNvPr id="72" name="TextBox 71"/>
          <p:cNvSpPr txBox="1"/>
          <p:nvPr/>
        </p:nvSpPr>
        <p:spPr>
          <a:xfrm>
            <a:off x="1618488" y="3268658"/>
            <a:ext cx="754380" cy="85408"/>
          </a:xfrm>
          <a:prstGeom prst="rect">
            <a:avLst/>
          </a:prstGeom>
          <a:noFill/>
        </p:spPr>
        <p:txBody>
          <a:bodyPr wrap="square" lIns="27432" tIns="13716" rIns="27432" bIns="13716" anchor="t">
            <a:spAutoFit/>
          </a:bodyPr>
          <a:lstStyle/>
          <a:p>
            <a:pPr algn="l">
              <a:defRPr sz="500" b="1">
                <a:solidFill>
                  <a:srgbClr val="FFFFFF"/>
                </a:solidFill>
                <a:latin typeface="Noto Sans CJK KR"/>
              </a:defRPr>
            </a:pPr>
            <a:r>
              <a:rPr sz="375"/>
              <a:t>역할별 투입 캘린더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1611630" y="3440107"/>
            <a:ext cx="315468" cy="137160"/>
          </a:xfrm>
          <a:prstGeom prst="roundRect">
            <a:avLst/>
          </a:prstGeom>
          <a:solidFill>
            <a:srgbClr val="373457"/>
          </a:solidFill>
          <a:ln w="10160">
            <a:solidFill>
              <a:srgbClr val="7C4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50"/>
          </a:p>
        </p:txBody>
      </p:sp>
      <p:sp>
        <p:nvSpPr>
          <p:cNvPr id="74" name="Rectangle 73"/>
          <p:cNvSpPr/>
          <p:nvPr/>
        </p:nvSpPr>
        <p:spPr>
          <a:xfrm>
            <a:off x="1645920" y="3484685"/>
            <a:ext cx="30861" cy="30861"/>
          </a:xfrm>
          <a:prstGeom prst="rect">
            <a:avLst/>
          </a:prstGeom>
          <a:solidFill>
            <a:srgbClr val="7C4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50"/>
          </a:p>
        </p:txBody>
      </p:sp>
      <p:sp>
        <p:nvSpPr>
          <p:cNvPr id="75" name="TextBox 74"/>
          <p:cNvSpPr txBox="1"/>
          <p:nvPr/>
        </p:nvSpPr>
        <p:spPr>
          <a:xfrm>
            <a:off x="1680210" y="3473027"/>
            <a:ext cx="212598" cy="68160"/>
          </a:xfrm>
          <a:prstGeom prst="rect">
            <a:avLst/>
          </a:prstGeom>
          <a:noFill/>
        </p:spPr>
        <p:txBody>
          <a:bodyPr wrap="square" lIns="27432" tIns="13716" rIns="27432" bIns="13716" anchor="t">
            <a:spAutoFit/>
          </a:bodyPr>
          <a:lstStyle/>
          <a:p>
            <a:pPr algn="l">
              <a:defRPr sz="350" b="1">
                <a:solidFill>
                  <a:srgbClr val="FFFFFF"/>
                </a:solidFill>
                <a:latin typeface="Noto Sans CJK KR"/>
              </a:defRPr>
            </a:pPr>
            <a:r>
              <a:rPr sz="263"/>
              <a:t>전체 6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1995678" y="3440107"/>
            <a:ext cx="315468" cy="137160"/>
          </a:xfrm>
          <a:prstGeom prst="roundRect">
            <a:avLst/>
          </a:prstGeom>
          <a:solidFill>
            <a:srgbClr val="373457"/>
          </a:solidFill>
          <a:ln w="10160">
            <a:solidFill>
              <a:srgbClr val="524E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50"/>
          </a:p>
        </p:txBody>
      </p:sp>
      <p:sp>
        <p:nvSpPr>
          <p:cNvPr id="77" name="Rectangle 76"/>
          <p:cNvSpPr/>
          <p:nvPr/>
        </p:nvSpPr>
        <p:spPr>
          <a:xfrm>
            <a:off x="2029968" y="3484685"/>
            <a:ext cx="30861" cy="30861"/>
          </a:xfrm>
          <a:prstGeom prst="rect">
            <a:avLst/>
          </a:prstGeom>
          <a:solidFill>
            <a:srgbClr val="7885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50"/>
          </a:p>
        </p:txBody>
      </p:sp>
      <p:sp>
        <p:nvSpPr>
          <p:cNvPr id="78" name="TextBox 77"/>
          <p:cNvSpPr txBox="1"/>
          <p:nvPr/>
        </p:nvSpPr>
        <p:spPr>
          <a:xfrm>
            <a:off x="2064258" y="3473027"/>
            <a:ext cx="212598" cy="68160"/>
          </a:xfrm>
          <a:prstGeom prst="rect">
            <a:avLst/>
          </a:prstGeom>
          <a:noFill/>
        </p:spPr>
        <p:txBody>
          <a:bodyPr wrap="square" lIns="27432" tIns="13716" rIns="27432" bIns="13716" anchor="t">
            <a:spAutoFit/>
          </a:bodyPr>
          <a:lstStyle/>
          <a:p>
            <a:pPr algn="l">
              <a:defRPr sz="350" b="1">
                <a:solidFill>
                  <a:srgbClr val="827D9B"/>
                </a:solidFill>
                <a:latin typeface="Noto Sans CJK KR"/>
              </a:defRPr>
            </a:pPr>
            <a:r>
              <a:rPr sz="263"/>
              <a:t>PM 0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2379726" y="3440107"/>
            <a:ext cx="315468" cy="137160"/>
          </a:xfrm>
          <a:prstGeom prst="roundRect">
            <a:avLst/>
          </a:prstGeom>
          <a:solidFill>
            <a:srgbClr val="373457"/>
          </a:solidFill>
          <a:ln w="10160">
            <a:solidFill>
              <a:srgbClr val="2D86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50"/>
          </a:p>
        </p:txBody>
      </p:sp>
      <p:sp>
        <p:nvSpPr>
          <p:cNvPr id="80" name="Rectangle 79"/>
          <p:cNvSpPr/>
          <p:nvPr/>
        </p:nvSpPr>
        <p:spPr>
          <a:xfrm>
            <a:off x="2414016" y="3484685"/>
            <a:ext cx="30861" cy="30861"/>
          </a:xfrm>
          <a:prstGeom prst="rect">
            <a:avLst/>
          </a:prstGeom>
          <a:solidFill>
            <a:srgbClr val="2D86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50"/>
          </a:p>
        </p:txBody>
      </p:sp>
      <p:sp>
        <p:nvSpPr>
          <p:cNvPr id="81" name="TextBox 80"/>
          <p:cNvSpPr txBox="1"/>
          <p:nvPr/>
        </p:nvSpPr>
        <p:spPr>
          <a:xfrm>
            <a:off x="2448306" y="3473027"/>
            <a:ext cx="212598" cy="68160"/>
          </a:xfrm>
          <a:prstGeom prst="rect">
            <a:avLst/>
          </a:prstGeom>
          <a:noFill/>
        </p:spPr>
        <p:txBody>
          <a:bodyPr wrap="square" lIns="27432" tIns="13716" rIns="27432" bIns="13716" anchor="t">
            <a:spAutoFit/>
          </a:bodyPr>
          <a:lstStyle/>
          <a:p>
            <a:pPr algn="l">
              <a:defRPr sz="350" b="1">
                <a:solidFill>
                  <a:srgbClr val="FFFFFF"/>
                </a:solidFill>
                <a:latin typeface="Noto Sans CJK KR"/>
              </a:defRPr>
            </a:pPr>
            <a:r>
              <a:rPr sz="263"/>
              <a:t>PL 1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2763774" y="3440107"/>
            <a:ext cx="315468" cy="137160"/>
          </a:xfrm>
          <a:prstGeom prst="roundRect">
            <a:avLst/>
          </a:prstGeom>
          <a:solidFill>
            <a:srgbClr val="373457"/>
          </a:solidFill>
          <a:ln w="10160">
            <a:solidFill>
              <a:srgbClr val="18BC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50"/>
          </a:p>
        </p:txBody>
      </p:sp>
      <p:sp>
        <p:nvSpPr>
          <p:cNvPr id="83" name="Rectangle 82"/>
          <p:cNvSpPr/>
          <p:nvPr/>
        </p:nvSpPr>
        <p:spPr>
          <a:xfrm>
            <a:off x="2798064" y="3484685"/>
            <a:ext cx="30861" cy="30861"/>
          </a:xfrm>
          <a:prstGeom prst="rect">
            <a:avLst/>
          </a:prstGeom>
          <a:solidFill>
            <a:srgbClr val="18BC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50"/>
          </a:p>
        </p:txBody>
      </p:sp>
      <p:sp>
        <p:nvSpPr>
          <p:cNvPr id="84" name="TextBox 83"/>
          <p:cNvSpPr txBox="1"/>
          <p:nvPr/>
        </p:nvSpPr>
        <p:spPr>
          <a:xfrm>
            <a:off x="2832354" y="3473027"/>
            <a:ext cx="212598" cy="68160"/>
          </a:xfrm>
          <a:prstGeom prst="rect">
            <a:avLst/>
          </a:prstGeom>
          <a:noFill/>
        </p:spPr>
        <p:txBody>
          <a:bodyPr wrap="square" lIns="27432" tIns="13716" rIns="27432" bIns="13716" anchor="t">
            <a:spAutoFit/>
          </a:bodyPr>
          <a:lstStyle/>
          <a:p>
            <a:pPr algn="l">
              <a:defRPr sz="350" b="1">
                <a:solidFill>
                  <a:srgbClr val="FFFFFF"/>
                </a:solidFill>
                <a:latin typeface="Noto Sans CJK KR"/>
              </a:defRPr>
            </a:pPr>
            <a:r>
              <a:rPr sz="263"/>
              <a:t>개발자 2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3147822" y="3440107"/>
            <a:ext cx="569214" cy="137160"/>
          </a:xfrm>
          <a:prstGeom prst="roundRect">
            <a:avLst/>
          </a:prstGeom>
          <a:solidFill>
            <a:srgbClr val="373457"/>
          </a:solidFill>
          <a:ln w="10160">
            <a:solidFill>
              <a:srgbClr val="F44C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50"/>
          </a:p>
        </p:txBody>
      </p:sp>
      <p:sp>
        <p:nvSpPr>
          <p:cNvPr id="86" name="Rectangle 85"/>
          <p:cNvSpPr/>
          <p:nvPr/>
        </p:nvSpPr>
        <p:spPr>
          <a:xfrm>
            <a:off x="3182112" y="3484685"/>
            <a:ext cx="30861" cy="30861"/>
          </a:xfrm>
          <a:prstGeom prst="rect">
            <a:avLst/>
          </a:prstGeom>
          <a:solidFill>
            <a:srgbClr val="F44C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50"/>
          </a:p>
        </p:txBody>
      </p:sp>
      <p:sp>
        <p:nvSpPr>
          <p:cNvPr id="87" name="TextBox 86"/>
          <p:cNvSpPr txBox="1"/>
          <p:nvPr/>
        </p:nvSpPr>
        <p:spPr>
          <a:xfrm>
            <a:off x="3216402" y="3473027"/>
            <a:ext cx="466344" cy="68160"/>
          </a:xfrm>
          <a:prstGeom prst="rect">
            <a:avLst/>
          </a:prstGeom>
          <a:noFill/>
        </p:spPr>
        <p:txBody>
          <a:bodyPr wrap="square" lIns="27432" tIns="13716" rIns="27432" bIns="13716" anchor="t">
            <a:spAutoFit/>
          </a:bodyPr>
          <a:lstStyle/>
          <a:p>
            <a:pPr algn="l">
              <a:defRPr sz="350" b="1">
                <a:solidFill>
                  <a:srgbClr val="FFFFFF"/>
                </a:solidFill>
                <a:latin typeface="Noto Sans CJK KR"/>
              </a:defRPr>
            </a:pPr>
            <a:r>
              <a:rPr sz="263"/>
              <a:t>퍼블리셔/디자인 1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3785616" y="3440107"/>
            <a:ext cx="411480" cy="137160"/>
          </a:xfrm>
          <a:prstGeom prst="roundRect">
            <a:avLst/>
          </a:prstGeom>
          <a:solidFill>
            <a:srgbClr val="373457"/>
          </a:solidFill>
          <a:ln w="10160">
            <a:solidFill>
              <a:srgbClr val="524E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50"/>
          </a:p>
        </p:txBody>
      </p:sp>
      <p:sp>
        <p:nvSpPr>
          <p:cNvPr id="89" name="Rectangle 88"/>
          <p:cNvSpPr/>
          <p:nvPr/>
        </p:nvSpPr>
        <p:spPr>
          <a:xfrm>
            <a:off x="3819905" y="3484685"/>
            <a:ext cx="30861" cy="30861"/>
          </a:xfrm>
          <a:prstGeom prst="rect">
            <a:avLst/>
          </a:prstGeom>
          <a:solidFill>
            <a:srgbClr val="F6AC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50"/>
          </a:p>
        </p:txBody>
      </p:sp>
      <p:sp>
        <p:nvSpPr>
          <p:cNvPr id="90" name="TextBox 89"/>
          <p:cNvSpPr txBox="1"/>
          <p:nvPr/>
        </p:nvSpPr>
        <p:spPr>
          <a:xfrm>
            <a:off x="3854196" y="3473027"/>
            <a:ext cx="308609" cy="68160"/>
          </a:xfrm>
          <a:prstGeom prst="rect">
            <a:avLst/>
          </a:prstGeom>
          <a:noFill/>
        </p:spPr>
        <p:txBody>
          <a:bodyPr wrap="square" lIns="27432" tIns="13716" rIns="27432" bIns="13716" anchor="t">
            <a:spAutoFit/>
          </a:bodyPr>
          <a:lstStyle/>
          <a:p>
            <a:pPr algn="l">
              <a:defRPr sz="350" b="1">
                <a:solidFill>
                  <a:srgbClr val="827D9B"/>
                </a:solidFill>
                <a:latin typeface="Noto Sans CJK KR"/>
              </a:defRPr>
            </a:pPr>
            <a:r>
              <a:rPr sz="263"/>
              <a:t>사업관리 0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4265676" y="3440107"/>
            <a:ext cx="411480" cy="137160"/>
          </a:xfrm>
          <a:prstGeom prst="roundRect">
            <a:avLst/>
          </a:prstGeom>
          <a:solidFill>
            <a:srgbClr val="373457"/>
          </a:solidFill>
          <a:ln w="10160">
            <a:solidFill>
              <a:srgbClr val="17B7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50"/>
          </a:p>
        </p:txBody>
      </p:sp>
      <p:sp>
        <p:nvSpPr>
          <p:cNvPr id="92" name="Rectangle 91"/>
          <p:cNvSpPr/>
          <p:nvPr/>
        </p:nvSpPr>
        <p:spPr>
          <a:xfrm>
            <a:off x="4299966" y="3484685"/>
            <a:ext cx="30861" cy="30861"/>
          </a:xfrm>
          <a:prstGeom prst="rect">
            <a:avLst/>
          </a:prstGeom>
          <a:solidFill>
            <a:srgbClr val="17B7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50"/>
          </a:p>
        </p:txBody>
      </p:sp>
      <p:sp>
        <p:nvSpPr>
          <p:cNvPr id="93" name="TextBox 92"/>
          <p:cNvSpPr txBox="1"/>
          <p:nvPr/>
        </p:nvSpPr>
        <p:spPr>
          <a:xfrm>
            <a:off x="4334256" y="3473027"/>
            <a:ext cx="308609" cy="68160"/>
          </a:xfrm>
          <a:prstGeom prst="rect">
            <a:avLst/>
          </a:prstGeom>
          <a:noFill/>
        </p:spPr>
        <p:txBody>
          <a:bodyPr wrap="square" lIns="27432" tIns="13716" rIns="27432" bIns="13716" anchor="t">
            <a:spAutoFit/>
          </a:bodyPr>
          <a:lstStyle/>
          <a:p>
            <a:pPr algn="l">
              <a:defRPr sz="350" b="1">
                <a:solidFill>
                  <a:srgbClr val="FFFFFF"/>
                </a:solidFill>
                <a:latin typeface="Noto Sans CJK KR"/>
              </a:defRPr>
            </a:pPr>
            <a:r>
              <a:rPr sz="263"/>
              <a:t>QA 1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4745736" y="3440107"/>
            <a:ext cx="411480" cy="137160"/>
          </a:xfrm>
          <a:prstGeom prst="roundRect">
            <a:avLst/>
          </a:prstGeom>
          <a:solidFill>
            <a:srgbClr val="373457"/>
          </a:solidFill>
          <a:ln w="10160">
            <a:solidFill>
              <a:srgbClr val="524E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50"/>
          </a:p>
        </p:txBody>
      </p:sp>
      <p:sp>
        <p:nvSpPr>
          <p:cNvPr id="95" name="Rectangle 94"/>
          <p:cNvSpPr/>
          <p:nvPr/>
        </p:nvSpPr>
        <p:spPr>
          <a:xfrm>
            <a:off x="4780026" y="3484685"/>
            <a:ext cx="30861" cy="30861"/>
          </a:xfrm>
          <a:prstGeom prst="rect">
            <a:avLst/>
          </a:prstGeom>
          <a:solidFill>
            <a:srgbClr val="7885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50"/>
          </a:p>
        </p:txBody>
      </p:sp>
      <p:sp>
        <p:nvSpPr>
          <p:cNvPr id="96" name="TextBox 95"/>
          <p:cNvSpPr txBox="1"/>
          <p:nvPr/>
        </p:nvSpPr>
        <p:spPr>
          <a:xfrm>
            <a:off x="4814317" y="3473027"/>
            <a:ext cx="308609" cy="68160"/>
          </a:xfrm>
          <a:prstGeom prst="rect">
            <a:avLst/>
          </a:prstGeom>
          <a:noFill/>
        </p:spPr>
        <p:txBody>
          <a:bodyPr wrap="square" lIns="27432" tIns="13716" rIns="27432" bIns="13716" anchor="t">
            <a:spAutoFit/>
          </a:bodyPr>
          <a:lstStyle/>
          <a:p>
            <a:pPr algn="l">
              <a:defRPr sz="350" b="1">
                <a:solidFill>
                  <a:srgbClr val="827D9B"/>
                </a:solidFill>
                <a:latin typeface="Noto Sans CJK KR"/>
              </a:defRPr>
            </a:pPr>
            <a:r>
              <a:rPr sz="263"/>
              <a:t>기타 1</a:t>
            </a:r>
          </a:p>
        </p:txBody>
      </p:sp>
      <p:sp>
        <p:nvSpPr>
          <p:cNvPr id="97" name="Oval 96"/>
          <p:cNvSpPr/>
          <p:nvPr/>
        </p:nvSpPr>
        <p:spPr>
          <a:xfrm>
            <a:off x="1597914" y="3398960"/>
            <a:ext cx="109728" cy="109728"/>
          </a:xfrm>
          <a:prstGeom prst="ellipse">
            <a:avLst/>
          </a:prstGeom>
          <a:solidFill>
            <a:srgbClr val="E60012"/>
          </a:solidFill>
          <a:ln>
            <a:solidFill>
              <a:srgbClr val="E600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defRPr sz="800" b="1">
                <a:solidFill>
                  <a:srgbClr val="FFFFFF"/>
                </a:solidFill>
                <a:latin typeface="Noto Sans CJK KR"/>
              </a:defRPr>
            </a:pPr>
            <a:r>
              <a:rPr sz="600"/>
              <a:t>5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611630" y="3652706"/>
            <a:ext cx="3717036" cy="137160"/>
          </a:xfrm>
          <a:prstGeom prst="rect">
            <a:avLst/>
          </a:prstGeom>
          <a:solidFill>
            <a:srgbClr val="18162E"/>
          </a:solidFill>
          <a:ln w="10160">
            <a:solidFill>
              <a:srgbClr val="4642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50"/>
          </a:p>
        </p:txBody>
      </p:sp>
      <p:sp>
        <p:nvSpPr>
          <p:cNvPr id="99" name="TextBox 98"/>
          <p:cNvSpPr txBox="1"/>
          <p:nvPr/>
        </p:nvSpPr>
        <p:spPr>
          <a:xfrm>
            <a:off x="1680210" y="3680138"/>
            <a:ext cx="342900" cy="68160"/>
          </a:xfrm>
          <a:prstGeom prst="rect">
            <a:avLst/>
          </a:prstGeom>
          <a:noFill/>
        </p:spPr>
        <p:txBody>
          <a:bodyPr wrap="square" lIns="27432" tIns="13716" rIns="27432" bIns="13716" anchor="t">
            <a:spAutoFit/>
          </a:bodyPr>
          <a:lstStyle/>
          <a:p>
            <a:pPr algn="l">
              <a:defRPr sz="350" b="1">
                <a:solidFill>
                  <a:srgbClr val="FFFFFF"/>
                </a:solidFill>
                <a:latin typeface="Noto Sans CJK KR"/>
              </a:defRPr>
            </a:pPr>
            <a:r>
              <a:rPr sz="263"/>
              <a:t>투입 인력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2352293" y="3680138"/>
            <a:ext cx="342900" cy="68160"/>
          </a:xfrm>
          <a:prstGeom prst="rect">
            <a:avLst/>
          </a:prstGeom>
          <a:noFill/>
        </p:spPr>
        <p:txBody>
          <a:bodyPr wrap="square" lIns="27432" tIns="13716" rIns="27432" bIns="13716" anchor="t">
            <a:spAutoFit/>
          </a:bodyPr>
          <a:lstStyle/>
          <a:p>
            <a:pPr algn="l">
              <a:defRPr sz="350" b="0">
                <a:solidFill>
                  <a:srgbClr val="96D7FF"/>
                </a:solidFill>
                <a:latin typeface="Noto Sans CJK KR"/>
              </a:defRPr>
            </a:pPr>
            <a:r>
              <a:rPr sz="263"/>
              <a:t>2026.06.16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869180" y="3680138"/>
            <a:ext cx="342900" cy="68160"/>
          </a:xfrm>
          <a:prstGeom prst="rect">
            <a:avLst/>
          </a:prstGeom>
          <a:noFill/>
        </p:spPr>
        <p:txBody>
          <a:bodyPr wrap="square" lIns="27432" tIns="13716" rIns="27432" bIns="13716" anchor="t">
            <a:spAutoFit/>
          </a:bodyPr>
          <a:lstStyle/>
          <a:p>
            <a:pPr algn="r">
              <a:defRPr sz="350" b="0">
                <a:solidFill>
                  <a:srgbClr val="96D7FF"/>
                </a:solidFill>
                <a:latin typeface="Noto Sans CJK KR"/>
              </a:defRPr>
            </a:pPr>
            <a:r>
              <a:rPr sz="263"/>
              <a:t>2026.10.29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1611630" y="3789866"/>
            <a:ext cx="651510" cy="205740"/>
          </a:xfrm>
          <a:prstGeom prst="rect">
            <a:avLst/>
          </a:prstGeom>
          <a:solidFill>
            <a:srgbClr val="2E2C4F"/>
          </a:solidFill>
          <a:ln w="10160">
            <a:solidFill>
              <a:srgbClr val="4642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50"/>
          </a:p>
        </p:txBody>
      </p:sp>
      <p:sp>
        <p:nvSpPr>
          <p:cNvPr id="103" name="TextBox 102"/>
          <p:cNvSpPr txBox="1"/>
          <p:nvPr/>
        </p:nvSpPr>
        <p:spPr>
          <a:xfrm>
            <a:off x="1680210" y="3824156"/>
            <a:ext cx="480060" cy="108619"/>
          </a:xfrm>
          <a:prstGeom prst="rect">
            <a:avLst/>
          </a:prstGeom>
          <a:noFill/>
        </p:spPr>
        <p:txBody>
          <a:bodyPr wrap="square" lIns="27432" tIns="13716" rIns="27432" bIns="13716" anchor="t">
            <a:spAutoFit/>
          </a:bodyPr>
          <a:lstStyle/>
          <a:p>
            <a:pPr algn="l">
              <a:defRPr sz="350" b="1">
                <a:solidFill>
                  <a:srgbClr val="FFFFFF"/>
                </a:solidFill>
                <a:latin typeface="Noto Sans CJK KR"/>
              </a:defRPr>
            </a:pPr>
            <a:r>
              <a:rPr sz="263"/>
              <a:t>프로젝트 전체</a:t>
            </a:r>
            <a:br>
              <a:rPr sz="263"/>
            </a:br>
            <a:r>
              <a:rPr sz="263"/>
              <a:t>2026.06.16 ~ 2026.10.29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2324861" y="3851588"/>
            <a:ext cx="2921508" cy="75438"/>
          </a:xfrm>
          <a:prstGeom prst="roundRect">
            <a:avLst/>
          </a:prstGeom>
          <a:solidFill>
            <a:srgbClr val="7C26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50"/>
          </a:p>
        </p:txBody>
      </p:sp>
      <p:sp>
        <p:nvSpPr>
          <p:cNvPr id="105" name="TextBox 104"/>
          <p:cNvSpPr txBox="1"/>
          <p:nvPr/>
        </p:nvSpPr>
        <p:spPr>
          <a:xfrm>
            <a:off x="2379726" y="3857075"/>
            <a:ext cx="377190" cy="66941"/>
          </a:xfrm>
          <a:prstGeom prst="rect">
            <a:avLst/>
          </a:prstGeom>
          <a:noFill/>
        </p:spPr>
        <p:txBody>
          <a:bodyPr wrap="square" lIns="27432" tIns="13716" rIns="27432" bIns="13716" anchor="t">
            <a:spAutoFit/>
          </a:bodyPr>
          <a:lstStyle/>
          <a:p>
            <a:pPr algn="l">
              <a:defRPr sz="340" b="1">
                <a:solidFill>
                  <a:srgbClr val="FFFFFF"/>
                </a:solidFill>
                <a:latin typeface="Noto Sans CJK KR"/>
              </a:defRPr>
            </a:pPr>
            <a:r>
              <a:rPr sz="255"/>
              <a:t>프로젝트 기간</a:t>
            </a:r>
          </a:p>
        </p:txBody>
      </p:sp>
      <p:sp>
        <p:nvSpPr>
          <p:cNvPr id="106" name="Oval 105"/>
          <p:cNvSpPr/>
          <p:nvPr/>
        </p:nvSpPr>
        <p:spPr>
          <a:xfrm>
            <a:off x="2297430" y="3789866"/>
            <a:ext cx="109728" cy="109728"/>
          </a:xfrm>
          <a:prstGeom prst="ellipse">
            <a:avLst/>
          </a:prstGeom>
          <a:solidFill>
            <a:srgbClr val="E60012"/>
          </a:solidFill>
          <a:ln>
            <a:solidFill>
              <a:srgbClr val="E600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defRPr sz="800" b="1">
                <a:solidFill>
                  <a:srgbClr val="FFFFFF"/>
                </a:solidFill>
                <a:latin typeface="Noto Sans CJK KR"/>
              </a:defRPr>
            </a:pPr>
            <a:r>
              <a:rPr sz="600"/>
              <a:t>6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1611630" y="3995606"/>
            <a:ext cx="651510" cy="137160"/>
          </a:xfrm>
          <a:prstGeom prst="rect">
            <a:avLst/>
          </a:prstGeom>
          <a:solidFill>
            <a:srgbClr val="2E2C4F"/>
          </a:solidFill>
          <a:ln w="10160">
            <a:solidFill>
              <a:srgbClr val="4642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50"/>
          </a:p>
        </p:txBody>
      </p:sp>
      <p:sp>
        <p:nvSpPr>
          <p:cNvPr id="108" name="Rectangle 107"/>
          <p:cNvSpPr/>
          <p:nvPr/>
        </p:nvSpPr>
        <p:spPr>
          <a:xfrm>
            <a:off x="1680210" y="4023038"/>
            <a:ext cx="30861" cy="30861"/>
          </a:xfrm>
          <a:prstGeom prst="rect">
            <a:avLst/>
          </a:prstGeom>
          <a:solidFill>
            <a:srgbClr val="2D86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50"/>
          </a:p>
        </p:txBody>
      </p:sp>
      <p:sp>
        <p:nvSpPr>
          <p:cNvPr id="109" name="TextBox 108"/>
          <p:cNvSpPr txBox="1"/>
          <p:nvPr/>
        </p:nvSpPr>
        <p:spPr>
          <a:xfrm>
            <a:off x="1735074" y="4016181"/>
            <a:ext cx="377190" cy="66941"/>
          </a:xfrm>
          <a:prstGeom prst="rect">
            <a:avLst/>
          </a:prstGeom>
          <a:noFill/>
        </p:spPr>
        <p:txBody>
          <a:bodyPr wrap="square" lIns="27432" tIns="13716" rIns="27432" bIns="13716" anchor="t">
            <a:spAutoFit/>
          </a:bodyPr>
          <a:lstStyle/>
          <a:p>
            <a:pPr algn="l">
              <a:defRPr sz="340" b="1">
                <a:solidFill>
                  <a:srgbClr val="FFFFFF"/>
                </a:solidFill>
                <a:latin typeface="Noto Sans CJK KR"/>
              </a:defRPr>
            </a:pPr>
            <a:r>
              <a:rPr sz="255"/>
              <a:t>PL</a:t>
            </a:r>
          </a:p>
        </p:txBody>
      </p:sp>
      <p:sp>
        <p:nvSpPr>
          <p:cNvPr id="110" name="Rounded Rectangle 109"/>
          <p:cNvSpPr/>
          <p:nvPr/>
        </p:nvSpPr>
        <p:spPr>
          <a:xfrm>
            <a:off x="2324861" y="4036753"/>
            <a:ext cx="288036" cy="68580"/>
          </a:xfrm>
          <a:prstGeom prst="roundRect">
            <a:avLst/>
          </a:prstGeom>
          <a:solidFill>
            <a:srgbClr val="2D86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50"/>
          </a:p>
        </p:txBody>
      </p:sp>
      <p:sp>
        <p:nvSpPr>
          <p:cNvPr id="111" name="TextBox 110"/>
          <p:cNvSpPr txBox="1"/>
          <p:nvPr/>
        </p:nvSpPr>
        <p:spPr>
          <a:xfrm>
            <a:off x="2366010" y="4039497"/>
            <a:ext cx="274320" cy="65852"/>
          </a:xfrm>
          <a:prstGeom prst="rect">
            <a:avLst/>
          </a:prstGeom>
          <a:noFill/>
        </p:spPr>
        <p:txBody>
          <a:bodyPr wrap="square" lIns="27432" tIns="13716" rIns="27432" bIns="13716" anchor="t">
            <a:spAutoFit/>
          </a:bodyPr>
          <a:lstStyle/>
          <a:p>
            <a:pPr algn="l">
              <a:defRPr sz="330" b="1">
                <a:solidFill>
                  <a:srgbClr val="FFFFFF"/>
                </a:solidFill>
                <a:latin typeface="Noto Sans CJK KR"/>
              </a:defRPr>
            </a:pPr>
            <a:r>
              <a:rPr sz="248"/>
              <a:t>윤지수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1611630" y="4132766"/>
            <a:ext cx="651510" cy="137160"/>
          </a:xfrm>
          <a:prstGeom prst="rect">
            <a:avLst/>
          </a:prstGeom>
          <a:solidFill>
            <a:srgbClr val="2E2C4F"/>
          </a:solidFill>
          <a:ln w="10160">
            <a:solidFill>
              <a:srgbClr val="4642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50"/>
          </a:p>
        </p:txBody>
      </p:sp>
      <p:sp>
        <p:nvSpPr>
          <p:cNvPr id="113" name="Rectangle 112"/>
          <p:cNvSpPr/>
          <p:nvPr/>
        </p:nvSpPr>
        <p:spPr>
          <a:xfrm>
            <a:off x="1680210" y="4160198"/>
            <a:ext cx="30861" cy="30861"/>
          </a:xfrm>
          <a:prstGeom prst="rect">
            <a:avLst/>
          </a:prstGeom>
          <a:solidFill>
            <a:srgbClr val="18BC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50"/>
          </a:p>
        </p:txBody>
      </p:sp>
      <p:sp>
        <p:nvSpPr>
          <p:cNvPr id="114" name="TextBox 113"/>
          <p:cNvSpPr txBox="1"/>
          <p:nvPr/>
        </p:nvSpPr>
        <p:spPr>
          <a:xfrm>
            <a:off x="1735074" y="4153341"/>
            <a:ext cx="377190" cy="66941"/>
          </a:xfrm>
          <a:prstGeom prst="rect">
            <a:avLst/>
          </a:prstGeom>
          <a:noFill/>
        </p:spPr>
        <p:txBody>
          <a:bodyPr wrap="square" lIns="27432" tIns="13716" rIns="27432" bIns="13716" anchor="t">
            <a:spAutoFit/>
          </a:bodyPr>
          <a:lstStyle/>
          <a:p>
            <a:pPr algn="l">
              <a:defRPr sz="340" b="1">
                <a:solidFill>
                  <a:srgbClr val="FFFFFF"/>
                </a:solidFill>
                <a:latin typeface="Noto Sans CJK KR"/>
              </a:defRPr>
            </a:pPr>
            <a:r>
              <a:rPr sz="255"/>
              <a:t>개발자</a:t>
            </a:r>
          </a:p>
        </p:txBody>
      </p:sp>
      <p:sp>
        <p:nvSpPr>
          <p:cNvPr id="115" name="Rounded Rectangle 114"/>
          <p:cNvSpPr/>
          <p:nvPr/>
        </p:nvSpPr>
        <p:spPr>
          <a:xfrm>
            <a:off x="2324861" y="4173913"/>
            <a:ext cx="329184" cy="68580"/>
          </a:xfrm>
          <a:prstGeom prst="roundRect">
            <a:avLst/>
          </a:prstGeom>
          <a:solidFill>
            <a:srgbClr val="18BC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50"/>
          </a:p>
        </p:txBody>
      </p:sp>
      <p:sp>
        <p:nvSpPr>
          <p:cNvPr id="116" name="TextBox 115"/>
          <p:cNvSpPr txBox="1"/>
          <p:nvPr/>
        </p:nvSpPr>
        <p:spPr>
          <a:xfrm>
            <a:off x="2366010" y="4176657"/>
            <a:ext cx="274320" cy="65852"/>
          </a:xfrm>
          <a:prstGeom prst="rect">
            <a:avLst/>
          </a:prstGeom>
          <a:noFill/>
        </p:spPr>
        <p:txBody>
          <a:bodyPr wrap="square" lIns="27432" tIns="13716" rIns="27432" bIns="13716" anchor="t">
            <a:spAutoFit/>
          </a:bodyPr>
          <a:lstStyle/>
          <a:p>
            <a:pPr algn="l">
              <a:defRPr sz="330" b="1">
                <a:solidFill>
                  <a:srgbClr val="FFFFFF"/>
                </a:solidFill>
                <a:latin typeface="Noto Sans CJK KR"/>
              </a:defRPr>
            </a:pPr>
            <a:r>
              <a:rPr sz="248"/>
              <a:t>정다운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1611630" y="4269926"/>
            <a:ext cx="651510" cy="137160"/>
          </a:xfrm>
          <a:prstGeom prst="rect">
            <a:avLst/>
          </a:prstGeom>
          <a:solidFill>
            <a:srgbClr val="2E2C4F"/>
          </a:solidFill>
          <a:ln w="10160">
            <a:solidFill>
              <a:srgbClr val="4642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50"/>
          </a:p>
        </p:txBody>
      </p:sp>
      <p:sp>
        <p:nvSpPr>
          <p:cNvPr id="118" name="Rectangle 117"/>
          <p:cNvSpPr/>
          <p:nvPr/>
        </p:nvSpPr>
        <p:spPr>
          <a:xfrm>
            <a:off x="1680210" y="4297358"/>
            <a:ext cx="30861" cy="30861"/>
          </a:xfrm>
          <a:prstGeom prst="rect">
            <a:avLst/>
          </a:prstGeom>
          <a:solidFill>
            <a:srgbClr val="F44C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50"/>
          </a:p>
        </p:txBody>
      </p:sp>
      <p:sp>
        <p:nvSpPr>
          <p:cNvPr id="119" name="TextBox 118"/>
          <p:cNvSpPr txBox="1"/>
          <p:nvPr/>
        </p:nvSpPr>
        <p:spPr>
          <a:xfrm>
            <a:off x="1735074" y="4290501"/>
            <a:ext cx="377190" cy="66941"/>
          </a:xfrm>
          <a:prstGeom prst="rect">
            <a:avLst/>
          </a:prstGeom>
          <a:noFill/>
        </p:spPr>
        <p:txBody>
          <a:bodyPr wrap="square" lIns="27432" tIns="13716" rIns="27432" bIns="13716" anchor="t">
            <a:spAutoFit/>
          </a:bodyPr>
          <a:lstStyle/>
          <a:p>
            <a:pPr algn="l">
              <a:defRPr sz="340" b="1">
                <a:solidFill>
                  <a:srgbClr val="FFFFFF"/>
                </a:solidFill>
                <a:latin typeface="Noto Sans CJK KR"/>
              </a:defRPr>
            </a:pPr>
            <a:r>
              <a:rPr sz="255"/>
              <a:t>나도연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2324861" y="4311074"/>
            <a:ext cx="329184" cy="68580"/>
          </a:xfrm>
          <a:prstGeom prst="roundRect">
            <a:avLst/>
          </a:prstGeom>
          <a:solidFill>
            <a:srgbClr val="F44C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50"/>
          </a:p>
        </p:txBody>
      </p:sp>
      <p:sp>
        <p:nvSpPr>
          <p:cNvPr id="121" name="TextBox 120"/>
          <p:cNvSpPr txBox="1"/>
          <p:nvPr/>
        </p:nvSpPr>
        <p:spPr>
          <a:xfrm>
            <a:off x="2366010" y="4313817"/>
            <a:ext cx="274320" cy="65852"/>
          </a:xfrm>
          <a:prstGeom prst="rect">
            <a:avLst/>
          </a:prstGeom>
          <a:noFill/>
        </p:spPr>
        <p:txBody>
          <a:bodyPr wrap="square" lIns="27432" tIns="13716" rIns="27432" bIns="13716" anchor="t">
            <a:spAutoFit/>
          </a:bodyPr>
          <a:lstStyle/>
          <a:p>
            <a:pPr algn="l">
              <a:defRPr sz="330" b="1">
                <a:solidFill>
                  <a:srgbClr val="FFFFFF"/>
                </a:solidFill>
                <a:latin typeface="Noto Sans CJK KR"/>
              </a:defRPr>
            </a:pPr>
            <a:r>
              <a:rPr sz="248"/>
              <a:t>나도연</a:t>
            </a:r>
          </a:p>
        </p:txBody>
      </p:sp>
      <p:sp>
        <p:nvSpPr>
          <p:cNvPr id="122" name="Oval 121"/>
          <p:cNvSpPr/>
          <p:nvPr/>
        </p:nvSpPr>
        <p:spPr>
          <a:xfrm>
            <a:off x="2276856" y="4077902"/>
            <a:ext cx="109728" cy="109728"/>
          </a:xfrm>
          <a:prstGeom prst="ellipse">
            <a:avLst/>
          </a:prstGeom>
          <a:solidFill>
            <a:srgbClr val="E60012"/>
          </a:solidFill>
          <a:ln>
            <a:solidFill>
              <a:srgbClr val="E600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defRPr sz="800" b="1">
                <a:solidFill>
                  <a:srgbClr val="FFFFFF"/>
                </a:solidFill>
                <a:latin typeface="Noto Sans CJK KR"/>
              </a:defRPr>
            </a:pPr>
            <a:r>
              <a:rPr sz="600"/>
              <a:t>7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2482596" y="4331648"/>
            <a:ext cx="603504" cy="356616"/>
          </a:xfrm>
          <a:prstGeom prst="roundRect">
            <a:avLst/>
          </a:prstGeom>
          <a:solidFill>
            <a:srgbClr val="10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50"/>
          </a:p>
        </p:txBody>
      </p:sp>
      <p:sp>
        <p:nvSpPr>
          <p:cNvPr id="124" name="TextBox 123"/>
          <p:cNvSpPr txBox="1"/>
          <p:nvPr/>
        </p:nvSpPr>
        <p:spPr>
          <a:xfrm>
            <a:off x="2537460" y="4393370"/>
            <a:ext cx="500634" cy="149080"/>
          </a:xfrm>
          <a:prstGeom prst="rect">
            <a:avLst/>
          </a:prstGeom>
          <a:noFill/>
        </p:spPr>
        <p:txBody>
          <a:bodyPr wrap="square" lIns="27432" tIns="13716" rIns="27432" bIns="13716" anchor="t">
            <a:spAutoFit/>
          </a:bodyPr>
          <a:lstStyle/>
          <a:p>
            <a:pPr algn="l">
              <a:defRPr sz="350" b="0">
                <a:solidFill>
                  <a:srgbClr val="FFFFFF"/>
                </a:solidFill>
                <a:latin typeface="Noto Sans CJK KR"/>
              </a:defRPr>
            </a:pPr>
            <a:r>
              <a:rPr sz="263"/>
              <a:t>윤지수</a:t>
            </a:r>
            <a:br>
              <a:rPr sz="263"/>
            </a:br>
            <a:r>
              <a:rPr sz="263"/>
              <a:t>투입일: 2026.06.12</a:t>
            </a:r>
            <a:br>
              <a:rPr sz="263"/>
            </a:br>
            <a:r>
              <a:rPr sz="263"/>
              <a:t>철수일: 2026.07.02</a:t>
            </a:r>
          </a:p>
        </p:txBody>
      </p:sp>
      <p:sp>
        <p:nvSpPr>
          <p:cNvPr id="125" name="Oval 124"/>
          <p:cNvSpPr/>
          <p:nvPr/>
        </p:nvSpPr>
        <p:spPr>
          <a:xfrm>
            <a:off x="3024378" y="4338506"/>
            <a:ext cx="109728" cy="109728"/>
          </a:xfrm>
          <a:prstGeom prst="ellipse">
            <a:avLst/>
          </a:prstGeom>
          <a:solidFill>
            <a:srgbClr val="E60012"/>
          </a:solidFill>
          <a:ln>
            <a:solidFill>
              <a:srgbClr val="E600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defRPr sz="800" b="1">
                <a:solidFill>
                  <a:srgbClr val="FFFFFF"/>
                </a:solidFill>
                <a:latin typeface="Noto Sans CJK KR"/>
              </a:defRPr>
            </a:pPr>
            <a:r>
              <a:rPr sz="600"/>
              <a:t>8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5657850" y="980694"/>
            <a:ext cx="651510" cy="233172"/>
          </a:xfrm>
          <a:prstGeom prst="rect">
            <a:avLst/>
          </a:prstGeom>
          <a:solidFill>
            <a:srgbClr val="0B1F35"/>
          </a:solidFill>
          <a:ln w="10160">
            <a:solidFill>
              <a:srgbClr val="CED7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50"/>
          </a:p>
        </p:txBody>
      </p:sp>
      <p:sp>
        <p:nvSpPr>
          <p:cNvPr id="127" name="Rectangle 126"/>
          <p:cNvSpPr/>
          <p:nvPr/>
        </p:nvSpPr>
        <p:spPr>
          <a:xfrm>
            <a:off x="6309361" y="980694"/>
            <a:ext cx="2414015" cy="233172"/>
          </a:xfrm>
          <a:prstGeom prst="rect">
            <a:avLst/>
          </a:prstGeom>
          <a:solidFill>
            <a:srgbClr val="0B1F35"/>
          </a:solidFill>
          <a:ln w="10160">
            <a:solidFill>
              <a:srgbClr val="CED7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50"/>
          </a:p>
        </p:txBody>
      </p:sp>
      <p:sp>
        <p:nvSpPr>
          <p:cNvPr id="128" name="TextBox 127"/>
          <p:cNvSpPr txBox="1"/>
          <p:nvPr/>
        </p:nvSpPr>
        <p:spPr>
          <a:xfrm>
            <a:off x="5671567" y="1070467"/>
            <a:ext cx="624077" cy="108491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ctr">
              <a:defRPr sz="700" b="1">
                <a:solidFill>
                  <a:srgbClr val="FFFFFF"/>
                </a:solidFill>
                <a:latin typeface="Noto Sans CJK KR"/>
              </a:defRPr>
            </a:pPr>
            <a:r>
              <a:rPr sz="525"/>
              <a:t>구분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323076" y="1070467"/>
            <a:ext cx="2386583" cy="108491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ctr">
              <a:defRPr sz="700" b="1">
                <a:solidFill>
                  <a:srgbClr val="FFFFFF"/>
                </a:solidFill>
                <a:latin typeface="Noto Sans CJK KR"/>
              </a:defRPr>
            </a:pPr>
            <a:r>
              <a:rPr sz="525"/>
              <a:t>기획 내용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5657850" y="1210017"/>
            <a:ext cx="651510" cy="257626"/>
          </a:xfrm>
          <a:prstGeom prst="rect">
            <a:avLst/>
          </a:prstGeom>
          <a:solidFill>
            <a:srgbClr val="FFFFFF"/>
          </a:solidFill>
          <a:ln w="10160">
            <a:solidFill>
              <a:srgbClr val="CED7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50"/>
          </a:p>
        </p:txBody>
      </p:sp>
      <p:sp>
        <p:nvSpPr>
          <p:cNvPr id="131" name="Rectangle 130"/>
          <p:cNvSpPr/>
          <p:nvPr/>
        </p:nvSpPr>
        <p:spPr>
          <a:xfrm>
            <a:off x="6309361" y="1210017"/>
            <a:ext cx="2414015" cy="257626"/>
          </a:xfrm>
          <a:prstGeom prst="rect">
            <a:avLst/>
          </a:prstGeom>
          <a:solidFill>
            <a:srgbClr val="FFFFFF"/>
          </a:solidFill>
          <a:ln w="10160">
            <a:solidFill>
              <a:srgbClr val="CED7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50"/>
          </a:p>
        </p:txBody>
      </p:sp>
      <p:sp>
        <p:nvSpPr>
          <p:cNvPr id="132" name="TextBox 131"/>
          <p:cNvSpPr txBox="1"/>
          <p:nvPr/>
        </p:nvSpPr>
        <p:spPr>
          <a:xfrm>
            <a:off x="5698998" y="1264466"/>
            <a:ext cx="569214" cy="99258"/>
          </a:xfrm>
          <a:prstGeom prst="rect">
            <a:avLst/>
          </a:prstGeom>
          <a:noFill/>
        </p:spPr>
        <p:txBody>
          <a:bodyPr wrap="square" lIns="27432" tIns="13716" rIns="27432" bIns="13716" anchor="t">
            <a:spAutoFit/>
          </a:bodyPr>
          <a:lstStyle/>
          <a:p>
            <a:pPr algn="l">
              <a:defRPr sz="620" b="0">
                <a:solidFill>
                  <a:srgbClr val="0F172A"/>
                </a:solidFill>
                <a:latin typeface="Noto Sans CJK KR"/>
              </a:defRPr>
            </a:pPr>
            <a:r>
              <a:rPr sz="465"/>
              <a:t>1. 기본 정보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6364225" y="1251837"/>
            <a:ext cx="2304287" cy="161583"/>
          </a:xfrm>
          <a:prstGeom prst="rect">
            <a:avLst/>
          </a:prstGeom>
          <a:noFill/>
        </p:spPr>
        <p:txBody>
          <a:bodyPr wrap="square" lIns="27432" tIns="13716" rIns="27432" bIns="13716" anchor="t">
            <a:spAutoFit/>
          </a:bodyPr>
          <a:lstStyle/>
          <a:p>
            <a:pPr algn="l">
              <a:defRPr sz="580" b="0">
                <a:solidFill>
                  <a:srgbClr val="0F172A"/>
                </a:solidFill>
                <a:latin typeface="Noto Sans CJK KR"/>
              </a:defRPr>
            </a:pPr>
            <a:r>
              <a:rPr sz="435"/>
              <a:t>프로젝트명/고객사/프로젝트 기간/상태/진척도/기술스택 조회</a:t>
            </a:r>
            <a:br>
              <a:rPr sz="435"/>
            </a:br>
            <a:r>
              <a:rPr sz="435"/>
              <a:t>프로젝트 현황 및 진척도 즉시 확인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5657850" y="1471143"/>
            <a:ext cx="651510" cy="220656"/>
          </a:xfrm>
          <a:prstGeom prst="rect">
            <a:avLst/>
          </a:prstGeom>
          <a:solidFill>
            <a:srgbClr val="FFFFFF"/>
          </a:solidFill>
          <a:ln w="10160">
            <a:solidFill>
              <a:srgbClr val="CED7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50"/>
          </a:p>
        </p:txBody>
      </p:sp>
      <p:sp>
        <p:nvSpPr>
          <p:cNvPr id="135" name="Rectangle 134"/>
          <p:cNvSpPr/>
          <p:nvPr/>
        </p:nvSpPr>
        <p:spPr>
          <a:xfrm>
            <a:off x="6309361" y="1471143"/>
            <a:ext cx="2414015" cy="220656"/>
          </a:xfrm>
          <a:prstGeom prst="rect">
            <a:avLst/>
          </a:prstGeom>
          <a:solidFill>
            <a:srgbClr val="FFFFFF"/>
          </a:solidFill>
          <a:ln w="10160">
            <a:solidFill>
              <a:srgbClr val="CED7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50"/>
          </a:p>
        </p:txBody>
      </p:sp>
      <p:sp>
        <p:nvSpPr>
          <p:cNvPr id="136" name="TextBox 135"/>
          <p:cNvSpPr txBox="1"/>
          <p:nvPr/>
        </p:nvSpPr>
        <p:spPr>
          <a:xfrm>
            <a:off x="5698998" y="1520310"/>
            <a:ext cx="569214" cy="99258"/>
          </a:xfrm>
          <a:prstGeom prst="rect">
            <a:avLst/>
          </a:prstGeom>
          <a:noFill/>
        </p:spPr>
        <p:txBody>
          <a:bodyPr wrap="square" lIns="27432" tIns="13716" rIns="27432" bIns="13716" anchor="t">
            <a:spAutoFit/>
          </a:bodyPr>
          <a:lstStyle/>
          <a:p>
            <a:pPr algn="l">
              <a:defRPr sz="620" b="0">
                <a:solidFill>
                  <a:srgbClr val="0F172A"/>
                </a:solidFill>
                <a:latin typeface="Noto Sans CJK KR"/>
              </a:defRPr>
            </a:pPr>
            <a:r>
              <a:rPr sz="465"/>
              <a:t>2. 액션 버튼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6364225" y="1486876"/>
            <a:ext cx="2304287" cy="228524"/>
          </a:xfrm>
          <a:prstGeom prst="rect">
            <a:avLst/>
          </a:prstGeom>
          <a:noFill/>
        </p:spPr>
        <p:txBody>
          <a:bodyPr wrap="square" lIns="27432" tIns="13716" rIns="27432" bIns="13716" anchor="t">
            <a:spAutoFit/>
          </a:bodyPr>
          <a:lstStyle/>
          <a:p>
            <a:pPr algn="l">
              <a:defRPr sz="580" b="0">
                <a:solidFill>
                  <a:srgbClr val="0F172A"/>
                </a:solidFill>
                <a:latin typeface="Noto Sans CJK KR"/>
              </a:defRPr>
            </a:pPr>
            <a:r>
              <a:rPr sz="435" dirty="0" err="1"/>
              <a:t>목록으로</a:t>
            </a:r>
            <a:r>
              <a:rPr sz="435" dirty="0"/>
              <a:t>: </a:t>
            </a:r>
            <a:r>
              <a:rPr sz="435" dirty="0" err="1"/>
              <a:t>프로젝트</a:t>
            </a:r>
            <a:r>
              <a:rPr sz="435" dirty="0"/>
              <a:t> </a:t>
            </a:r>
            <a:r>
              <a:rPr sz="435" dirty="0" err="1"/>
              <a:t>목록</a:t>
            </a:r>
            <a:r>
              <a:rPr sz="435" dirty="0"/>
              <a:t> </a:t>
            </a:r>
            <a:r>
              <a:rPr sz="435" dirty="0" err="1"/>
              <a:t>화면</a:t>
            </a:r>
            <a:r>
              <a:rPr sz="435" dirty="0"/>
              <a:t> </a:t>
            </a:r>
            <a:r>
              <a:rPr sz="435" dirty="0" err="1"/>
              <a:t>이동</a:t>
            </a:r>
            <a:r>
              <a:rPr sz="435" dirty="0"/>
              <a:t/>
            </a:r>
            <a:br>
              <a:rPr sz="435" dirty="0"/>
            </a:br>
            <a:r>
              <a:rPr sz="435" dirty="0" err="1"/>
              <a:t>수정</a:t>
            </a:r>
            <a:r>
              <a:rPr sz="435" dirty="0"/>
              <a:t>: </a:t>
            </a:r>
            <a:r>
              <a:rPr sz="435" dirty="0" err="1"/>
              <a:t>프로젝트</a:t>
            </a:r>
            <a:r>
              <a:rPr sz="435" dirty="0"/>
              <a:t> </a:t>
            </a:r>
            <a:r>
              <a:rPr sz="435" dirty="0" err="1"/>
              <a:t>수정</a:t>
            </a:r>
            <a:r>
              <a:rPr sz="435" dirty="0"/>
              <a:t> </a:t>
            </a:r>
            <a:r>
              <a:rPr sz="435" dirty="0" err="1"/>
              <a:t>화면</a:t>
            </a:r>
            <a:r>
              <a:rPr sz="435" dirty="0"/>
              <a:t> </a:t>
            </a:r>
            <a:r>
              <a:rPr sz="435" dirty="0" err="1"/>
              <a:t>이동</a:t>
            </a:r>
            <a:r>
              <a:rPr sz="435" dirty="0"/>
              <a:t/>
            </a:r>
            <a:br>
              <a:rPr sz="435" dirty="0"/>
            </a:br>
            <a:r>
              <a:rPr sz="435" dirty="0" err="1"/>
              <a:t>인력</a:t>
            </a:r>
            <a:r>
              <a:rPr sz="435" dirty="0"/>
              <a:t> </a:t>
            </a:r>
            <a:r>
              <a:rPr sz="435" dirty="0" err="1"/>
              <a:t>배정</a:t>
            </a:r>
            <a:r>
              <a:rPr sz="435" dirty="0"/>
              <a:t>: </a:t>
            </a:r>
            <a:r>
              <a:rPr sz="435" dirty="0" err="1"/>
              <a:t>해당</a:t>
            </a:r>
            <a:r>
              <a:rPr sz="435" dirty="0"/>
              <a:t> </a:t>
            </a:r>
            <a:r>
              <a:rPr sz="435" dirty="0" err="1"/>
              <a:t>프로젝트</a:t>
            </a:r>
            <a:r>
              <a:rPr sz="435" dirty="0"/>
              <a:t> </a:t>
            </a:r>
            <a:r>
              <a:rPr sz="435" dirty="0" err="1"/>
              <a:t>기준</a:t>
            </a:r>
            <a:r>
              <a:rPr sz="435" dirty="0"/>
              <a:t> </a:t>
            </a:r>
            <a:r>
              <a:rPr sz="435" dirty="0" err="1"/>
              <a:t>배정</a:t>
            </a:r>
            <a:r>
              <a:rPr sz="435" dirty="0"/>
              <a:t> </a:t>
            </a:r>
            <a:r>
              <a:rPr sz="435" dirty="0" err="1"/>
              <a:t>화면</a:t>
            </a:r>
            <a:r>
              <a:rPr sz="435" dirty="0"/>
              <a:t> </a:t>
            </a:r>
            <a:r>
              <a:rPr sz="435" dirty="0" err="1"/>
              <a:t>이동</a:t>
            </a:r>
            <a:endParaRPr sz="435" dirty="0"/>
          </a:p>
        </p:txBody>
      </p:sp>
      <p:sp>
        <p:nvSpPr>
          <p:cNvPr id="138" name="Rectangle 137"/>
          <p:cNvSpPr/>
          <p:nvPr/>
        </p:nvSpPr>
        <p:spPr>
          <a:xfrm>
            <a:off x="5657850" y="1690874"/>
            <a:ext cx="651510" cy="216785"/>
          </a:xfrm>
          <a:prstGeom prst="rect">
            <a:avLst/>
          </a:prstGeom>
          <a:solidFill>
            <a:srgbClr val="FFFFFF"/>
          </a:solidFill>
          <a:ln w="10160">
            <a:solidFill>
              <a:srgbClr val="CED7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50"/>
          </a:p>
        </p:txBody>
      </p:sp>
      <p:sp>
        <p:nvSpPr>
          <p:cNvPr id="139" name="Rectangle 138"/>
          <p:cNvSpPr/>
          <p:nvPr/>
        </p:nvSpPr>
        <p:spPr>
          <a:xfrm>
            <a:off x="6309361" y="1690874"/>
            <a:ext cx="2414015" cy="216785"/>
          </a:xfrm>
          <a:prstGeom prst="rect">
            <a:avLst/>
          </a:prstGeom>
          <a:solidFill>
            <a:srgbClr val="FFFFFF"/>
          </a:solidFill>
          <a:ln w="10160">
            <a:solidFill>
              <a:srgbClr val="CED7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50"/>
          </a:p>
        </p:txBody>
      </p:sp>
      <p:sp>
        <p:nvSpPr>
          <p:cNvPr id="140" name="TextBox 139"/>
          <p:cNvSpPr txBox="1"/>
          <p:nvPr/>
        </p:nvSpPr>
        <p:spPr>
          <a:xfrm>
            <a:off x="5698998" y="1740040"/>
            <a:ext cx="569214" cy="99258"/>
          </a:xfrm>
          <a:prstGeom prst="rect">
            <a:avLst/>
          </a:prstGeom>
          <a:noFill/>
        </p:spPr>
        <p:txBody>
          <a:bodyPr wrap="square" lIns="27432" tIns="13716" rIns="27432" bIns="13716" anchor="t">
            <a:spAutoFit/>
          </a:bodyPr>
          <a:lstStyle/>
          <a:p>
            <a:pPr algn="l">
              <a:defRPr sz="620" b="0">
                <a:solidFill>
                  <a:srgbClr val="0F172A"/>
                </a:solidFill>
                <a:latin typeface="Noto Sans CJK KR"/>
              </a:defRPr>
            </a:pPr>
            <a:r>
              <a:rPr sz="465"/>
              <a:t>3. 탭 메뉴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364225" y="1727816"/>
            <a:ext cx="2304287" cy="161583"/>
          </a:xfrm>
          <a:prstGeom prst="rect">
            <a:avLst/>
          </a:prstGeom>
          <a:noFill/>
        </p:spPr>
        <p:txBody>
          <a:bodyPr wrap="square" lIns="27432" tIns="13716" rIns="27432" bIns="13716" anchor="t">
            <a:spAutoFit/>
          </a:bodyPr>
          <a:lstStyle/>
          <a:p>
            <a:pPr algn="l">
              <a:defRPr sz="580" b="0">
                <a:solidFill>
                  <a:srgbClr val="0F172A"/>
                </a:solidFill>
                <a:latin typeface="Noto Sans CJK KR"/>
              </a:defRPr>
            </a:pPr>
            <a:r>
              <a:rPr sz="435"/>
              <a:t>기본정보/투입이력/일정/계약정보 탭 구성</a:t>
            </a:r>
            <a:br>
              <a:rPr sz="435"/>
            </a:br>
            <a:r>
              <a:rPr sz="435"/>
              <a:t>일정 탭 선택 시 캘린더형 투입 일정 영역 표시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5657850" y="1907826"/>
            <a:ext cx="651510" cy="205172"/>
          </a:xfrm>
          <a:prstGeom prst="rect">
            <a:avLst/>
          </a:prstGeom>
          <a:solidFill>
            <a:srgbClr val="FFFFFF"/>
          </a:solidFill>
          <a:ln w="10160">
            <a:solidFill>
              <a:srgbClr val="CED7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50"/>
          </a:p>
        </p:txBody>
      </p:sp>
      <p:sp>
        <p:nvSpPr>
          <p:cNvPr id="143" name="Rectangle 142"/>
          <p:cNvSpPr/>
          <p:nvPr/>
        </p:nvSpPr>
        <p:spPr>
          <a:xfrm>
            <a:off x="6309361" y="1907826"/>
            <a:ext cx="2414015" cy="205172"/>
          </a:xfrm>
          <a:prstGeom prst="rect">
            <a:avLst/>
          </a:prstGeom>
          <a:solidFill>
            <a:srgbClr val="FFFFFF"/>
          </a:solidFill>
          <a:ln w="10160">
            <a:solidFill>
              <a:srgbClr val="CED7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50"/>
          </a:p>
        </p:txBody>
      </p:sp>
      <p:sp>
        <p:nvSpPr>
          <p:cNvPr id="144" name="TextBox 143"/>
          <p:cNvSpPr txBox="1"/>
          <p:nvPr/>
        </p:nvSpPr>
        <p:spPr>
          <a:xfrm>
            <a:off x="5698998" y="1956991"/>
            <a:ext cx="569214" cy="99258"/>
          </a:xfrm>
          <a:prstGeom prst="rect">
            <a:avLst/>
          </a:prstGeom>
          <a:noFill/>
        </p:spPr>
        <p:txBody>
          <a:bodyPr wrap="square" lIns="27432" tIns="13716" rIns="27432" bIns="13716" anchor="t">
            <a:spAutoFit/>
          </a:bodyPr>
          <a:lstStyle/>
          <a:p>
            <a:pPr algn="l">
              <a:defRPr sz="620" b="0">
                <a:solidFill>
                  <a:srgbClr val="0F172A"/>
                </a:solidFill>
                <a:latin typeface="Noto Sans CJK KR"/>
              </a:defRPr>
            </a:pPr>
            <a:r>
              <a:rPr sz="465"/>
              <a:t>4. 일정 요약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6364225" y="1944768"/>
            <a:ext cx="2304287" cy="161583"/>
          </a:xfrm>
          <a:prstGeom prst="rect">
            <a:avLst/>
          </a:prstGeom>
          <a:noFill/>
        </p:spPr>
        <p:txBody>
          <a:bodyPr wrap="square" lIns="27432" tIns="13716" rIns="27432" bIns="13716" anchor="t">
            <a:spAutoFit/>
          </a:bodyPr>
          <a:lstStyle/>
          <a:p>
            <a:pPr algn="l">
              <a:defRPr sz="580" b="0">
                <a:solidFill>
                  <a:srgbClr val="0F172A"/>
                </a:solidFill>
                <a:latin typeface="Noto Sans CJK KR"/>
              </a:defRPr>
            </a:pPr>
            <a:r>
              <a:rPr sz="435"/>
              <a:t>프로젝트 기간, 투입 인원, 역할군 수 카드로 요약</a:t>
            </a:r>
            <a:br>
              <a:rPr sz="435"/>
            </a:br>
            <a:r>
              <a:rPr sz="435"/>
              <a:t>하단 캘린더 범위와 동일한 기간 기준 사용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5657850" y="2116945"/>
            <a:ext cx="651510" cy="263239"/>
          </a:xfrm>
          <a:prstGeom prst="rect">
            <a:avLst/>
          </a:prstGeom>
          <a:solidFill>
            <a:srgbClr val="FFFFFF"/>
          </a:solidFill>
          <a:ln w="10160">
            <a:solidFill>
              <a:srgbClr val="CED7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50"/>
          </a:p>
        </p:txBody>
      </p:sp>
      <p:sp>
        <p:nvSpPr>
          <p:cNvPr id="147" name="Rectangle 146"/>
          <p:cNvSpPr/>
          <p:nvPr/>
        </p:nvSpPr>
        <p:spPr>
          <a:xfrm>
            <a:off x="6309361" y="2116945"/>
            <a:ext cx="2414015" cy="263239"/>
          </a:xfrm>
          <a:prstGeom prst="rect">
            <a:avLst/>
          </a:prstGeom>
          <a:solidFill>
            <a:srgbClr val="FFFFFF"/>
          </a:solidFill>
          <a:ln w="10160">
            <a:solidFill>
              <a:srgbClr val="CED7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50"/>
          </a:p>
        </p:txBody>
      </p:sp>
      <p:sp>
        <p:nvSpPr>
          <p:cNvPr id="148" name="TextBox 147"/>
          <p:cNvSpPr txBox="1"/>
          <p:nvPr/>
        </p:nvSpPr>
        <p:spPr>
          <a:xfrm>
            <a:off x="5698998" y="2166111"/>
            <a:ext cx="569214" cy="99258"/>
          </a:xfrm>
          <a:prstGeom prst="rect">
            <a:avLst/>
          </a:prstGeom>
          <a:noFill/>
        </p:spPr>
        <p:txBody>
          <a:bodyPr wrap="square" lIns="27432" tIns="13716" rIns="27432" bIns="13716" anchor="t">
            <a:spAutoFit/>
          </a:bodyPr>
          <a:lstStyle/>
          <a:p>
            <a:pPr algn="l">
              <a:defRPr sz="620" b="0">
                <a:solidFill>
                  <a:srgbClr val="0F172A"/>
                </a:solidFill>
                <a:latin typeface="Noto Sans CJK KR"/>
              </a:defRPr>
            </a:pPr>
            <a:r>
              <a:rPr sz="465"/>
              <a:t>5. 역할 필터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6364225" y="2153888"/>
            <a:ext cx="2304287" cy="228524"/>
          </a:xfrm>
          <a:prstGeom prst="rect">
            <a:avLst/>
          </a:prstGeom>
          <a:noFill/>
        </p:spPr>
        <p:txBody>
          <a:bodyPr wrap="square" lIns="27432" tIns="13716" rIns="27432" bIns="13716" anchor="t">
            <a:spAutoFit/>
          </a:bodyPr>
          <a:lstStyle/>
          <a:p>
            <a:pPr algn="l">
              <a:defRPr sz="580" b="0">
                <a:solidFill>
                  <a:srgbClr val="0F172A"/>
                </a:solidFill>
                <a:latin typeface="Noto Sans CJK KR"/>
              </a:defRPr>
            </a:pPr>
            <a:r>
              <a:rPr sz="435"/>
              <a:t>전체/PM/PL/개발자/퍼블리셔·디자인/사업관리/QA/기타 버튼 제공</a:t>
            </a:r>
            <a:br>
              <a:rPr sz="435"/>
            </a:br>
            <a:r>
              <a:rPr sz="435"/>
              <a:t>다중 선택 가능, 선택 항목은 테두리·배경 강조</a:t>
            </a:r>
            <a:br>
              <a:rPr sz="435"/>
            </a:br>
            <a:r>
              <a:rPr sz="435"/>
              <a:t>배정 인원이 없는 역할도 선택 시 동일 구조로 표시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5657850" y="2381547"/>
            <a:ext cx="651510" cy="216785"/>
          </a:xfrm>
          <a:prstGeom prst="rect">
            <a:avLst/>
          </a:prstGeom>
          <a:solidFill>
            <a:srgbClr val="FFFFFF"/>
          </a:solidFill>
          <a:ln w="10160">
            <a:solidFill>
              <a:srgbClr val="CED7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50"/>
          </a:p>
        </p:txBody>
      </p:sp>
      <p:sp>
        <p:nvSpPr>
          <p:cNvPr id="151" name="Rectangle 150"/>
          <p:cNvSpPr/>
          <p:nvPr/>
        </p:nvSpPr>
        <p:spPr>
          <a:xfrm>
            <a:off x="6309361" y="2381547"/>
            <a:ext cx="2414015" cy="216785"/>
          </a:xfrm>
          <a:prstGeom prst="rect">
            <a:avLst/>
          </a:prstGeom>
          <a:solidFill>
            <a:srgbClr val="FFFFFF"/>
          </a:solidFill>
          <a:ln w="10160">
            <a:solidFill>
              <a:srgbClr val="CED7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50"/>
          </a:p>
        </p:txBody>
      </p:sp>
      <p:sp>
        <p:nvSpPr>
          <p:cNvPr id="152" name="TextBox 151"/>
          <p:cNvSpPr txBox="1"/>
          <p:nvPr/>
        </p:nvSpPr>
        <p:spPr>
          <a:xfrm>
            <a:off x="5698998" y="2430712"/>
            <a:ext cx="569214" cy="99258"/>
          </a:xfrm>
          <a:prstGeom prst="rect">
            <a:avLst/>
          </a:prstGeom>
          <a:noFill/>
        </p:spPr>
        <p:txBody>
          <a:bodyPr wrap="square" lIns="27432" tIns="13716" rIns="27432" bIns="13716" anchor="t">
            <a:spAutoFit/>
          </a:bodyPr>
          <a:lstStyle/>
          <a:p>
            <a:pPr algn="l">
              <a:defRPr sz="620" b="0">
                <a:solidFill>
                  <a:srgbClr val="0F172A"/>
                </a:solidFill>
                <a:latin typeface="Noto Sans CJK KR"/>
              </a:defRPr>
            </a:pPr>
            <a:r>
              <a:rPr sz="465"/>
              <a:t>6. 프로젝트 기간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6364225" y="2418489"/>
            <a:ext cx="2304287" cy="161583"/>
          </a:xfrm>
          <a:prstGeom prst="rect">
            <a:avLst/>
          </a:prstGeom>
          <a:noFill/>
        </p:spPr>
        <p:txBody>
          <a:bodyPr wrap="square" lIns="27432" tIns="13716" rIns="27432" bIns="13716" anchor="t">
            <a:spAutoFit/>
          </a:bodyPr>
          <a:lstStyle/>
          <a:p>
            <a:pPr algn="l">
              <a:defRPr sz="580" b="0">
                <a:solidFill>
                  <a:srgbClr val="0F172A"/>
                </a:solidFill>
                <a:latin typeface="Noto Sans CJK KR"/>
              </a:defRPr>
            </a:pPr>
            <a:r>
              <a:rPr sz="435"/>
              <a:t>프로젝트 전체 기간 막대는 항상 고정 노출</a:t>
            </a:r>
            <a:br>
              <a:rPr sz="435"/>
            </a:br>
            <a:r>
              <a:rPr sz="435"/>
              <a:t>시작일~종료일 기준으로 가로 타임라인 표시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5657850" y="2604870"/>
            <a:ext cx="651510" cy="240011"/>
          </a:xfrm>
          <a:prstGeom prst="rect">
            <a:avLst/>
          </a:prstGeom>
          <a:solidFill>
            <a:srgbClr val="FFFFFF"/>
          </a:solidFill>
          <a:ln w="10160">
            <a:solidFill>
              <a:srgbClr val="CED7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50"/>
          </a:p>
        </p:txBody>
      </p:sp>
      <p:sp>
        <p:nvSpPr>
          <p:cNvPr id="155" name="Rectangle 154"/>
          <p:cNvSpPr/>
          <p:nvPr/>
        </p:nvSpPr>
        <p:spPr>
          <a:xfrm>
            <a:off x="6309361" y="2604870"/>
            <a:ext cx="2414015" cy="240011"/>
          </a:xfrm>
          <a:prstGeom prst="rect">
            <a:avLst/>
          </a:prstGeom>
          <a:solidFill>
            <a:srgbClr val="FFFFFF"/>
          </a:solidFill>
          <a:ln w="10160">
            <a:solidFill>
              <a:srgbClr val="CED7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50"/>
          </a:p>
        </p:txBody>
      </p:sp>
      <p:sp>
        <p:nvSpPr>
          <p:cNvPr id="156" name="TextBox 155"/>
          <p:cNvSpPr txBox="1"/>
          <p:nvPr/>
        </p:nvSpPr>
        <p:spPr>
          <a:xfrm>
            <a:off x="5698998" y="2654035"/>
            <a:ext cx="569214" cy="99258"/>
          </a:xfrm>
          <a:prstGeom prst="rect">
            <a:avLst/>
          </a:prstGeom>
          <a:noFill/>
        </p:spPr>
        <p:txBody>
          <a:bodyPr wrap="square" lIns="27432" tIns="13716" rIns="27432" bIns="13716" anchor="t">
            <a:spAutoFit/>
          </a:bodyPr>
          <a:lstStyle/>
          <a:p>
            <a:pPr algn="l">
              <a:defRPr sz="620" b="0">
                <a:solidFill>
                  <a:srgbClr val="0F172A"/>
                </a:solidFill>
                <a:latin typeface="Noto Sans CJK KR"/>
              </a:defRPr>
            </a:pPr>
            <a:r>
              <a:rPr sz="465"/>
              <a:t>7. 투입 인력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364225" y="2620602"/>
            <a:ext cx="2304287" cy="228524"/>
          </a:xfrm>
          <a:prstGeom prst="rect">
            <a:avLst/>
          </a:prstGeom>
          <a:noFill/>
        </p:spPr>
        <p:txBody>
          <a:bodyPr wrap="square" lIns="27432" tIns="13716" rIns="27432" bIns="13716" anchor="t">
            <a:spAutoFit/>
          </a:bodyPr>
          <a:lstStyle/>
          <a:p>
            <a:pPr algn="l">
              <a:defRPr sz="580" b="0">
                <a:solidFill>
                  <a:srgbClr val="0F172A"/>
                </a:solidFill>
                <a:latin typeface="Noto Sans CJK KR"/>
              </a:defRPr>
            </a:pPr>
            <a:r>
              <a:rPr sz="435"/>
              <a:t>역할군별 인력 행과 색상 막대 표시</a:t>
            </a:r>
            <a:br>
              <a:rPr sz="435"/>
            </a:br>
            <a:r>
              <a:rPr sz="435"/>
              <a:t>role 우선 분류, 미분류 시 position 기준 보정</a:t>
            </a:r>
            <a:br>
              <a:rPr sz="435"/>
            </a:br>
            <a:r>
              <a:rPr sz="435"/>
              <a:t>투입률 정보는 일정 탭에서 제외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8401050" y="4889754"/>
            <a:ext cx="480060" cy="90025"/>
          </a:xfrm>
          <a:prstGeom prst="rect">
            <a:avLst/>
          </a:prstGeom>
          <a:noFill/>
        </p:spPr>
        <p:txBody>
          <a:bodyPr wrap="square" lIns="27432" tIns="13716" rIns="27432" bIns="13716" anchor="t">
            <a:spAutoFit/>
          </a:bodyPr>
          <a:lstStyle/>
          <a:p>
            <a:pPr algn="r">
              <a:defRPr sz="540" b="0">
                <a:solidFill>
                  <a:srgbClr val="0F172A"/>
                </a:solidFill>
                <a:latin typeface="Noto Sans CJK KR"/>
              </a:defRPr>
            </a:pPr>
            <a:r>
              <a:rPr sz="405"/>
              <a:t>Confidential</a:t>
            </a:r>
          </a:p>
        </p:txBody>
      </p:sp>
      <p:pic>
        <p:nvPicPr>
          <p:cNvPr id="164" name="그림 16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42013" y="3269700"/>
            <a:ext cx="3322878" cy="1737752"/>
          </a:xfrm>
          <a:prstGeom prst="rect">
            <a:avLst/>
          </a:prstGeom>
        </p:spPr>
      </p:pic>
      <p:sp>
        <p:nvSpPr>
          <p:cNvPr id="165" name="Rectangle 157"/>
          <p:cNvSpPr/>
          <p:nvPr/>
        </p:nvSpPr>
        <p:spPr>
          <a:xfrm>
            <a:off x="5657850" y="2849319"/>
            <a:ext cx="651510" cy="290414"/>
          </a:xfrm>
          <a:prstGeom prst="rect">
            <a:avLst/>
          </a:prstGeom>
          <a:solidFill>
            <a:srgbClr val="FFFFFF"/>
          </a:solidFill>
          <a:ln w="10160">
            <a:solidFill>
              <a:srgbClr val="CED7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50"/>
          </a:p>
        </p:txBody>
      </p:sp>
      <p:sp>
        <p:nvSpPr>
          <p:cNvPr id="166" name="Rectangle 158"/>
          <p:cNvSpPr/>
          <p:nvPr/>
        </p:nvSpPr>
        <p:spPr>
          <a:xfrm>
            <a:off x="6309361" y="2849319"/>
            <a:ext cx="2414015" cy="290414"/>
          </a:xfrm>
          <a:prstGeom prst="rect">
            <a:avLst/>
          </a:prstGeom>
          <a:solidFill>
            <a:srgbClr val="FFFFFF"/>
          </a:solidFill>
          <a:ln w="10160">
            <a:solidFill>
              <a:srgbClr val="CED7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50"/>
          </a:p>
        </p:txBody>
      </p:sp>
      <p:sp>
        <p:nvSpPr>
          <p:cNvPr id="167" name="TextBox 166"/>
          <p:cNvSpPr txBox="1"/>
          <p:nvPr/>
        </p:nvSpPr>
        <p:spPr>
          <a:xfrm>
            <a:off x="5698998" y="2903768"/>
            <a:ext cx="569214" cy="99258"/>
          </a:xfrm>
          <a:prstGeom prst="rect">
            <a:avLst/>
          </a:prstGeom>
          <a:noFill/>
        </p:spPr>
        <p:txBody>
          <a:bodyPr wrap="square" lIns="27432" tIns="13716" rIns="27432" bIns="13716" anchor="t">
            <a:spAutoFit/>
          </a:bodyPr>
          <a:lstStyle/>
          <a:p>
            <a:pPr algn="l">
              <a:defRPr sz="620" b="0">
                <a:solidFill>
                  <a:srgbClr val="0F172A"/>
                </a:solidFill>
                <a:latin typeface="Noto Sans CJK KR"/>
              </a:defRPr>
            </a:pPr>
            <a:r>
              <a:rPr sz="465"/>
              <a:t>8. 툴팁/미배정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364225" y="2891138"/>
            <a:ext cx="2304287" cy="161583"/>
          </a:xfrm>
          <a:prstGeom prst="rect">
            <a:avLst/>
          </a:prstGeom>
          <a:noFill/>
        </p:spPr>
        <p:txBody>
          <a:bodyPr wrap="square" lIns="27432" tIns="13716" rIns="27432" bIns="13716" anchor="t">
            <a:spAutoFit/>
          </a:bodyPr>
          <a:lstStyle/>
          <a:p>
            <a:pPr algn="l">
              <a:defRPr sz="580" b="0">
                <a:solidFill>
                  <a:srgbClr val="0F172A"/>
                </a:solidFill>
                <a:latin typeface="Noto Sans CJK KR"/>
              </a:defRPr>
            </a:pPr>
            <a:r>
              <a:rPr sz="435"/>
              <a:t>막대 마우스오버 시 이름, 투입일, 철수일 표시</a:t>
            </a:r>
            <a:br>
              <a:rPr sz="435"/>
            </a:br>
            <a:r>
              <a:rPr sz="435"/>
              <a:t>미배정 역할 선택 시 동일 행 구조로 “배정 인력 없음” 안내</a:t>
            </a:r>
          </a:p>
        </p:txBody>
      </p:sp>
    </p:spTree>
    <p:extLst>
      <p:ext uri="{BB962C8B-B14F-4D97-AF65-F5344CB8AC3E}">
        <p14:creationId xmlns:p14="http://schemas.microsoft.com/office/powerpoint/2010/main" val="225187547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37160" y="61722"/>
            <a:ext cx="8867394" cy="397764"/>
          </a:xfrm>
          <a:prstGeom prst="rect">
            <a:avLst/>
          </a:prstGeom>
          <a:solidFill>
            <a:srgbClr val="0F213A"/>
          </a:solidFill>
          <a:ln w="12700">
            <a:solidFill>
              <a:srgbClr val="0F213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25196" y="164592"/>
            <a:ext cx="1028700" cy="123444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 lnSpcReduction="10000"/>
          </a:bodyPr>
          <a:lstStyle/>
          <a:p>
            <a:r>
              <a:rPr lang="en-US" sz="825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Peoplify UI 기획서</a:t>
            </a:r>
            <a:endParaRPr lang="en-US" sz="825" dirty="0"/>
          </a:p>
        </p:txBody>
      </p:sp>
      <p:sp>
        <p:nvSpPr>
          <p:cNvPr id="4" name="Text 2"/>
          <p:cNvSpPr/>
          <p:nvPr/>
        </p:nvSpPr>
        <p:spPr>
          <a:xfrm>
            <a:off x="2914650" y="123444"/>
            <a:ext cx="3360420" cy="192024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 fontScale="92500" lnSpcReduction="20000"/>
          </a:bodyPr>
          <a:lstStyle/>
          <a:p>
            <a:pPr algn="ctr"/>
            <a:r>
              <a:rPr lang="en-US" sz="165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프로젝트 인력 배정 화면 설계</a:t>
            </a:r>
            <a:endParaRPr lang="en-US" sz="1650" dirty="0"/>
          </a:p>
        </p:txBody>
      </p:sp>
      <p:sp>
        <p:nvSpPr>
          <p:cNvPr id="5" name="Text 3"/>
          <p:cNvSpPr/>
          <p:nvPr/>
        </p:nvSpPr>
        <p:spPr>
          <a:xfrm>
            <a:off x="6858000" y="164592"/>
            <a:ext cx="1645920" cy="96012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/>
          </a:bodyPr>
          <a:lstStyle/>
          <a:p>
            <a:pPr algn="r"/>
            <a:r>
              <a:rPr lang="en-US" sz="540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project 도메인 · /project/project-assignment/:id</a:t>
            </a:r>
            <a:endParaRPr lang="en-US" sz="540" dirty="0"/>
          </a:p>
        </p:txBody>
      </p:sp>
      <p:sp>
        <p:nvSpPr>
          <p:cNvPr id="6" name="Text 4"/>
          <p:cNvSpPr/>
          <p:nvPr/>
        </p:nvSpPr>
        <p:spPr>
          <a:xfrm>
            <a:off x="8586216" y="164592"/>
            <a:ext cx="171450" cy="96012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/>
          </a:bodyPr>
          <a:lstStyle/>
          <a:p>
            <a:pPr algn="r"/>
            <a:r>
              <a:rPr lang="en-US" sz="615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06</a:t>
            </a:r>
            <a:endParaRPr lang="en-US" sz="615" dirty="0"/>
          </a:p>
        </p:txBody>
      </p:sp>
      <p:sp>
        <p:nvSpPr>
          <p:cNvPr id="7" name="Text 5"/>
          <p:cNvSpPr/>
          <p:nvPr/>
        </p:nvSpPr>
        <p:spPr>
          <a:xfrm>
            <a:off x="493776" y="665226"/>
            <a:ext cx="822960" cy="150876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/>
          </a:bodyPr>
          <a:lstStyle/>
          <a:p>
            <a:r>
              <a:rPr lang="en-US" sz="975" b="1" dirty="0">
                <a:solidFill>
                  <a:srgbClr val="0F213A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화면 설계</a:t>
            </a:r>
            <a:endParaRPr lang="en-US" sz="975" dirty="0"/>
          </a:p>
        </p:txBody>
      </p:sp>
      <p:sp>
        <p:nvSpPr>
          <p:cNvPr id="8" name="Shape 6"/>
          <p:cNvSpPr/>
          <p:nvPr/>
        </p:nvSpPr>
        <p:spPr>
          <a:xfrm>
            <a:off x="356616" y="884682"/>
            <a:ext cx="5143500" cy="3394710"/>
          </a:xfrm>
          <a:prstGeom prst="roundRect">
            <a:avLst>
              <a:gd name="adj" fmla="val 1010"/>
            </a:avLst>
          </a:prstGeom>
          <a:solidFill>
            <a:srgbClr val="FFFFFF"/>
          </a:solidFill>
          <a:ln w="8890">
            <a:solidFill>
              <a:srgbClr val="D1D9E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45770" y="1014984"/>
            <a:ext cx="4937760" cy="3188970"/>
          </a:xfrm>
          <a:prstGeom prst="rect">
            <a:avLst/>
          </a:prstGeom>
          <a:solidFill>
            <a:srgbClr val="1F1D3A"/>
          </a:solidFill>
          <a:ln w="12700">
            <a:solidFill>
              <a:srgbClr val="1F1D3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45770" y="1014984"/>
            <a:ext cx="973836" cy="3188970"/>
          </a:xfrm>
          <a:prstGeom prst="rect">
            <a:avLst/>
          </a:prstGeom>
          <a:solidFill>
            <a:srgbClr val="302E4D"/>
          </a:solidFill>
          <a:ln w="12700">
            <a:solidFill>
              <a:srgbClr val="302E4D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419606" y="1014984"/>
            <a:ext cx="3963924" cy="377190"/>
          </a:xfrm>
          <a:prstGeom prst="rect">
            <a:avLst/>
          </a:prstGeom>
          <a:solidFill>
            <a:srgbClr val="33314F"/>
          </a:solidFill>
          <a:ln w="12700">
            <a:solidFill>
              <a:srgbClr val="33314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28066" y="1110996"/>
            <a:ext cx="754380" cy="96012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/>
          </a:bodyPr>
          <a:lstStyle/>
          <a:p>
            <a:r>
              <a:rPr lang="en-US" sz="51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⚙  인력관리 시스템</a:t>
            </a:r>
            <a:endParaRPr lang="en-US" sz="510" dirty="0"/>
          </a:p>
        </p:txBody>
      </p:sp>
      <p:sp>
        <p:nvSpPr>
          <p:cNvPr id="13" name="Text 11"/>
          <p:cNvSpPr/>
          <p:nvPr/>
        </p:nvSpPr>
        <p:spPr>
          <a:xfrm>
            <a:off x="637794" y="1207008"/>
            <a:ext cx="480060" cy="61722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/>
          </a:bodyPr>
          <a:lstStyle/>
          <a:p>
            <a:r>
              <a:rPr lang="en-US" sz="353" dirty="0">
                <a:solidFill>
                  <a:srgbClr val="C8C5E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Peoplify v1.0</a:t>
            </a:r>
            <a:endParaRPr lang="en-US" sz="353" dirty="0"/>
          </a:p>
        </p:txBody>
      </p:sp>
      <p:sp>
        <p:nvSpPr>
          <p:cNvPr id="14" name="Text 12"/>
          <p:cNvSpPr/>
          <p:nvPr/>
        </p:nvSpPr>
        <p:spPr>
          <a:xfrm>
            <a:off x="534924" y="1495044"/>
            <a:ext cx="342900" cy="68580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/>
          </a:bodyPr>
          <a:lstStyle/>
          <a:p>
            <a:r>
              <a:rPr lang="en-US" sz="368" dirty="0">
                <a:solidFill>
                  <a:srgbClr val="B5B2D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메인 메뉴</a:t>
            </a:r>
            <a:endParaRPr lang="en-US" sz="368" dirty="0"/>
          </a:p>
        </p:txBody>
      </p:sp>
      <p:sp>
        <p:nvSpPr>
          <p:cNvPr id="15" name="Text 13"/>
          <p:cNvSpPr/>
          <p:nvPr/>
        </p:nvSpPr>
        <p:spPr>
          <a:xfrm>
            <a:off x="541782" y="1687068"/>
            <a:ext cx="89154" cy="822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413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▦</a:t>
            </a:r>
            <a:endParaRPr lang="en-US" sz="413" dirty="0"/>
          </a:p>
        </p:txBody>
      </p:sp>
      <p:sp>
        <p:nvSpPr>
          <p:cNvPr id="16" name="Text 14"/>
          <p:cNvSpPr/>
          <p:nvPr/>
        </p:nvSpPr>
        <p:spPr>
          <a:xfrm>
            <a:off x="665226" y="1687068"/>
            <a:ext cx="562356" cy="822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413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대시보드</a:t>
            </a:r>
            <a:endParaRPr lang="en-US" sz="413" dirty="0"/>
          </a:p>
        </p:txBody>
      </p:sp>
      <p:sp>
        <p:nvSpPr>
          <p:cNvPr id="17" name="Text 15"/>
          <p:cNvSpPr/>
          <p:nvPr/>
        </p:nvSpPr>
        <p:spPr>
          <a:xfrm>
            <a:off x="1248156" y="1687068"/>
            <a:ext cx="54864" cy="822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375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⌄</a:t>
            </a:r>
            <a:endParaRPr lang="en-US" sz="375" dirty="0"/>
          </a:p>
        </p:txBody>
      </p:sp>
      <p:sp>
        <p:nvSpPr>
          <p:cNvPr id="18" name="Shape 16"/>
          <p:cNvSpPr/>
          <p:nvPr/>
        </p:nvSpPr>
        <p:spPr>
          <a:xfrm>
            <a:off x="507492" y="1923669"/>
            <a:ext cx="857250" cy="164592"/>
          </a:xfrm>
          <a:prstGeom prst="roundRect">
            <a:avLst>
              <a:gd name="adj" fmla="val 16667"/>
            </a:avLst>
          </a:prstGeom>
          <a:solidFill>
            <a:srgbClr val="3C395D"/>
          </a:solidFill>
          <a:ln w="12700">
            <a:solidFill>
              <a:srgbClr val="3C395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41782" y="1933956"/>
            <a:ext cx="89154" cy="822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413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♟</a:t>
            </a:r>
            <a:endParaRPr lang="en-US" sz="413" dirty="0"/>
          </a:p>
        </p:txBody>
      </p:sp>
      <p:sp>
        <p:nvSpPr>
          <p:cNvPr id="20" name="Text 18"/>
          <p:cNvSpPr/>
          <p:nvPr/>
        </p:nvSpPr>
        <p:spPr>
          <a:xfrm>
            <a:off x="665226" y="1933956"/>
            <a:ext cx="562356" cy="822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413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직원관리</a:t>
            </a:r>
            <a:endParaRPr lang="en-US" sz="413" dirty="0"/>
          </a:p>
        </p:txBody>
      </p:sp>
      <p:sp>
        <p:nvSpPr>
          <p:cNvPr id="21" name="Text 19"/>
          <p:cNvSpPr/>
          <p:nvPr/>
        </p:nvSpPr>
        <p:spPr>
          <a:xfrm>
            <a:off x="1248156" y="1933956"/>
            <a:ext cx="54864" cy="822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375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⌄</a:t>
            </a:r>
            <a:endParaRPr lang="en-US" sz="375" dirty="0"/>
          </a:p>
        </p:txBody>
      </p:sp>
      <p:sp>
        <p:nvSpPr>
          <p:cNvPr id="22" name="Text 20"/>
          <p:cNvSpPr/>
          <p:nvPr/>
        </p:nvSpPr>
        <p:spPr>
          <a:xfrm>
            <a:off x="541782" y="2180844"/>
            <a:ext cx="89154" cy="822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413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□</a:t>
            </a:r>
            <a:endParaRPr lang="en-US" sz="413" dirty="0"/>
          </a:p>
        </p:txBody>
      </p:sp>
      <p:sp>
        <p:nvSpPr>
          <p:cNvPr id="23" name="Text 21"/>
          <p:cNvSpPr/>
          <p:nvPr/>
        </p:nvSpPr>
        <p:spPr>
          <a:xfrm>
            <a:off x="665226" y="2180844"/>
            <a:ext cx="562356" cy="822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413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프로젝트</a:t>
            </a:r>
            <a:endParaRPr lang="en-US" sz="413" dirty="0"/>
          </a:p>
        </p:txBody>
      </p:sp>
      <p:sp>
        <p:nvSpPr>
          <p:cNvPr id="24" name="Text 22"/>
          <p:cNvSpPr/>
          <p:nvPr/>
        </p:nvSpPr>
        <p:spPr>
          <a:xfrm>
            <a:off x="1248156" y="2180844"/>
            <a:ext cx="54864" cy="822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375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⌄</a:t>
            </a:r>
            <a:endParaRPr lang="en-US" sz="375" dirty="0"/>
          </a:p>
        </p:txBody>
      </p:sp>
      <p:sp>
        <p:nvSpPr>
          <p:cNvPr id="25" name="Text 23"/>
          <p:cNvSpPr/>
          <p:nvPr/>
        </p:nvSpPr>
        <p:spPr>
          <a:xfrm>
            <a:off x="541782" y="2434590"/>
            <a:ext cx="89154" cy="822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413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⊕</a:t>
            </a:r>
            <a:endParaRPr lang="en-US" sz="413" dirty="0"/>
          </a:p>
        </p:txBody>
      </p:sp>
      <p:sp>
        <p:nvSpPr>
          <p:cNvPr id="26" name="Text 24"/>
          <p:cNvSpPr/>
          <p:nvPr/>
        </p:nvSpPr>
        <p:spPr>
          <a:xfrm>
            <a:off x="665226" y="2434590"/>
            <a:ext cx="562356" cy="822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413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근태관리</a:t>
            </a:r>
            <a:endParaRPr lang="en-US" sz="413" dirty="0"/>
          </a:p>
        </p:txBody>
      </p:sp>
      <p:sp>
        <p:nvSpPr>
          <p:cNvPr id="27" name="Text 25"/>
          <p:cNvSpPr/>
          <p:nvPr/>
        </p:nvSpPr>
        <p:spPr>
          <a:xfrm>
            <a:off x="1248156" y="2434590"/>
            <a:ext cx="54864" cy="822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375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⌄</a:t>
            </a:r>
            <a:endParaRPr lang="en-US" sz="375" dirty="0"/>
          </a:p>
        </p:txBody>
      </p:sp>
      <p:sp>
        <p:nvSpPr>
          <p:cNvPr id="28" name="Text 26"/>
          <p:cNvSpPr/>
          <p:nvPr/>
        </p:nvSpPr>
        <p:spPr>
          <a:xfrm>
            <a:off x="541782" y="2681478"/>
            <a:ext cx="89154" cy="822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413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▥</a:t>
            </a:r>
            <a:endParaRPr lang="en-US" sz="413" dirty="0"/>
          </a:p>
        </p:txBody>
      </p:sp>
      <p:sp>
        <p:nvSpPr>
          <p:cNvPr id="29" name="Text 27"/>
          <p:cNvSpPr/>
          <p:nvPr/>
        </p:nvSpPr>
        <p:spPr>
          <a:xfrm>
            <a:off x="665226" y="2681478"/>
            <a:ext cx="562356" cy="822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413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리포트</a:t>
            </a:r>
            <a:endParaRPr lang="en-US" sz="413" dirty="0"/>
          </a:p>
        </p:txBody>
      </p:sp>
      <p:sp>
        <p:nvSpPr>
          <p:cNvPr id="30" name="Text 28"/>
          <p:cNvSpPr/>
          <p:nvPr/>
        </p:nvSpPr>
        <p:spPr>
          <a:xfrm>
            <a:off x="1248156" y="2681478"/>
            <a:ext cx="54864" cy="822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375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⌄</a:t>
            </a:r>
            <a:endParaRPr lang="en-US" sz="375" dirty="0"/>
          </a:p>
        </p:txBody>
      </p:sp>
      <p:sp>
        <p:nvSpPr>
          <p:cNvPr id="31" name="Text 29"/>
          <p:cNvSpPr/>
          <p:nvPr/>
        </p:nvSpPr>
        <p:spPr>
          <a:xfrm>
            <a:off x="534924" y="2935224"/>
            <a:ext cx="514350" cy="68580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/>
          </a:bodyPr>
          <a:lstStyle/>
          <a:p>
            <a:r>
              <a:rPr lang="en-US" sz="345" dirty="0">
                <a:solidFill>
                  <a:srgbClr val="8E8BAE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퍼플리싱(임시)</a:t>
            </a:r>
            <a:endParaRPr lang="en-US" sz="345" dirty="0"/>
          </a:p>
        </p:txBody>
      </p:sp>
      <p:sp>
        <p:nvSpPr>
          <p:cNvPr id="32" name="Text 30"/>
          <p:cNvSpPr/>
          <p:nvPr/>
        </p:nvSpPr>
        <p:spPr>
          <a:xfrm>
            <a:off x="541782" y="3127248"/>
            <a:ext cx="89154" cy="822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413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▦</a:t>
            </a:r>
            <a:endParaRPr lang="en-US" sz="413" dirty="0"/>
          </a:p>
        </p:txBody>
      </p:sp>
      <p:sp>
        <p:nvSpPr>
          <p:cNvPr id="33" name="Text 31"/>
          <p:cNvSpPr/>
          <p:nvPr/>
        </p:nvSpPr>
        <p:spPr>
          <a:xfrm>
            <a:off x="665226" y="3127248"/>
            <a:ext cx="562356" cy="822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413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대시보드</a:t>
            </a:r>
            <a:endParaRPr lang="en-US" sz="413" dirty="0"/>
          </a:p>
        </p:txBody>
      </p:sp>
      <p:sp>
        <p:nvSpPr>
          <p:cNvPr id="34" name="Text 32"/>
          <p:cNvSpPr/>
          <p:nvPr/>
        </p:nvSpPr>
        <p:spPr>
          <a:xfrm>
            <a:off x="1248156" y="3127248"/>
            <a:ext cx="54864" cy="822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375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⌄</a:t>
            </a:r>
            <a:endParaRPr lang="en-US" sz="375" dirty="0"/>
          </a:p>
        </p:txBody>
      </p:sp>
      <p:sp>
        <p:nvSpPr>
          <p:cNvPr id="35" name="Text 33"/>
          <p:cNvSpPr/>
          <p:nvPr/>
        </p:nvSpPr>
        <p:spPr>
          <a:xfrm>
            <a:off x="541782" y="3374136"/>
            <a:ext cx="89154" cy="822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413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♟</a:t>
            </a:r>
            <a:endParaRPr lang="en-US" sz="413" dirty="0"/>
          </a:p>
        </p:txBody>
      </p:sp>
      <p:sp>
        <p:nvSpPr>
          <p:cNvPr id="36" name="Text 34"/>
          <p:cNvSpPr/>
          <p:nvPr/>
        </p:nvSpPr>
        <p:spPr>
          <a:xfrm>
            <a:off x="665226" y="3374136"/>
            <a:ext cx="562356" cy="822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413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직원관리</a:t>
            </a:r>
            <a:endParaRPr lang="en-US" sz="413" dirty="0"/>
          </a:p>
        </p:txBody>
      </p:sp>
      <p:sp>
        <p:nvSpPr>
          <p:cNvPr id="37" name="Text 35"/>
          <p:cNvSpPr/>
          <p:nvPr/>
        </p:nvSpPr>
        <p:spPr>
          <a:xfrm>
            <a:off x="1248156" y="3374136"/>
            <a:ext cx="54864" cy="822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375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⌄</a:t>
            </a:r>
            <a:endParaRPr lang="en-US" sz="375" dirty="0"/>
          </a:p>
        </p:txBody>
      </p:sp>
      <p:sp>
        <p:nvSpPr>
          <p:cNvPr id="38" name="Text 36"/>
          <p:cNvSpPr/>
          <p:nvPr/>
        </p:nvSpPr>
        <p:spPr>
          <a:xfrm>
            <a:off x="541782" y="3621024"/>
            <a:ext cx="89154" cy="822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413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□</a:t>
            </a:r>
            <a:endParaRPr lang="en-US" sz="413" dirty="0"/>
          </a:p>
        </p:txBody>
      </p:sp>
      <p:sp>
        <p:nvSpPr>
          <p:cNvPr id="39" name="Text 37"/>
          <p:cNvSpPr/>
          <p:nvPr/>
        </p:nvSpPr>
        <p:spPr>
          <a:xfrm>
            <a:off x="665226" y="3621024"/>
            <a:ext cx="562356" cy="822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413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프로젝트</a:t>
            </a:r>
            <a:endParaRPr lang="en-US" sz="413" dirty="0"/>
          </a:p>
        </p:txBody>
      </p:sp>
      <p:sp>
        <p:nvSpPr>
          <p:cNvPr id="40" name="Text 38"/>
          <p:cNvSpPr/>
          <p:nvPr/>
        </p:nvSpPr>
        <p:spPr>
          <a:xfrm>
            <a:off x="1248156" y="3621024"/>
            <a:ext cx="54864" cy="822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375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⌄</a:t>
            </a:r>
            <a:endParaRPr lang="en-US" sz="375" dirty="0"/>
          </a:p>
        </p:txBody>
      </p:sp>
      <p:sp>
        <p:nvSpPr>
          <p:cNvPr id="41" name="Text 39"/>
          <p:cNvSpPr/>
          <p:nvPr/>
        </p:nvSpPr>
        <p:spPr>
          <a:xfrm>
            <a:off x="541782" y="3867912"/>
            <a:ext cx="89154" cy="822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413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⊕</a:t>
            </a:r>
            <a:endParaRPr lang="en-US" sz="413" dirty="0"/>
          </a:p>
        </p:txBody>
      </p:sp>
      <p:sp>
        <p:nvSpPr>
          <p:cNvPr id="42" name="Text 40"/>
          <p:cNvSpPr/>
          <p:nvPr/>
        </p:nvSpPr>
        <p:spPr>
          <a:xfrm>
            <a:off x="665226" y="3867912"/>
            <a:ext cx="562356" cy="822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413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근태관리</a:t>
            </a:r>
            <a:endParaRPr lang="en-US" sz="413" dirty="0"/>
          </a:p>
        </p:txBody>
      </p:sp>
      <p:sp>
        <p:nvSpPr>
          <p:cNvPr id="43" name="Text 41"/>
          <p:cNvSpPr/>
          <p:nvPr/>
        </p:nvSpPr>
        <p:spPr>
          <a:xfrm>
            <a:off x="1248156" y="3867912"/>
            <a:ext cx="54864" cy="822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375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⌄</a:t>
            </a:r>
            <a:endParaRPr lang="en-US" sz="375" dirty="0"/>
          </a:p>
        </p:txBody>
      </p:sp>
      <p:sp>
        <p:nvSpPr>
          <p:cNvPr id="44" name="Text 42"/>
          <p:cNvSpPr/>
          <p:nvPr/>
        </p:nvSpPr>
        <p:spPr>
          <a:xfrm>
            <a:off x="534924" y="4046220"/>
            <a:ext cx="480060" cy="82296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/>
          </a:bodyPr>
          <a:lstStyle/>
          <a:p>
            <a:r>
              <a:rPr lang="en-US" sz="398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↪  로그인</a:t>
            </a:r>
            <a:endParaRPr lang="en-US" sz="398" dirty="0"/>
          </a:p>
        </p:txBody>
      </p:sp>
      <p:sp>
        <p:nvSpPr>
          <p:cNvPr id="45" name="Shape 43"/>
          <p:cNvSpPr/>
          <p:nvPr/>
        </p:nvSpPr>
        <p:spPr>
          <a:xfrm>
            <a:off x="1508760" y="1097280"/>
            <a:ext cx="171450" cy="192024"/>
          </a:xfrm>
          <a:prstGeom prst="roundRect">
            <a:avLst>
              <a:gd name="adj" fmla="val 14000"/>
            </a:avLst>
          </a:prstGeom>
          <a:solidFill>
            <a:srgbClr val="2C2A49"/>
          </a:solidFill>
          <a:ln w="6985">
            <a:solidFill>
              <a:srgbClr val="5D5A82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543050" y="1145286"/>
            <a:ext cx="82296" cy="54864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 fontScale="92500" lnSpcReduction="20000"/>
          </a:bodyPr>
          <a:lstStyle/>
          <a:p>
            <a:pPr algn="ctr"/>
            <a:r>
              <a:rPr lang="en-US" sz="435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☰</a:t>
            </a:r>
            <a:endParaRPr lang="en-US" sz="435" dirty="0"/>
          </a:p>
        </p:txBody>
      </p:sp>
      <p:sp>
        <p:nvSpPr>
          <p:cNvPr id="47" name="Shape 45"/>
          <p:cNvSpPr/>
          <p:nvPr/>
        </p:nvSpPr>
        <p:spPr>
          <a:xfrm>
            <a:off x="1762506" y="1097280"/>
            <a:ext cx="1885950" cy="192024"/>
          </a:xfrm>
          <a:prstGeom prst="roundRect">
            <a:avLst>
              <a:gd name="adj" fmla="val 12500"/>
            </a:avLst>
          </a:prstGeom>
          <a:solidFill>
            <a:srgbClr val="2C2A49"/>
          </a:solidFill>
          <a:ln w="6985">
            <a:solidFill>
              <a:srgbClr val="5D5A82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1831086" y="1145286"/>
            <a:ext cx="1097280" cy="54864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 lnSpcReduction="10000"/>
          </a:bodyPr>
          <a:lstStyle/>
          <a:p>
            <a:r>
              <a:rPr lang="en-US" sz="383" dirty="0">
                <a:solidFill>
                  <a:srgbClr val="C7C5DD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⌕  Search or type command...</a:t>
            </a:r>
            <a:endParaRPr lang="en-US" sz="383" dirty="0"/>
          </a:p>
        </p:txBody>
      </p:sp>
      <p:sp>
        <p:nvSpPr>
          <p:cNvPr id="49" name="Text 47"/>
          <p:cNvSpPr/>
          <p:nvPr/>
        </p:nvSpPr>
        <p:spPr>
          <a:xfrm>
            <a:off x="4594860" y="1145286"/>
            <a:ext cx="123444" cy="54864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 lnSpcReduction="10000"/>
          </a:bodyPr>
          <a:lstStyle/>
          <a:p>
            <a:pPr algn="ctr"/>
            <a:r>
              <a:rPr lang="en-US" sz="360" dirty="0">
                <a:solidFill>
                  <a:srgbClr val="B8B5D8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⌘K</a:t>
            </a:r>
            <a:endParaRPr lang="en-US" sz="360" dirty="0"/>
          </a:p>
        </p:txBody>
      </p:sp>
      <p:sp>
        <p:nvSpPr>
          <p:cNvPr id="50" name="Text 48"/>
          <p:cNvSpPr/>
          <p:nvPr/>
        </p:nvSpPr>
        <p:spPr>
          <a:xfrm>
            <a:off x="4807458" y="1138428"/>
            <a:ext cx="89154" cy="61722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 fontScale="92500"/>
          </a:bodyPr>
          <a:lstStyle/>
          <a:p>
            <a:pPr algn="ctr"/>
            <a:r>
              <a:rPr lang="en-US" sz="450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☼</a:t>
            </a:r>
            <a:endParaRPr lang="en-US" sz="450" dirty="0"/>
          </a:p>
        </p:txBody>
      </p:sp>
      <p:sp>
        <p:nvSpPr>
          <p:cNvPr id="51" name="Shape 49"/>
          <p:cNvSpPr/>
          <p:nvPr/>
        </p:nvSpPr>
        <p:spPr>
          <a:xfrm>
            <a:off x="4958334" y="1097280"/>
            <a:ext cx="363474" cy="192024"/>
          </a:xfrm>
          <a:prstGeom prst="roundRect">
            <a:avLst>
              <a:gd name="adj" fmla="val 21429"/>
            </a:avLst>
          </a:prstGeom>
          <a:solidFill>
            <a:srgbClr val="24223F"/>
          </a:solidFill>
          <a:ln w="12700">
            <a:solidFill>
              <a:srgbClr val="24223F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978908" y="1138428"/>
            <a:ext cx="315468" cy="61722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/>
          </a:bodyPr>
          <a:lstStyle/>
          <a:p>
            <a:pPr algn="ctr"/>
            <a:r>
              <a:rPr lang="en-US" sz="39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GitHub ↗</a:t>
            </a:r>
            <a:endParaRPr lang="en-US" sz="390" dirty="0"/>
          </a:p>
        </p:txBody>
      </p:sp>
      <p:sp>
        <p:nvSpPr>
          <p:cNvPr id="54" name="Text 52"/>
          <p:cNvSpPr/>
          <p:nvPr/>
        </p:nvSpPr>
        <p:spPr>
          <a:xfrm>
            <a:off x="5314950" y="1138428"/>
            <a:ext cx="41148" cy="34290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 fontScale="77500" lnSpcReduction="20000"/>
          </a:bodyPr>
          <a:lstStyle/>
          <a:p>
            <a:pPr algn="ctr"/>
            <a:r>
              <a:rPr lang="en-US" sz="315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●</a:t>
            </a:r>
            <a:endParaRPr lang="en-US" sz="315" dirty="0"/>
          </a:p>
        </p:txBody>
      </p:sp>
      <p:sp>
        <p:nvSpPr>
          <p:cNvPr id="55" name="Text 53"/>
          <p:cNvSpPr/>
          <p:nvPr/>
        </p:nvSpPr>
        <p:spPr>
          <a:xfrm>
            <a:off x="1556766" y="1549908"/>
            <a:ext cx="1748790" cy="82296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/>
          </a:bodyPr>
          <a:lstStyle/>
          <a:p>
            <a:r>
              <a:rPr lang="en-US" sz="390" dirty="0">
                <a:solidFill>
                  <a:srgbClr val="B8B5ED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프로젝트  ›  D보험 차세대시스템  ›  인력 배정</a:t>
            </a:r>
            <a:endParaRPr lang="en-US" sz="390" dirty="0"/>
          </a:p>
        </p:txBody>
      </p:sp>
      <p:sp>
        <p:nvSpPr>
          <p:cNvPr id="56" name="Text 54"/>
          <p:cNvSpPr/>
          <p:nvPr/>
        </p:nvSpPr>
        <p:spPr>
          <a:xfrm>
            <a:off x="1556766" y="1659636"/>
            <a:ext cx="891540" cy="123444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 lnSpcReduction="10000"/>
          </a:bodyPr>
          <a:lstStyle/>
          <a:p>
            <a:r>
              <a:rPr lang="en-US" sz="863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인력 배정</a:t>
            </a:r>
            <a:endParaRPr lang="en-US" sz="863" dirty="0"/>
          </a:p>
        </p:txBody>
      </p:sp>
      <p:sp>
        <p:nvSpPr>
          <p:cNvPr id="57" name="Shape 55"/>
          <p:cNvSpPr/>
          <p:nvPr/>
        </p:nvSpPr>
        <p:spPr>
          <a:xfrm>
            <a:off x="1556766" y="1947672"/>
            <a:ext cx="493776" cy="150876"/>
          </a:xfrm>
          <a:prstGeom prst="roundRect">
            <a:avLst>
              <a:gd name="adj" fmla="val 15909"/>
            </a:avLst>
          </a:prstGeom>
          <a:solidFill>
            <a:srgbClr val="2C2A49"/>
          </a:solidFill>
          <a:ln w="6985">
            <a:solidFill>
              <a:srgbClr val="5D5A82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1584198" y="1985391"/>
            <a:ext cx="438912" cy="4800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85000" lnSpcReduction="10000"/>
          </a:bodyPr>
          <a:lstStyle/>
          <a:p>
            <a:pPr algn="ctr"/>
            <a:r>
              <a:rPr lang="en-US" sz="390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기술스택 전체 ▾</a:t>
            </a:r>
            <a:endParaRPr lang="en-US" sz="390" dirty="0"/>
          </a:p>
        </p:txBody>
      </p:sp>
      <p:sp>
        <p:nvSpPr>
          <p:cNvPr id="59" name="Text 57"/>
          <p:cNvSpPr/>
          <p:nvPr/>
        </p:nvSpPr>
        <p:spPr>
          <a:xfrm>
            <a:off x="1536192" y="1940814"/>
            <a:ext cx="123444" cy="1234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lang="en-US" sz="90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2105406" y="1947672"/>
            <a:ext cx="480060" cy="150876"/>
          </a:xfrm>
          <a:prstGeom prst="roundRect">
            <a:avLst>
              <a:gd name="adj" fmla="val 15909"/>
            </a:avLst>
          </a:prstGeom>
          <a:solidFill>
            <a:srgbClr val="2C2A49"/>
          </a:solidFill>
          <a:ln w="6985">
            <a:solidFill>
              <a:srgbClr val="5D5A82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2132838" y="1985391"/>
            <a:ext cx="425196" cy="4800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85000" lnSpcReduction="10000"/>
          </a:bodyPr>
          <a:lstStyle/>
          <a:p>
            <a:pPr algn="ctr"/>
            <a:r>
              <a:rPr lang="en-US" sz="390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투입률 전체 ▾</a:t>
            </a:r>
            <a:endParaRPr lang="en-US" sz="390" dirty="0"/>
          </a:p>
        </p:txBody>
      </p:sp>
      <p:sp>
        <p:nvSpPr>
          <p:cNvPr id="62" name="Shape 60"/>
          <p:cNvSpPr/>
          <p:nvPr/>
        </p:nvSpPr>
        <p:spPr>
          <a:xfrm>
            <a:off x="2640330" y="1947672"/>
            <a:ext cx="452628" cy="150876"/>
          </a:xfrm>
          <a:prstGeom prst="roundRect">
            <a:avLst>
              <a:gd name="adj" fmla="val 15909"/>
            </a:avLst>
          </a:prstGeom>
          <a:solidFill>
            <a:srgbClr val="2C2A49"/>
          </a:solidFill>
          <a:ln w="6985">
            <a:solidFill>
              <a:srgbClr val="5D5A82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2667762" y="1985391"/>
            <a:ext cx="397764" cy="4800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85000" lnSpcReduction="10000"/>
          </a:bodyPr>
          <a:lstStyle/>
          <a:p>
            <a:pPr algn="ctr"/>
            <a:r>
              <a:rPr lang="en-US" sz="390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경력 전체 ▾</a:t>
            </a:r>
            <a:endParaRPr lang="en-US" sz="390" dirty="0"/>
          </a:p>
        </p:txBody>
      </p:sp>
      <p:sp>
        <p:nvSpPr>
          <p:cNvPr id="64" name="Shape 62"/>
          <p:cNvSpPr/>
          <p:nvPr/>
        </p:nvSpPr>
        <p:spPr>
          <a:xfrm>
            <a:off x="3147822" y="1947672"/>
            <a:ext cx="445770" cy="150876"/>
          </a:xfrm>
          <a:prstGeom prst="roundRect">
            <a:avLst>
              <a:gd name="adj" fmla="val 15909"/>
            </a:avLst>
          </a:prstGeom>
          <a:solidFill>
            <a:srgbClr val="2C2A49"/>
          </a:solidFill>
          <a:ln w="6985">
            <a:solidFill>
              <a:srgbClr val="5D5A82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3175254" y="1985391"/>
            <a:ext cx="390906" cy="4800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85000" lnSpcReduction="10000"/>
          </a:bodyPr>
          <a:lstStyle/>
          <a:p>
            <a:pPr algn="ctr"/>
            <a:r>
              <a:rPr lang="en-US" sz="390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부서 전체 ▾</a:t>
            </a:r>
            <a:endParaRPr lang="en-US" sz="390" dirty="0"/>
          </a:p>
        </p:txBody>
      </p:sp>
      <p:sp>
        <p:nvSpPr>
          <p:cNvPr id="66" name="Shape 64"/>
          <p:cNvSpPr/>
          <p:nvPr/>
        </p:nvSpPr>
        <p:spPr>
          <a:xfrm>
            <a:off x="3641598" y="1947672"/>
            <a:ext cx="342900" cy="150876"/>
          </a:xfrm>
          <a:prstGeom prst="roundRect">
            <a:avLst>
              <a:gd name="adj" fmla="val 15909"/>
            </a:avLst>
          </a:prstGeom>
          <a:solidFill>
            <a:srgbClr val="2C2A49"/>
          </a:solidFill>
          <a:ln w="6985">
            <a:solidFill>
              <a:srgbClr val="5D5A82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3669030" y="1985391"/>
            <a:ext cx="288036" cy="4800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85000" lnSpcReduction="10000"/>
          </a:bodyPr>
          <a:lstStyle/>
          <a:p>
            <a:pPr algn="ctr"/>
            <a:r>
              <a:rPr lang="en-US" sz="390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초기화</a:t>
            </a:r>
            <a:endParaRPr lang="en-US" sz="390" dirty="0"/>
          </a:p>
        </p:txBody>
      </p:sp>
      <p:sp>
        <p:nvSpPr>
          <p:cNvPr id="68" name="Shape 66"/>
          <p:cNvSpPr/>
          <p:nvPr/>
        </p:nvSpPr>
        <p:spPr>
          <a:xfrm>
            <a:off x="4203954" y="1947672"/>
            <a:ext cx="473202" cy="150876"/>
          </a:xfrm>
          <a:prstGeom prst="roundRect">
            <a:avLst>
              <a:gd name="adj" fmla="val 15909"/>
            </a:avLst>
          </a:prstGeom>
          <a:solidFill>
            <a:srgbClr val="2C2A49"/>
          </a:solidFill>
          <a:ln w="6985">
            <a:solidFill>
              <a:srgbClr val="5D5A82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4732020" y="1947672"/>
            <a:ext cx="514350" cy="150876"/>
          </a:xfrm>
          <a:prstGeom prst="roundRect">
            <a:avLst>
              <a:gd name="adj" fmla="val 15909"/>
            </a:avLst>
          </a:prstGeom>
          <a:solidFill>
            <a:srgbClr val="6F5AE8"/>
          </a:solidFill>
          <a:ln w="12700">
            <a:solidFill>
              <a:srgbClr val="6F5AE8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4231386" y="1985391"/>
            <a:ext cx="418338" cy="4800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85000" lnSpcReduction="10000"/>
          </a:bodyPr>
          <a:lstStyle/>
          <a:p>
            <a:pPr algn="ctr"/>
            <a:r>
              <a:rPr lang="en-US" sz="390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프로젝트 상세</a:t>
            </a:r>
            <a:endParaRPr lang="en-US" sz="390" dirty="0"/>
          </a:p>
        </p:txBody>
      </p:sp>
      <p:sp>
        <p:nvSpPr>
          <p:cNvPr id="70" name="Text 68"/>
          <p:cNvSpPr/>
          <p:nvPr/>
        </p:nvSpPr>
        <p:spPr>
          <a:xfrm>
            <a:off x="4670298" y="1940814"/>
            <a:ext cx="123444" cy="1234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lang="en-US" sz="90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③</a:t>
            </a:r>
            <a:endParaRPr lang="en-US" sz="900" dirty="0"/>
          </a:p>
        </p:txBody>
      </p:sp>
      <p:sp>
        <p:nvSpPr>
          <p:cNvPr id="72" name="Text 70"/>
          <p:cNvSpPr/>
          <p:nvPr/>
        </p:nvSpPr>
        <p:spPr>
          <a:xfrm>
            <a:off x="4759452" y="1985391"/>
            <a:ext cx="459486" cy="4800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85000" lnSpcReduction="10000"/>
          </a:bodyPr>
          <a:lstStyle/>
          <a:p>
            <a:pPr algn="ctr"/>
            <a:r>
              <a:rPr lang="en-US" sz="39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배정 설정</a:t>
            </a:r>
            <a:endParaRPr lang="en-US" sz="390" dirty="0"/>
          </a:p>
        </p:txBody>
      </p:sp>
      <p:sp>
        <p:nvSpPr>
          <p:cNvPr id="73" name="Shape 71"/>
          <p:cNvSpPr/>
          <p:nvPr/>
        </p:nvSpPr>
        <p:spPr>
          <a:xfrm>
            <a:off x="1556766" y="2180844"/>
            <a:ext cx="2592324" cy="1419606"/>
          </a:xfrm>
          <a:prstGeom prst="roundRect">
            <a:avLst>
              <a:gd name="adj" fmla="val 2041"/>
            </a:avLst>
          </a:prstGeom>
          <a:solidFill>
            <a:srgbClr val="33304F"/>
          </a:solidFill>
          <a:ln w="7620">
            <a:solidFill>
              <a:srgbClr val="5D5A82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1625346" y="2242566"/>
            <a:ext cx="822960" cy="68580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 lnSpcReduction="10000"/>
          </a:bodyPr>
          <a:lstStyle/>
          <a:p>
            <a:r>
              <a:rPr lang="en-US" sz="45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가용 인력 목록(전체 6명)</a:t>
            </a:r>
            <a:endParaRPr lang="en-US" sz="450" dirty="0"/>
          </a:p>
        </p:txBody>
      </p:sp>
      <p:sp>
        <p:nvSpPr>
          <p:cNvPr id="75" name="Text 73"/>
          <p:cNvSpPr/>
          <p:nvPr/>
        </p:nvSpPr>
        <p:spPr>
          <a:xfrm>
            <a:off x="1570482" y="2228850"/>
            <a:ext cx="123444" cy="1234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lang="en-US" sz="90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</a:t>
            </a:r>
            <a:endParaRPr lang="en-US" sz="900" dirty="0"/>
          </a:p>
        </p:txBody>
      </p:sp>
      <p:sp>
        <p:nvSpPr>
          <p:cNvPr id="76" name="Text 74"/>
          <p:cNvSpPr/>
          <p:nvPr/>
        </p:nvSpPr>
        <p:spPr>
          <a:xfrm>
            <a:off x="1625346" y="2414016"/>
            <a:ext cx="246888" cy="54864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 lnSpcReduction="10000"/>
          </a:bodyPr>
          <a:lstStyle/>
          <a:p>
            <a:r>
              <a:rPr lang="en-US" sz="375" dirty="0">
                <a:solidFill>
                  <a:srgbClr val="C7C5E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선택</a:t>
            </a:r>
            <a:endParaRPr lang="en-US" sz="375" dirty="0"/>
          </a:p>
        </p:txBody>
      </p:sp>
      <p:sp>
        <p:nvSpPr>
          <p:cNvPr id="77" name="Text 75"/>
          <p:cNvSpPr/>
          <p:nvPr/>
        </p:nvSpPr>
        <p:spPr>
          <a:xfrm>
            <a:off x="1954530" y="2414016"/>
            <a:ext cx="411480" cy="54864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 lnSpcReduction="10000"/>
          </a:bodyPr>
          <a:lstStyle/>
          <a:p>
            <a:r>
              <a:rPr lang="en-US" sz="375" dirty="0">
                <a:solidFill>
                  <a:srgbClr val="C7C5E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이름</a:t>
            </a:r>
            <a:endParaRPr lang="en-US" sz="375" dirty="0"/>
          </a:p>
        </p:txBody>
      </p:sp>
      <p:sp>
        <p:nvSpPr>
          <p:cNvPr id="78" name="Text 76"/>
          <p:cNvSpPr/>
          <p:nvPr/>
        </p:nvSpPr>
        <p:spPr>
          <a:xfrm>
            <a:off x="2530602" y="2414016"/>
            <a:ext cx="377190" cy="54864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 lnSpcReduction="10000"/>
          </a:bodyPr>
          <a:lstStyle/>
          <a:p>
            <a:r>
              <a:rPr lang="en-US" sz="375" dirty="0">
                <a:solidFill>
                  <a:srgbClr val="C7C5E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부서</a:t>
            </a:r>
            <a:endParaRPr lang="en-US" sz="375" dirty="0"/>
          </a:p>
        </p:txBody>
      </p:sp>
      <p:sp>
        <p:nvSpPr>
          <p:cNvPr id="79" name="Text 77"/>
          <p:cNvSpPr/>
          <p:nvPr/>
        </p:nvSpPr>
        <p:spPr>
          <a:xfrm>
            <a:off x="3010662" y="2414016"/>
            <a:ext cx="480060" cy="54864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 lnSpcReduction="10000"/>
          </a:bodyPr>
          <a:lstStyle/>
          <a:p>
            <a:r>
              <a:rPr lang="en-US" sz="375" dirty="0">
                <a:solidFill>
                  <a:srgbClr val="C7C5E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기술스택</a:t>
            </a:r>
            <a:endParaRPr lang="en-US" sz="375" dirty="0"/>
          </a:p>
        </p:txBody>
      </p:sp>
      <p:sp>
        <p:nvSpPr>
          <p:cNvPr id="80" name="Text 78"/>
          <p:cNvSpPr/>
          <p:nvPr/>
        </p:nvSpPr>
        <p:spPr>
          <a:xfrm>
            <a:off x="3765042" y="2414016"/>
            <a:ext cx="356616" cy="54864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 lnSpcReduction="10000"/>
          </a:bodyPr>
          <a:lstStyle/>
          <a:p>
            <a:r>
              <a:rPr lang="en-US" sz="375" dirty="0">
                <a:solidFill>
                  <a:srgbClr val="C7C5E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현 투입률</a:t>
            </a:r>
            <a:endParaRPr lang="en-US" sz="375" dirty="0"/>
          </a:p>
        </p:txBody>
      </p:sp>
      <p:sp>
        <p:nvSpPr>
          <p:cNvPr id="81" name="Shape 79"/>
          <p:cNvSpPr/>
          <p:nvPr/>
        </p:nvSpPr>
        <p:spPr>
          <a:xfrm>
            <a:off x="1556766" y="2537460"/>
            <a:ext cx="2592324" cy="0"/>
          </a:xfrm>
          <a:prstGeom prst="line">
            <a:avLst/>
          </a:prstGeom>
          <a:noFill/>
          <a:ln w="5080">
            <a:solidFill>
              <a:srgbClr val="484568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1645920" y="2619756"/>
            <a:ext cx="68580" cy="68580"/>
          </a:xfrm>
          <a:prstGeom prst="rect">
            <a:avLst/>
          </a:prstGeom>
          <a:solidFill>
            <a:srgbClr val="FFFFFF">
              <a:alpha val="0"/>
            </a:srgbClr>
          </a:solidFill>
          <a:ln w="5715">
            <a:solidFill>
              <a:srgbClr val="5D5A82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1655522" y="2623871"/>
            <a:ext cx="48006" cy="4800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85000" lnSpcReduction="10000"/>
          </a:bodyPr>
          <a:lstStyle/>
          <a:p>
            <a:pPr algn="ctr"/>
            <a:r>
              <a:rPr lang="en-US" sz="405" b="1" dirty="0">
                <a:solidFill>
                  <a:srgbClr val="7E6CF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✓</a:t>
            </a:r>
            <a:endParaRPr lang="en-US" sz="405" dirty="0"/>
          </a:p>
        </p:txBody>
      </p:sp>
      <p:sp>
        <p:nvSpPr>
          <p:cNvPr id="84" name="Text 82"/>
          <p:cNvSpPr/>
          <p:nvPr/>
        </p:nvSpPr>
        <p:spPr>
          <a:xfrm>
            <a:off x="1591056" y="2599182"/>
            <a:ext cx="123444" cy="1234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lang="en-US" sz="90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⑥</a:t>
            </a:r>
            <a:endParaRPr lang="en-US" sz="900" dirty="0"/>
          </a:p>
        </p:txBody>
      </p:sp>
      <p:sp>
        <p:nvSpPr>
          <p:cNvPr id="85" name="Shape 83"/>
          <p:cNvSpPr/>
          <p:nvPr/>
        </p:nvSpPr>
        <p:spPr>
          <a:xfrm>
            <a:off x="1961388" y="2606040"/>
            <a:ext cx="82296" cy="82296"/>
          </a:xfrm>
          <a:prstGeom prst="ellipse">
            <a:avLst/>
          </a:prstGeom>
          <a:solidFill>
            <a:srgbClr val="F3F0FF"/>
          </a:solidFill>
          <a:ln w="12700">
            <a:solidFill>
              <a:srgbClr val="F3F0FF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1978533" y="2623871"/>
            <a:ext cx="41148" cy="274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85000" lnSpcReduction="10000"/>
          </a:bodyPr>
          <a:lstStyle/>
          <a:p>
            <a:pPr algn="ctr"/>
            <a:r>
              <a:rPr lang="en-US" sz="285" b="1" dirty="0">
                <a:solidFill>
                  <a:srgbClr val="6F5AE8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나</a:t>
            </a:r>
            <a:endParaRPr lang="en-US" sz="285" dirty="0"/>
          </a:p>
        </p:txBody>
      </p:sp>
      <p:sp>
        <p:nvSpPr>
          <p:cNvPr id="87" name="Text 85"/>
          <p:cNvSpPr/>
          <p:nvPr/>
        </p:nvSpPr>
        <p:spPr>
          <a:xfrm>
            <a:off x="2077974" y="2612898"/>
            <a:ext cx="308610" cy="548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r>
              <a:rPr lang="en-US" sz="39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나도익</a:t>
            </a:r>
            <a:endParaRPr lang="en-US" sz="390" dirty="0"/>
          </a:p>
        </p:txBody>
      </p:sp>
      <p:sp>
        <p:nvSpPr>
          <p:cNvPr id="88" name="Text 86"/>
          <p:cNvSpPr/>
          <p:nvPr/>
        </p:nvSpPr>
        <p:spPr>
          <a:xfrm>
            <a:off x="2530602" y="2612898"/>
            <a:ext cx="411480" cy="548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r>
              <a:rPr lang="en-US" sz="368" dirty="0">
                <a:solidFill>
                  <a:srgbClr val="B8B5ED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디자인팀</a:t>
            </a:r>
            <a:endParaRPr lang="en-US" sz="368" dirty="0"/>
          </a:p>
        </p:txBody>
      </p:sp>
      <p:sp>
        <p:nvSpPr>
          <p:cNvPr id="89" name="Text 87"/>
          <p:cNvSpPr/>
          <p:nvPr/>
        </p:nvSpPr>
        <p:spPr>
          <a:xfrm>
            <a:off x="3010662" y="2612898"/>
            <a:ext cx="617220" cy="548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315" dirty="0">
                <a:solidFill>
                  <a:srgbClr val="C7C5E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Adobe XD, Figma, Zeplin</a:t>
            </a:r>
            <a:endParaRPr lang="en-US" sz="315" dirty="0"/>
          </a:p>
        </p:txBody>
      </p:sp>
      <p:sp>
        <p:nvSpPr>
          <p:cNvPr id="90" name="Text 88"/>
          <p:cNvSpPr/>
          <p:nvPr/>
        </p:nvSpPr>
        <p:spPr>
          <a:xfrm>
            <a:off x="3799332" y="2612898"/>
            <a:ext cx="240030" cy="548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lang="en-US" sz="368" dirty="0">
                <a:solidFill>
                  <a:srgbClr val="C7C5E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0%</a:t>
            </a:r>
            <a:endParaRPr lang="en-US" sz="368" dirty="0"/>
          </a:p>
        </p:txBody>
      </p:sp>
      <p:sp>
        <p:nvSpPr>
          <p:cNvPr id="91" name="Shape 89"/>
          <p:cNvSpPr/>
          <p:nvPr/>
        </p:nvSpPr>
        <p:spPr>
          <a:xfrm>
            <a:off x="1556766" y="2743200"/>
            <a:ext cx="2592324" cy="0"/>
          </a:xfrm>
          <a:prstGeom prst="line">
            <a:avLst/>
          </a:prstGeom>
          <a:noFill/>
          <a:ln w="3175">
            <a:solidFill>
              <a:srgbClr val="484568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1645920" y="2791206"/>
            <a:ext cx="68580" cy="68580"/>
          </a:xfrm>
          <a:prstGeom prst="rect">
            <a:avLst/>
          </a:prstGeom>
          <a:solidFill>
            <a:srgbClr val="FFFFFF">
              <a:alpha val="0"/>
            </a:srgbClr>
          </a:solidFill>
          <a:ln w="5715">
            <a:solidFill>
              <a:srgbClr val="5D5A82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1961388" y="2777490"/>
            <a:ext cx="82296" cy="82296"/>
          </a:xfrm>
          <a:prstGeom prst="ellipse">
            <a:avLst/>
          </a:prstGeom>
          <a:solidFill>
            <a:srgbClr val="F3F0FF"/>
          </a:solidFill>
          <a:ln w="12700">
            <a:solidFill>
              <a:srgbClr val="F3F0FF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1978533" y="2795321"/>
            <a:ext cx="41148" cy="274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85000" lnSpcReduction="10000"/>
          </a:bodyPr>
          <a:lstStyle/>
          <a:p>
            <a:pPr algn="ctr"/>
            <a:r>
              <a:rPr lang="en-US" sz="285" b="1" dirty="0">
                <a:solidFill>
                  <a:srgbClr val="6F5AE8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정</a:t>
            </a:r>
            <a:endParaRPr lang="en-US" sz="285" dirty="0"/>
          </a:p>
        </p:txBody>
      </p:sp>
      <p:sp>
        <p:nvSpPr>
          <p:cNvPr id="95" name="Text 93"/>
          <p:cNvSpPr/>
          <p:nvPr/>
        </p:nvSpPr>
        <p:spPr>
          <a:xfrm>
            <a:off x="2077974" y="2784348"/>
            <a:ext cx="308610" cy="548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r>
              <a:rPr lang="en-US" sz="390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정다운</a:t>
            </a:r>
            <a:endParaRPr lang="en-US" sz="390" dirty="0"/>
          </a:p>
        </p:txBody>
      </p:sp>
      <p:sp>
        <p:nvSpPr>
          <p:cNvPr id="96" name="Text 94"/>
          <p:cNvSpPr/>
          <p:nvPr/>
        </p:nvSpPr>
        <p:spPr>
          <a:xfrm>
            <a:off x="2530602" y="2784348"/>
            <a:ext cx="411480" cy="548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r>
              <a:rPr lang="en-US" sz="368" dirty="0">
                <a:solidFill>
                  <a:srgbClr val="B8B5ED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개발팀</a:t>
            </a:r>
            <a:endParaRPr lang="en-US" sz="368" dirty="0"/>
          </a:p>
        </p:txBody>
      </p:sp>
      <p:sp>
        <p:nvSpPr>
          <p:cNvPr id="97" name="Text 95"/>
          <p:cNvSpPr/>
          <p:nvPr/>
        </p:nvSpPr>
        <p:spPr>
          <a:xfrm>
            <a:off x="3010662" y="2784348"/>
            <a:ext cx="617220" cy="548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315" dirty="0">
                <a:solidFill>
                  <a:srgbClr val="C7C5E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Angular, SCSS, TypeScript</a:t>
            </a:r>
            <a:endParaRPr lang="en-US" sz="315" dirty="0"/>
          </a:p>
        </p:txBody>
      </p:sp>
      <p:sp>
        <p:nvSpPr>
          <p:cNvPr id="98" name="Text 96"/>
          <p:cNvSpPr/>
          <p:nvPr/>
        </p:nvSpPr>
        <p:spPr>
          <a:xfrm>
            <a:off x="3799332" y="2784348"/>
            <a:ext cx="240030" cy="548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lang="en-US" sz="368" dirty="0">
                <a:solidFill>
                  <a:srgbClr val="C7C5E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0%</a:t>
            </a:r>
            <a:endParaRPr lang="en-US" sz="368" dirty="0"/>
          </a:p>
        </p:txBody>
      </p:sp>
      <p:sp>
        <p:nvSpPr>
          <p:cNvPr id="99" name="Shape 97"/>
          <p:cNvSpPr/>
          <p:nvPr/>
        </p:nvSpPr>
        <p:spPr>
          <a:xfrm>
            <a:off x="1556766" y="2914650"/>
            <a:ext cx="2592324" cy="0"/>
          </a:xfrm>
          <a:prstGeom prst="line">
            <a:avLst/>
          </a:prstGeom>
          <a:noFill/>
          <a:ln w="3175">
            <a:solidFill>
              <a:srgbClr val="484568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1645920" y="2962656"/>
            <a:ext cx="68580" cy="68580"/>
          </a:xfrm>
          <a:prstGeom prst="rect">
            <a:avLst/>
          </a:prstGeom>
          <a:solidFill>
            <a:srgbClr val="FFFFFF">
              <a:alpha val="0"/>
            </a:srgbClr>
          </a:solidFill>
          <a:ln w="5715">
            <a:solidFill>
              <a:srgbClr val="5D5A82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1961388" y="2948940"/>
            <a:ext cx="82296" cy="82296"/>
          </a:xfrm>
          <a:prstGeom prst="ellipse">
            <a:avLst/>
          </a:prstGeom>
          <a:solidFill>
            <a:srgbClr val="F3F0FF"/>
          </a:solidFill>
          <a:ln w="12700">
            <a:solidFill>
              <a:srgbClr val="F3F0FF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1978533" y="2966771"/>
            <a:ext cx="41148" cy="274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85000" lnSpcReduction="10000"/>
          </a:bodyPr>
          <a:lstStyle/>
          <a:p>
            <a:pPr algn="ctr"/>
            <a:r>
              <a:rPr lang="en-US" sz="285" b="1" dirty="0">
                <a:solidFill>
                  <a:srgbClr val="6F5AE8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테</a:t>
            </a:r>
            <a:endParaRPr lang="en-US" sz="285" dirty="0"/>
          </a:p>
        </p:txBody>
      </p:sp>
      <p:sp>
        <p:nvSpPr>
          <p:cNvPr id="103" name="Text 101"/>
          <p:cNvSpPr/>
          <p:nvPr/>
        </p:nvSpPr>
        <p:spPr>
          <a:xfrm>
            <a:off x="2077974" y="2955798"/>
            <a:ext cx="308610" cy="548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r>
              <a:rPr lang="en-US" sz="390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테스트1</a:t>
            </a:r>
            <a:endParaRPr lang="en-US" sz="390" dirty="0"/>
          </a:p>
        </p:txBody>
      </p:sp>
      <p:sp>
        <p:nvSpPr>
          <p:cNvPr id="104" name="Text 102"/>
          <p:cNvSpPr/>
          <p:nvPr/>
        </p:nvSpPr>
        <p:spPr>
          <a:xfrm>
            <a:off x="2530602" y="2955798"/>
            <a:ext cx="411480" cy="548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r>
              <a:rPr lang="en-US" sz="368" dirty="0">
                <a:solidFill>
                  <a:srgbClr val="B8B5ED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QA팀</a:t>
            </a:r>
            <a:endParaRPr lang="en-US" sz="368" dirty="0"/>
          </a:p>
        </p:txBody>
      </p:sp>
      <p:sp>
        <p:nvSpPr>
          <p:cNvPr id="105" name="Text 103"/>
          <p:cNvSpPr/>
          <p:nvPr/>
        </p:nvSpPr>
        <p:spPr>
          <a:xfrm>
            <a:off x="3010662" y="2955798"/>
            <a:ext cx="617220" cy="548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315" dirty="0">
                <a:solidFill>
                  <a:srgbClr val="C7C5E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Java, React, Spring Boot</a:t>
            </a:r>
            <a:endParaRPr lang="en-US" sz="315" dirty="0"/>
          </a:p>
        </p:txBody>
      </p:sp>
      <p:sp>
        <p:nvSpPr>
          <p:cNvPr id="106" name="Text 104"/>
          <p:cNvSpPr/>
          <p:nvPr/>
        </p:nvSpPr>
        <p:spPr>
          <a:xfrm>
            <a:off x="3799332" y="2955798"/>
            <a:ext cx="240030" cy="548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lang="en-US" sz="368" dirty="0">
                <a:solidFill>
                  <a:srgbClr val="C7C5E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0%</a:t>
            </a:r>
            <a:endParaRPr lang="en-US" sz="368" dirty="0"/>
          </a:p>
        </p:txBody>
      </p:sp>
      <p:sp>
        <p:nvSpPr>
          <p:cNvPr id="107" name="Shape 105"/>
          <p:cNvSpPr/>
          <p:nvPr/>
        </p:nvSpPr>
        <p:spPr>
          <a:xfrm>
            <a:off x="1556766" y="3086100"/>
            <a:ext cx="2592324" cy="0"/>
          </a:xfrm>
          <a:prstGeom prst="line">
            <a:avLst/>
          </a:prstGeom>
          <a:noFill/>
          <a:ln w="3175">
            <a:solidFill>
              <a:srgbClr val="484568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1645920" y="3134106"/>
            <a:ext cx="68580" cy="68580"/>
          </a:xfrm>
          <a:prstGeom prst="rect">
            <a:avLst/>
          </a:prstGeom>
          <a:solidFill>
            <a:srgbClr val="FFFFFF">
              <a:alpha val="0"/>
            </a:srgbClr>
          </a:solidFill>
          <a:ln w="5715">
            <a:solidFill>
              <a:srgbClr val="5D5A82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1961388" y="3120390"/>
            <a:ext cx="82296" cy="82296"/>
          </a:xfrm>
          <a:prstGeom prst="ellipse">
            <a:avLst/>
          </a:prstGeom>
          <a:solidFill>
            <a:srgbClr val="F3F0FF"/>
          </a:solidFill>
          <a:ln w="12700">
            <a:solidFill>
              <a:srgbClr val="F3F0FF"/>
            </a:solidFill>
            <a:prstDash val="solid"/>
          </a:ln>
        </p:spPr>
      </p:sp>
      <p:sp>
        <p:nvSpPr>
          <p:cNvPr id="110" name="Text 108"/>
          <p:cNvSpPr/>
          <p:nvPr/>
        </p:nvSpPr>
        <p:spPr>
          <a:xfrm>
            <a:off x="1978533" y="3138221"/>
            <a:ext cx="41148" cy="274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85000" lnSpcReduction="10000"/>
          </a:bodyPr>
          <a:lstStyle/>
          <a:p>
            <a:pPr algn="ctr"/>
            <a:r>
              <a:rPr lang="en-US" sz="285" b="1" dirty="0">
                <a:solidFill>
                  <a:srgbClr val="6F5AE8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테</a:t>
            </a:r>
            <a:endParaRPr lang="en-US" sz="285" dirty="0"/>
          </a:p>
        </p:txBody>
      </p:sp>
      <p:sp>
        <p:nvSpPr>
          <p:cNvPr id="111" name="Text 109"/>
          <p:cNvSpPr/>
          <p:nvPr/>
        </p:nvSpPr>
        <p:spPr>
          <a:xfrm>
            <a:off x="2077974" y="3127248"/>
            <a:ext cx="308610" cy="548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r>
              <a:rPr lang="en-US" sz="390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테스트2</a:t>
            </a:r>
            <a:endParaRPr lang="en-US" sz="390" dirty="0"/>
          </a:p>
        </p:txBody>
      </p:sp>
      <p:sp>
        <p:nvSpPr>
          <p:cNvPr id="112" name="Text 110"/>
          <p:cNvSpPr/>
          <p:nvPr/>
        </p:nvSpPr>
        <p:spPr>
          <a:xfrm>
            <a:off x="2530602" y="3127248"/>
            <a:ext cx="411480" cy="548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r>
              <a:rPr lang="en-US" sz="368" dirty="0">
                <a:solidFill>
                  <a:srgbClr val="B8B5ED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QA팀</a:t>
            </a:r>
            <a:endParaRPr lang="en-US" sz="368" dirty="0"/>
          </a:p>
        </p:txBody>
      </p:sp>
      <p:sp>
        <p:nvSpPr>
          <p:cNvPr id="113" name="Text 111"/>
          <p:cNvSpPr/>
          <p:nvPr/>
        </p:nvSpPr>
        <p:spPr>
          <a:xfrm>
            <a:off x="3010662" y="3127248"/>
            <a:ext cx="617220" cy="548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315" dirty="0">
                <a:solidFill>
                  <a:srgbClr val="C7C5E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Java, React, Spring Boot</a:t>
            </a:r>
            <a:endParaRPr lang="en-US" sz="315" dirty="0"/>
          </a:p>
        </p:txBody>
      </p:sp>
      <p:sp>
        <p:nvSpPr>
          <p:cNvPr id="114" name="Text 112"/>
          <p:cNvSpPr/>
          <p:nvPr/>
        </p:nvSpPr>
        <p:spPr>
          <a:xfrm>
            <a:off x="3799332" y="3127248"/>
            <a:ext cx="240030" cy="548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lang="en-US" sz="368" dirty="0">
                <a:solidFill>
                  <a:srgbClr val="C7C5E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0%</a:t>
            </a:r>
            <a:endParaRPr lang="en-US" sz="368" dirty="0"/>
          </a:p>
        </p:txBody>
      </p:sp>
      <p:sp>
        <p:nvSpPr>
          <p:cNvPr id="115" name="Shape 113"/>
          <p:cNvSpPr/>
          <p:nvPr/>
        </p:nvSpPr>
        <p:spPr>
          <a:xfrm>
            <a:off x="1556766" y="3257550"/>
            <a:ext cx="2592324" cy="0"/>
          </a:xfrm>
          <a:prstGeom prst="line">
            <a:avLst/>
          </a:prstGeom>
          <a:noFill/>
          <a:ln w="3175">
            <a:solidFill>
              <a:srgbClr val="484568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1645920" y="3305556"/>
            <a:ext cx="68580" cy="68580"/>
          </a:xfrm>
          <a:prstGeom prst="rect">
            <a:avLst/>
          </a:prstGeom>
          <a:solidFill>
            <a:srgbClr val="FFFFFF">
              <a:alpha val="0"/>
            </a:srgbClr>
          </a:solidFill>
          <a:ln w="5715">
            <a:solidFill>
              <a:srgbClr val="5D5A82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1961388" y="3291840"/>
            <a:ext cx="82296" cy="82296"/>
          </a:xfrm>
          <a:prstGeom prst="ellipse">
            <a:avLst/>
          </a:prstGeom>
          <a:solidFill>
            <a:srgbClr val="F3F0FF"/>
          </a:solidFill>
          <a:ln w="12700">
            <a:solidFill>
              <a:srgbClr val="F3F0FF"/>
            </a:solidFill>
            <a:prstDash val="solid"/>
          </a:ln>
        </p:spPr>
      </p:sp>
      <p:sp>
        <p:nvSpPr>
          <p:cNvPr id="118" name="Text 116"/>
          <p:cNvSpPr/>
          <p:nvPr/>
        </p:nvSpPr>
        <p:spPr>
          <a:xfrm>
            <a:off x="1978533" y="3309671"/>
            <a:ext cx="41148" cy="274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85000" lnSpcReduction="10000"/>
          </a:bodyPr>
          <a:lstStyle/>
          <a:p>
            <a:pPr algn="ctr"/>
            <a:r>
              <a:rPr lang="en-US" sz="285" b="1" dirty="0">
                <a:solidFill>
                  <a:srgbClr val="6F5AE8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홍</a:t>
            </a:r>
            <a:endParaRPr lang="en-US" sz="285" dirty="0"/>
          </a:p>
        </p:txBody>
      </p:sp>
      <p:sp>
        <p:nvSpPr>
          <p:cNvPr id="119" name="Text 117"/>
          <p:cNvSpPr/>
          <p:nvPr/>
        </p:nvSpPr>
        <p:spPr>
          <a:xfrm>
            <a:off x="2077974" y="3298698"/>
            <a:ext cx="308610" cy="548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r>
              <a:rPr lang="en-US" sz="390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홍길동</a:t>
            </a:r>
            <a:endParaRPr lang="en-US" sz="390" dirty="0"/>
          </a:p>
        </p:txBody>
      </p:sp>
      <p:sp>
        <p:nvSpPr>
          <p:cNvPr id="120" name="Text 118"/>
          <p:cNvSpPr/>
          <p:nvPr/>
        </p:nvSpPr>
        <p:spPr>
          <a:xfrm>
            <a:off x="2530602" y="3298698"/>
            <a:ext cx="411480" cy="548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r>
              <a:rPr lang="en-US" sz="368" dirty="0">
                <a:solidFill>
                  <a:srgbClr val="B8B5ED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디자인팀</a:t>
            </a:r>
            <a:endParaRPr lang="en-US" sz="368" dirty="0"/>
          </a:p>
        </p:txBody>
      </p:sp>
      <p:sp>
        <p:nvSpPr>
          <p:cNvPr id="121" name="Text 119"/>
          <p:cNvSpPr/>
          <p:nvPr/>
        </p:nvSpPr>
        <p:spPr>
          <a:xfrm>
            <a:off x="3010662" y="3298698"/>
            <a:ext cx="617220" cy="548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315" dirty="0">
                <a:solidFill>
                  <a:srgbClr val="C7C5E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Java, React, Spring Boot</a:t>
            </a:r>
            <a:endParaRPr lang="en-US" sz="315" dirty="0"/>
          </a:p>
        </p:txBody>
      </p:sp>
      <p:sp>
        <p:nvSpPr>
          <p:cNvPr id="122" name="Text 120"/>
          <p:cNvSpPr/>
          <p:nvPr/>
        </p:nvSpPr>
        <p:spPr>
          <a:xfrm>
            <a:off x="3799332" y="3298698"/>
            <a:ext cx="240030" cy="548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lang="en-US" sz="368" dirty="0">
                <a:solidFill>
                  <a:srgbClr val="C7C5E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0%</a:t>
            </a:r>
            <a:endParaRPr lang="en-US" sz="368" dirty="0"/>
          </a:p>
        </p:txBody>
      </p:sp>
      <p:sp>
        <p:nvSpPr>
          <p:cNvPr id="123" name="Shape 121"/>
          <p:cNvSpPr/>
          <p:nvPr/>
        </p:nvSpPr>
        <p:spPr>
          <a:xfrm>
            <a:off x="1556766" y="3429000"/>
            <a:ext cx="2592324" cy="0"/>
          </a:xfrm>
          <a:prstGeom prst="line">
            <a:avLst/>
          </a:prstGeom>
          <a:noFill/>
          <a:ln w="3175">
            <a:solidFill>
              <a:srgbClr val="484568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1645920" y="3477006"/>
            <a:ext cx="68580" cy="68580"/>
          </a:xfrm>
          <a:prstGeom prst="rect">
            <a:avLst/>
          </a:prstGeom>
          <a:solidFill>
            <a:srgbClr val="FFFFFF">
              <a:alpha val="0"/>
            </a:srgbClr>
          </a:solidFill>
          <a:ln w="5715">
            <a:solidFill>
              <a:srgbClr val="5D5A82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1961388" y="3463290"/>
            <a:ext cx="82296" cy="82296"/>
          </a:xfrm>
          <a:prstGeom prst="ellipse">
            <a:avLst/>
          </a:prstGeom>
          <a:solidFill>
            <a:srgbClr val="F3F0FF"/>
          </a:solidFill>
          <a:ln w="12700">
            <a:solidFill>
              <a:srgbClr val="F3F0FF"/>
            </a:solidFill>
            <a:prstDash val="solid"/>
          </a:ln>
        </p:spPr>
      </p:sp>
      <p:sp>
        <p:nvSpPr>
          <p:cNvPr id="126" name="Text 124"/>
          <p:cNvSpPr/>
          <p:nvPr/>
        </p:nvSpPr>
        <p:spPr>
          <a:xfrm>
            <a:off x="1978533" y="3481121"/>
            <a:ext cx="41148" cy="274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85000" lnSpcReduction="10000"/>
          </a:bodyPr>
          <a:lstStyle/>
          <a:p>
            <a:pPr algn="ctr"/>
            <a:r>
              <a:rPr lang="en-US" sz="285" b="1" dirty="0">
                <a:solidFill>
                  <a:srgbClr val="6F5AE8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황</a:t>
            </a:r>
            <a:endParaRPr lang="en-US" sz="285" dirty="0"/>
          </a:p>
        </p:txBody>
      </p:sp>
      <p:sp>
        <p:nvSpPr>
          <p:cNvPr id="127" name="Text 125"/>
          <p:cNvSpPr/>
          <p:nvPr/>
        </p:nvSpPr>
        <p:spPr>
          <a:xfrm>
            <a:off x="2077974" y="3470148"/>
            <a:ext cx="308610" cy="548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r>
              <a:rPr lang="en-US" sz="390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황정우</a:t>
            </a:r>
            <a:endParaRPr lang="en-US" sz="390" dirty="0"/>
          </a:p>
        </p:txBody>
      </p:sp>
      <p:sp>
        <p:nvSpPr>
          <p:cNvPr id="128" name="Text 126"/>
          <p:cNvSpPr/>
          <p:nvPr/>
        </p:nvSpPr>
        <p:spPr>
          <a:xfrm>
            <a:off x="2530602" y="3470148"/>
            <a:ext cx="411480" cy="548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r>
              <a:rPr lang="en-US" sz="368" dirty="0">
                <a:solidFill>
                  <a:srgbClr val="B8B5ED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개발팀</a:t>
            </a:r>
            <a:endParaRPr lang="en-US" sz="368" dirty="0"/>
          </a:p>
        </p:txBody>
      </p:sp>
      <p:sp>
        <p:nvSpPr>
          <p:cNvPr id="129" name="Text 127"/>
          <p:cNvSpPr/>
          <p:nvPr/>
        </p:nvSpPr>
        <p:spPr>
          <a:xfrm>
            <a:off x="3010662" y="3470148"/>
            <a:ext cx="617220" cy="548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315" dirty="0">
                <a:solidFill>
                  <a:srgbClr val="C7C5E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Java, UML, 시스템 분석</a:t>
            </a:r>
            <a:endParaRPr lang="en-US" sz="315" dirty="0"/>
          </a:p>
        </p:txBody>
      </p:sp>
      <p:sp>
        <p:nvSpPr>
          <p:cNvPr id="130" name="Text 128"/>
          <p:cNvSpPr/>
          <p:nvPr/>
        </p:nvSpPr>
        <p:spPr>
          <a:xfrm>
            <a:off x="3799332" y="3470148"/>
            <a:ext cx="240030" cy="548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lang="en-US" sz="368" dirty="0">
                <a:solidFill>
                  <a:srgbClr val="C7C5E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0%</a:t>
            </a:r>
            <a:endParaRPr lang="en-US" sz="368" dirty="0"/>
          </a:p>
        </p:txBody>
      </p:sp>
      <p:sp>
        <p:nvSpPr>
          <p:cNvPr id="132" name="Shape 130"/>
          <p:cNvSpPr/>
          <p:nvPr/>
        </p:nvSpPr>
        <p:spPr>
          <a:xfrm>
            <a:off x="4231386" y="2180844"/>
            <a:ext cx="1014984" cy="1933956"/>
          </a:xfrm>
          <a:prstGeom prst="roundRect">
            <a:avLst>
              <a:gd name="adj" fmla="val 2703"/>
            </a:avLst>
          </a:prstGeom>
          <a:solidFill>
            <a:srgbClr val="33304F"/>
          </a:solidFill>
          <a:ln w="7620">
            <a:solidFill>
              <a:srgbClr val="5D5A82"/>
            </a:solidFill>
            <a:prstDash val="solid"/>
          </a:ln>
        </p:spPr>
      </p:sp>
      <p:sp>
        <p:nvSpPr>
          <p:cNvPr id="133" name="Text 131"/>
          <p:cNvSpPr/>
          <p:nvPr/>
        </p:nvSpPr>
        <p:spPr>
          <a:xfrm>
            <a:off x="4313682" y="2249424"/>
            <a:ext cx="356616" cy="68580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 lnSpcReduction="10000"/>
          </a:bodyPr>
          <a:lstStyle/>
          <a:p>
            <a:r>
              <a:rPr lang="en-US" sz="458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배정 설정</a:t>
            </a:r>
            <a:endParaRPr lang="en-US" sz="458" dirty="0"/>
          </a:p>
        </p:txBody>
      </p:sp>
      <p:sp>
        <p:nvSpPr>
          <p:cNvPr id="134" name="Text 132"/>
          <p:cNvSpPr/>
          <p:nvPr/>
        </p:nvSpPr>
        <p:spPr>
          <a:xfrm>
            <a:off x="4313682" y="2455164"/>
            <a:ext cx="356616" cy="54864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 lnSpcReduction="10000"/>
          </a:bodyPr>
          <a:lstStyle/>
          <a:p>
            <a:r>
              <a:rPr lang="en-US" sz="368" dirty="0">
                <a:solidFill>
                  <a:srgbClr val="B8B5ED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선택 인력:</a:t>
            </a:r>
            <a:endParaRPr lang="en-US" sz="368" dirty="0"/>
          </a:p>
        </p:txBody>
      </p:sp>
      <p:sp>
        <p:nvSpPr>
          <p:cNvPr id="135" name="Text 133"/>
          <p:cNvSpPr/>
          <p:nvPr/>
        </p:nvSpPr>
        <p:spPr>
          <a:xfrm>
            <a:off x="4313682" y="2544318"/>
            <a:ext cx="651510" cy="54864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 lnSpcReduction="10000"/>
          </a:bodyPr>
          <a:lstStyle/>
          <a:p>
            <a:r>
              <a:rPr lang="en-US" sz="39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선택된 인력이 없습니다</a:t>
            </a:r>
            <a:endParaRPr lang="en-US" sz="390" dirty="0"/>
          </a:p>
        </p:txBody>
      </p:sp>
      <p:sp>
        <p:nvSpPr>
          <p:cNvPr id="136" name="Text 134"/>
          <p:cNvSpPr/>
          <p:nvPr/>
        </p:nvSpPr>
        <p:spPr>
          <a:xfrm>
            <a:off x="4615434" y="2510028"/>
            <a:ext cx="123444" cy="1234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lang="en-US" sz="90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④</a:t>
            </a:r>
            <a:endParaRPr lang="en-US" sz="900" dirty="0"/>
          </a:p>
        </p:txBody>
      </p:sp>
      <p:sp>
        <p:nvSpPr>
          <p:cNvPr id="137" name="Text 135"/>
          <p:cNvSpPr/>
          <p:nvPr/>
        </p:nvSpPr>
        <p:spPr>
          <a:xfrm>
            <a:off x="4313682" y="2660904"/>
            <a:ext cx="850392" cy="685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405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역할 *</a:t>
            </a:r>
            <a:endParaRPr lang="en-US" sz="405" dirty="0"/>
          </a:p>
        </p:txBody>
      </p:sp>
      <p:sp>
        <p:nvSpPr>
          <p:cNvPr id="138" name="Shape 136"/>
          <p:cNvSpPr/>
          <p:nvPr/>
        </p:nvSpPr>
        <p:spPr>
          <a:xfrm>
            <a:off x="4313682" y="2756916"/>
            <a:ext cx="850392" cy="157734"/>
          </a:xfrm>
          <a:prstGeom prst="roundRect">
            <a:avLst>
              <a:gd name="adj" fmla="val 10870"/>
            </a:avLst>
          </a:prstGeom>
          <a:solidFill>
            <a:srgbClr val="2C2A49"/>
          </a:solidFill>
          <a:ln w="6985">
            <a:solidFill>
              <a:srgbClr val="5D5A82"/>
            </a:solidFill>
            <a:prstDash val="solid"/>
          </a:ln>
        </p:spPr>
      </p:sp>
      <p:sp>
        <p:nvSpPr>
          <p:cNvPr id="139" name="Text 137"/>
          <p:cNvSpPr/>
          <p:nvPr/>
        </p:nvSpPr>
        <p:spPr>
          <a:xfrm>
            <a:off x="4354830" y="2791206"/>
            <a:ext cx="781812" cy="4800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85000" lnSpcReduction="10000"/>
          </a:bodyPr>
          <a:lstStyle/>
          <a:p>
            <a:r>
              <a:rPr lang="en-US" sz="383" dirty="0">
                <a:solidFill>
                  <a:srgbClr val="C7C5DD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역할 선택</a:t>
            </a:r>
            <a:endParaRPr lang="en-US" sz="383" dirty="0"/>
          </a:p>
        </p:txBody>
      </p:sp>
      <p:sp>
        <p:nvSpPr>
          <p:cNvPr id="140" name="Text 138"/>
          <p:cNvSpPr/>
          <p:nvPr/>
        </p:nvSpPr>
        <p:spPr>
          <a:xfrm>
            <a:off x="4313682" y="3003804"/>
            <a:ext cx="308610" cy="54864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 fontScale="92500" lnSpcReduction="20000"/>
          </a:bodyPr>
          <a:lstStyle/>
          <a:p>
            <a:r>
              <a:rPr lang="en-US" sz="405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투입률 *</a:t>
            </a:r>
            <a:endParaRPr lang="en-US" sz="405" dirty="0"/>
          </a:p>
        </p:txBody>
      </p:sp>
      <p:sp>
        <p:nvSpPr>
          <p:cNvPr id="141" name="Shape 139"/>
          <p:cNvSpPr/>
          <p:nvPr/>
        </p:nvSpPr>
        <p:spPr>
          <a:xfrm>
            <a:off x="4313682" y="3099816"/>
            <a:ext cx="452628" cy="150876"/>
          </a:xfrm>
          <a:prstGeom prst="roundRect">
            <a:avLst>
              <a:gd name="adj" fmla="val 15909"/>
            </a:avLst>
          </a:prstGeom>
          <a:solidFill>
            <a:srgbClr val="6F5AE8"/>
          </a:solidFill>
          <a:ln w="12700">
            <a:solidFill>
              <a:srgbClr val="6F5AE8"/>
            </a:solidFill>
            <a:prstDash val="solid"/>
          </a:ln>
        </p:spPr>
      </p:sp>
      <p:sp>
        <p:nvSpPr>
          <p:cNvPr id="142" name="Text 140"/>
          <p:cNvSpPr/>
          <p:nvPr/>
        </p:nvSpPr>
        <p:spPr>
          <a:xfrm>
            <a:off x="4341114" y="3137535"/>
            <a:ext cx="397764" cy="4800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85000" lnSpcReduction="10000"/>
          </a:bodyPr>
          <a:lstStyle/>
          <a:p>
            <a:pPr algn="ctr"/>
            <a:r>
              <a:rPr lang="en-US" sz="39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100%</a:t>
            </a:r>
            <a:endParaRPr lang="en-US" sz="390" dirty="0"/>
          </a:p>
        </p:txBody>
      </p:sp>
      <p:sp>
        <p:nvSpPr>
          <p:cNvPr id="143" name="Shape 141"/>
          <p:cNvSpPr/>
          <p:nvPr/>
        </p:nvSpPr>
        <p:spPr>
          <a:xfrm>
            <a:off x="4800600" y="3099816"/>
            <a:ext cx="363474" cy="150876"/>
          </a:xfrm>
          <a:prstGeom prst="roundRect">
            <a:avLst>
              <a:gd name="adj" fmla="val 15909"/>
            </a:avLst>
          </a:prstGeom>
          <a:solidFill>
            <a:srgbClr val="2C2A49"/>
          </a:solidFill>
          <a:ln w="6985">
            <a:solidFill>
              <a:srgbClr val="5D5A82"/>
            </a:solidFill>
            <a:prstDash val="solid"/>
          </a:ln>
        </p:spPr>
      </p:sp>
      <p:sp>
        <p:nvSpPr>
          <p:cNvPr id="144" name="Text 142"/>
          <p:cNvSpPr/>
          <p:nvPr/>
        </p:nvSpPr>
        <p:spPr>
          <a:xfrm>
            <a:off x="4828032" y="3137535"/>
            <a:ext cx="308610" cy="4800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85000" lnSpcReduction="10000"/>
          </a:bodyPr>
          <a:lstStyle/>
          <a:p>
            <a:pPr algn="ctr"/>
            <a:r>
              <a:rPr lang="en-US" sz="390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50%</a:t>
            </a:r>
            <a:endParaRPr lang="en-US" sz="390" dirty="0"/>
          </a:p>
        </p:txBody>
      </p:sp>
      <p:sp>
        <p:nvSpPr>
          <p:cNvPr id="145" name="Text 143"/>
          <p:cNvSpPr/>
          <p:nvPr/>
        </p:nvSpPr>
        <p:spPr>
          <a:xfrm>
            <a:off x="4286250" y="3072384"/>
            <a:ext cx="123444" cy="1234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lang="en-US" sz="90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⑤</a:t>
            </a:r>
            <a:endParaRPr lang="en-US" sz="900" dirty="0"/>
          </a:p>
        </p:txBody>
      </p:sp>
      <p:sp>
        <p:nvSpPr>
          <p:cNvPr id="146" name="Text 144"/>
          <p:cNvSpPr/>
          <p:nvPr/>
        </p:nvSpPr>
        <p:spPr>
          <a:xfrm>
            <a:off x="4313682" y="3312414"/>
            <a:ext cx="850392" cy="685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405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투입 시작일 *</a:t>
            </a:r>
            <a:endParaRPr lang="en-US" sz="405" dirty="0"/>
          </a:p>
        </p:txBody>
      </p:sp>
      <p:sp>
        <p:nvSpPr>
          <p:cNvPr id="147" name="Shape 145"/>
          <p:cNvSpPr/>
          <p:nvPr/>
        </p:nvSpPr>
        <p:spPr>
          <a:xfrm>
            <a:off x="4313682" y="3408426"/>
            <a:ext cx="850392" cy="157734"/>
          </a:xfrm>
          <a:prstGeom prst="roundRect">
            <a:avLst>
              <a:gd name="adj" fmla="val 10870"/>
            </a:avLst>
          </a:prstGeom>
          <a:solidFill>
            <a:srgbClr val="2C2A49"/>
          </a:solidFill>
          <a:ln w="6985">
            <a:solidFill>
              <a:srgbClr val="5D5A82"/>
            </a:solidFill>
            <a:prstDash val="solid"/>
          </a:ln>
        </p:spPr>
      </p:sp>
      <p:sp>
        <p:nvSpPr>
          <p:cNvPr id="148" name="Text 146"/>
          <p:cNvSpPr/>
          <p:nvPr/>
        </p:nvSpPr>
        <p:spPr>
          <a:xfrm>
            <a:off x="4354830" y="3442716"/>
            <a:ext cx="781812" cy="4800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85000" lnSpcReduction="10000"/>
          </a:bodyPr>
          <a:lstStyle/>
          <a:p>
            <a:r>
              <a:rPr lang="en-US" sz="383" dirty="0">
                <a:solidFill>
                  <a:srgbClr val="C7C5DD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날짜 선택</a:t>
            </a:r>
            <a:endParaRPr lang="en-US" sz="383" dirty="0"/>
          </a:p>
        </p:txBody>
      </p:sp>
      <p:sp>
        <p:nvSpPr>
          <p:cNvPr id="149" name="Text 147"/>
          <p:cNvSpPr/>
          <p:nvPr/>
        </p:nvSpPr>
        <p:spPr>
          <a:xfrm>
            <a:off x="4313682" y="3600450"/>
            <a:ext cx="850392" cy="685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405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종료 예정일 *</a:t>
            </a:r>
            <a:endParaRPr lang="en-US" sz="405" dirty="0"/>
          </a:p>
        </p:txBody>
      </p:sp>
      <p:sp>
        <p:nvSpPr>
          <p:cNvPr id="150" name="Shape 148"/>
          <p:cNvSpPr/>
          <p:nvPr/>
        </p:nvSpPr>
        <p:spPr>
          <a:xfrm>
            <a:off x="4313682" y="3696462"/>
            <a:ext cx="850392" cy="157734"/>
          </a:xfrm>
          <a:prstGeom prst="roundRect">
            <a:avLst>
              <a:gd name="adj" fmla="val 10870"/>
            </a:avLst>
          </a:prstGeom>
          <a:solidFill>
            <a:srgbClr val="2C2A49"/>
          </a:solidFill>
          <a:ln w="6985">
            <a:solidFill>
              <a:srgbClr val="5D5A82"/>
            </a:solidFill>
            <a:prstDash val="solid"/>
          </a:ln>
        </p:spPr>
      </p:sp>
      <p:sp>
        <p:nvSpPr>
          <p:cNvPr id="151" name="Text 149"/>
          <p:cNvSpPr/>
          <p:nvPr/>
        </p:nvSpPr>
        <p:spPr>
          <a:xfrm>
            <a:off x="4354830" y="3730752"/>
            <a:ext cx="781812" cy="4800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85000" lnSpcReduction="10000"/>
          </a:bodyPr>
          <a:lstStyle/>
          <a:p>
            <a:r>
              <a:rPr lang="en-US" sz="383" dirty="0">
                <a:solidFill>
                  <a:srgbClr val="C7C5DD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날짜 선택</a:t>
            </a:r>
            <a:endParaRPr lang="en-US" sz="383" dirty="0"/>
          </a:p>
        </p:txBody>
      </p:sp>
      <p:sp>
        <p:nvSpPr>
          <p:cNvPr id="152" name="Text 150"/>
          <p:cNvSpPr/>
          <p:nvPr/>
        </p:nvSpPr>
        <p:spPr>
          <a:xfrm>
            <a:off x="4313682" y="3881628"/>
            <a:ext cx="836676" cy="685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77500" lnSpcReduction="20000"/>
          </a:bodyPr>
          <a:lstStyle/>
          <a:p>
            <a:r>
              <a:rPr lang="en-US" sz="308" b="1" dirty="0">
                <a:solidFill>
                  <a:srgbClr val="FF4D68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⚠ 배정 확정 시 투입 현황 자동 갱신·배정 제외 이메일 알림 발송</a:t>
            </a:r>
            <a:endParaRPr lang="en-US" sz="308" dirty="0"/>
          </a:p>
        </p:txBody>
      </p:sp>
      <p:sp>
        <p:nvSpPr>
          <p:cNvPr id="153" name="Text 151"/>
          <p:cNvSpPr/>
          <p:nvPr/>
        </p:nvSpPr>
        <p:spPr>
          <a:xfrm>
            <a:off x="4265676" y="3861054"/>
            <a:ext cx="123444" cy="1234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lang="en-US" sz="90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⑦</a:t>
            </a:r>
            <a:endParaRPr lang="en-US" sz="900" dirty="0"/>
          </a:p>
        </p:txBody>
      </p:sp>
      <p:sp>
        <p:nvSpPr>
          <p:cNvPr id="154" name="Shape 152"/>
          <p:cNvSpPr/>
          <p:nvPr/>
        </p:nvSpPr>
        <p:spPr>
          <a:xfrm>
            <a:off x="4313682" y="3998214"/>
            <a:ext cx="397764" cy="150876"/>
          </a:xfrm>
          <a:prstGeom prst="roundRect">
            <a:avLst>
              <a:gd name="adj" fmla="val 15909"/>
            </a:avLst>
          </a:prstGeom>
          <a:solidFill>
            <a:srgbClr val="2C2A49"/>
          </a:solidFill>
          <a:ln w="6985">
            <a:solidFill>
              <a:srgbClr val="5D5A82"/>
            </a:solidFill>
            <a:prstDash val="solid"/>
          </a:ln>
        </p:spPr>
      </p:sp>
      <p:sp>
        <p:nvSpPr>
          <p:cNvPr id="155" name="Text 153"/>
          <p:cNvSpPr/>
          <p:nvPr/>
        </p:nvSpPr>
        <p:spPr>
          <a:xfrm>
            <a:off x="4341114" y="4035933"/>
            <a:ext cx="342900" cy="4800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85000" lnSpcReduction="10000"/>
          </a:bodyPr>
          <a:lstStyle/>
          <a:p>
            <a:pPr algn="ctr"/>
            <a:r>
              <a:rPr lang="en-US" sz="390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초기화</a:t>
            </a:r>
            <a:endParaRPr lang="en-US" sz="390" dirty="0"/>
          </a:p>
        </p:txBody>
      </p:sp>
      <p:sp>
        <p:nvSpPr>
          <p:cNvPr id="156" name="Shape 154"/>
          <p:cNvSpPr/>
          <p:nvPr/>
        </p:nvSpPr>
        <p:spPr>
          <a:xfrm>
            <a:off x="4766310" y="3998214"/>
            <a:ext cx="397764" cy="150876"/>
          </a:xfrm>
          <a:prstGeom prst="roundRect">
            <a:avLst>
              <a:gd name="adj" fmla="val 15909"/>
            </a:avLst>
          </a:prstGeom>
          <a:solidFill>
            <a:srgbClr val="6F5AE8"/>
          </a:solidFill>
          <a:ln w="12700">
            <a:solidFill>
              <a:srgbClr val="6F5AE8"/>
            </a:solidFill>
            <a:prstDash val="solid"/>
          </a:ln>
        </p:spPr>
      </p:sp>
      <p:sp>
        <p:nvSpPr>
          <p:cNvPr id="157" name="Text 155"/>
          <p:cNvSpPr/>
          <p:nvPr/>
        </p:nvSpPr>
        <p:spPr>
          <a:xfrm>
            <a:off x="4793742" y="4035933"/>
            <a:ext cx="342900" cy="4800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85000" lnSpcReduction="10000"/>
          </a:bodyPr>
          <a:lstStyle/>
          <a:p>
            <a:pPr algn="ctr"/>
            <a:r>
              <a:rPr lang="en-US" sz="39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배정 확정</a:t>
            </a:r>
            <a:endParaRPr lang="en-US" sz="390" dirty="0"/>
          </a:p>
        </p:txBody>
      </p:sp>
      <p:sp>
        <p:nvSpPr>
          <p:cNvPr id="158" name="Text 156"/>
          <p:cNvSpPr/>
          <p:nvPr/>
        </p:nvSpPr>
        <p:spPr>
          <a:xfrm>
            <a:off x="5726430" y="678942"/>
            <a:ext cx="1028700" cy="192024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/>
          </a:bodyPr>
          <a:lstStyle/>
          <a:p>
            <a:r>
              <a:rPr lang="en-US" sz="1200" b="1" dirty="0">
                <a:solidFill>
                  <a:srgbClr val="1118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Description</a:t>
            </a:r>
            <a:endParaRPr lang="en-US" sz="1200" dirty="0"/>
          </a:p>
        </p:txBody>
      </p:sp>
      <p:sp>
        <p:nvSpPr>
          <p:cNvPr id="159" name="Text 157"/>
          <p:cNvSpPr/>
          <p:nvPr/>
        </p:nvSpPr>
        <p:spPr>
          <a:xfrm>
            <a:off x="8257032" y="720090"/>
            <a:ext cx="342900" cy="82296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 fontScale="92500" lnSpcReduction="20000"/>
          </a:bodyPr>
          <a:lstStyle/>
          <a:p>
            <a:pPr algn="r"/>
            <a:r>
              <a:rPr lang="en-US" sz="600" b="1" dirty="0">
                <a:solidFill>
                  <a:srgbClr val="2563EB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검토용</a:t>
            </a:r>
            <a:endParaRPr lang="en-US" sz="600" dirty="0"/>
          </a:p>
        </p:txBody>
      </p:sp>
      <p:graphicFrame>
        <p:nvGraphicFramePr>
          <p:cNvPr id="160" name="Table 0"/>
          <p:cNvGraphicFramePr>
            <a:graphicFrameLocks noGrp="1"/>
          </p:cNvGraphicFramePr>
          <p:nvPr>
            <p:extLst/>
          </p:nvPr>
        </p:nvGraphicFramePr>
        <p:xfrm>
          <a:off x="5657850" y="994410"/>
          <a:ext cx="2983230" cy="2043684"/>
        </p:xfrm>
        <a:graphic>
          <a:graphicData uri="http://schemas.openxmlformats.org/drawingml/2006/table">
            <a:tbl>
              <a:tblPr/>
              <a:tblGrid>
                <a:gridCol w="64465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3857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945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600" b="1" dirty="0">
                          <a:solidFill>
                            <a:srgbClr val="FFFFFF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구분</a:t>
                      </a:r>
                      <a:endParaRPr lang="en-US" sz="6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27432" marR="27432" marT="27432" marB="27432">
                    <a:lnL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1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600" b="1" dirty="0">
                          <a:solidFill>
                            <a:srgbClr val="FFFFFF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기획 내용</a:t>
                      </a:r>
                      <a:endParaRPr lang="en-US" sz="6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27432" marR="27432" marT="27432" marB="27432">
                    <a:lnL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1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604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500" dirty="0">
                          <a:solidFill>
                            <a:srgbClr val="111827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1. 필터 영역</a:t>
                      </a:r>
                      <a:endParaRPr lang="en-US" sz="5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41148" marR="41148" marT="41148" marB="41148">
                    <a:lnL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500" dirty="0">
                          <a:solidFill>
                            <a:srgbClr val="111827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기술스택/투입률/경력/부서 조건으로 가용 인력 검색</a:t>
                      </a:r>
                      <a:endParaRPr lang="en-US" sz="5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500" dirty="0">
                          <a:solidFill>
                            <a:srgbClr val="111827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초기화 버튼으로 필터 조건 일괄 해제</a:t>
                      </a:r>
                      <a:endParaRPr lang="en-US" sz="5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41148" marR="41148" marT="41148" marB="41148">
                    <a:lnL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500" dirty="0">
                          <a:solidFill>
                            <a:srgbClr val="111827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2. 가용 인력</a:t>
                      </a:r>
                      <a:endParaRPr lang="en-US" sz="5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41148" marR="41148" marT="41148" marB="41148">
                    <a:lnL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500" dirty="0">
                          <a:solidFill>
                            <a:srgbClr val="111827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현재 프로젝트에 배정 가능한 직원 목록 표시</a:t>
                      </a:r>
                      <a:endParaRPr lang="en-US" sz="5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500" dirty="0">
                          <a:solidFill>
                            <a:srgbClr val="111827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이름/부서/기술스택/현 투입률 컬럼 구성</a:t>
                      </a:r>
                      <a:endParaRPr lang="en-US" sz="5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41148" marR="41148" marT="41148" marB="41148">
                    <a:lnL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604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500" dirty="0">
                          <a:solidFill>
                            <a:srgbClr val="111827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3. 상세 이동</a:t>
                      </a:r>
                      <a:endParaRPr lang="en-US" sz="5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41148" marR="41148" marT="41148" marB="41148">
                    <a:lnL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500" dirty="0">
                          <a:solidFill>
                            <a:srgbClr val="111827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프로젝트 상세 버튼 클릭 시 이전 상세 화면 복귀</a:t>
                      </a:r>
                      <a:endParaRPr lang="en-US" sz="5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41148" marR="41148" marT="41148" marB="41148">
                    <a:lnL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519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500" dirty="0">
                          <a:solidFill>
                            <a:srgbClr val="111827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4. 배정 설정</a:t>
                      </a:r>
                      <a:endParaRPr lang="en-US" sz="5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41148" marR="41148" marT="41148" marB="41148">
                    <a:lnL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500" dirty="0">
                          <a:solidFill>
                            <a:srgbClr val="111827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선택 인력 기준으로 역할/투입률/투입 시작일/종료예정일 입력</a:t>
                      </a:r>
                      <a:endParaRPr lang="en-US" sz="5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500" dirty="0">
                          <a:solidFill>
                            <a:srgbClr val="111827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선택 인력이 없을 경우 안내 문구 표시</a:t>
                      </a:r>
                      <a:endParaRPr lang="en-US" sz="5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41148" marR="41148" marT="41148" marB="41148">
                    <a:lnL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500" dirty="0">
                          <a:solidFill>
                            <a:srgbClr val="111827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5. 인력 선택</a:t>
                      </a:r>
                      <a:endParaRPr lang="en-US" sz="5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41148" marR="41148" marT="41148" marB="41148">
                    <a:lnL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500" dirty="0">
                          <a:solidFill>
                            <a:srgbClr val="111827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체크박스 선택 시 우측 배정 설정 영역에 선택 인력 반영</a:t>
                      </a:r>
                      <a:endParaRPr lang="en-US" sz="5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41148" marR="41148" marT="41148" marB="41148">
                    <a:lnL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161" name="Table 1"/>
          <p:cNvGraphicFramePr>
            <a:graphicFrameLocks noGrp="1"/>
          </p:cNvGraphicFramePr>
          <p:nvPr>
            <p:extLst/>
          </p:nvPr>
        </p:nvGraphicFramePr>
        <p:xfrm>
          <a:off x="5657850" y="3099818"/>
          <a:ext cx="2983230" cy="1488186"/>
        </p:xfrm>
        <a:graphic>
          <a:graphicData uri="http://schemas.openxmlformats.org/drawingml/2006/table">
            <a:tbl>
              <a:tblPr/>
              <a:tblGrid>
                <a:gridCol w="64465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3857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945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600" b="1" dirty="0">
                          <a:solidFill>
                            <a:srgbClr val="FFFFFF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구분</a:t>
                      </a:r>
                      <a:endParaRPr lang="en-US" sz="6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27432" marR="27432" marT="27432" marB="27432">
                    <a:lnL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1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600" b="1" dirty="0">
                          <a:solidFill>
                            <a:srgbClr val="FFFFFF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수정/추가</a:t>
                      </a:r>
                      <a:endParaRPr lang="en-US" sz="6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27432" marR="27432" marT="27432" marB="27432">
                    <a:lnL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1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205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500" dirty="0">
                          <a:solidFill>
                            <a:srgbClr val="111827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6. 입력/검증</a:t>
                      </a:r>
                      <a:endParaRPr lang="en-US" sz="5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41148" marR="41148" marT="41148" marB="41148">
                    <a:lnL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500" dirty="0" err="1" smtClean="0">
                          <a:solidFill>
                            <a:srgbClr val="111827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시작일</a:t>
                      </a:r>
                      <a:r>
                        <a:rPr lang="en-US" sz="500" dirty="0">
                          <a:solidFill>
                            <a:srgbClr val="111827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, 종료예정일 필수 입력 검증</a:t>
                      </a:r>
                      <a:endParaRPr lang="en-US" sz="5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altLang="ko-KR" sz="500" dirty="0" err="1" smtClean="0">
                          <a:solidFill>
                            <a:srgbClr val="111827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역할</a:t>
                      </a:r>
                      <a:r>
                        <a:rPr lang="en-US" altLang="ko-KR" sz="500" dirty="0" smtClean="0">
                          <a:solidFill>
                            <a:srgbClr val="111827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, </a:t>
                      </a:r>
                      <a:r>
                        <a:rPr lang="en-US" sz="500" dirty="0" err="1" smtClean="0">
                          <a:solidFill>
                            <a:srgbClr val="111827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투입률은</a:t>
                      </a:r>
                      <a:r>
                        <a:rPr lang="en-US" sz="500" dirty="0" smtClean="0">
                          <a:solidFill>
                            <a:srgbClr val="111827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 </a:t>
                      </a:r>
                      <a:r>
                        <a:rPr lang="en-US" sz="500" dirty="0">
                          <a:solidFill>
                            <a:srgbClr val="111827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100%/50% 버튼 선택 방식 적용</a:t>
                      </a:r>
                      <a:endParaRPr lang="en-US" sz="5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41148" marR="41148" marT="41148" marB="41148">
                    <a:lnL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519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500" dirty="0">
                          <a:solidFill>
                            <a:srgbClr val="111827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7. 저장 처리</a:t>
                      </a:r>
                      <a:endParaRPr lang="en-US" sz="5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41148" marR="41148" marT="41148" marB="41148">
                    <a:lnL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500" dirty="0">
                          <a:solidFill>
                            <a:srgbClr val="111827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배정 확정 클릭 시 프로젝트에 인력 배정 등록</a:t>
                      </a:r>
                      <a:endParaRPr lang="en-US" sz="5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500" dirty="0">
                          <a:solidFill>
                            <a:srgbClr val="111827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배정 처리 후 선택 상태 초기화 및 프로젝트 상세 화면 이동</a:t>
                      </a:r>
                      <a:endParaRPr lang="en-US" sz="5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41148" marR="41148" marT="41148" marB="41148">
                    <a:lnL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500" dirty="0">
                          <a:solidFill>
                            <a:srgbClr val="111827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8. 알림</a:t>
                      </a:r>
                      <a:endParaRPr lang="en-US" sz="5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41148" marR="41148" marT="41148" marB="41148">
                    <a:lnL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500" dirty="0">
                          <a:solidFill>
                            <a:srgbClr val="111827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배정 확정 시 자동 갱신·배정 제외 이메일 알림 발송 안내 문구 노출</a:t>
                      </a:r>
                      <a:endParaRPr lang="en-US" sz="5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500" dirty="0">
                          <a:solidFill>
                            <a:srgbClr val="111827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(미구현)</a:t>
                      </a:r>
                      <a:endParaRPr lang="en-US" sz="5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41148" marR="41148" marT="41148" marB="41148">
                    <a:lnL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62" name="Text 158"/>
          <p:cNvSpPr/>
          <p:nvPr/>
        </p:nvSpPr>
        <p:spPr>
          <a:xfrm>
            <a:off x="480060" y="4828032"/>
            <a:ext cx="3429000" cy="82296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/>
          </a:bodyPr>
          <a:lstStyle/>
          <a:p>
            <a:r>
              <a:rPr lang="en-US" sz="510" dirty="0">
                <a:solidFill>
                  <a:srgbClr val="0F213A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* 본 문서는 화면 설계 검토용이며, 실제 구현 상태와 다를 수 있습니다.</a:t>
            </a:r>
            <a:endParaRPr lang="en-US" sz="510" dirty="0"/>
          </a:p>
        </p:txBody>
      </p:sp>
      <p:sp>
        <p:nvSpPr>
          <p:cNvPr id="163" name="Text 159"/>
          <p:cNvSpPr/>
          <p:nvPr/>
        </p:nvSpPr>
        <p:spPr>
          <a:xfrm>
            <a:off x="8469630" y="4828032"/>
            <a:ext cx="445770" cy="82296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/>
          </a:bodyPr>
          <a:lstStyle/>
          <a:p>
            <a:pPr algn="r"/>
            <a:r>
              <a:rPr lang="en-US" sz="488" dirty="0">
                <a:solidFill>
                  <a:srgbClr val="0F213A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Confidential</a:t>
            </a:r>
            <a:endParaRPr lang="en-US" sz="488" dirty="0"/>
          </a:p>
        </p:txBody>
      </p:sp>
      <p:pic>
        <p:nvPicPr>
          <p:cNvPr id="164" name="그림 16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7893" y="4463935"/>
            <a:ext cx="1041707" cy="6243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999740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47472"/>
          </a:xfrm>
          <a:prstGeom prst="rect">
            <a:avLst/>
          </a:prstGeom>
          <a:solidFill>
            <a:srgbClr val="1A2744"/>
          </a:solidFill>
          <a:ln w="12700">
            <a:solidFill>
              <a:srgbClr val="1A274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164592" y="0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7B9C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도메인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0" y="0"/>
            <a:ext cx="8778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투입 현황  ·  /projects/status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8887968" y="0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4A6A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8/13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0" y="347472"/>
            <a:ext cx="1417320" cy="4796028"/>
          </a:xfrm>
          <a:prstGeom prst="rect">
            <a:avLst/>
          </a:prstGeom>
          <a:solidFill>
            <a:srgbClr val="1A2744"/>
          </a:solidFill>
          <a:ln w="12700">
            <a:solidFill>
              <a:srgbClr val="1A274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0" y="347472"/>
            <a:ext cx="1417320" cy="512064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0" y="347472"/>
            <a:ext cx="141732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Peoplify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4864" y="1005840"/>
            <a:ext cx="13167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대시보드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54864" y="1609344"/>
            <a:ext cx="13167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직원관리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0" y="2167128"/>
            <a:ext cx="1417320" cy="512064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Shape 10"/>
          <p:cNvSpPr/>
          <p:nvPr/>
        </p:nvSpPr>
        <p:spPr>
          <a:xfrm>
            <a:off x="0" y="2167128"/>
            <a:ext cx="36576" cy="512064"/>
          </a:xfrm>
          <a:prstGeom prst="rect">
            <a:avLst/>
          </a:prstGeom>
          <a:solidFill>
            <a:srgbClr val="3B9EE8"/>
          </a:solidFill>
          <a:ln w="12700">
            <a:solidFill>
              <a:srgbClr val="3B9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Text 11"/>
          <p:cNvSpPr/>
          <p:nvPr/>
        </p:nvSpPr>
        <p:spPr>
          <a:xfrm>
            <a:off x="54864" y="2212848"/>
            <a:ext cx="13167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프로젝트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54864" y="2816352"/>
            <a:ext cx="13167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근태관리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54864" y="3419856"/>
            <a:ext cx="13167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리포트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1417320" y="347472"/>
            <a:ext cx="772668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DEE2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Shape 15"/>
          <p:cNvSpPr/>
          <p:nvPr/>
        </p:nvSpPr>
        <p:spPr>
          <a:xfrm>
            <a:off x="1572768" y="448056"/>
            <a:ext cx="2926080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DEE2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Text 16"/>
          <p:cNvSpPr/>
          <p:nvPr/>
        </p:nvSpPr>
        <p:spPr>
          <a:xfrm>
            <a:off x="1609344" y="448056"/>
            <a:ext cx="285292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검색...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8046720" y="43891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🔔  관리자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8833104" y="448056"/>
            <a:ext cx="237744" cy="237744"/>
          </a:xfrm>
          <a:prstGeom prst="ellipse">
            <a:avLst/>
          </a:prstGeom>
          <a:solidFill>
            <a:srgbClr val="185FA5"/>
          </a:solidFill>
          <a:ln w="12700">
            <a:solidFill>
              <a:srgbClr val="185FA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Text 19"/>
          <p:cNvSpPr/>
          <p:nvPr/>
        </p:nvSpPr>
        <p:spPr>
          <a:xfrm>
            <a:off x="8833104" y="448056"/>
            <a:ext cx="23774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1417320" y="786384"/>
            <a:ext cx="7726680" cy="4357116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Text 21"/>
          <p:cNvSpPr/>
          <p:nvPr/>
        </p:nvSpPr>
        <p:spPr>
          <a:xfrm>
            <a:off x="1572768" y="877824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전체 투입 현황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8266176" y="877824"/>
            <a:ext cx="713232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DEE2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Text 23"/>
          <p:cNvSpPr/>
          <p:nvPr/>
        </p:nvSpPr>
        <p:spPr>
          <a:xfrm>
            <a:off x="8266176" y="877824"/>
            <a:ext cx="7132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엑셀 저장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1572768" y="1207008"/>
            <a:ext cx="1719072" cy="347472"/>
          </a:xfrm>
          <a:prstGeom prst="rect">
            <a:avLst/>
          </a:prstGeom>
          <a:solidFill>
            <a:srgbClr val="E6F1FB"/>
          </a:solidFill>
          <a:ln w="12700">
            <a:solidFill>
              <a:srgbClr val="DEE2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Text 25"/>
          <p:cNvSpPr/>
          <p:nvPr/>
        </p:nvSpPr>
        <p:spPr>
          <a:xfrm>
            <a:off x="1664208" y="1207008"/>
            <a:ext cx="1554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85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전체  32명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3355848" y="1207008"/>
            <a:ext cx="1719072" cy="347472"/>
          </a:xfrm>
          <a:prstGeom prst="rect">
            <a:avLst/>
          </a:prstGeom>
          <a:solidFill>
            <a:srgbClr val="DBEAFE"/>
          </a:solidFill>
          <a:ln w="12700">
            <a:solidFill>
              <a:srgbClr val="DEE2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9" name="Text 27"/>
          <p:cNvSpPr/>
          <p:nvPr/>
        </p:nvSpPr>
        <p:spPr>
          <a:xfrm>
            <a:off x="3447288" y="1207008"/>
            <a:ext cx="1554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투입 중  26명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138928" y="1207008"/>
            <a:ext cx="1719072" cy="347472"/>
          </a:xfrm>
          <a:prstGeom prst="rect">
            <a:avLst/>
          </a:prstGeom>
          <a:solidFill>
            <a:srgbClr val="FEF3C7"/>
          </a:solidFill>
          <a:ln w="12700">
            <a:solidFill>
              <a:srgbClr val="DEE2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1" name="Text 29"/>
          <p:cNvSpPr/>
          <p:nvPr/>
        </p:nvSpPr>
        <p:spPr>
          <a:xfrm>
            <a:off x="5230368" y="1207008"/>
            <a:ext cx="1554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벤치  6명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6922008" y="1207008"/>
            <a:ext cx="1719072" cy="347472"/>
          </a:xfrm>
          <a:prstGeom prst="rect">
            <a:avLst/>
          </a:prstGeom>
          <a:solidFill>
            <a:srgbClr val="F1EFE8"/>
          </a:solidFill>
          <a:ln w="12700">
            <a:solidFill>
              <a:srgbClr val="DEE2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3" name="Text 31"/>
          <p:cNvSpPr/>
          <p:nvPr/>
        </p:nvSpPr>
        <p:spPr>
          <a:xfrm>
            <a:off x="7013448" y="1207008"/>
            <a:ext cx="1554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휴가  1명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572768" y="1645920"/>
            <a:ext cx="740664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EE2E8"/>
            </a:solidFill>
            <a:prstDash val="solid"/>
          </a:ln>
          <a:effectLst>
            <a:outerShdw blurRad="508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5" name="Shape 33"/>
          <p:cNvSpPr/>
          <p:nvPr/>
        </p:nvSpPr>
        <p:spPr>
          <a:xfrm>
            <a:off x="1682496" y="1737360"/>
            <a:ext cx="1261872" cy="201168"/>
          </a:xfrm>
          <a:prstGeom prst="rect">
            <a:avLst/>
          </a:prstGeom>
          <a:solidFill>
            <a:srgbClr val="F8FAFC"/>
          </a:solidFill>
          <a:ln w="12700">
            <a:solidFill>
              <a:srgbClr val="DEE2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6" name="Text 34"/>
          <p:cNvSpPr/>
          <p:nvPr/>
        </p:nvSpPr>
        <p:spPr>
          <a:xfrm>
            <a:off x="1737360" y="1737360"/>
            <a:ext cx="117043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상태 ▾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3017520" y="1737360"/>
            <a:ext cx="1261872" cy="201168"/>
          </a:xfrm>
          <a:prstGeom prst="rect">
            <a:avLst/>
          </a:prstGeom>
          <a:solidFill>
            <a:srgbClr val="F8FAFC"/>
          </a:solidFill>
          <a:ln w="12700">
            <a:solidFill>
              <a:srgbClr val="DEE2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8" name="Text 36"/>
          <p:cNvSpPr/>
          <p:nvPr/>
        </p:nvSpPr>
        <p:spPr>
          <a:xfrm>
            <a:off x="3072384" y="1737360"/>
            <a:ext cx="117043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부서 ▾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4352544" y="1737360"/>
            <a:ext cx="1261872" cy="201168"/>
          </a:xfrm>
          <a:prstGeom prst="rect">
            <a:avLst/>
          </a:prstGeom>
          <a:solidFill>
            <a:srgbClr val="F8FAFC"/>
          </a:solidFill>
          <a:ln w="12700">
            <a:solidFill>
              <a:srgbClr val="DEE2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0" name="Text 38"/>
          <p:cNvSpPr/>
          <p:nvPr/>
        </p:nvSpPr>
        <p:spPr>
          <a:xfrm>
            <a:off x="4407408" y="1737360"/>
            <a:ext cx="117043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철수 임박(30일) ▾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7516368" y="1737360"/>
            <a:ext cx="457200" cy="201168"/>
          </a:xfrm>
          <a:prstGeom prst="rect">
            <a:avLst/>
          </a:prstGeom>
          <a:solidFill>
            <a:srgbClr val="F8FAFC"/>
          </a:solidFill>
          <a:ln w="12700">
            <a:solidFill>
              <a:srgbClr val="DEE2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2" name="Text 40"/>
          <p:cNvSpPr/>
          <p:nvPr/>
        </p:nvSpPr>
        <p:spPr>
          <a:xfrm>
            <a:off x="7516368" y="1737360"/>
            <a:ext cx="457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초기화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8046720" y="1737360"/>
            <a:ext cx="914400" cy="201168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4" name="Text 42"/>
          <p:cNvSpPr/>
          <p:nvPr/>
        </p:nvSpPr>
        <p:spPr>
          <a:xfrm>
            <a:off x="8046720" y="1737360"/>
            <a:ext cx="914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조회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1572768" y="2103120"/>
            <a:ext cx="7406640" cy="2852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EE2E8"/>
            </a:solidFill>
            <a:prstDash val="solid"/>
          </a:ln>
          <a:effectLst>
            <a:outerShdw blurRad="508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46" name="Shape 44"/>
          <p:cNvSpPr/>
          <p:nvPr/>
        </p:nvSpPr>
        <p:spPr>
          <a:xfrm>
            <a:off x="1609344" y="2121408"/>
            <a:ext cx="768096" cy="256032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ext 45"/>
          <p:cNvSpPr/>
          <p:nvPr/>
        </p:nvSpPr>
        <p:spPr>
          <a:xfrm>
            <a:off x="1645920" y="2121408"/>
            <a:ext cx="731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이름</a:t>
            </a:r>
            <a:endParaRPr lang="en-US" sz="800" dirty="0"/>
          </a:p>
        </p:txBody>
      </p:sp>
      <p:sp>
        <p:nvSpPr>
          <p:cNvPr id="48" name="Shape 46"/>
          <p:cNvSpPr/>
          <p:nvPr/>
        </p:nvSpPr>
        <p:spPr>
          <a:xfrm>
            <a:off x="2340864" y="2121408"/>
            <a:ext cx="658368" cy="256032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ext 47"/>
          <p:cNvSpPr/>
          <p:nvPr/>
        </p:nvSpPr>
        <p:spPr>
          <a:xfrm>
            <a:off x="2377440" y="2121408"/>
            <a:ext cx="62179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부서</a:t>
            </a:r>
            <a:endParaRPr lang="en-US" sz="800" dirty="0"/>
          </a:p>
        </p:txBody>
      </p:sp>
      <p:sp>
        <p:nvSpPr>
          <p:cNvPr id="50" name="Shape 48"/>
          <p:cNvSpPr/>
          <p:nvPr/>
        </p:nvSpPr>
        <p:spPr>
          <a:xfrm>
            <a:off x="2962656" y="2121408"/>
            <a:ext cx="1728216" cy="256032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ext 49"/>
          <p:cNvSpPr/>
          <p:nvPr/>
        </p:nvSpPr>
        <p:spPr>
          <a:xfrm>
            <a:off x="2999232" y="2121408"/>
            <a:ext cx="1691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현재 프로젝트</a:t>
            </a:r>
            <a:endParaRPr lang="en-US" sz="800" dirty="0"/>
          </a:p>
        </p:txBody>
      </p:sp>
      <p:sp>
        <p:nvSpPr>
          <p:cNvPr id="52" name="Shape 50"/>
          <p:cNvSpPr/>
          <p:nvPr/>
        </p:nvSpPr>
        <p:spPr>
          <a:xfrm>
            <a:off x="4654296" y="2121408"/>
            <a:ext cx="585216" cy="256032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ext 51"/>
          <p:cNvSpPr/>
          <p:nvPr/>
        </p:nvSpPr>
        <p:spPr>
          <a:xfrm>
            <a:off x="4690872" y="2121408"/>
            <a:ext cx="548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역할</a:t>
            </a:r>
            <a:endParaRPr lang="en-US" sz="800" dirty="0"/>
          </a:p>
        </p:txBody>
      </p:sp>
      <p:sp>
        <p:nvSpPr>
          <p:cNvPr id="54" name="Shape 52"/>
          <p:cNvSpPr/>
          <p:nvPr/>
        </p:nvSpPr>
        <p:spPr>
          <a:xfrm>
            <a:off x="5202936" y="2121408"/>
            <a:ext cx="539496" cy="256032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ext 53"/>
          <p:cNvSpPr/>
          <p:nvPr/>
        </p:nvSpPr>
        <p:spPr>
          <a:xfrm>
            <a:off x="5239512" y="2121408"/>
            <a:ext cx="502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투입률</a:t>
            </a:r>
            <a:endParaRPr lang="en-US" sz="800" dirty="0"/>
          </a:p>
        </p:txBody>
      </p:sp>
      <p:sp>
        <p:nvSpPr>
          <p:cNvPr id="56" name="Shape 54"/>
          <p:cNvSpPr/>
          <p:nvPr/>
        </p:nvSpPr>
        <p:spPr>
          <a:xfrm>
            <a:off x="5705856" y="2121408"/>
            <a:ext cx="722376" cy="256032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ext 55"/>
          <p:cNvSpPr/>
          <p:nvPr/>
        </p:nvSpPr>
        <p:spPr>
          <a:xfrm>
            <a:off x="5742432" y="2121408"/>
            <a:ext cx="685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투입일</a:t>
            </a:r>
            <a:endParaRPr lang="en-US" sz="800" dirty="0"/>
          </a:p>
        </p:txBody>
      </p:sp>
      <p:sp>
        <p:nvSpPr>
          <p:cNvPr id="58" name="Shape 56"/>
          <p:cNvSpPr/>
          <p:nvPr/>
        </p:nvSpPr>
        <p:spPr>
          <a:xfrm>
            <a:off x="6391656" y="2121408"/>
            <a:ext cx="813816" cy="256032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ext 57"/>
          <p:cNvSpPr/>
          <p:nvPr/>
        </p:nvSpPr>
        <p:spPr>
          <a:xfrm>
            <a:off x="6428232" y="2121408"/>
            <a:ext cx="777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철수 예정일</a:t>
            </a:r>
            <a:endParaRPr lang="en-US" sz="800" dirty="0"/>
          </a:p>
        </p:txBody>
      </p:sp>
      <p:sp>
        <p:nvSpPr>
          <p:cNvPr id="60" name="Shape 58"/>
          <p:cNvSpPr/>
          <p:nvPr/>
        </p:nvSpPr>
        <p:spPr>
          <a:xfrm>
            <a:off x="7168896" y="2121408"/>
            <a:ext cx="585216" cy="256032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ext 59"/>
          <p:cNvSpPr/>
          <p:nvPr/>
        </p:nvSpPr>
        <p:spPr>
          <a:xfrm>
            <a:off x="7205472" y="2121408"/>
            <a:ext cx="548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상태</a:t>
            </a:r>
            <a:endParaRPr lang="en-US" sz="800" dirty="0"/>
          </a:p>
        </p:txBody>
      </p:sp>
      <p:sp>
        <p:nvSpPr>
          <p:cNvPr id="62" name="Shape 60"/>
          <p:cNvSpPr/>
          <p:nvPr/>
        </p:nvSpPr>
        <p:spPr>
          <a:xfrm>
            <a:off x="1572768" y="2414016"/>
            <a:ext cx="7406640" cy="347472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3" name="Text 61"/>
          <p:cNvSpPr/>
          <p:nvPr/>
        </p:nvSpPr>
        <p:spPr>
          <a:xfrm>
            <a:off x="1645920" y="2414016"/>
            <a:ext cx="7315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김민준</a:t>
            </a:r>
            <a:endParaRPr lang="en-US" sz="850" dirty="0"/>
          </a:p>
        </p:txBody>
      </p:sp>
      <p:sp>
        <p:nvSpPr>
          <p:cNvPr id="64" name="Text 62"/>
          <p:cNvSpPr/>
          <p:nvPr/>
        </p:nvSpPr>
        <p:spPr>
          <a:xfrm>
            <a:off x="2377440" y="2414016"/>
            <a:ext cx="62179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개발팀</a:t>
            </a:r>
            <a:endParaRPr lang="en-US" sz="850" dirty="0"/>
          </a:p>
        </p:txBody>
      </p:sp>
      <p:sp>
        <p:nvSpPr>
          <p:cNvPr id="65" name="Text 63"/>
          <p:cNvSpPr/>
          <p:nvPr/>
        </p:nvSpPr>
        <p:spPr>
          <a:xfrm>
            <a:off x="2999232" y="2414016"/>
            <a:ext cx="1691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A금융 차세대</a:t>
            </a:r>
            <a:endParaRPr lang="en-US" sz="850" dirty="0"/>
          </a:p>
        </p:txBody>
      </p:sp>
      <p:sp>
        <p:nvSpPr>
          <p:cNvPr id="66" name="Text 64"/>
          <p:cNvSpPr/>
          <p:nvPr/>
        </p:nvSpPr>
        <p:spPr>
          <a:xfrm>
            <a:off x="4690872" y="2414016"/>
            <a:ext cx="548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</a:t>
            </a:r>
            <a:endParaRPr lang="en-US" sz="850" dirty="0"/>
          </a:p>
        </p:txBody>
      </p:sp>
      <p:sp>
        <p:nvSpPr>
          <p:cNvPr id="67" name="Text 65"/>
          <p:cNvSpPr/>
          <p:nvPr/>
        </p:nvSpPr>
        <p:spPr>
          <a:xfrm>
            <a:off x="5239512" y="2414016"/>
            <a:ext cx="502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850" dirty="0"/>
          </a:p>
        </p:txBody>
      </p:sp>
      <p:sp>
        <p:nvSpPr>
          <p:cNvPr id="68" name="Text 66"/>
          <p:cNvSpPr/>
          <p:nvPr/>
        </p:nvSpPr>
        <p:spPr>
          <a:xfrm>
            <a:off x="5742432" y="2414016"/>
            <a:ext cx="685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25.03.01</a:t>
            </a:r>
            <a:endParaRPr lang="en-US" sz="850" dirty="0"/>
          </a:p>
        </p:txBody>
      </p:sp>
      <p:sp>
        <p:nvSpPr>
          <p:cNvPr id="69" name="Text 67"/>
          <p:cNvSpPr/>
          <p:nvPr/>
        </p:nvSpPr>
        <p:spPr>
          <a:xfrm>
            <a:off x="6428232" y="2414016"/>
            <a:ext cx="777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26.09.30</a:t>
            </a:r>
            <a:endParaRPr lang="en-US" sz="850" dirty="0"/>
          </a:p>
        </p:txBody>
      </p:sp>
      <p:sp>
        <p:nvSpPr>
          <p:cNvPr id="70" name="Shape 68"/>
          <p:cNvSpPr/>
          <p:nvPr/>
        </p:nvSpPr>
        <p:spPr>
          <a:xfrm>
            <a:off x="7205472" y="2496312"/>
            <a:ext cx="566928" cy="18288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1" name="Text 69"/>
          <p:cNvSpPr/>
          <p:nvPr/>
        </p:nvSpPr>
        <p:spPr>
          <a:xfrm>
            <a:off x="7205472" y="2496312"/>
            <a:ext cx="56692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투입중</a:t>
            </a:r>
            <a:endParaRPr lang="en-US" sz="800" dirty="0"/>
          </a:p>
        </p:txBody>
      </p:sp>
      <p:sp>
        <p:nvSpPr>
          <p:cNvPr id="72" name="Text 70"/>
          <p:cNvSpPr/>
          <p:nvPr/>
        </p:nvSpPr>
        <p:spPr>
          <a:xfrm>
            <a:off x="1645920" y="2761488"/>
            <a:ext cx="7315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이서연</a:t>
            </a:r>
            <a:endParaRPr lang="en-US" sz="850" dirty="0"/>
          </a:p>
        </p:txBody>
      </p:sp>
      <p:sp>
        <p:nvSpPr>
          <p:cNvPr id="73" name="Text 71"/>
          <p:cNvSpPr/>
          <p:nvPr/>
        </p:nvSpPr>
        <p:spPr>
          <a:xfrm>
            <a:off x="2377440" y="2761488"/>
            <a:ext cx="62179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디자인</a:t>
            </a:r>
            <a:endParaRPr lang="en-US" sz="850" dirty="0"/>
          </a:p>
        </p:txBody>
      </p:sp>
      <p:sp>
        <p:nvSpPr>
          <p:cNvPr id="74" name="Text 72"/>
          <p:cNvSpPr/>
          <p:nvPr/>
        </p:nvSpPr>
        <p:spPr>
          <a:xfrm>
            <a:off x="2999232" y="2761488"/>
            <a:ext cx="1691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벤치</a:t>
            </a:r>
            <a:endParaRPr lang="en-US" sz="850" dirty="0"/>
          </a:p>
        </p:txBody>
      </p:sp>
      <p:sp>
        <p:nvSpPr>
          <p:cNvPr id="75" name="Text 73"/>
          <p:cNvSpPr/>
          <p:nvPr/>
        </p:nvSpPr>
        <p:spPr>
          <a:xfrm>
            <a:off x="4690872" y="2761488"/>
            <a:ext cx="548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850" dirty="0"/>
          </a:p>
        </p:txBody>
      </p:sp>
      <p:sp>
        <p:nvSpPr>
          <p:cNvPr id="76" name="Text 74"/>
          <p:cNvSpPr/>
          <p:nvPr/>
        </p:nvSpPr>
        <p:spPr>
          <a:xfrm>
            <a:off x="5239512" y="2761488"/>
            <a:ext cx="502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0%</a:t>
            </a:r>
            <a:endParaRPr lang="en-US" sz="850" dirty="0"/>
          </a:p>
        </p:txBody>
      </p:sp>
      <p:sp>
        <p:nvSpPr>
          <p:cNvPr id="77" name="Text 75"/>
          <p:cNvSpPr/>
          <p:nvPr/>
        </p:nvSpPr>
        <p:spPr>
          <a:xfrm>
            <a:off x="5742432" y="2761488"/>
            <a:ext cx="685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850" dirty="0"/>
          </a:p>
        </p:txBody>
      </p:sp>
      <p:sp>
        <p:nvSpPr>
          <p:cNvPr id="78" name="Text 76"/>
          <p:cNvSpPr/>
          <p:nvPr/>
        </p:nvSpPr>
        <p:spPr>
          <a:xfrm>
            <a:off x="6428232" y="2761488"/>
            <a:ext cx="777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850" dirty="0"/>
          </a:p>
        </p:txBody>
      </p:sp>
      <p:sp>
        <p:nvSpPr>
          <p:cNvPr id="79" name="Shape 77"/>
          <p:cNvSpPr/>
          <p:nvPr/>
        </p:nvSpPr>
        <p:spPr>
          <a:xfrm>
            <a:off x="7205472" y="2843784"/>
            <a:ext cx="566928" cy="182880"/>
          </a:xfrm>
          <a:prstGeom prst="rect">
            <a:avLst/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0" name="Text 78"/>
          <p:cNvSpPr/>
          <p:nvPr/>
        </p:nvSpPr>
        <p:spPr>
          <a:xfrm>
            <a:off x="7205472" y="2843784"/>
            <a:ext cx="56692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벤치</a:t>
            </a:r>
            <a:endParaRPr lang="en-US" sz="800" dirty="0"/>
          </a:p>
        </p:txBody>
      </p:sp>
      <p:sp>
        <p:nvSpPr>
          <p:cNvPr id="81" name="Shape 79"/>
          <p:cNvSpPr/>
          <p:nvPr/>
        </p:nvSpPr>
        <p:spPr>
          <a:xfrm>
            <a:off x="1572768" y="3108960"/>
            <a:ext cx="7406640" cy="347472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2" name="Text 80"/>
          <p:cNvSpPr/>
          <p:nvPr/>
        </p:nvSpPr>
        <p:spPr>
          <a:xfrm>
            <a:off x="1645920" y="3108960"/>
            <a:ext cx="7315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박지훈</a:t>
            </a:r>
            <a:endParaRPr lang="en-US" sz="850" dirty="0"/>
          </a:p>
        </p:txBody>
      </p:sp>
      <p:sp>
        <p:nvSpPr>
          <p:cNvPr id="83" name="Text 81"/>
          <p:cNvSpPr/>
          <p:nvPr/>
        </p:nvSpPr>
        <p:spPr>
          <a:xfrm>
            <a:off x="2377440" y="3108960"/>
            <a:ext cx="62179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마케팅</a:t>
            </a:r>
            <a:endParaRPr lang="en-US" sz="850" dirty="0"/>
          </a:p>
        </p:txBody>
      </p:sp>
      <p:sp>
        <p:nvSpPr>
          <p:cNvPr id="84" name="Text 82"/>
          <p:cNvSpPr/>
          <p:nvPr/>
        </p:nvSpPr>
        <p:spPr>
          <a:xfrm>
            <a:off x="2999232" y="3108960"/>
            <a:ext cx="1691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C제조 MES</a:t>
            </a:r>
            <a:endParaRPr lang="en-US" sz="850" dirty="0"/>
          </a:p>
        </p:txBody>
      </p:sp>
      <p:sp>
        <p:nvSpPr>
          <p:cNvPr id="85" name="Text 83"/>
          <p:cNvSpPr/>
          <p:nvPr/>
        </p:nvSpPr>
        <p:spPr>
          <a:xfrm>
            <a:off x="4690872" y="3108960"/>
            <a:ext cx="548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개발</a:t>
            </a:r>
            <a:endParaRPr lang="en-US" sz="850" dirty="0"/>
          </a:p>
        </p:txBody>
      </p:sp>
      <p:sp>
        <p:nvSpPr>
          <p:cNvPr id="86" name="Text 84"/>
          <p:cNvSpPr/>
          <p:nvPr/>
        </p:nvSpPr>
        <p:spPr>
          <a:xfrm>
            <a:off x="5239512" y="3108960"/>
            <a:ext cx="502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850" dirty="0"/>
          </a:p>
        </p:txBody>
      </p:sp>
      <p:sp>
        <p:nvSpPr>
          <p:cNvPr id="87" name="Text 85"/>
          <p:cNvSpPr/>
          <p:nvPr/>
        </p:nvSpPr>
        <p:spPr>
          <a:xfrm>
            <a:off x="5742432" y="3108960"/>
            <a:ext cx="685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24.12.01</a:t>
            </a:r>
            <a:endParaRPr lang="en-US" sz="850" dirty="0"/>
          </a:p>
        </p:txBody>
      </p:sp>
      <p:sp>
        <p:nvSpPr>
          <p:cNvPr id="88" name="Text 86"/>
          <p:cNvSpPr/>
          <p:nvPr/>
        </p:nvSpPr>
        <p:spPr>
          <a:xfrm>
            <a:off x="6428232" y="3108960"/>
            <a:ext cx="777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26.03.31</a:t>
            </a:r>
            <a:endParaRPr lang="en-US" sz="850" dirty="0"/>
          </a:p>
        </p:txBody>
      </p:sp>
      <p:sp>
        <p:nvSpPr>
          <p:cNvPr id="89" name="Shape 87"/>
          <p:cNvSpPr/>
          <p:nvPr/>
        </p:nvSpPr>
        <p:spPr>
          <a:xfrm>
            <a:off x="7205472" y="3191256"/>
            <a:ext cx="566928" cy="18288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0" name="Text 88"/>
          <p:cNvSpPr/>
          <p:nvPr/>
        </p:nvSpPr>
        <p:spPr>
          <a:xfrm>
            <a:off x="7205472" y="3191256"/>
            <a:ext cx="56692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투입중</a:t>
            </a:r>
            <a:endParaRPr lang="en-US" sz="800" dirty="0"/>
          </a:p>
        </p:txBody>
      </p:sp>
      <p:sp>
        <p:nvSpPr>
          <p:cNvPr id="91" name="Text 89"/>
          <p:cNvSpPr/>
          <p:nvPr/>
        </p:nvSpPr>
        <p:spPr>
          <a:xfrm>
            <a:off x="1645920" y="3456432"/>
            <a:ext cx="7315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최유나</a:t>
            </a:r>
            <a:endParaRPr lang="en-US" sz="850" dirty="0"/>
          </a:p>
        </p:txBody>
      </p:sp>
      <p:sp>
        <p:nvSpPr>
          <p:cNvPr id="92" name="Text 90"/>
          <p:cNvSpPr/>
          <p:nvPr/>
        </p:nvSpPr>
        <p:spPr>
          <a:xfrm>
            <a:off x="2377440" y="3456432"/>
            <a:ext cx="62179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</a:t>
            </a:r>
            <a:endParaRPr lang="en-US" sz="850" dirty="0"/>
          </a:p>
        </p:txBody>
      </p:sp>
      <p:sp>
        <p:nvSpPr>
          <p:cNvPr id="93" name="Text 91"/>
          <p:cNvSpPr/>
          <p:nvPr/>
        </p:nvSpPr>
        <p:spPr>
          <a:xfrm>
            <a:off x="2999232" y="3456432"/>
            <a:ext cx="1691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A금융 차세대</a:t>
            </a:r>
            <a:endParaRPr lang="en-US" sz="850" dirty="0"/>
          </a:p>
        </p:txBody>
      </p:sp>
      <p:sp>
        <p:nvSpPr>
          <p:cNvPr id="94" name="Text 92"/>
          <p:cNvSpPr/>
          <p:nvPr/>
        </p:nvSpPr>
        <p:spPr>
          <a:xfrm>
            <a:off x="4690872" y="3456432"/>
            <a:ext cx="548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</a:t>
            </a:r>
            <a:endParaRPr lang="en-US" sz="850" dirty="0"/>
          </a:p>
        </p:txBody>
      </p:sp>
      <p:sp>
        <p:nvSpPr>
          <p:cNvPr id="95" name="Text 93"/>
          <p:cNvSpPr/>
          <p:nvPr/>
        </p:nvSpPr>
        <p:spPr>
          <a:xfrm>
            <a:off x="5239512" y="3456432"/>
            <a:ext cx="502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50%</a:t>
            </a:r>
            <a:endParaRPr lang="en-US" sz="850" dirty="0"/>
          </a:p>
        </p:txBody>
      </p:sp>
      <p:sp>
        <p:nvSpPr>
          <p:cNvPr id="96" name="Text 94"/>
          <p:cNvSpPr/>
          <p:nvPr/>
        </p:nvSpPr>
        <p:spPr>
          <a:xfrm>
            <a:off x="5742432" y="3456432"/>
            <a:ext cx="685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25.08.01</a:t>
            </a:r>
            <a:endParaRPr lang="en-US" sz="850" dirty="0"/>
          </a:p>
        </p:txBody>
      </p:sp>
      <p:sp>
        <p:nvSpPr>
          <p:cNvPr id="97" name="Text 95"/>
          <p:cNvSpPr/>
          <p:nvPr/>
        </p:nvSpPr>
        <p:spPr>
          <a:xfrm>
            <a:off x="6428232" y="3456432"/>
            <a:ext cx="777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26.06.15</a:t>
            </a:r>
            <a:endParaRPr lang="en-US" sz="850" dirty="0"/>
          </a:p>
        </p:txBody>
      </p:sp>
      <p:sp>
        <p:nvSpPr>
          <p:cNvPr id="98" name="Shape 96"/>
          <p:cNvSpPr/>
          <p:nvPr/>
        </p:nvSpPr>
        <p:spPr>
          <a:xfrm>
            <a:off x="7205472" y="3538728"/>
            <a:ext cx="566928" cy="182880"/>
          </a:xfrm>
          <a:prstGeom prst="rect">
            <a:avLst/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9" name="Text 97"/>
          <p:cNvSpPr/>
          <p:nvPr/>
        </p:nvSpPr>
        <p:spPr>
          <a:xfrm>
            <a:off x="7205472" y="3538728"/>
            <a:ext cx="56692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임박</a:t>
            </a:r>
            <a:endParaRPr lang="en-US" sz="800" dirty="0"/>
          </a:p>
        </p:txBody>
      </p:sp>
      <p:sp>
        <p:nvSpPr>
          <p:cNvPr id="100" name="Shape 98"/>
          <p:cNvSpPr/>
          <p:nvPr/>
        </p:nvSpPr>
        <p:spPr>
          <a:xfrm>
            <a:off x="1572768" y="3803904"/>
            <a:ext cx="7406640" cy="347472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1" name="Text 99"/>
          <p:cNvSpPr/>
          <p:nvPr/>
        </p:nvSpPr>
        <p:spPr>
          <a:xfrm>
            <a:off x="1645920" y="3803904"/>
            <a:ext cx="7315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정다은</a:t>
            </a:r>
            <a:endParaRPr lang="en-US" sz="850" dirty="0"/>
          </a:p>
        </p:txBody>
      </p:sp>
      <p:sp>
        <p:nvSpPr>
          <p:cNvPr id="102" name="Text 100"/>
          <p:cNvSpPr/>
          <p:nvPr/>
        </p:nvSpPr>
        <p:spPr>
          <a:xfrm>
            <a:off x="2377440" y="3803904"/>
            <a:ext cx="62179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개발팀</a:t>
            </a:r>
            <a:endParaRPr lang="en-US" sz="850" dirty="0"/>
          </a:p>
        </p:txBody>
      </p:sp>
      <p:sp>
        <p:nvSpPr>
          <p:cNvPr id="103" name="Text 101"/>
          <p:cNvSpPr/>
          <p:nvPr/>
        </p:nvSpPr>
        <p:spPr>
          <a:xfrm>
            <a:off x="2999232" y="3803904"/>
            <a:ext cx="1691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B공공 ERP</a:t>
            </a:r>
            <a:endParaRPr lang="en-US" sz="850" dirty="0"/>
          </a:p>
        </p:txBody>
      </p:sp>
      <p:sp>
        <p:nvSpPr>
          <p:cNvPr id="104" name="Text 102"/>
          <p:cNvSpPr/>
          <p:nvPr/>
        </p:nvSpPr>
        <p:spPr>
          <a:xfrm>
            <a:off x="4690872" y="3803904"/>
            <a:ext cx="548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개발</a:t>
            </a:r>
            <a:endParaRPr lang="en-US" sz="850" dirty="0"/>
          </a:p>
        </p:txBody>
      </p:sp>
      <p:sp>
        <p:nvSpPr>
          <p:cNvPr id="105" name="Text 103"/>
          <p:cNvSpPr/>
          <p:nvPr/>
        </p:nvSpPr>
        <p:spPr>
          <a:xfrm>
            <a:off x="5239512" y="3803904"/>
            <a:ext cx="502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850" dirty="0"/>
          </a:p>
        </p:txBody>
      </p:sp>
      <p:sp>
        <p:nvSpPr>
          <p:cNvPr id="106" name="Text 104"/>
          <p:cNvSpPr/>
          <p:nvPr/>
        </p:nvSpPr>
        <p:spPr>
          <a:xfrm>
            <a:off x="5742432" y="3803904"/>
            <a:ext cx="685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25.06.01</a:t>
            </a:r>
            <a:endParaRPr lang="en-US" sz="850" dirty="0"/>
          </a:p>
        </p:txBody>
      </p:sp>
      <p:sp>
        <p:nvSpPr>
          <p:cNvPr id="107" name="Text 105"/>
          <p:cNvSpPr/>
          <p:nvPr/>
        </p:nvSpPr>
        <p:spPr>
          <a:xfrm>
            <a:off x="6428232" y="3803904"/>
            <a:ext cx="777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26.06.28</a:t>
            </a:r>
            <a:endParaRPr lang="en-US" sz="850" dirty="0"/>
          </a:p>
        </p:txBody>
      </p:sp>
      <p:sp>
        <p:nvSpPr>
          <p:cNvPr id="108" name="Shape 106"/>
          <p:cNvSpPr/>
          <p:nvPr/>
        </p:nvSpPr>
        <p:spPr>
          <a:xfrm>
            <a:off x="7205472" y="3886200"/>
            <a:ext cx="566928" cy="182880"/>
          </a:xfrm>
          <a:prstGeom prst="rect">
            <a:avLst/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9" name="Text 107"/>
          <p:cNvSpPr/>
          <p:nvPr/>
        </p:nvSpPr>
        <p:spPr>
          <a:xfrm>
            <a:off x="7205472" y="3886200"/>
            <a:ext cx="56692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임박</a:t>
            </a:r>
            <a:endParaRPr lang="en-US" sz="800" dirty="0"/>
          </a:p>
        </p:txBody>
      </p:sp>
      <p:sp>
        <p:nvSpPr>
          <p:cNvPr id="110" name="Text 108"/>
          <p:cNvSpPr/>
          <p:nvPr/>
        </p:nvSpPr>
        <p:spPr>
          <a:xfrm>
            <a:off x="1645920" y="4151376"/>
            <a:ext cx="7315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홍길동</a:t>
            </a:r>
            <a:endParaRPr lang="en-US" sz="850" dirty="0"/>
          </a:p>
        </p:txBody>
      </p:sp>
      <p:sp>
        <p:nvSpPr>
          <p:cNvPr id="111" name="Text 109"/>
          <p:cNvSpPr/>
          <p:nvPr/>
        </p:nvSpPr>
        <p:spPr>
          <a:xfrm>
            <a:off x="2377440" y="4151376"/>
            <a:ext cx="62179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영업</a:t>
            </a:r>
            <a:endParaRPr lang="en-US" sz="850" dirty="0"/>
          </a:p>
        </p:txBody>
      </p:sp>
      <p:sp>
        <p:nvSpPr>
          <p:cNvPr id="112" name="Text 110"/>
          <p:cNvSpPr/>
          <p:nvPr/>
        </p:nvSpPr>
        <p:spPr>
          <a:xfrm>
            <a:off x="2999232" y="4151376"/>
            <a:ext cx="1691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E통신 CRM</a:t>
            </a:r>
            <a:endParaRPr lang="en-US" sz="850" dirty="0"/>
          </a:p>
        </p:txBody>
      </p:sp>
      <p:sp>
        <p:nvSpPr>
          <p:cNvPr id="113" name="Text 111"/>
          <p:cNvSpPr/>
          <p:nvPr/>
        </p:nvSpPr>
        <p:spPr>
          <a:xfrm>
            <a:off x="4690872" y="4151376"/>
            <a:ext cx="548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</a:t>
            </a:r>
            <a:endParaRPr lang="en-US" sz="850" dirty="0"/>
          </a:p>
        </p:txBody>
      </p:sp>
      <p:sp>
        <p:nvSpPr>
          <p:cNvPr id="114" name="Text 112"/>
          <p:cNvSpPr/>
          <p:nvPr/>
        </p:nvSpPr>
        <p:spPr>
          <a:xfrm>
            <a:off x="5239512" y="4151376"/>
            <a:ext cx="502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850" dirty="0"/>
          </a:p>
        </p:txBody>
      </p:sp>
      <p:sp>
        <p:nvSpPr>
          <p:cNvPr id="115" name="Text 113"/>
          <p:cNvSpPr/>
          <p:nvPr/>
        </p:nvSpPr>
        <p:spPr>
          <a:xfrm>
            <a:off x="5742432" y="4151376"/>
            <a:ext cx="685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24.01.01</a:t>
            </a:r>
            <a:endParaRPr lang="en-US" sz="850" dirty="0"/>
          </a:p>
        </p:txBody>
      </p:sp>
      <p:sp>
        <p:nvSpPr>
          <p:cNvPr id="116" name="Text 114"/>
          <p:cNvSpPr/>
          <p:nvPr/>
        </p:nvSpPr>
        <p:spPr>
          <a:xfrm>
            <a:off x="6428232" y="4151376"/>
            <a:ext cx="777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25.12.31</a:t>
            </a:r>
            <a:endParaRPr lang="en-US" sz="850" dirty="0"/>
          </a:p>
        </p:txBody>
      </p:sp>
      <p:sp>
        <p:nvSpPr>
          <p:cNvPr id="117" name="Shape 115"/>
          <p:cNvSpPr/>
          <p:nvPr/>
        </p:nvSpPr>
        <p:spPr>
          <a:xfrm>
            <a:off x="7205472" y="4233672"/>
            <a:ext cx="566928" cy="18288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8" name="Text 116"/>
          <p:cNvSpPr/>
          <p:nvPr/>
        </p:nvSpPr>
        <p:spPr>
          <a:xfrm>
            <a:off x="7205472" y="4233672"/>
            <a:ext cx="56692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완료</a:t>
            </a:r>
            <a:endParaRPr lang="en-US" sz="8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47472"/>
          </a:xfrm>
          <a:prstGeom prst="rect">
            <a:avLst/>
          </a:prstGeom>
          <a:solidFill>
            <a:srgbClr val="1A2744"/>
          </a:solidFill>
          <a:ln w="12700">
            <a:solidFill>
              <a:srgbClr val="1A274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164592" y="0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7B9C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 도메인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0" y="0"/>
            <a:ext cx="8778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월별 근무 보고 (간소화)  ·  /attendance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8887968" y="0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4A6A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11/13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0" y="347472"/>
            <a:ext cx="1417320" cy="4796028"/>
          </a:xfrm>
          <a:prstGeom prst="rect">
            <a:avLst/>
          </a:prstGeom>
          <a:solidFill>
            <a:srgbClr val="1A2744"/>
          </a:solidFill>
          <a:ln w="12700">
            <a:solidFill>
              <a:srgbClr val="1A274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0" y="347472"/>
            <a:ext cx="1417320" cy="512064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0" y="347472"/>
            <a:ext cx="141732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Peoplify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4864" y="1005840"/>
            <a:ext cx="13167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대시보드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54864" y="1609344"/>
            <a:ext cx="13167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직원관리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54864" y="2212848"/>
            <a:ext cx="13167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프로젝트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0" y="2770632"/>
            <a:ext cx="1417320" cy="512064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Shape 11"/>
          <p:cNvSpPr/>
          <p:nvPr/>
        </p:nvSpPr>
        <p:spPr>
          <a:xfrm>
            <a:off x="0" y="2770632"/>
            <a:ext cx="36576" cy="512064"/>
          </a:xfrm>
          <a:prstGeom prst="rect">
            <a:avLst/>
          </a:prstGeom>
          <a:solidFill>
            <a:srgbClr val="3B9EE8"/>
          </a:solidFill>
          <a:ln w="12700">
            <a:solidFill>
              <a:srgbClr val="3B9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54864" y="2816352"/>
            <a:ext cx="13167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근태관리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54864" y="3419856"/>
            <a:ext cx="13167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리포트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1417320" y="347472"/>
            <a:ext cx="772668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DEE2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Shape 15"/>
          <p:cNvSpPr/>
          <p:nvPr/>
        </p:nvSpPr>
        <p:spPr>
          <a:xfrm>
            <a:off x="1572768" y="448056"/>
            <a:ext cx="2926080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DEE2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Text 16"/>
          <p:cNvSpPr/>
          <p:nvPr/>
        </p:nvSpPr>
        <p:spPr>
          <a:xfrm>
            <a:off x="1609344" y="448056"/>
            <a:ext cx="285292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검색...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8046720" y="43891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🔔  관리자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8833104" y="448056"/>
            <a:ext cx="237744" cy="237744"/>
          </a:xfrm>
          <a:prstGeom prst="ellipse">
            <a:avLst/>
          </a:prstGeom>
          <a:solidFill>
            <a:srgbClr val="185FA5"/>
          </a:solidFill>
          <a:ln w="12700">
            <a:solidFill>
              <a:srgbClr val="185FA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Text 19"/>
          <p:cNvSpPr/>
          <p:nvPr/>
        </p:nvSpPr>
        <p:spPr>
          <a:xfrm>
            <a:off x="8833104" y="448056"/>
            <a:ext cx="23774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1417320" y="786384"/>
            <a:ext cx="7726680" cy="4357116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Text 21"/>
          <p:cNvSpPr/>
          <p:nvPr/>
        </p:nvSpPr>
        <p:spPr>
          <a:xfrm>
            <a:off x="1572768" y="877824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월별 근무 보고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1572768" y="1133856"/>
            <a:ext cx="45720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2026년 5월 기준  ·  제출 마감: 5월 31일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1572768" y="1389888"/>
            <a:ext cx="35661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EE2E8"/>
            </a:solidFill>
            <a:prstDash val="solid"/>
          </a:ln>
          <a:effectLst>
            <a:outerShdw blurRad="508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6" name="Text 24"/>
          <p:cNvSpPr/>
          <p:nvPr/>
        </p:nvSpPr>
        <p:spPr>
          <a:xfrm>
            <a:off x="1682496" y="1499616"/>
            <a:ext cx="3291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이번달 내 근무 보고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1682496" y="1691640"/>
            <a:ext cx="155448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근무일수 *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1682496" y="1847088"/>
            <a:ext cx="1554480" cy="256032"/>
          </a:xfrm>
          <a:prstGeom prst="rect">
            <a:avLst/>
          </a:prstGeom>
          <a:solidFill>
            <a:srgbClr val="F8FAFC"/>
          </a:solidFill>
          <a:ln w="12700">
            <a:solidFill>
              <a:srgbClr val="DEE2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9" name="Text 27"/>
          <p:cNvSpPr/>
          <p:nvPr/>
        </p:nvSpPr>
        <p:spPr>
          <a:xfrm>
            <a:off x="1737360" y="1847088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3383280" y="1691640"/>
            <a:ext cx="1627632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초과근무(시간)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3383280" y="1847088"/>
            <a:ext cx="1627632" cy="256032"/>
          </a:xfrm>
          <a:prstGeom prst="rect">
            <a:avLst/>
          </a:prstGeom>
          <a:solidFill>
            <a:srgbClr val="F8FAFC"/>
          </a:solidFill>
          <a:ln w="12700">
            <a:solidFill>
              <a:srgbClr val="DEE2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2" name="Text 30"/>
          <p:cNvSpPr/>
          <p:nvPr/>
        </p:nvSpPr>
        <p:spPr>
          <a:xfrm>
            <a:off x="3438144" y="1847088"/>
            <a:ext cx="153619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1682496" y="2267712"/>
            <a:ext cx="329184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현장 특이사항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1682496" y="2432304"/>
            <a:ext cx="3346704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DEE2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5" name="Text 33"/>
          <p:cNvSpPr/>
          <p:nvPr/>
        </p:nvSpPr>
        <p:spPr>
          <a:xfrm>
            <a:off x="1755648" y="2432304"/>
            <a:ext cx="3200400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현장 특이사항 입력...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4133088" y="2944368"/>
            <a:ext cx="969264" cy="274320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7" name="Text 35"/>
          <p:cNvSpPr/>
          <p:nvPr/>
        </p:nvSpPr>
        <p:spPr>
          <a:xfrm>
            <a:off x="4133088" y="2944368"/>
            <a:ext cx="969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보고 제출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1572768" y="3310128"/>
            <a:ext cx="3566160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EE2E8"/>
            </a:solidFill>
            <a:prstDash val="solid"/>
          </a:ln>
          <a:effectLst>
            <a:outerShdw blurRad="508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9" name="Text 37"/>
          <p:cNvSpPr/>
          <p:nvPr/>
        </p:nvSpPr>
        <p:spPr>
          <a:xfrm>
            <a:off x="1682496" y="3419856"/>
            <a:ext cx="3291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최근 보고 이력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1682496" y="3694176"/>
            <a:ext cx="914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2026년 4월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2651760" y="3694176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근무 22일  초과 4시간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4517136" y="3749040"/>
            <a:ext cx="566928" cy="182880"/>
          </a:xfrm>
          <a:prstGeom prst="rect">
            <a:avLst/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3" name="Text 41"/>
          <p:cNvSpPr/>
          <p:nvPr/>
        </p:nvSpPr>
        <p:spPr>
          <a:xfrm>
            <a:off x="4517136" y="3749040"/>
            <a:ext cx="56692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승인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1682496" y="4023360"/>
            <a:ext cx="914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2026년 3월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2651760" y="4023360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근무 21일  초과 0시간</a:t>
            </a:r>
            <a:endParaRPr lang="en-US" sz="850" dirty="0"/>
          </a:p>
        </p:txBody>
      </p:sp>
      <p:sp>
        <p:nvSpPr>
          <p:cNvPr id="46" name="Shape 44"/>
          <p:cNvSpPr/>
          <p:nvPr/>
        </p:nvSpPr>
        <p:spPr>
          <a:xfrm>
            <a:off x="4517136" y="4078224"/>
            <a:ext cx="566928" cy="182880"/>
          </a:xfrm>
          <a:prstGeom prst="rect">
            <a:avLst/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ext 45"/>
          <p:cNvSpPr/>
          <p:nvPr/>
        </p:nvSpPr>
        <p:spPr>
          <a:xfrm>
            <a:off x="4517136" y="4078224"/>
            <a:ext cx="56692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승인</a:t>
            </a:r>
            <a:endParaRPr lang="en-US" sz="800" dirty="0"/>
          </a:p>
        </p:txBody>
      </p:sp>
      <p:sp>
        <p:nvSpPr>
          <p:cNvPr id="48" name="Text 46"/>
          <p:cNvSpPr/>
          <p:nvPr/>
        </p:nvSpPr>
        <p:spPr>
          <a:xfrm>
            <a:off x="1682496" y="4352544"/>
            <a:ext cx="914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2026년 2월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2651760" y="4352544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근무 20일  초과 12시간</a:t>
            </a:r>
            <a:endParaRPr lang="en-US" sz="850" dirty="0"/>
          </a:p>
        </p:txBody>
      </p:sp>
      <p:sp>
        <p:nvSpPr>
          <p:cNvPr id="50" name="Shape 48"/>
          <p:cNvSpPr/>
          <p:nvPr/>
        </p:nvSpPr>
        <p:spPr>
          <a:xfrm>
            <a:off x="4517136" y="4407408"/>
            <a:ext cx="566928" cy="182880"/>
          </a:xfrm>
          <a:prstGeom prst="rect">
            <a:avLst/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ext 49"/>
          <p:cNvSpPr/>
          <p:nvPr/>
        </p:nvSpPr>
        <p:spPr>
          <a:xfrm>
            <a:off x="4517136" y="4407408"/>
            <a:ext cx="56692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승인</a:t>
            </a:r>
            <a:endParaRPr lang="en-US" sz="800" dirty="0"/>
          </a:p>
        </p:txBody>
      </p:sp>
      <p:sp>
        <p:nvSpPr>
          <p:cNvPr id="52" name="Shape 50"/>
          <p:cNvSpPr/>
          <p:nvPr/>
        </p:nvSpPr>
        <p:spPr>
          <a:xfrm>
            <a:off x="5276088" y="1389888"/>
            <a:ext cx="363016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EE2E8"/>
            </a:solidFill>
            <a:prstDash val="solid"/>
          </a:ln>
          <a:effectLst>
            <a:outerShdw blurRad="508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3" name="Text 51"/>
          <p:cNvSpPr/>
          <p:nvPr/>
        </p:nvSpPr>
        <p:spPr>
          <a:xfrm>
            <a:off x="5385816" y="1499616"/>
            <a:ext cx="33832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팀 보고 현황  (Manager 뷰)</a:t>
            </a:r>
            <a:endParaRPr lang="en-US" sz="1100" dirty="0"/>
          </a:p>
        </p:txBody>
      </p:sp>
      <p:sp>
        <p:nvSpPr>
          <p:cNvPr id="54" name="Shape 52"/>
          <p:cNvSpPr/>
          <p:nvPr/>
        </p:nvSpPr>
        <p:spPr>
          <a:xfrm>
            <a:off x="5276088" y="1773936"/>
            <a:ext cx="3630168" cy="256032"/>
          </a:xfrm>
          <a:prstGeom prst="rect">
            <a:avLst/>
          </a:prstGeom>
          <a:solidFill>
            <a:srgbClr val="FEF3C7"/>
          </a:solidFill>
          <a:ln w="12700">
            <a:solidFill>
              <a:srgbClr val="DEE2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ext 53"/>
          <p:cNvSpPr/>
          <p:nvPr/>
        </p:nvSpPr>
        <p:spPr>
          <a:xfrm>
            <a:off x="5385816" y="1773936"/>
            <a:ext cx="34564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미제출: 2명 (박지훈, 홍길동)  —  알림 발송 가능</a:t>
            </a:r>
            <a:endParaRPr lang="en-US" sz="850" dirty="0"/>
          </a:p>
        </p:txBody>
      </p:sp>
      <p:sp>
        <p:nvSpPr>
          <p:cNvPr id="56" name="Shape 54"/>
          <p:cNvSpPr/>
          <p:nvPr/>
        </p:nvSpPr>
        <p:spPr>
          <a:xfrm>
            <a:off x="5349240" y="2066544"/>
            <a:ext cx="722376" cy="219456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ext 55"/>
          <p:cNvSpPr/>
          <p:nvPr/>
        </p:nvSpPr>
        <p:spPr>
          <a:xfrm>
            <a:off x="5385816" y="2066544"/>
            <a:ext cx="685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이름</a:t>
            </a:r>
            <a:endParaRPr lang="en-US" sz="800" dirty="0"/>
          </a:p>
        </p:txBody>
      </p:sp>
      <p:sp>
        <p:nvSpPr>
          <p:cNvPr id="58" name="Shape 56"/>
          <p:cNvSpPr/>
          <p:nvPr/>
        </p:nvSpPr>
        <p:spPr>
          <a:xfrm>
            <a:off x="6035040" y="2066544"/>
            <a:ext cx="539496" cy="219456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ext 57"/>
          <p:cNvSpPr/>
          <p:nvPr/>
        </p:nvSpPr>
        <p:spPr>
          <a:xfrm>
            <a:off x="6071616" y="2066544"/>
            <a:ext cx="5029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근무일</a:t>
            </a:r>
            <a:endParaRPr lang="en-US" sz="800" dirty="0"/>
          </a:p>
        </p:txBody>
      </p:sp>
      <p:sp>
        <p:nvSpPr>
          <p:cNvPr id="60" name="Shape 58"/>
          <p:cNvSpPr/>
          <p:nvPr/>
        </p:nvSpPr>
        <p:spPr>
          <a:xfrm>
            <a:off x="6537960" y="2066544"/>
            <a:ext cx="539496" cy="219456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ext 59"/>
          <p:cNvSpPr/>
          <p:nvPr/>
        </p:nvSpPr>
        <p:spPr>
          <a:xfrm>
            <a:off x="6574536" y="2066544"/>
            <a:ext cx="5029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초과</a:t>
            </a:r>
            <a:endParaRPr lang="en-US" sz="800" dirty="0"/>
          </a:p>
        </p:txBody>
      </p:sp>
      <p:sp>
        <p:nvSpPr>
          <p:cNvPr id="62" name="Shape 60"/>
          <p:cNvSpPr/>
          <p:nvPr/>
        </p:nvSpPr>
        <p:spPr>
          <a:xfrm>
            <a:off x="7040880" y="2066544"/>
            <a:ext cx="694944" cy="219456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3" name="Text 61"/>
          <p:cNvSpPr/>
          <p:nvPr/>
        </p:nvSpPr>
        <p:spPr>
          <a:xfrm>
            <a:off x="7077456" y="2066544"/>
            <a:ext cx="65836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제출상태</a:t>
            </a:r>
            <a:endParaRPr lang="en-US" sz="800" dirty="0"/>
          </a:p>
        </p:txBody>
      </p:sp>
      <p:sp>
        <p:nvSpPr>
          <p:cNvPr id="64" name="Shape 62"/>
          <p:cNvSpPr/>
          <p:nvPr/>
        </p:nvSpPr>
        <p:spPr>
          <a:xfrm>
            <a:off x="7699248" y="2066544"/>
            <a:ext cx="676656" cy="219456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5" name="Text 63"/>
          <p:cNvSpPr/>
          <p:nvPr/>
        </p:nvSpPr>
        <p:spPr>
          <a:xfrm>
            <a:off x="7735824" y="2066544"/>
            <a:ext cx="6400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작업</a:t>
            </a:r>
            <a:endParaRPr lang="en-US" sz="800" dirty="0"/>
          </a:p>
        </p:txBody>
      </p:sp>
      <p:sp>
        <p:nvSpPr>
          <p:cNvPr id="66" name="Shape 64"/>
          <p:cNvSpPr/>
          <p:nvPr/>
        </p:nvSpPr>
        <p:spPr>
          <a:xfrm>
            <a:off x="5276088" y="2322576"/>
            <a:ext cx="3630168" cy="347472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7" name="Text 65"/>
          <p:cNvSpPr/>
          <p:nvPr/>
        </p:nvSpPr>
        <p:spPr>
          <a:xfrm>
            <a:off x="5385816" y="2322576"/>
            <a:ext cx="685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김민준</a:t>
            </a:r>
            <a:endParaRPr lang="en-US" sz="850" dirty="0"/>
          </a:p>
        </p:txBody>
      </p:sp>
      <p:sp>
        <p:nvSpPr>
          <p:cNvPr id="68" name="Text 66"/>
          <p:cNvSpPr/>
          <p:nvPr/>
        </p:nvSpPr>
        <p:spPr>
          <a:xfrm>
            <a:off x="6071616" y="2322576"/>
            <a:ext cx="502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850" dirty="0"/>
          </a:p>
        </p:txBody>
      </p:sp>
      <p:sp>
        <p:nvSpPr>
          <p:cNvPr id="69" name="Text 67"/>
          <p:cNvSpPr/>
          <p:nvPr/>
        </p:nvSpPr>
        <p:spPr>
          <a:xfrm>
            <a:off x="6574536" y="2322576"/>
            <a:ext cx="502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8h</a:t>
            </a:r>
            <a:endParaRPr lang="en-US" sz="850" dirty="0"/>
          </a:p>
        </p:txBody>
      </p:sp>
      <p:sp>
        <p:nvSpPr>
          <p:cNvPr id="70" name="Shape 68"/>
          <p:cNvSpPr/>
          <p:nvPr/>
        </p:nvSpPr>
        <p:spPr>
          <a:xfrm>
            <a:off x="7077456" y="2404872"/>
            <a:ext cx="566928" cy="182880"/>
          </a:xfrm>
          <a:prstGeom prst="rect">
            <a:avLst/>
          </a:prstGeom>
          <a:solidFill>
            <a:srgbClr val="E6F1FB"/>
          </a:solidFill>
          <a:ln w="12700">
            <a:solidFill>
              <a:srgbClr val="E6F1F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1" name="Text 69"/>
          <p:cNvSpPr/>
          <p:nvPr/>
        </p:nvSpPr>
        <p:spPr>
          <a:xfrm>
            <a:off x="7077456" y="2404872"/>
            <a:ext cx="56692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85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제출</a:t>
            </a:r>
            <a:endParaRPr lang="en-US" sz="800" dirty="0"/>
          </a:p>
        </p:txBody>
      </p:sp>
      <p:sp>
        <p:nvSpPr>
          <p:cNvPr id="72" name="Text 70"/>
          <p:cNvSpPr/>
          <p:nvPr/>
        </p:nvSpPr>
        <p:spPr>
          <a:xfrm>
            <a:off x="7735824" y="2322576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승인</a:t>
            </a:r>
            <a:endParaRPr lang="en-US" sz="850" dirty="0"/>
          </a:p>
        </p:txBody>
      </p:sp>
      <p:sp>
        <p:nvSpPr>
          <p:cNvPr id="73" name="Text 71"/>
          <p:cNvSpPr/>
          <p:nvPr/>
        </p:nvSpPr>
        <p:spPr>
          <a:xfrm>
            <a:off x="5385816" y="2670048"/>
            <a:ext cx="685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이서연</a:t>
            </a:r>
            <a:endParaRPr lang="en-US" sz="850" dirty="0"/>
          </a:p>
        </p:txBody>
      </p:sp>
      <p:sp>
        <p:nvSpPr>
          <p:cNvPr id="74" name="Text 72"/>
          <p:cNvSpPr/>
          <p:nvPr/>
        </p:nvSpPr>
        <p:spPr>
          <a:xfrm>
            <a:off x="6071616" y="2670048"/>
            <a:ext cx="502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850" dirty="0"/>
          </a:p>
        </p:txBody>
      </p:sp>
      <p:sp>
        <p:nvSpPr>
          <p:cNvPr id="75" name="Text 73"/>
          <p:cNvSpPr/>
          <p:nvPr/>
        </p:nvSpPr>
        <p:spPr>
          <a:xfrm>
            <a:off x="6574536" y="2670048"/>
            <a:ext cx="502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0h</a:t>
            </a:r>
            <a:endParaRPr lang="en-US" sz="850" dirty="0"/>
          </a:p>
        </p:txBody>
      </p:sp>
      <p:sp>
        <p:nvSpPr>
          <p:cNvPr id="76" name="Shape 74"/>
          <p:cNvSpPr/>
          <p:nvPr/>
        </p:nvSpPr>
        <p:spPr>
          <a:xfrm>
            <a:off x="7077456" y="2752344"/>
            <a:ext cx="566928" cy="182880"/>
          </a:xfrm>
          <a:prstGeom prst="rect">
            <a:avLst/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7" name="Text 75"/>
          <p:cNvSpPr/>
          <p:nvPr/>
        </p:nvSpPr>
        <p:spPr>
          <a:xfrm>
            <a:off x="7077456" y="2752344"/>
            <a:ext cx="56692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승인</a:t>
            </a:r>
            <a:endParaRPr lang="en-US" sz="800" dirty="0"/>
          </a:p>
        </p:txBody>
      </p:sp>
      <p:sp>
        <p:nvSpPr>
          <p:cNvPr id="78" name="Text 76"/>
          <p:cNvSpPr/>
          <p:nvPr/>
        </p:nvSpPr>
        <p:spPr>
          <a:xfrm>
            <a:off x="7735824" y="2670048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850" dirty="0"/>
          </a:p>
        </p:txBody>
      </p:sp>
      <p:sp>
        <p:nvSpPr>
          <p:cNvPr id="79" name="Shape 77"/>
          <p:cNvSpPr/>
          <p:nvPr/>
        </p:nvSpPr>
        <p:spPr>
          <a:xfrm>
            <a:off x="5276088" y="3017520"/>
            <a:ext cx="3630168" cy="347472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0" name="Text 78"/>
          <p:cNvSpPr/>
          <p:nvPr/>
        </p:nvSpPr>
        <p:spPr>
          <a:xfrm>
            <a:off x="5385816" y="3017520"/>
            <a:ext cx="685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박지훈</a:t>
            </a:r>
            <a:endParaRPr lang="en-US" sz="850" dirty="0"/>
          </a:p>
        </p:txBody>
      </p:sp>
      <p:sp>
        <p:nvSpPr>
          <p:cNvPr id="81" name="Text 79"/>
          <p:cNvSpPr/>
          <p:nvPr/>
        </p:nvSpPr>
        <p:spPr>
          <a:xfrm>
            <a:off x="6071616" y="3017520"/>
            <a:ext cx="502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850" dirty="0"/>
          </a:p>
        </p:txBody>
      </p:sp>
      <p:sp>
        <p:nvSpPr>
          <p:cNvPr id="82" name="Text 80"/>
          <p:cNvSpPr/>
          <p:nvPr/>
        </p:nvSpPr>
        <p:spPr>
          <a:xfrm>
            <a:off x="6574536" y="3017520"/>
            <a:ext cx="502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850" dirty="0"/>
          </a:p>
        </p:txBody>
      </p:sp>
      <p:sp>
        <p:nvSpPr>
          <p:cNvPr id="83" name="Shape 81"/>
          <p:cNvSpPr/>
          <p:nvPr/>
        </p:nvSpPr>
        <p:spPr>
          <a:xfrm>
            <a:off x="7077456" y="3099816"/>
            <a:ext cx="566928" cy="182880"/>
          </a:xfrm>
          <a:prstGeom prst="rect">
            <a:avLst/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4" name="Text 82"/>
          <p:cNvSpPr/>
          <p:nvPr/>
        </p:nvSpPr>
        <p:spPr>
          <a:xfrm>
            <a:off x="7077456" y="3099816"/>
            <a:ext cx="56692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미제출</a:t>
            </a:r>
            <a:endParaRPr lang="en-US" sz="800" dirty="0"/>
          </a:p>
        </p:txBody>
      </p:sp>
      <p:sp>
        <p:nvSpPr>
          <p:cNvPr id="85" name="Shape 83"/>
          <p:cNvSpPr/>
          <p:nvPr/>
        </p:nvSpPr>
        <p:spPr>
          <a:xfrm>
            <a:off x="7735824" y="3099816"/>
            <a:ext cx="548640" cy="182880"/>
          </a:xfrm>
          <a:prstGeom prst="rect">
            <a:avLst/>
          </a:prstGeom>
          <a:solidFill>
            <a:srgbClr val="FEE2E2"/>
          </a:solidFill>
          <a:ln w="12700">
            <a:solidFill>
              <a:srgbClr val="B91C1C">
                <a:alpha val="50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6" name="Text 84"/>
          <p:cNvSpPr/>
          <p:nvPr/>
        </p:nvSpPr>
        <p:spPr>
          <a:xfrm>
            <a:off x="7735824" y="3099816"/>
            <a:ext cx="548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알림</a:t>
            </a:r>
            <a:endParaRPr lang="en-US" sz="750" dirty="0"/>
          </a:p>
        </p:txBody>
      </p:sp>
      <p:sp>
        <p:nvSpPr>
          <p:cNvPr id="87" name="Text 85"/>
          <p:cNvSpPr/>
          <p:nvPr/>
        </p:nvSpPr>
        <p:spPr>
          <a:xfrm>
            <a:off x="5385816" y="3364992"/>
            <a:ext cx="685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최유나</a:t>
            </a:r>
            <a:endParaRPr lang="en-US" sz="850" dirty="0"/>
          </a:p>
        </p:txBody>
      </p:sp>
      <p:sp>
        <p:nvSpPr>
          <p:cNvPr id="88" name="Text 86"/>
          <p:cNvSpPr/>
          <p:nvPr/>
        </p:nvSpPr>
        <p:spPr>
          <a:xfrm>
            <a:off x="6071616" y="3364992"/>
            <a:ext cx="502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850" dirty="0"/>
          </a:p>
        </p:txBody>
      </p:sp>
      <p:sp>
        <p:nvSpPr>
          <p:cNvPr id="89" name="Text 87"/>
          <p:cNvSpPr/>
          <p:nvPr/>
        </p:nvSpPr>
        <p:spPr>
          <a:xfrm>
            <a:off x="6574536" y="3364992"/>
            <a:ext cx="502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0h</a:t>
            </a:r>
            <a:endParaRPr lang="en-US" sz="850" dirty="0"/>
          </a:p>
        </p:txBody>
      </p:sp>
      <p:sp>
        <p:nvSpPr>
          <p:cNvPr id="90" name="Shape 88"/>
          <p:cNvSpPr/>
          <p:nvPr/>
        </p:nvSpPr>
        <p:spPr>
          <a:xfrm>
            <a:off x="7077456" y="3447288"/>
            <a:ext cx="566928" cy="182880"/>
          </a:xfrm>
          <a:prstGeom prst="rect">
            <a:avLst/>
          </a:prstGeom>
          <a:solidFill>
            <a:srgbClr val="E6F1FB"/>
          </a:solidFill>
          <a:ln w="12700">
            <a:solidFill>
              <a:srgbClr val="E6F1F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1" name="Text 89"/>
          <p:cNvSpPr/>
          <p:nvPr/>
        </p:nvSpPr>
        <p:spPr>
          <a:xfrm>
            <a:off x="7077456" y="3447288"/>
            <a:ext cx="56692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85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제출</a:t>
            </a:r>
            <a:endParaRPr lang="en-US" sz="800" dirty="0"/>
          </a:p>
        </p:txBody>
      </p:sp>
      <p:sp>
        <p:nvSpPr>
          <p:cNvPr id="92" name="Text 90"/>
          <p:cNvSpPr/>
          <p:nvPr/>
        </p:nvSpPr>
        <p:spPr>
          <a:xfrm>
            <a:off x="7735824" y="3364992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승인</a:t>
            </a:r>
            <a:endParaRPr lang="en-US" sz="850" dirty="0"/>
          </a:p>
        </p:txBody>
      </p:sp>
      <p:sp>
        <p:nvSpPr>
          <p:cNvPr id="93" name="Shape 91"/>
          <p:cNvSpPr/>
          <p:nvPr/>
        </p:nvSpPr>
        <p:spPr>
          <a:xfrm>
            <a:off x="5276088" y="3712464"/>
            <a:ext cx="3630168" cy="347472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4" name="Text 92"/>
          <p:cNvSpPr/>
          <p:nvPr/>
        </p:nvSpPr>
        <p:spPr>
          <a:xfrm>
            <a:off x="5385816" y="3712464"/>
            <a:ext cx="685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정다은</a:t>
            </a:r>
            <a:endParaRPr lang="en-US" sz="850" dirty="0"/>
          </a:p>
        </p:txBody>
      </p:sp>
      <p:sp>
        <p:nvSpPr>
          <p:cNvPr id="95" name="Text 93"/>
          <p:cNvSpPr/>
          <p:nvPr/>
        </p:nvSpPr>
        <p:spPr>
          <a:xfrm>
            <a:off x="6071616" y="3712464"/>
            <a:ext cx="502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850" dirty="0"/>
          </a:p>
        </p:txBody>
      </p:sp>
      <p:sp>
        <p:nvSpPr>
          <p:cNvPr id="96" name="Text 94"/>
          <p:cNvSpPr/>
          <p:nvPr/>
        </p:nvSpPr>
        <p:spPr>
          <a:xfrm>
            <a:off x="6574536" y="3712464"/>
            <a:ext cx="502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4h</a:t>
            </a:r>
            <a:endParaRPr lang="en-US" sz="850" dirty="0"/>
          </a:p>
        </p:txBody>
      </p:sp>
      <p:sp>
        <p:nvSpPr>
          <p:cNvPr id="97" name="Shape 95"/>
          <p:cNvSpPr/>
          <p:nvPr/>
        </p:nvSpPr>
        <p:spPr>
          <a:xfrm>
            <a:off x="7077456" y="3794760"/>
            <a:ext cx="566928" cy="182880"/>
          </a:xfrm>
          <a:prstGeom prst="rect">
            <a:avLst/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8" name="Text 96"/>
          <p:cNvSpPr/>
          <p:nvPr/>
        </p:nvSpPr>
        <p:spPr>
          <a:xfrm>
            <a:off x="7077456" y="3794760"/>
            <a:ext cx="56692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승인</a:t>
            </a:r>
            <a:endParaRPr lang="en-US" sz="800" dirty="0"/>
          </a:p>
        </p:txBody>
      </p:sp>
      <p:sp>
        <p:nvSpPr>
          <p:cNvPr id="99" name="Text 97"/>
          <p:cNvSpPr/>
          <p:nvPr/>
        </p:nvSpPr>
        <p:spPr>
          <a:xfrm>
            <a:off x="7735824" y="3712464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850" dirty="0"/>
          </a:p>
        </p:txBody>
      </p:sp>
      <p:sp>
        <p:nvSpPr>
          <p:cNvPr id="100" name="Text 98"/>
          <p:cNvSpPr/>
          <p:nvPr/>
        </p:nvSpPr>
        <p:spPr>
          <a:xfrm>
            <a:off x="5385816" y="4059936"/>
            <a:ext cx="685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홍길동</a:t>
            </a:r>
            <a:endParaRPr lang="en-US" sz="850" dirty="0"/>
          </a:p>
        </p:txBody>
      </p:sp>
      <p:sp>
        <p:nvSpPr>
          <p:cNvPr id="101" name="Text 99"/>
          <p:cNvSpPr/>
          <p:nvPr/>
        </p:nvSpPr>
        <p:spPr>
          <a:xfrm>
            <a:off x="6071616" y="4059936"/>
            <a:ext cx="502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850" dirty="0"/>
          </a:p>
        </p:txBody>
      </p:sp>
      <p:sp>
        <p:nvSpPr>
          <p:cNvPr id="102" name="Text 100"/>
          <p:cNvSpPr/>
          <p:nvPr/>
        </p:nvSpPr>
        <p:spPr>
          <a:xfrm>
            <a:off x="6574536" y="4059936"/>
            <a:ext cx="502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850" dirty="0"/>
          </a:p>
        </p:txBody>
      </p:sp>
      <p:sp>
        <p:nvSpPr>
          <p:cNvPr id="103" name="Shape 101"/>
          <p:cNvSpPr/>
          <p:nvPr/>
        </p:nvSpPr>
        <p:spPr>
          <a:xfrm>
            <a:off x="7077456" y="4142232"/>
            <a:ext cx="566928" cy="182880"/>
          </a:xfrm>
          <a:prstGeom prst="rect">
            <a:avLst/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4" name="Text 102"/>
          <p:cNvSpPr/>
          <p:nvPr/>
        </p:nvSpPr>
        <p:spPr>
          <a:xfrm>
            <a:off x="7077456" y="4142232"/>
            <a:ext cx="56692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미제출</a:t>
            </a:r>
            <a:endParaRPr lang="en-US" sz="800" dirty="0"/>
          </a:p>
        </p:txBody>
      </p:sp>
      <p:sp>
        <p:nvSpPr>
          <p:cNvPr id="105" name="Shape 103"/>
          <p:cNvSpPr/>
          <p:nvPr/>
        </p:nvSpPr>
        <p:spPr>
          <a:xfrm>
            <a:off x="7735824" y="4142232"/>
            <a:ext cx="548640" cy="182880"/>
          </a:xfrm>
          <a:prstGeom prst="rect">
            <a:avLst/>
          </a:prstGeom>
          <a:solidFill>
            <a:srgbClr val="FEE2E2"/>
          </a:solidFill>
          <a:ln w="12700">
            <a:solidFill>
              <a:srgbClr val="B91C1C">
                <a:alpha val="50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6" name="Text 104"/>
          <p:cNvSpPr/>
          <p:nvPr/>
        </p:nvSpPr>
        <p:spPr>
          <a:xfrm>
            <a:off x="7735824" y="4142232"/>
            <a:ext cx="548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알림</a:t>
            </a:r>
            <a:endParaRPr lang="en-US" sz="7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47472"/>
          </a:xfrm>
          <a:prstGeom prst="rect">
            <a:avLst/>
          </a:prstGeom>
          <a:solidFill>
            <a:srgbClr val="1A2744"/>
          </a:solidFill>
          <a:ln w="12700">
            <a:solidFill>
              <a:srgbClr val="1A274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164592" y="0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7B9C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 도메인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0" y="0"/>
            <a:ext cx="8778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휴가 관리  ·  /attendance/leave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8887968" y="0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4A6A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12/13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0" y="347472"/>
            <a:ext cx="1417320" cy="4796028"/>
          </a:xfrm>
          <a:prstGeom prst="rect">
            <a:avLst/>
          </a:prstGeom>
          <a:solidFill>
            <a:srgbClr val="1A2744"/>
          </a:solidFill>
          <a:ln w="12700">
            <a:solidFill>
              <a:srgbClr val="1A274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0" y="347472"/>
            <a:ext cx="1417320" cy="512064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0" y="347472"/>
            <a:ext cx="141732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Peoplify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4864" y="1005840"/>
            <a:ext cx="13167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대시보드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54864" y="1609344"/>
            <a:ext cx="13167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직원관리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54864" y="2212848"/>
            <a:ext cx="13167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프로젝트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0" y="2770632"/>
            <a:ext cx="1417320" cy="512064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Shape 11"/>
          <p:cNvSpPr/>
          <p:nvPr/>
        </p:nvSpPr>
        <p:spPr>
          <a:xfrm>
            <a:off x="0" y="2770632"/>
            <a:ext cx="36576" cy="512064"/>
          </a:xfrm>
          <a:prstGeom prst="rect">
            <a:avLst/>
          </a:prstGeom>
          <a:solidFill>
            <a:srgbClr val="3B9EE8"/>
          </a:solidFill>
          <a:ln w="12700">
            <a:solidFill>
              <a:srgbClr val="3B9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54864" y="2816352"/>
            <a:ext cx="13167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근태관리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54864" y="3419856"/>
            <a:ext cx="13167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리포트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1417320" y="347472"/>
            <a:ext cx="772668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DEE2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Shape 15"/>
          <p:cNvSpPr/>
          <p:nvPr/>
        </p:nvSpPr>
        <p:spPr>
          <a:xfrm>
            <a:off x="1572768" y="448056"/>
            <a:ext cx="2926080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DEE2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Text 16"/>
          <p:cNvSpPr/>
          <p:nvPr/>
        </p:nvSpPr>
        <p:spPr>
          <a:xfrm>
            <a:off x="1609344" y="448056"/>
            <a:ext cx="285292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검색...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8046720" y="43891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🔔  관리자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8833104" y="448056"/>
            <a:ext cx="237744" cy="237744"/>
          </a:xfrm>
          <a:prstGeom prst="ellipse">
            <a:avLst/>
          </a:prstGeom>
          <a:solidFill>
            <a:srgbClr val="185FA5"/>
          </a:solidFill>
          <a:ln w="12700">
            <a:solidFill>
              <a:srgbClr val="185FA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Text 19"/>
          <p:cNvSpPr/>
          <p:nvPr/>
        </p:nvSpPr>
        <p:spPr>
          <a:xfrm>
            <a:off x="8833104" y="448056"/>
            <a:ext cx="23774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1417320" y="786384"/>
            <a:ext cx="7726680" cy="4357116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Text 21"/>
          <p:cNvSpPr/>
          <p:nvPr/>
        </p:nvSpPr>
        <p:spPr>
          <a:xfrm>
            <a:off x="1572768" y="877824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휴가 관리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1572768" y="1207008"/>
            <a:ext cx="74066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EE2E8"/>
            </a:solidFill>
            <a:prstDash val="solid"/>
          </a:ln>
          <a:effectLst>
            <a:outerShdw blurRad="508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5" name="Text 23"/>
          <p:cNvSpPr/>
          <p:nvPr/>
        </p:nvSpPr>
        <p:spPr>
          <a:xfrm>
            <a:off x="1700784" y="1316736"/>
            <a:ext cx="1371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연차 현황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3218688" y="1298448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총 부여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3218688" y="1481328"/>
            <a:ext cx="1280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15일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4590288" y="1298448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사용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4590288" y="1481328"/>
            <a:ext cx="1280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6일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5961888" y="1298448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잔여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5961888" y="1481328"/>
            <a:ext cx="1280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9일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7333488" y="1298448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신청중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7333488" y="1481328"/>
            <a:ext cx="1280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1일</a:t>
            </a:r>
            <a:endParaRPr lang="en-US" sz="1500" dirty="0"/>
          </a:p>
        </p:txBody>
      </p:sp>
      <p:sp>
        <p:nvSpPr>
          <p:cNvPr id="34" name="Shape 32"/>
          <p:cNvSpPr/>
          <p:nvPr/>
        </p:nvSpPr>
        <p:spPr>
          <a:xfrm>
            <a:off x="1572768" y="1956816"/>
            <a:ext cx="3566160" cy="2999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EE2E8"/>
            </a:solidFill>
            <a:prstDash val="solid"/>
          </a:ln>
          <a:effectLst>
            <a:outerShdw blurRad="508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5" name="Text 33"/>
          <p:cNvSpPr/>
          <p:nvPr/>
        </p:nvSpPr>
        <p:spPr>
          <a:xfrm>
            <a:off x="1700784" y="2066544"/>
            <a:ext cx="3200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휴가 신청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664208" y="2322576"/>
            <a:ext cx="3383280" cy="0"/>
          </a:xfrm>
          <a:prstGeom prst="line">
            <a:avLst/>
          </a:prstGeom>
          <a:noFill/>
          <a:ln w="6350">
            <a:solidFill>
              <a:srgbClr val="DEE2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7" name="Text 35"/>
          <p:cNvSpPr/>
          <p:nvPr/>
        </p:nvSpPr>
        <p:spPr>
          <a:xfrm>
            <a:off x="1700784" y="2395728"/>
            <a:ext cx="3200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휴가 종류 *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1700784" y="2578608"/>
            <a:ext cx="621792" cy="237744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9" name="Text 37"/>
          <p:cNvSpPr/>
          <p:nvPr/>
        </p:nvSpPr>
        <p:spPr>
          <a:xfrm>
            <a:off x="1700784" y="2578608"/>
            <a:ext cx="62179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연차</a:t>
            </a:r>
            <a:endParaRPr lang="en-US" sz="750" dirty="0"/>
          </a:p>
        </p:txBody>
      </p:sp>
      <p:sp>
        <p:nvSpPr>
          <p:cNvPr id="40" name="Shape 38"/>
          <p:cNvSpPr/>
          <p:nvPr/>
        </p:nvSpPr>
        <p:spPr>
          <a:xfrm>
            <a:off x="2377440" y="2578608"/>
            <a:ext cx="621792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DEE2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1" name="Text 39"/>
          <p:cNvSpPr/>
          <p:nvPr/>
        </p:nvSpPr>
        <p:spPr>
          <a:xfrm>
            <a:off x="2377440" y="2578608"/>
            <a:ext cx="62179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반차(오전)</a:t>
            </a:r>
            <a:endParaRPr lang="en-US" sz="750" dirty="0"/>
          </a:p>
        </p:txBody>
      </p:sp>
      <p:sp>
        <p:nvSpPr>
          <p:cNvPr id="42" name="Shape 40"/>
          <p:cNvSpPr/>
          <p:nvPr/>
        </p:nvSpPr>
        <p:spPr>
          <a:xfrm>
            <a:off x="3054096" y="2578608"/>
            <a:ext cx="621792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DEE2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3" name="Text 41"/>
          <p:cNvSpPr/>
          <p:nvPr/>
        </p:nvSpPr>
        <p:spPr>
          <a:xfrm>
            <a:off x="3054096" y="2578608"/>
            <a:ext cx="62179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반차(오후)</a:t>
            </a:r>
            <a:endParaRPr lang="en-US" sz="750" dirty="0"/>
          </a:p>
        </p:txBody>
      </p:sp>
      <p:sp>
        <p:nvSpPr>
          <p:cNvPr id="44" name="Shape 42"/>
          <p:cNvSpPr/>
          <p:nvPr/>
        </p:nvSpPr>
        <p:spPr>
          <a:xfrm>
            <a:off x="3730752" y="2578608"/>
            <a:ext cx="621792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DEE2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ext 43"/>
          <p:cNvSpPr/>
          <p:nvPr/>
        </p:nvSpPr>
        <p:spPr>
          <a:xfrm>
            <a:off x="3730752" y="2578608"/>
            <a:ext cx="62179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병가</a:t>
            </a:r>
            <a:endParaRPr lang="en-US" sz="750" dirty="0"/>
          </a:p>
        </p:txBody>
      </p:sp>
      <p:sp>
        <p:nvSpPr>
          <p:cNvPr id="46" name="Shape 44"/>
          <p:cNvSpPr/>
          <p:nvPr/>
        </p:nvSpPr>
        <p:spPr>
          <a:xfrm>
            <a:off x="4407408" y="2578608"/>
            <a:ext cx="621792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DEE2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ext 45"/>
          <p:cNvSpPr/>
          <p:nvPr/>
        </p:nvSpPr>
        <p:spPr>
          <a:xfrm>
            <a:off x="4407408" y="2578608"/>
            <a:ext cx="62179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경조사</a:t>
            </a:r>
            <a:endParaRPr lang="en-US" sz="750" dirty="0"/>
          </a:p>
        </p:txBody>
      </p:sp>
      <p:sp>
        <p:nvSpPr>
          <p:cNvPr id="48" name="Text 46"/>
          <p:cNvSpPr/>
          <p:nvPr/>
        </p:nvSpPr>
        <p:spPr>
          <a:xfrm>
            <a:off x="1700784" y="2825496"/>
            <a:ext cx="166420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시작일 *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1700784" y="2980944"/>
            <a:ext cx="1664208" cy="256032"/>
          </a:xfrm>
          <a:prstGeom prst="rect">
            <a:avLst/>
          </a:prstGeom>
          <a:solidFill>
            <a:srgbClr val="F8FAFC"/>
          </a:solidFill>
          <a:ln w="12700">
            <a:solidFill>
              <a:srgbClr val="DEE2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0" name="Text 48"/>
          <p:cNvSpPr/>
          <p:nvPr/>
        </p:nvSpPr>
        <p:spPr>
          <a:xfrm>
            <a:off x="1755648" y="2980944"/>
            <a:ext cx="15727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2026.05.28 📅</a:t>
            </a:r>
            <a:endParaRPr lang="en-US" sz="850" dirty="0"/>
          </a:p>
        </p:txBody>
      </p:sp>
      <p:sp>
        <p:nvSpPr>
          <p:cNvPr id="51" name="Text 49"/>
          <p:cNvSpPr/>
          <p:nvPr/>
        </p:nvSpPr>
        <p:spPr>
          <a:xfrm>
            <a:off x="3493008" y="2825496"/>
            <a:ext cx="1609344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종료일</a:t>
            </a:r>
            <a:endParaRPr lang="en-US" sz="850" dirty="0"/>
          </a:p>
        </p:txBody>
      </p:sp>
      <p:sp>
        <p:nvSpPr>
          <p:cNvPr id="52" name="Shape 50"/>
          <p:cNvSpPr/>
          <p:nvPr/>
        </p:nvSpPr>
        <p:spPr>
          <a:xfrm>
            <a:off x="3493008" y="2980944"/>
            <a:ext cx="1609344" cy="256032"/>
          </a:xfrm>
          <a:prstGeom prst="rect">
            <a:avLst/>
          </a:prstGeom>
          <a:solidFill>
            <a:srgbClr val="F8FAFC"/>
          </a:solidFill>
          <a:ln w="12700">
            <a:solidFill>
              <a:srgbClr val="DEE2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ext 51"/>
          <p:cNvSpPr/>
          <p:nvPr/>
        </p:nvSpPr>
        <p:spPr>
          <a:xfrm>
            <a:off x="3547872" y="2980944"/>
            <a:ext cx="151790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2026.05.28 📅</a:t>
            </a:r>
            <a:endParaRPr lang="en-US" sz="850" dirty="0"/>
          </a:p>
        </p:txBody>
      </p:sp>
      <p:sp>
        <p:nvSpPr>
          <p:cNvPr id="54" name="Text 52"/>
          <p:cNvSpPr/>
          <p:nvPr/>
        </p:nvSpPr>
        <p:spPr>
          <a:xfrm>
            <a:off x="1700784" y="3383280"/>
            <a:ext cx="3200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사유 *</a:t>
            </a:r>
            <a:endParaRPr lang="en-US" sz="850" dirty="0"/>
          </a:p>
        </p:txBody>
      </p:sp>
      <p:sp>
        <p:nvSpPr>
          <p:cNvPr id="55" name="Shape 53"/>
          <p:cNvSpPr/>
          <p:nvPr/>
        </p:nvSpPr>
        <p:spPr>
          <a:xfrm>
            <a:off x="1700784" y="3566160"/>
            <a:ext cx="3310128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DEE2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6" name="Text 54"/>
          <p:cNvSpPr/>
          <p:nvPr/>
        </p:nvSpPr>
        <p:spPr>
          <a:xfrm>
            <a:off x="1773936" y="3566160"/>
            <a:ext cx="3163824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사유 입력...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1700784" y="4114800"/>
            <a:ext cx="3310128" cy="274320"/>
          </a:xfrm>
          <a:prstGeom prst="rect">
            <a:avLst/>
          </a:prstGeom>
          <a:solidFill>
            <a:srgbClr val="DBEAFE"/>
          </a:solidFill>
          <a:ln w="12700">
            <a:solidFill>
              <a:srgbClr val="DEE2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8" name="Text 56"/>
          <p:cNvSpPr/>
          <p:nvPr/>
        </p:nvSpPr>
        <p:spPr>
          <a:xfrm>
            <a:off x="1773936" y="411480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현장 투입 중 휴가 시 프로젝트 PM에게도 알림 자동 발송</a:t>
            </a:r>
            <a:endParaRPr lang="en-US" sz="850" dirty="0"/>
          </a:p>
        </p:txBody>
      </p:sp>
      <p:sp>
        <p:nvSpPr>
          <p:cNvPr id="59" name="Shape 57"/>
          <p:cNvSpPr/>
          <p:nvPr/>
        </p:nvSpPr>
        <p:spPr>
          <a:xfrm>
            <a:off x="4224528" y="4480560"/>
            <a:ext cx="804672" cy="274320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0" name="Text 58"/>
          <p:cNvSpPr/>
          <p:nvPr/>
        </p:nvSpPr>
        <p:spPr>
          <a:xfrm>
            <a:off x="4224528" y="4480560"/>
            <a:ext cx="8046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신청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3310128" y="4480560"/>
            <a:ext cx="804672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EE2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2" name="Text 60"/>
          <p:cNvSpPr/>
          <p:nvPr/>
        </p:nvSpPr>
        <p:spPr>
          <a:xfrm>
            <a:off x="3310128" y="4480560"/>
            <a:ext cx="8046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초기화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5276088" y="1956816"/>
            <a:ext cx="3630168" cy="2999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EE2E8"/>
            </a:solidFill>
            <a:prstDash val="solid"/>
          </a:ln>
          <a:effectLst>
            <a:outerShdw blurRad="508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4" name="Text 62"/>
          <p:cNvSpPr/>
          <p:nvPr/>
        </p:nvSpPr>
        <p:spPr>
          <a:xfrm>
            <a:off x="5385816" y="2066544"/>
            <a:ext cx="33832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내 신청 내역</a:t>
            </a:r>
            <a:endParaRPr lang="en-US" sz="1100" dirty="0"/>
          </a:p>
        </p:txBody>
      </p:sp>
      <p:sp>
        <p:nvSpPr>
          <p:cNvPr id="65" name="Shape 63"/>
          <p:cNvSpPr/>
          <p:nvPr/>
        </p:nvSpPr>
        <p:spPr>
          <a:xfrm>
            <a:off x="5303520" y="2322576"/>
            <a:ext cx="3566160" cy="0"/>
          </a:xfrm>
          <a:prstGeom prst="line">
            <a:avLst/>
          </a:prstGeom>
          <a:noFill/>
          <a:ln w="6350">
            <a:solidFill>
              <a:srgbClr val="DEE2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6" name="Shape 64"/>
          <p:cNvSpPr/>
          <p:nvPr/>
        </p:nvSpPr>
        <p:spPr>
          <a:xfrm>
            <a:off x="5276088" y="2450592"/>
            <a:ext cx="3630168" cy="384048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7" name="Text 65"/>
          <p:cNvSpPr/>
          <p:nvPr/>
        </p:nvSpPr>
        <p:spPr>
          <a:xfrm>
            <a:off x="5385816" y="2450592"/>
            <a:ext cx="502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연차</a:t>
            </a:r>
            <a:endParaRPr lang="en-US" sz="900" dirty="0"/>
          </a:p>
        </p:txBody>
      </p:sp>
      <p:sp>
        <p:nvSpPr>
          <p:cNvPr id="68" name="Text 66"/>
          <p:cNvSpPr/>
          <p:nvPr/>
        </p:nvSpPr>
        <p:spPr>
          <a:xfrm>
            <a:off x="5925312" y="2450592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05.28 ~ 05.28</a:t>
            </a:r>
            <a:endParaRPr lang="en-US" sz="850" dirty="0"/>
          </a:p>
        </p:txBody>
      </p:sp>
      <p:sp>
        <p:nvSpPr>
          <p:cNvPr id="69" name="Text 67"/>
          <p:cNvSpPr/>
          <p:nvPr/>
        </p:nvSpPr>
        <p:spPr>
          <a:xfrm>
            <a:off x="7333488" y="2450592"/>
            <a:ext cx="411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1일</a:t>
            </a:r>
            <a:endParaRPr lang="en-US" sz="900" dirty="0"/>
          </a:p>
        </p:txBody>
      </p:sp>
      <p:sp>
        <p:nvSpPr>
          <p:cNvPr id="70" name="Shape 68"/>
          <p:cNvSpPr/>
          <p:nvPr/>
        </p:nvSpPr>
        <p:spPr>
          <a:xfrm>
            <a:off x="7808976" y="2551176"/>
            <a:ext cx="566928" cy="182880"/>
          </a:xfrm>
          <a:prstGeom prst="rect">
            <a:avLst/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1" name="Text 69"/>
          <p:cNvSpPr/>
          <p:nvPr/>
        </p:nvSpPr>
        <p:spPr>
          <a:xfrm>
            <a:off x="7808976" y="2551176"/>
            <a:ext cx="56692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승인대기</a:t>
            </a:r>
            <a:endParaRPr lang="en-US" sz="800" dirty="0"/>
          </a:p>
        </p:txBody>
      </p:sp>
      <p:sp>
        <p:nvSpPr>
          <p:cNvPr id="72" name="Text 70"/>
          <p:cNvSpPr/>
          <p:nvPr/>
        </p:nvSpPr>
        <p:spPr>
          <a:xfrm>
            <a:off x="5385816" y="2834640"/>
            <a:ext cx="502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반차</a:t>
            </a:r>
            <a:endParaRPr lang="en-US" sz="900" dirty="0"/>
          </a:p>
        </p:txBody>
      </p:sp>
      <p:sp>
        <p:nvSpPr>
          <p:cNvPr id="73" name="Text 71"/>
          <p:cNvSpPr/>
          <p:nvPr/>
        </p:nvSpPr>
        <p:spPr>
          <a:xfrm>
            <a:off x="5925312" y="2834640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05.15 ~ 05.15</a:t>
            </a:r>
            <a:endParaRPr lang="en-US" sz="850" dirty="0"/>
          </a:p>
        </p:txBody>
      </p:sp>
      <p:sp>
        <p:nvSpPr>
          <p:cNvPr id="74" name="Text 72"/>
          <p:cNvSpPr/>
          <p:nvPr/>
        </p:nvSpPr>
        <p:spPr>
          <a:xfrm>
            <a:off x="7333488" y="2834640"/>
            <a:ext cx="411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0.5일</a:t>
            </a:r>
            <a:endParaRPr lang="en-US" sz="900" dirty="0"/>
          </a:p>
        </p:txBody>
      </p:sp>
      <p:sp>
        <p:nvSpPr>
          <p:cNvPr id="75" name="Shape 73"/>
          <p:cNvSpPr/>
          <p:nvPr/>
        </p:nvSpPr>
        <p:spPr>
          <a:xfrm>
            <a:off x="7808976" y="2935224"/>
            <a:ext cx="566928" cy="182880"/>
          </a:xfrm>
          <a:prstGeom prst="rect">
            <a:avLst/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6" name="Text 74"/>
          <p:cNvSpPr/>
          <p:nvPr/>
        </p:nvSpPr>
        <p:spPr>
          <a:xfrm>
            <a:off x="7808976" y="2935224"/>
            <a:ext cx="56692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승인</a:t>
            </a:r>
            <a:endParaRPr lang="en-US" sz="800" dirty="0"/>
          </a:p>
        </p:txBody>
      </p:sp>
      <p:sp>
        <p:nvSpPr>
          <p:cNvPr id="77" name="Shape 75"/>
          <p:cNvSpPr/>
          <p:nvPr/>
        </p:nvSpPr>
        <p:spPr>
          <a:xfrm>
            <a:off x="5276088" y="3218688"/>
            <a:ext cx="3630168" cy="384048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8" name="Text 76"/>
          <p:cNvSpPr/>
          <p:nvPr/>
        </p:nvSpPr>
        <p:spPr>
          <a:xfrm>
            <a:off x="5385816" y="3218688"/>
            <a:ext cx="502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연차</a:t>
            </a:r>
            <a:endParaRPr lang="en-US" sz="900" dirty="0"/>
          </a:p>
        </p:txBody>
      </p:sp>
      <p:sp>
        <p:nvSpPr>
          <p:cNvPr id="79" name="Text 77"/>
          <p:cNvSpPr/>
          <p:nvPr/>
        </p:nvSpPr>
        <p:spPr>
          <a:xfrm>
            <a:off x="5925312" y="3218688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05.01 ~ 05.02</a:t>
            </a:r>
            <a:endParaRPr lang="en-US" sz="850" dirty="0"/>
          </a:p>
        </p:txBody>
      </p:sp>
      <p:sp>
        <p:nvSpPr>
          <p:cNvPr id="80" name="Text 78"/>
          <p:cNvSpPr/>
          <p:nvPr/>
        </p:nvSpPr>
        <p:spPr>
          <a:xfrm>
            <a:off x="7333488" y="3218688"/>
            <a:ext cx="411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2일</a:t>
            </a:r>
            <a:endParaRPr lang="en-US" sz="900" dirty="0"/>
          </a:p>
        </p:txBody>
      </p:sp>
      <p:sp>
        <p:nvSpPr>
          <p:cNvPr id="81" name="Shape 79"/>
          <p:cNvSpPr/>
          <p:nvPr/>
        </p:nvSpPr>
        <p:spPr>
          <a:xfrm>
            <a:off x="7808976" y="3319272"/>
            <a:ext cx="566928" cy="182880"/>
          </a:xfrm>
          <a:prstGeom prst="rect">
            <a:avLst/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2" name="Text 80"/>
          <p:cNvSpPr/>
          <p:nvPr/>
        </p:nvSpPr>
        <p:spPr>
          <a:xfrm>
            <a:off x="7808976" y="3319272"/>
            <a:ext cx="56692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승인</a:t>
            </a:r>
            <a:endParaRPr lang="en-US" sz="800" dirty="0"/>
          </a:p>
        </p:txBody>
      </p:sp>
      <p:sp>
        <p:nvSpPr>
          <p:cNvPr id="83" name="Text 81"/>
          <p:cNvSpPr/>
          <p:nvPr/>
        </p:nvSpPr>
        <p:spPr>
          <a:xfrm>
            <a:off x="5385816" y="3602736"/>
            <a:ext cx="502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병가</a:t>
            </a:r>
            <a:endParaRPr lang="en-US" sz="900" dirty="0"/>
          </a:p>
        </p:txBody>
      </p:sp>
      <p:sp>
        <p:nvSpPr>
          <p:cNvPr id="84" name="Text 82"/>
          <p:cNvSpPr/>
          <p:nvPr/>
        </p:nvSpPr>
        <p:spPr>
          <a:xfrm>
            <a:off x="5925312" y="3602736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04.20 ~ 04.21</a:t>
            </a:r>
            <a:endParaRPr lang="en-US" sz="850" dirty="0"/>
          </a:p>
        </p:txBody>
      </p:sp>
      <p:sp>
        <p:nvSpPr>
          <p:cNvPr id="85" name="Text 83"/>
          <p:cNvSpPr/>
          <p:nvPr/>
        </p:nvSpPr>
        <p:spPr>
          <a:xfrm>
            <a:off x="7333488" y="3602736"/>
            <a:ext cx="411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2일</a:t>
            </a:r>
            <a:endParaRPr lang="en-US" sz="900" dirty="0"/>
          </a:p>
        </p:txBody>
      </p:sp>
      <p:sp>
        <p:nvSpPr>
          <p:cNvPr id="86" name="Shape 84"/>
          <p:cNvSpPr/>
          <p:nvPr/>
        </p:nvSpPr>
        <p:spPr>
          <a:xfrm>
            <a:off x="7808976" y="3703320"/>
            <a:ext cx="566928" cy="182880"/>
          </a:xfrm>
          <a:prstGeom prst="rect">
            <a:avLst/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7" name="Text 85"/>
          <p:cNvSpPr/>
          <p:nvPr/>
        </p:nvSpPr>
        <p:spPr>
          <a:xfrm>
            <a:off x="7808976" y="3703320"/>
            <a:ext cx="56692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승인</a:t>
            </a:r>
            <a:endParaRPr lang="en-US" sz="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47472"/>
          </a:xfrm>
          <a:prstGeom prst="rect">
            <a:avLst/>
          </a:prstGeom>
          <a:solidFill>
            <a:srgbClr val="1A2744"/>
          </a:solidFill>
          <a:ln w="12700">
            <a:solidFill>
              <a:srgbClr val="1A274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164592" y="0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7B9C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도메인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0" y="0"/>
            <a:ext cx="8778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통계/리포트 (투입 분석 중심)  ·  /reports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8887968" y="0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4A6A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13/13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0" y="347472"/>
            <a:ext cx="1417320" cy="4796028"/>
          </a:xfrm>
          <a:prstGeom prst="rect">
            <a:avLst/>
          </a:prstGeom>
          <a:solidFill>
            <a:srgbClr val="1A2744"/>
          </a:solidFill>
          <a:ln w="12700">
            <a:solidFill>
              <a:srgbClr val="1A274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0" y="347472"/>
            <a:ext cx="1417320" cy="512064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0" y="347472"/>
            <a:ext cx="141732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Peoplify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4864" y="1005840"/>
            <a:ext cx="13167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대시보드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54864" y="1609344"/>
            <a:ext cx="13167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직원관리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54864" y="2212848"/>
            <a:ext cx="13167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프로젝트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54864" y="2816352"/>
            <a:ext cx="13167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근태관리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0" y="3374136"/>
            <a:ext cx="1417320" cy="512064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Shape 12"/>
          <p:cNvSpPr/>
          <p:nvPr/>
        </p:nvSpPr>
        <p:spPr>
          <a:xfrm>
            <a:off x="0" y="3374136"/>
            <a:ext cx="36576" cy="512064"/>
          </a:xfrm>
          <a:prstGeom prst="rect">
            <a:avLst/>
          </a:prstGeom>
          <a:solidFill>
            <a:srgbClr val="3B9EE8"/>
          </a:solidFill>
          <a:ln w="12700">
            <a:solidFill>
              <a:srgbClr val="3B9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54864" y="3419856"/>
            <a:ext cx="13167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리포트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1417320" y="347472"/>
            <a:ext cx="772668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DEE2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Shape 15"/>
          <p:cNvSpPr/>
          <p:nvPr/>
        </p:nvSpPr>
        <p:spPr>
          <a:xfrm>
            <a:off x="1572768" y="448056"/>
            <a:ext cx="2926080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DEE2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Text 16"/>
          <p:cNvSpPr/>
          <p:nvPr/>
        </p:nvSpPr>
        <p:spPr>
          <a:xfrm>
            <a:off x="1609344" y="448056"/>
            <a:ext cx="285292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검색...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8046720" y="43891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🔔  관리자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8833104" y="448056"/>
            <a:ext cx="237744" cy="237744"/>
          </a:xfrm>
          <a:prstGeom prst="ellipse">
            <a:avLst/>
          </a:prstGeom>
          <a:solidFill>
            <a:srgbClr val="185FA5"/>
          </a:solidFill>
          <a:ln w="12700">
            <a:solidFill>
              <a:srgbClr val="185FA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Text 19"/>
          <p:cNvSpPr/>
          <p:nvPr/>
        </p:nvSpPr>
        <p:spPr>
          <a:xfrm>
            <a:off x="8833104" y="448056"/>
            <a:ext cx="23774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1417320" y="786384"/>
            <a:ext cx="7726680" cy="4357116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Text 21"/>
          <p:cNvSpPr/>
          <p:nvPr/>
        </p:nvSpPr>
        <p:spPr>
          <a:xfrm>
            <a:off x="1572768" y="877824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통계 / 리포트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7790688" y="877824"/>
            <a:ext cx="658368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DEE2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Text 23"/>
          <p:cNvSpPr/>
          <p:nvPr/>
        </p:nvSpPr>
        <p:spPr>
          <a:xfrm>
            <a:off x="7790688" y="877824"/>
            <a:ext cx="6583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 저장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8485632" y="877824"/>
            <a:ext cx="493776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DEE2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Text 25"/>
          <p:cNvSpPr/>
          <p:nvPr/>
        </p:nvSpPr>
        <p:spPr>
          <a:xfrm>
            <a:off x="8485632" y="877824"/>
            <a:ext cx="493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엑셀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1572768" y="1207008"/>
            <a:ext cx="740664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EE2E8"/>
            </a:solidFill>
            <a:prstDash val="solid"/>
          </a:ln>
          <a:effectLst>
            <a:outerShdw blurRad="508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9" name="Shape 27"/>
          <p:cNvSpPr/>
          <p:nvPr/>
        </p:nvSpPr>
        <p:spPr>
          <a:xfrm>
            <a:off x="1664208" y="1298448"/>
            <a:ext cx="749808" cy="201168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0" name="Text 28"/>
          <p:cNvSpPr/>
          <p:nvPr/>
        </p:nvSpPr>
        <p:spPr>
          <a:xfrm>
            <a:off x="1664208" y="1298448"/>
            <a:ext cx="74980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이번달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2468880" y="1298448"/>
            <a:ext cx="749808" cy="201168"/>
          </a:xfrm>
          <a:prstGeom prst="rect">
            <a:avLst/>
          </a:prstGeom>
          <a:solidFill>
            <a:srgbClr val="F8FAFC"/>
          </a:solidFill>
          <a:ln w="12700">
            <a:solidFill>
              <a:srgbClr val="DEE2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2" name="Text 30"/>
          <p:cNvSpPr/>
          <p:nvPr/>
        </p:nvSpPr>
        <p:spPr>
          <a:xfrm>
            <a:off x="2468880" y="1298448"/>
            <a:ext cx="74980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지난달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3273552" y="1298448"/>
            <a:ext cx="749808" cy="201168"/>
          </a:xfrm>
          <a:prstGeom prst="rect">
            <a:avLst/>
          </a:prstGeom>
          <a:solidFill>
            <a:srgbClr val="F8FAFC"/>
          </a:solidFill>
          <a:ln w="12700">
            <a:solidFill>
              <a:srgbClr val="DEE2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4" name="Text 32"/>
          <p:cNvSpPr/>
          <p:nvPr/>
        </p:nvSpPr>
        <p:spPr>
          <a:xfrm>
            <a:off x="3273552" y="1298448"/>
            <a:ext cx="74980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분기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4078224" y="1298448"/>
            <a:ext cx="749808" cy="201168"/>
          </a:xfrm>
          <a:prstGeom prst="rect">
            <a:avLst/>
          </a:prstGeom>
          <a:solidFill>
            <a:srgbClr val="F8FAFC"/>
          </a:solidFill>
          <a:ln w="12700">
            <a:solidFill>
              <a:srgbClr val="DEE2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6" name="Text 34"/>
          <p:cNvSpPr/>
          <p:nvPr/>
        </p:nvSpPr>
        <p:spPr>
          <a:xfrm>
            <a:off x="4078224" y="1298448"/>
            <a:ext cx="74980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연도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4882896" y="1298448"/>
            <a:ext cx="749808" cy="201168"/>
          </a:xfrm>
          <a:prstGeom prst="rect">
            <a:avLst/>
          </a:prstGeom>
          <a:solidFill>
            <a:srgbClr val="F8FAFC"/>
          </a:solidFill>
          <a:ln w="12700">
            <a:solidFill>
              <a:srgbClr val="DEE2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8" name="Text 36"/>
          <p:cNvSpPr/>
          <p:nvPr/>
        </p:nvSpPr>
        <p:spPr>
          <a:xfrm>
            <a:off x="4882896" y="1298448"/>
            <a:ext cx="74980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직접입력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1572768" y="1664208"/>
            <a:ext cx="356616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EE2E8"/>
            </a:solidFill>
            <a:prstDash val="solid"/>
          </a:ln>
          <a:effectLst>
            <a:outerShdw blurRad="508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40" name="Text 38"/>
          <p:cNvSpPr/>
          <p:nvPr/>
        </p:nvSpPr>
        <p:spPr>
          <a:xfrm>
            <a:off x="1682496" y="1773936"/>
            <a:ext cx="3291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프로젝트별 투입 인원 (5월)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1682496" y="2066544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A금융 차세대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2743200" y="2121408"/>
            <a:ext cx="2029968" cy="146304"/>
          </a:xfrm>
          <a:prstGeom prst="rect">
            <a:avLst/>
          </a:prstGeom>
          <a:solidFill>
            <a:srgbClr val="F4F6F9"/>
          </a:solidFill>
          <a:ln w="12700">
            <a:solidFill>
              <a:srgbClr val="DEE2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3" name="Shape 41"/>
          <p:cNvSpPr/>
          <p:nvPr/>
        </p:nvSpPr>
        <p:spPr>
          <a:xfrm>
            <a:off x="2743200" y="2121408"/>
            <a:ext cx="1420978" cy="146304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4" name="Text 42"/>
          <p:cNvSpPr/>
          <p:nvPr/>
        </p:nvSpPr>
        <p:spPr>
          <a:xfrm>
            <a:off x="4846320" y="2066544"/>
            <a:ext cx="29260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7명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1682496" y="2386584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B공공 ERP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2743200" y="2441448"/>
            <a:ext cx="2029968" cy="146304"/>
          </a:xfrm>
          <a:prstGeom prst="rect">
            <a:avLst/>
          </a:prstGeom>
          <a:solidFill>
            <a:srgbClr val="F4F6F9"/>
          </a:solidFill>
          <a:ln w="12700">
            <a:solidFill>
              <a:srgbClr val="DEE2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Shape 45"/>
          <p:cNvSpPr/>
          <p:nvPr/>
        </p:nvSpPr>
        <p:spPr>
          <a:xfrm>
            <a:off x="2743200" y="2441448"/>
            <a:ext cx="1014984" cy="146304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8" name="Text 46"/>
          <p:cNvSpPr/>
          <p:nvPr/>
        </p:nvSpPr>
        <p:spPr>
          <a:xfrm>
            <a:off x="4846320" y="2386584"/>
            <a:ext cx="29260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5명</a:t>
            </a:r>
            <a:endParaRPr lang="en-US" sz="850" dirty="0"/>
          </a:p>
        </p:txBody>
      </p:sp>
      <p:sp>
        <p:nvSpPr>
          <p:cNvPr id="49" name="Text 47"/>
          <p:cNvSpPr/>
          <p:nvPr/>
        </p:nvSpPr>
        <p:spPr>
          <a:xfrm>
            <a:off x="1682496" y="2706624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C제조 MES</a:t>
            </a:r>
            <a:endParaRPr lang="en-US" sz="800" dirty="0"/>
          </a:p>
        </p:txBody>
      </p:sp>
      <p:sp>
        <p:nvSpPr>
          <p:cNvPr id="50" name="Shape 48"/>
          <p:cNvSpPr/>
          <p:nvPr/>
        </p:nvSpPr>
        <p:spPr>
          <a:xfrm>
            <a:off x="2743200" y="2761488"/>
            <a:ext cx="2029968" cy="146304"/>
          </a:xfrm>
          <a:prstGeom prst="rect">
            <a:avLst/>
          </a:prstGeom>
          <a:solidFill>
            <a:srgbClr val="F4F6F9"/>
          </a:solidFill>
          <a:ln w="12700">
            <a:solidFill>
              <a:srgbClr val="DEE2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Shape 49"/>
          <p:cNvSpPr/>
          <p:nvPr/>
        </p:nvSpPr>
        <p:spPr>
          <a:xfrm>
            <a:off x="2743200" y="2761488"/>
            <a:ext cx="1623974" cy="146304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2" name="Text 50"/>
          <p:cNvSpPr/>
          <p:nvPr/>
        </p:nvSpPr>
        <p:spPr>
          <a:xfrm>
            <a:off x="4846320" y="2706624"/>
            <a:ext cx="29260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8명</a:t>
            </a:r>
            <a:endParaRPr lang="en-US" sz="850" dirty="0"/>
          </a:p>
        </p:txBody>
      </p:sp>
      <p:sp>
        <p:nvSpPr>
          <p:cNvPr id="53" name="Text 51"/>
          <p:cNvSpPr/>
          <p:nvPr/>
        </p:nvSpPr>
        <p:spPr>
          <a:xfrm>
            <a:off x="1682496" y="3026664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D유통 (예정)</a:t>
            </a:r>
            <a:endParaRPr lang="en-US" sz="800" dirty="0"/>
          </a:p>
        </p:txBody>
      </p:sp>
      <p:sp>
        <p:nvSpPr>
          <p:cNvPr id="54" name="Shape 52"/>
          <p:cNvSpPr/>
          <p:nvPr/>
        </p:nvSpPr>
        <p:spPr>
          <a:xfrm>
            <a:off x="2743200" y="3081528"/>
            <a:ext cx="2029968" cy="146304"/>
          </a:xfrm>
          <a:prstGeom prst="rect">
            <a:avLst/>
          </a:prstGeom>
          <a:solidFill>
            <a:srgbClr val="F4F6F9"/>
          </a:solidFill>
          <a:ln w="12700">
            <a:solidFill>
              <a:srgbClr val="DEE2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Shape 53"/>
          <p:cNvSpPr/>
          <p:nvPr/>
        </p:nvSpPr>
        <p:spPr>
          <a:xfrm>
            <a:off x="2743200" y="3081528"/>
            <a:ext cx="0" cy="146304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6" name="Text 54"/>
          <p:cNvSpPr/>
          <p:nvPr/>
        </p:nvSpPr>
        <p:spPr>
          <a:xfrm>
            <a:off x="4846320" y="3026664"/>
            <a:ext cx="29260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0명</a:t>
            </a:r>
            <a:endParaRPr lang="en-US" sz="850" dirty="0"/>
          </a:p>
        </p:txBody>
      </p:sp>
      <p:sp>
        <p:nvSpPr>
          <p:cNvPr id="57" name="Text 55"/>
          <p:cNvSpPr/>
          <p:nvPr/>
        </p:nvSpPr>
        <p:spPr>
          <a:xfrm>
            <a:off x="1682496" y="3346704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E통신 (완료)</a:t>
            </a:r>
            <a:endParaRPr lang="en-US" sz="800" dirty="0"/>
          </a:p>
        </p:txBody>
      </p:sp>
      <p:sp>
        <p:nvSpPr>
          <p:cNvPr id="58" name="Shape 56"/>
          <p:cNvSpPr/>
          <p:nvPr/>
        </p:nvSpPr>
        <p:spPr>
          <a:xfrm>
            <a:off x="2743200" y="3401568"/>
            <a:ext cx="2029968" cy="146304"/>
          </a:xfrm>
          <a:prstGeom prst="rect">
            <a:avLst/>
          </a:prstGeom>
          <a:solidFill>
            <a:srgbClr val="F4F6F9"/>
          </a:solidFill>
          <a:ln w="12700">
            <a:solidFill>
              <a:srgbClr val="DEE2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Shape 57"/>
          <p:cNvSpPr/>
          <p:nvPr/>
        </p:nvSpPr>
        <p:spPr>
          <a:xfrm>
            <a:off x="2743200" y="3401568"/>
            <a:ext cx="1217981" cy="146304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0" name="Text 58"/>
          <p:cNvSpPr/>
          <p:nvPr/>
        </p:nvSpPr>
        <p:spPr>
          <a:xfrm>
            <a:off x="4846320" y="3346704"/>
            <a:ext cx="29260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6명</a:t>
            </a:r>
            <a:endParaRPr lang="en-US" sz="850" dirty="0"/>
          </a:p>
        </p:txBody>
      </p:sp>
      <p:sp>
        <p:nvSpPr>
          <p:cNvPr id="61" name="Shape 59"/>
          <p:cNvSpPr/>
          <p:nvPr/>
        </p:nvSpPr>
        <p:spPr>
          <a:xfrm>
            <a:off x="5276088" y="1664208"/>
            <a:ext cx="3630168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EE2E8"/>
            </a:solidFill>
            <a:prstDash val="solid"/>
          </a:ln>
          <a:effectLst>
            <a:outerShdw blurRad="508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2" name="Text 60"/>
          <p:cNvSpPr/>
          <p:nvPr/>
        </p:nvSpPr>
        <p:spPr>
          <a:xfrm>
            <a:off x="5385816" y="1773936"/>
            <a:ext cx="33832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투입률 추이 (월별)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5376672" y="2679192"/>
            <a:ext cx="109728" cy="109728"/>
          </a:xfrm>
          <a:prstGeom prst="ellipse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4" name="Text 62"/>
          <p:cNvSpPr/>
          <p:nvPr/>
        </p:nvSpPr>
        <p:spPr>
          <a:xfrm>
            <a:off x="5175504" y="3474720"/>
            <a:ext cx="512064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1월</a:t>
            </a:r>
            <a:endParaRPr lang="en-US" sz="700" dirty="0"/>
          </a:p>
        </p:txBody>
      </p:sp>
      <p:sp>
        <p:nvSpPr>
          <p:cNvPr id="65" name="Text 63"/>
          <p:cNvSpPr/>
          <p:nvPr/>
        </p:nvSpPr>
        <p:spPr>
          <a:xfrm>
            <a:off x="5248656" y="2551176"/>
            <a:ext cx="36576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70%</a:t>
            </a:r>
            <a:endParaRPr lang="en-US" sz="700" dirty="0"/>
          </a:p>
        </p:txBody>
      </p:sp>
      <p:sp>
        <p:nvSpPr>
          <p:cNvPr id="66" name="Shape 64"/>
          <p:cNvSpPr/>
          <p:nvPr/>
        </p:nvSpPr>
        <p:spPr>
          <a:xfrm>
            <a:off x="5431536" y="2734056"/>
            <a:ext cx="662026" cy="0"/>
          </a:xfrm>
          <a:prstGeom prst="line">
            <a:avLst/>
          </a:prstGeom>
          <a:noFill/>
          <a:ln w="19050">
            <a:solidFill>
              <a:srgbClr val="1D4ED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7" name="Shape 65"/>
          <p:cNvSpPr/>
          <p:nvPr/>
        </p:nvSpPr>
        <p:spPr>
          <a:xfrm>
            <a:off x="6038698" y="2598725"/>
            <a:ext cx="109728" cy="109728"/>
          </a:xfrm>
          <a:prstGeom prst="ellipse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8" name="Text 66"/>
          <p:cNvSpPr/>
          <p:nvPr/>
        </p:nvSpPr>
        <p:spPr>
          <a:xfrm>
            <a:off x="5837530" y="3474720"/>
            <a:ext cx="512064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2월</a:t>
            </a:r>
            <a:endParaRPr lang="en-US" sz="700" dirty="0"/>
          </a:p>
        </p:txBody>
      </p:sp>
      <p:sp>
        <p:nvSpPr>
          <p:cNvPr id="69" name="Text 67"/>
          <p:cNvSpPr/>
          <p:nvPr/>
        </p:nvSpPr>
        <p:spPr>
          <a:xfrm>
            <a:off x="5910682" y="2470709"/>
            <a:ext cx="36576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78%</a:t>
            </a:r>
            <a:endParaRPr lang="en-US" sz="700" dirty="0"/>
          </a:p>
        </p:txBody>
      </p:sp>
      <p:sp>
        <p:nvSpPr>
          <p:cNvPr id="70" name="Shape 68"/>
          <p:cNvSpPr/>
          <p:nvPr/>
        </p:nvSpPr>
        <p:spPr>
          <a:xfrm>
            <a:off x="6093562" y="2653589"/>
            <a:ext cx="662026" cy="0"/>
          </a:xfrm>
          <a:prstGeom prst="line">
            <a:avLst/>
          </a:prstGeom>
          <a:noFill/>
          <a:ln w="19050">
            <a:solidFill>
              <a:srgbClr val="1D4ED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1" name="Shape 69"/>
          <p:cNvSpPr/>
          <p:nvPr/>
        </p:nvSpPr>
        <p:spPr>
          <a:xfrm>
            <a:off x="6700723" y="2558491"/>
            <a:ext cx="109728" cy="109728"/>
          </a:xfrm>
          <a:prstGeom prst="ellipse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2" name="Text 70"/>
          <p:cNvSpPr/>
          <p:nvPr/>
        </p:nvSpPr>
        <p:spPr>
          <a:xfrm>
            <a:off x="6499555" y="3474720"/>
            <a:ext cx="512064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3월</a:t>
            </a:r>
            <a:endParaRPr lang="en-US" sz="700" dirty="0"/>
          </a:p>
        </p:txBody>
      </p:sp>
      <p:sp>
        <p:nvSpPr>
          <p:cNvPr id="73" name="Text 71"/>
          <p:cNvSpPr/>
          <p:nvPr/>
        </p:nvSpPr>
        <p:spPr>
          <a:xfrm>
            <a:off x="6572707" y="2430475"/>
            <a:ext cx="36576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82%</a:t>
            </a:r>
            <a:endParaRPr lang="en-US" sz="700" dirty="0"/>
          </a:p>
        </p:txBody>
      </p:sp>
      <p:sp>
        <p:nvSpPr>
          <p:cNvPr id="74" name="Shape 72"/>
          <p:cNvSpPr/>
          <p:nvPr/>
        </p:nvSpPr>
        <p:spPr>
          <a:xfrm>
            <a:off x="6755587" y="2613355"/>
            <a:ext cx="662026" cy="20117"/>
          </a:xfrm>
          <a:prstGeom prst="line">
            <a:avLst/>
          </a:prstGeom>
          <a:noFill/>
          <a:ln w="19050">
            <a:solidFill>
              <a:srgbClr val="1D4ED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5" name="Shape 73"/>
          <p:cNvSpPr/>
          <p:nvPr/>
        </p:nvSpPr>
        <p:spPr>
          <a:xfrm>
            <a:off x="7362749" y="2578608"/>
            <a:ext cx="109728" cy="109728"/>
          </a:xfrm>
          <a:prstGeom prst="ellipse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6" name="Text 74"/>
          <p:cNvSpPr/>
          <p:nvPr/>
        </p:nvSpPr>
        <p:spPr>
          <a:xfrm>
            <a:off x="7161581" y="3474720"/>
            <a:ext cx="512064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4월</a:t>
            </a:r>
            <a:endParaRPr lang="en-US" sz="700" dirty="0"/>
          </a:p>
        </p:txBody>
      </p:sp>
      <p:sp>
        <p:nvSpPr>
          <p:cNvPr id="77" name="Text 75"/>
          <p:cNvSpPr/>
          <p:nvPr/>
        </p:nvSpPr>
        <p:spPr>
          <a:xfrm>
            <a:off x="7234733" y="2450592"/>
            <a:ext cx="36576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80%</a:t>
            </a:r>
            <a:endParaRPr lang="en-US" sz="700" dirty="0"/>
          </a:p>
        </p:txBody>
      </p:sp>
      <p:sp>
        <p:nvSpPr>
          <p:cNvPr id="78" name="Shape 76"/>
          <p:cNvSpPr/>
          <p:nvPr/>
        </p:nvSpPr>
        <p:spPr>
          <a:xfrm>
            <a:off x="7417613" y="2633472"/>
            <a:ext cx="662026" cy="0"/>
          </a:xfrm>
          <a:prstGeom prst="line">
            <a:avLst/>
          </a:prstGeom>
          <a:noFill/>
          <a:ln w="19050">
            <a:solidFill>
              <a:srgbClr val="1D4ED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9" name="Shape 77"/>
          <p:cNvSpPr/>
          <p:nvPr/>
        </p:nvSpPr>
        <p:spPr>
          <a:xfrm>
            <a:off x="8024774" y="2528316"/>
            <a:ext cx="109728" cy="109728"/>
          </a:xfrm>
          <a:prstGeom prst="ellipse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0" name="Text 78"/>
          <p:cNvSpPr/>
          <p:nvPr/>
        </p:nvSpPr>
        <p:spPr>
          <a:xfrm>
            <a:off x="7823606" y="3474720"/>
            <a:ext cx="512064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5월</a:t>
            </a:r>
            <a:endParaRPr lang="en-US" sz="700" dirty="0"/>
          </a:p>
        </p:txBody>
      </p:sp>
      <p:sp>
        <p:nvSpPr>
          <p:cNvPr id="81" name="Text 79"/>
          <p:cNvSpPr/>
          <p:nvPr/>
        </p:nvSpPr>
        <p:spPr>
          <a:xfrm>
            <a:off x="7896758" y="2400300"/>
            <a:ext cx="36576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85%</a:t>
            </a:r>
            <a:endParaRPr lang="en-US" sz="700" dirty="0"/>
          </a:p>
        </p:txBody>
      </p:sp>
      <p:sp>
        <p:nvSpPr>
          <p:cNvPr id="82" name="Shape 80"/>
          <p:cNvSpPr/>
          <p:nvPr/>
        </p:nvSpPr>
        <p:spPr>
          <a:xfrm>
            <a:off x="8079638" y="2583180"/>
            <a:ext cx="662026" cy="40234"/>
          </a:xfrm>
          <a:prstGeom prst="line">
            <a:avLst/>
          </a:prstGeom>
          <a:noFill/>
          <a:ln w="19050">
            <a:solidFill>
              <a:srgbClr val="1D4ED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3" name="Shape 81"/>
          <p:cNvSpPr/>
          <p:nvPr/>
        </p:nvSpPr>
        <p:spPr>
          <a:xfrm>
            <a:off x="8686800" y="2568550"/>
            <a:ext cx="109728" cy="109728"/>
          </a:xfrm>
          <a:prstGeom prst="ellipse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4" name="Text 82"/>
          <p:cNvSpPr/>
          <p:nvPr/>
        </p:nvSpPr>
        <p:spPr>
          <a:xfrm>
            <a:off x="8485632" y="3474720"/>
            <a:ext cx="512064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6월</a:t>
            </a:r>
            <a:endParaRPr lang="en-US" sz="700" dirty="0"/>
          </a:p>
        </p:txBody>
      </p:sp>
      <p:sp>
        <p:nvSpPr>
          <p:cNvPr id="85" name="Text 83"/>
          <p:cNvSpPr/>
          <p:nvPr/>
        </p:nvSpPr>
        <p:spPr>
          <a:xfrm>
            <a:off x="8558784" y="2440534"/>
            <a:ext cx="36576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81%</a:t>
            </a:r>
            <a:endParaRPr lang="en-US" sz="700" dirty="0"/>
          </a:p>
        </p:txBody>
      </p:sp>
      <p:sp>
        <p:nvSpPr>
          <p:cNvPr id="86" name="Shape 84"/>
          <p:cNvSpPr/>
          <p:nvPr/>
        </p:nvSpPr>
        <p:spPr>
          <a:xfrm>
            <a:off x="1572768" y="3858768"/>
            <a:ext cx="740664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EE2E8"/>
            </a:solidFill>
            <a:prstDash val="solid"/>
          </a:ln>
          <a:effectLst>
            <a:outerShdw blurRad="508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7" name="Text 85"/>
          <p:cNvSpPr/>
          <p:nvPr/>
        </p:nvSpPr>
        <p:spPr>
          <a:xfrm>
            <a:off x="1682496" y="3968496"/>
            <a:ext cx="3657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개인별 투입 요약</a:t>
            </a:r>
            <a:endParaRPr lang="en-US" sz="1000" dirty="0"/>
          </a:p>
        </p:txBody>
      </p:sp>
      <p:sp>
        <p:nvSpPr>
          <p:cNvPr id="88" name="Shape 86"/>
          <p:cNvSpPr/>
          <p:nvPr/>
        </p:nvSpPr>
        <p:spPr>
          <a:xfrm>
            <a:off x="1627632" y="4169664"/>
            <a:ext cx="768096" cy="201168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9" name="Text 87"/>
          <p:cNvSpPr/>
          <p:nvPr/>
        </p:nvSpPr>
        <p:spPr>
          <a:xfrm>
            <a:off x="1664208" y="4169664"/>
            <a:ext cx="731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이름</a:t>
            </a:r>
            <a:endParaRPr lang="en-US" sz="750" dirty="0"/>
          </a:p>
        </p:txBody>
      </p:sp>
      <p:sp>
        <p:nvSpPr>
          <p:cNvPr id="90" name="Shape 88"/>
          <p:cNvSpPr/>
          <p:nvPr/>
        </p:nvSpPr>
        <p:spPr>
          <a:xfrm>
            <a:off x="2359152" y="4169664"/>
            <a:ext cx="630936" cy="201168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1" name="Text 89"/>
          <p:cNvSpPr/>
          <p:nvPr/>
        </p:nvSpPr>
        <p:spPr>
          <a:xfrm>
            <a:off x="2395728" y="4169664"/>
            <a:ext cx="5943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부서</a:t>
            </a:r>
            <a:endParaRPr lang="en-US" sz="750" dirty="0"/>
          </a:p>
        </p:txBody>
      </p:sp>
      <p:sp>
        <p:nvSpPr>
          <p:cNvPr id="92" name="Shape 90"/>
          <p:cNvSpPr/>
          <p:nvPr/>
        </p:nvSpPr>
        <p:spPr>
          <a:xfrm>
            <a:off x="2953512" y="4169664"/>
            <a:ext cx="1773936" cy="201168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3" name="Text 91"/>
          <p:cNvSpPr/>
          <p:nvPr/>
        </p:nvSpPr>
        <p:spPr>
          <a:xfrm>
            <a:off x="2990088" y="4169664"/>
            <a:ext cx="17373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현재 프로젝트</a:t>
            </a:r>
            <a:endParaRPr lang="en-US" sz="750" dirty="0"/>
          </a:p>
        </p:txBody>
      </p:sp>
      <p:sp>
        <p:nvSpPr>
          <p:cNvPr id="94" name="Shape 92"/>
          <p:cNvSpPr/>
          <p:nvPr/>
        </p:nvSpPr>
        <p:spPr>
          <a:xfrm>
            <a:off x="4690872" y="4169664"/>
            <a:ext cx="539496" cy="201168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5" name="Text 93"/>
          <p:cNvSpPr/>
          <p:nvPr/>
        </p:nvSpPr>
        <p:spPr>
          <a:xfrm>
            <a:off x="4727448" y="4169664"/>
            <a:ext cx="502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역할</a:t>
            </a:r>
            <a:endParaRPr lang="en-US" sz="750" dirty="0"/>
          </a:p>
        </p:txBody>
      </p:sp>
      <p:sp>
        <p:nvSpPr>
          <p:cNvPr id="96" name="Shape 94"/>
          <p:cNvSpPr/>
          <p:nvPr/>
        </p:nvSpPr>
        <p:spPr>
          <a:xfrm>
            <a:off x="5193792" y="4169664"/>
            <a:ext cx="493776" cy="201168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7" name="Text 95"/>
          <p:cNvSpPr/>
          <p:nvPr/>
        </p:nvSpPr>
        <p:spPr>
          <a:xfrm>
            <a:off x="5230368" y="4169664"/>
            <a:ext cx="457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투입률</a:t>
            </a:r>
            <a:endParaRPr lang="en-US" sz="750" dirty="0"/>
          </a:p>
        </p:txBody>
      </p:sp>
      <p:sp>
        <p:nvSpPr>
          <p:cNvPr id="98" name="Shape 96"/>
          <p:cNvSpPr/>
          <p:nvPr/>
        </p:nvSpPr>
        <p:spPr>
          <a:xfrm>
            <a:off x="5650992" y="4169664"/>
            <a:ext cx="1042416" cy="201168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9" name="Text 97"/>
          <p:cNvSpPr/>
          <p:nvPr/>
        </p:nvSpPr>
        <p:spPr>
          <a:xfrm>
            <a:off x="5687568" y="4169664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투입기간</a:t>
            </a:r>
            <a:endParaRPr lang="en-US" sz="750" dirty="0"/>
          </a:p>
        </p:txBody>
      </p:sp>
      <p:sp>
        <p:nvSpPr>
          <p:cNvPr id="100" name="Shape 98"/>
          <p:cNvSpPr/>
          <p:nvPr/>
        </p:nvSpPr>
        <p:spPr>
          <a:xfrm>
            <a:off x="6656832" y="4169664"/>
            <a:ext cx="603504" cy="201168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1" name="Text 99"/>
          <p:cNvSpPr/>
          <p:nvPr/>
        </p:nvSpPr>
        <p:spPr>
          <a:xfrm>
            <a:off x="6693408" y="4169664"/>
            <a:ext cx="56692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상태</a:t>
            </a:r>
            <a:endParaRPr lang="en-US" sz="750" dirty="0"/>
          </a:p>
        </p:txBody>
      </p:sp>
      <p:sp>
        <p:nvSpPr>
          <p:cNvPr id="102" name="Shape 100"/>
          <p:cNvSpPr/>
          <p:nvPr/>
        </p:nvSpPr>
        <p:spPr>
          <a:xfrm>
            <a:off x="1572768" y="4370832"/>
            <a:ext cx="7406640" cy="182880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3" name="Text 101"/>
          <p:cNvSpPr/>
          <p:nvPr/>
        </p:nvSpPr>
        <p:spPr>
          <a:xfrm>
            <a:off x="1664208" y="4389120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김민준</a:t>
            </a:r>
            <a:endParaRPr lang="en-US" sz="800" dirty="0"/>
          </a:p>
        </p:txBody>
      </p:sp>
      <p:sp>
        <p:nvSpPr>
          <p:cNvPr id="104" name="Text 102"/>
          <p:cNvSpPr/>
          <p:nvPr/>
        </p:nvSpPr>
        <p:spPr>
          <a:xfrm>
            <a:off x="2395728" y="4389120"/>
            <a:ext cx="5943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개발팀</a:t>
            </a:r>
            <a:endParaRPr lang="en-US" sz="800" dirty="0"/>
          </a:p>
        </p:txBody>
      </p:sp>
      <p:sp>
        <p:nvSpPr>
          <p:cNvPr id="105" name="Text 103"/>
          <p:cNvSpPr/>
          <p:nvPr/>
        </p:nvSpPr>
        <p:spPr>
          <a:xfrm>
            <a:off x="2990088" y="4389120"/>
            <a:ext cx="17373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A금융 차세대</a:t>
            </a:r>
            <a:endParaRPr lang="en-US" sz="800" dirty="0"/>
          </a:p>
        </p:txBody>
      </p:sp>
      <p:sp>
        <p:nvSpPr>
          <p:cNvPr id="106" name="Text 104"/>
          <p:cNvSpPr/>
          <p:nvPr/>
        </p:nvSpPr>
        <p:spPr>
          <a:xfrm>
            <a:off x="4727448" y="438912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</a:t>
            </a:r>
            <a:endParaRPr lang="en-US" sz="800" dirty="0"/>
          </a:p>
        </p:txBody>
      </p:sp>
      <p:sp>
        <p:nvSpPr>
          <p:cNvPr id="107" name="Text 105"/>
          <p:cNvSpPr/>
          <p:nvPr/>
        </p:nvSpPr>
        <p:spPr>
          <a:xfrm>
            <a:off x="5230368" y="4389120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800" dirty="0"/>
          </a:p>
        </p:txBody>
      </p:sp>
      <p:sp>
        <p:nvSpPr>
          <p:cNvPr id="108" name="Text 106"/>
          <p:cNvSpPr/>
          <p:nvPr/>
        </p:nvSpPr>
        <p:spPr>
          <a:xfrm>
            <a:off x="5687568" y="4389120"/>
            <a:ext cx="10058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25.03~26.09</a:t>
            </a:r>
            <a:endParaRPr lang="en-US" sz="800" dirty="0"/>
          </a:p>
        </p:txBody>
      </p:sp>
      <p:sp>
        <p:nvSpPr>
          <p:cNvPr id="109" name="Text 107"/>
          <p:cNvSpPr/>
          <p:nvPr/>
        </p:nvSpPr>
        <p:spPr>
          <a:xfrm>
            <a:off x="6693408" y="4389120"/>
            <a:ext cx="56692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투입중</a:t>
            </a:r>
            <a:endParaRPr lang="en-US" sz="800" dirty="0"/>
          </a:p>
        </p:txBody>
      </p:sp>
      <p:sp>
        <p:nvSpPr>
          <p:cNvPr id="110" name="Text 108"/>
          <p:cNvSpPr/>
          <p:nvPr/>
        </p:nvSpPr>
        <p:spPr>
          <a:xfrm>
            <a:off x="1664208" y="4572000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이서연</a:t>
            </a:r>
            <a:endParaRPr lang="en-US" sz="800" dirty="0"/>
          </a:p>
        </p:txBody>
      </p:sp>
      <p:sp>
        <p:nvSpPr>
          <p:cNvPr id="111" name="Text 109"/>
          <p:cNvSpPr/>
          <p:nvPr/>
        </p:nvSpPr>
        <p:spPr>
          <a:xfrm>
            <a:off x="2395728" y="4572000"/>
            <a:ext cx="5943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디자인</a:t>
            </a:r>
            <a:endParaRPr lang="en-US" sz="800" dirty="0"/>
          </a:p>
        </p:txBody>
      </p:sp>
      <p:sp>
        <p:nvSpPr>
          <p:cNvPr id="112" name="Text 110"/>
          <p:cNvSpPr/>
          <p:nvPr/>
        </p:nvSpPr>
        <p:spPr>
          <a:xfrm>
            <a:off x="2990088" y="4572000"/>
            <a:ext cx="17373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벤치</a:t>
            </a:r>
            <a:endParaRPr lang="en-US" sz="800" dirty="0"/>
          </a:p>
        </p:txBody>
      </p:sp>
      <p:sp>
        <p:nvSpPr>
          <p:cNvPr id="113" name="Text 111"/>
          <p:cNvSpPr/>
          <p:nvPr/>
        </p:nvSpPr>
        <p:spPr>
          <a:xfrm>
            <a:off x="4727448" y="457200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800" dirty="0"/>
          </a:p>
        </p:txBody>
      </p:sp>
      <p:sp>
        <p:nvSpPr>
          <p:cNvPr id="114" name="Text 112"/>
          <p:cNvSpPr/>
          <p:nvPr/>
        </p:nvSpPr>
        <p:spPr>
          <a:xfrm>
            <a:off x="5230368" y="4572000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0%</a:t>
            </a:r>
            <a:endParaRPr lang="en-US" sz="800" dirty="0"/>
          </a:p>
        </p:txBody>
      </p:sp>
      <p:sp>
        <p:nvSpPr>
          <p:cNvPr id="115" name="Text 113"/>
          <p:cNvSpPr/>
          <p:nvPr/>
        </p:nvSpPr>
        <p:spPr>
          <a:xfrm>
            <a:off x="5687568" y="4572000"/>
            <a:ext cx="10058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800" dirty="0"/>
          </a:p>
        </p:txBody>
      </p:sp>
      <p:sp>
        <p:nvSpPr>
          <p:cNvPr id="116" name="Text 114"/>
          <p:cNvSpPr/>
          <p:nvPr/>
        </p:nvSpPr>
        <p:spPr>
          <a:xfrm>
            <a:off x="6693408" y="4572000"/>
            <a:ext cx="56692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벤치</a:t>
            </a:r>
            <a:endParaRPr lang="en-US" sz="800" dirty="0"/>
          </a:p>
        </p:txBody>
      </p:sp>
      <p:sp>
        <p:nvSpPr>
          <p:cNvPr id="117" name="Shape 115"/>
          <p:cNvSpPr/>
          <p:nvPr/>
        </p:nvSpPr>
        <p:spPr>
          <a:xfrm>
            <a:off x="1572768" y="4736592"/>
            <a:ext cx="7406640" cy="182880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8" name="Text 116"/>
          <p:cNvSpPr/>
          <p:nvPr/>
        </p:nvSpPr>
        <p:spPr>
          <a:xfrm>
            <a:off x="1664208" y="4754880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박지훈</a:t>
            </a:r>
            <a:endParaRPr lang="en-US" sz="800" dirty="0"/>
          </a:p>
        </p:txBody>
      </p:sp>
      <p:sp>
        <p:nvSpPr>
          <p:cNvPr id="119" name="Text 117"/>
          <p:cNvSpPr/>
          <p:nvPr/>
        </p:nvSpPr>
        <p:spPr>
          <a:xfrm>
            <a:off x="2395728" y="4754880"/>
            <a:ext cx="5943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마케팅</a:t>
            </a:r>
            <a:endParaRPr lang="en-US" sz="800" dirty="0"/>
          </a:p>
        </p:txBody>
      </p:sp>
      <p:sp>
        <p:nvSpPr>
          <p:cNvPr id="120" name="Text 118"/>
          <p:cNvSpPr/>
          <p:nvPr/>
        </p:nvSpPr>
        <p:spPr>
          <a:xfrm>
            <a:off x="2990088" y="4754880"/>
            <a:ext cx="17373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C제조 MES</a:t>
            </a:r>
            <a:endParaRPr lang="en-US" sz="800" dirty="0"/>
          </a:p>
        </p:txBody>
      </p:sp>
      <p:sp>
        <p:nvSpPr>
          <p:cNvPr id="121" name="Text 119"/>
          <p:cNvSpPr/>
          <p:nvPr/>
        </p:nvSpPr>
        <p:spPr>
          <a:xfrm>
            <a:off x="4727448" y="475488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개발</a:t>
            </a:r>
            <a:endParaRPr lang="en-US" sz="800" dirty="0"/>
          </a:p>
        </p:txBody>
      </p:sp>
      <p:sp>
        <p:nvSpPr>
          <p:cNvPr id="122" name="Text 120"/>
          <p:cNvSpPr/>
          <p:nvPr/>
        </p:nvSpPr>
        <p:spPr>
          <a:xfrm>
            <a:off x="5230368" y="4754880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800" dirty="0"/>
          </a:p>
        </p:txBody>
      </p:sp>
      <p:sp>
        <p:nvSpPr>
          <p:cNvPr id="123" name="Text 121"/>
          <p:cNvSpPr/>
          <p:nvPr/>
        </p:nvSpPr>
        <p:spPr>
          <a:xfrm>
            <a:off x="5687568" y="4754880"/>
            <a:ext cx="10058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24.12~26.03</a:t>
            </a:r>
            <a:endParaRPr lang="en-US" sz="800" dirty="0"/>
          </a:p>
        </p:txBody>
      </p:sp>
      <p:sp>
        <p:nvSpPr>
          <p:cNvPr id="124" name="Text 122"/>
          <p:cNvSpPr/>
          <p:nvPr/>
        </p:nvSpPr>
        <p:spPr>
          <a:xfrm>
            <a:off x="6693408" y="4754880"/>
            <a:ext cx="56692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투입중</a:t>
            </a:r>
            <a:endParaRPr lang="en-US" sz="800" dirty="0"/>
          </a:p>
        </p:txBody>
      </p:sp>
      <p:sp>
        <p:nvSpPr>
          <p:cNvPr id="125" name="Text 123"/>
          <p:cNvSpPr/>
          <p:nvPr/>
        </p:nvSpPr>
        <p:spPr>
          <a:xfrm>
            <a:off x="1682496" y="4965192"/>
            <a:ext cx="4572000" cy="128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행 클릭 시 해당 직원 투입 이력 상세 팝업 표시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619</TotalTime>
  <Words>4139</Words>
  <Application>Microsoft Office PowerPoint</Application>
  <PresentationFormat>화면 슬라이드 쇼(16:9)</PresentationFormat>
  <Paragraphs>1639</Paragraphs>
  <Slides>20</Slides>
  <Notes>18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20</vt:i4>
      </vt:variant>
    </vt:vector>
  </HeadingPairs>
  <TitlesOfParts>
    <vt:vector size="27" baseType="lpstr">
      <vt:lpstr>Noto Sans CJK KR</vt:lpstr>
      <vt:lpstr>Malgun Gothic</vt:lpstr>
      <vt:lpstr>Malgun Gothic</vt:lpstr>
      <vt:lpstr>Arial</vt:lpstr>
      <vt:lpstr>Calibri</vt:lpstr>
      <vt:lpstr>Georgia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react-app-peoplify SI UI 화면 기획서 v2</dc:title>
  <dc:subject>PptxGenJS Presentation</dc:subject>
  <dc:creator>PptxGenJS</dc:creator>
  <cp:lastModifiedBy>YongJin Lee</cp:lastModifiedBy>
  <cp:revision>51</cp:revision>
  <dcterms:created xsi:type="dcterms:W3CDTF">2026-05-26T04:49:45Z</dcterms:created>
  <dcterms:modified xsi:type="dcterms:W3CDTF">2026-06-30T06:24:54Z</dcterms:modified>
</cp:coreProperties>
</file>