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9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5143500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7744" y="3017520"/>
            <a:ext cx="8906256" cy="212598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02920" y="658368"/>
            <a:ext cx="7315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react-app-peoplify  v2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042416"/>
            <a:ext cx="8229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UI 화면 기획서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502920" y="2029968"/>
            <a:ext cx="8229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회사 맞춤형 · 프로젝트 투입 관리 중심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32004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화면  ·  5개 도메인  ·  project 도메인 신규  ·  attendance 간소화</a:t>
            </a:r>
            <a:endParaRPr lang="en-US" sz="1100" dirty="0"/>
          </a:p>
        </p:txBody>
      </p:sp>
      <p:sp>
        <p:nvSpPr>
          <p:cNvPr id="8" name="Rounded Rectangle 7"/>
          <p:cNvSpPr/>
          <p:nvPr/>
        </p:nvSpPr>
        <p:spPr>
          <a:xfrm>
            <a:off x="502920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584448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Login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00046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00046" y="3584448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97172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97172" y="3584448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목록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4299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94299" y="3584448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상세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91425" y="3584448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91425" y="3584448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직원 등록/수정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986784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00046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C4A7A"/>
          </a:solidFill>
          <a:ln w="15875">
            <a:solidFill>
              <a:srgbClr val="3B9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0046" y="3986784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프로젝트 등록/수정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97172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97172" y="3986784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프로젝트 상세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94299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94299" y="3986784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인력 배정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91425" y="3986784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A7A"/>
          </a:solidFill>
          <a:ln w="9525">
            <a:solidFill>
              <a:srgbClr val="2D4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1425" y="3986784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3C5FD"/>
                </a:solidFill>
                <a:latin typeface="Calibri"/>
              </a:rPr>
              <a:t>투입 현황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389120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월별 근무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0046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0046" y="4389120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휴가 관리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97172" y="4389120"/>
            <a:ext cx="1569110" cy="329184"/>
          </a:xfrm>
          <a:prstGeom prst="roundRect">
            <a:avLst>
              <a:gd name="adj" fmla="val 18000"/>
            </a:avLst>
          </a:prstGeom>
          <a:solidFill>
            <a:srgbClr val="243260"/>
          </a:solidFill>
          <a:ln w="9525">
            <a:solidFill>
              <a:srgbClr val="2D40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97172" y="4389120"/>
            <a:ext cx="156911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4A3B8"/>
                </a:solidFill>
                <a:latin typeface="Calibri"/>
              </a:rPr>
              <a:t>통계/리포트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공통 레이아웃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Layout  ·  모든 화면 공통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194560" y="960120"/>
            <a:ext cx="52120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2331720" y="1078992"/>
            <a:ext cx="4937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사이드바 메뉴 구성 (변경)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331720" y="1389888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423160" y="1389888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749040" y="1389888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중심 KPI·프로젝트 현황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31720" y="1792224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423160" y="1792224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749040" y="1792224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목록·상세·등록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331720" y="2194560"/>
            <a:ext cx="4937760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423160" y="2194560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★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49040" y="219456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목록·등록·상세·인력 배정·투입 현황 (신규)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7223760" y="226771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331720" y="2596896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2423160" y="2596896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749040" y="2596896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보고·휴가 관리 (간소화)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331720" y="2999232"/>
            <a:ext cx="493776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423160" y="2999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749040" y="299923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투입률·인력 분석 통계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31720" y="3456432"/>
            <a:ext cx="49377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2331720" y="3529584"/>
            <a:ext cx="4937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헤더: 전역 검색 · 알림 · 사용자 아바타  ③ 콘텐츠 영역: 패딩 20px · 카드 그룹핑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194560" y="3950208"/>
            <a:ext cx="5212080" cy="32918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304288" y="3950208"/>
            <a:ext cx="5029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Login 화면은 사이드바/헤더 없이 단독 레이아웃  |  근무일정(교대 배정) 메뉴 삭제됨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대시보드 (SI 투입 중심)  ·  / 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960120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0" y="960120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대시보드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3657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26일 (화)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1691640" cy="731520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66420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인원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66420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32명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166420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 중 30명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355848" y="1389888"/>
            <a:ext cx="1691640" cy="7315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44728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44728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26명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44728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26개 프로젝트 현장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138928" y="1389888"/>
            <a:ext cx="1691640" cy="731520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23036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벤치(가용)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23036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523036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가능 인원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6922008" y="1389888"/>
            <a:ext cx="1691640" cy="731520"/>
          </a:xfrm>
          <a:prstGeom prst="rect">
            <a:avLst/>
          </a:prstGeom>
          <a:solidFill>
            <a:srgbClr val="CCFBF1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7013448" y="1453896"/>
            <a:ext cx="15270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프로젝트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7013448" y="1627632"/>
            <a:ext cx="1527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5건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7013448" y="1938528"/>
            <a:ext cx="15270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완료1·예정1 별도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572768" y="2212848"/>
            <a:ext cx="44805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1682496" y="2322576"/>
            <a:ext cx="4114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프로젝트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645920" y="2578608"/>
            <a:ext cx="19110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682496" y="2578608"/>
            <a:ext cx="1874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547872" y="2578608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584448" y="257860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투입인원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4233672" y="2578608"/>
            <a:ext cx="12252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270248" y="2578608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기간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486400" y="2578608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522976" y="2578608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572768" y="2834640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682496" y="2834640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584448" y="283464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4270248" y="2834640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2025.03~2026.12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486400" y="290779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682496" y="3163824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584448" y="316382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270248" y="3163824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2025.06~2026.06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486400" y="32369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3493008"/>
            <a:ext cx="448056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682496" y="3493008"/>
            <a:ext cx="1874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3584448" y="34930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270248" y="3493008"/>
            <a:ext cx="11887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2024.12~2026.03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486400" y="35661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6190488" y="2212848"/>
            <a:ext cx="292608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6300216" y="2322576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인원 현황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6300216" y="2615184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7059168" y="261518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772400" y="2615184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2주째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300216" y="28529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7059168" y="2852928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7772400" y="2852928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1개월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6300216" y="30906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7059168" y="30906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7772400" y="3090672"/>
            <a:ext cx="12435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3일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6190488" y="3383280"/>
            <a:ext cx="292608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6300216" y="3493008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 (30일 이내)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6236208" y="3785616"/>
            <a:ext cx="2880360" cy="256032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6345936" y="378561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  /  A금융  →  철수 06.15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6236208" y="4078224"/>
            <a:ext cx="2880360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6345936" y="4078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  /  B공공  →  철수 06.28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목록  ·  /projects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프로젝트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프로젝트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572768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(5)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1572768" y="1444752"/>
            <a:ext cx="1298448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2926080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 (3)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279392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(1)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632704" y="1207008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 (1)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1572768" y="1517904"/>
            <a:ext cx="74066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82496" y="1627632"/>
            <a:ext cx="20116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737360" y="162763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프로젝트명·고객사 검색...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822192" y="1627632"/>
            <a:ext cx="100584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3877056" y="162763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937760" y="1627632"/>
            <a:ext cx="9144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4992624" y="1627632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▾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572768" y="204825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700784" y="212140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700784" y="235915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151376" y="212140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 ~ 2026.12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5888736" y="212140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7명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675120" y="212140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151376" y="230428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Java/Spring/Oracle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7680960" y="22311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321040" y="221284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1572768" y="268833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1700784" y="276148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 구축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700784" y="299923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151376" y="276148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2025.06 ~ 2026.06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888736" y="276148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5명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675120" y="276148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151376" y="294436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SAP/ABAP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7680960" y="28712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8321040" y="285292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1572768" y="332841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1700784" y="340156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 고도화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1700784" y="363931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4151376" y="340156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2024.12 ~ 2026.03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888736" y="340156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8명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675120" y="34015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4151376" y="358444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Java/React/MySQL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7680960" y="351129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</a:t>
            </a:r>
            <a:endParaRPr lang="en-US" sz="800" dirty="0"/>
          </a:p>
        </p:txBody>
      </p:sp>
      <p:sp>
        <p:nvSpPr>
          <p:cNvPr id="73" name="Shape 71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8321040" y="349300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572768" y="396849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1700784" y="404164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 시스템</a:t>
            </a:r>
            <a:endParaRPr lang="en-US" sz="1100" dirty="0"/>
          </a:p>
        </p:txBody>
      </p:sp>
      <p:sp>
        <p:nvSpPr>
          <p:cNvPr id="77" name="Text 75"/>
          <p:cNvSpPr/>
          <p:nvPr/>
        </p:nvSpPr>
        <p:spPr>
          <a:xfrm>
            <a:off x="1700784" y="427939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4151376" y="404164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~ 2027.06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888736" y="404164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0명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675120" y="404164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—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4151376" y="422452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MSA/K8s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p/>
        </p:txBody>
      </p:sp>
      <p:sp>
        <p:nvSpPr>
          <p:cNvPr id="83" name="Text 81"/>
          <p:cNvSpPr/>
          <p:nvPr/>
        </p:nvSpPr>
        <p:spPr>
          <a:xfrm>
            <a:off x="7680960" y="41513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예정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8321040" y="413308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1572768" y="4608576"/>
            <a:ext cx="7406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700784" y="4681728"/>
            <a:ext cx="23774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 재구축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1700784" y="4919472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151376" y="4681728"/>
            <a:ext cx="1645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2024.01 ~ 2025.12</a:t>
            </a:r>
            <a:endParaRPr lang="en-US" sz="900" dirty="0"/>
          </a:p>
        </p:txBody>
      </p:sp>
      <p:sp>
        <p:nvSpPr>
          <p:cNvPr id="90" name="Text 88"/>
          <p:cNvSpPr/>
          <p:nvPr/>
        </p:nvSpPr>
        <p:spPr>
          <a:xfrm>
            <a:off x="5888736" y="46817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6명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6675120" y="468172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100%</a:t>
            </a:r>
            <a:endParaRPr lang="en-US" sz="900" dirty="0"/>
          </a:p>
        </p:txBody>
      </p:sp>
      <p:sp>
        <p:nvSpPr>
          <p:cNvPr id="92" name="Text 90"/>
          <p:cNvSpPr/>
          <p:nvPr/>
        </p:nvSpPr>
        <p:spPr>
          <a:xfrm>
            <a:off x="4151376" y="4864608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Python/Django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7680960" y="47914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5" name="Shape 93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8321040" y="4773168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등록 / 수정  ·  /projects/new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Box 22"/>
          <p:cNvSpPr txBox="1"/>
          <p:nvPr/>
        </p:nvSpPr>
        <p:spPr>
          <a:xfrm>
            <a:off x="1572768" y="87782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1D4ED8"/>
                </a:solidFill>
                <a:latin typeface="Calibri"/>
              </a:rPr>
              <a:t>← 프로젝트 목록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72768" y="106070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1E293B"/>
                </a:solidFill>
                <a:latin typeface="Calibri"/>
              </a:rPr>
              <a:t>프로젝트 등록 / 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72768" y="1325880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신규 프로젝트 정보를 입력하고 저장하면 프로젝트 목록·대시보드에 즉시 반영됩니다.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72768" y="1572768"/>
            <a:ext cx="7406640" cy="25968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76088" y="1792224"/>
            <a:ext cx="9525" cy="2139696"/>
          </a:xfrm>
          <a:prstGeom prst="rect">
            <a:avLst/>
          </a:prstGeom>
          <a:solidFill>
            <a:srgbClr val="DE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783080" y="168249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Calibri"/>
              </a:rPr>
              <a:t>기본 정보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40680" y="1682496"/>
            <a:ext cx="320040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E293B"/>
                </a:solidFill>
                <a:latin typeface="Calibri"/>
              </a:rPr>
              <a:t>계약 · 인력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프로젝트명 *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783080" y="2057400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2057400"/>
            <a:ext cx="30998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 : F금융 차세대 시스템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83080" y="239572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고객사 *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783080" y="2551176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856231" y="2551176"/>
            <a:ext cx="30998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고객사명 입력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83080" y="288950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계약 기간 *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783080" y="3044952"/>
            <a:ext cx="155448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56231" y="3044952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2026.07.01  📅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74720" y="3044952"/>
            <a:ext cx="155448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47872" y="3044952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2027.06.30  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83080" y="3383280"/>
            <a:ext cx="324612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상태 *   ( 예정 · 진행중 · 완료 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783080" y="3538728"/>
            <a:ext cx="324612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856231" y="3538728"/>
            <a:ext cx="30998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예정  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40680" y="1901952"/>
            <a:ext cx="333756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PM (프로젝트 매니저) *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40680" y="2057400"/>
            <a:ext cx="333756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13832" y="2057400"/>
            <a:ext cx="319125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직원 선택  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80" y="2395728"/>
            <a:ext cx="333756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계약 형태 *               계약 금액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40680" y="2551176"/>
            <a:ext cx="160020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513832" y="2551176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도급  ▾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178040" y="2551176"/>
            <a:ext cx="1600200" cy="237744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251192" y="2551176"/>
            <a:ext cx="1453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예 : 12억 원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80" y="288950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기술 스택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40680" y="3044952"/>
            <a:ext cx="3337560" cy="384048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532120" y="3127248"/>
            <a:ext cx="585216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32120" y="3127248"/>
            <a:ext cx="585216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Java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90488" y="3127248"/>
            <a:ext cx="740664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0488" y="3127248"/>
            <a:ext cx="74066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Spring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04303" y="3127248"/>
            <a:ext cx="740664" cy="219456"/>
          </a:xfrm>
          <a:prstGeom prst="roundRect">
            <a:avLst>
              <a:gd name="adj" fmla="val 18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04303" y="3127248"/>
            <a:ext cx="74066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3730A3"/>
                </a:solidFill>
                <a:latin typeface="Calibri"/>
              </a:rPr>
              <a:t>Oracle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36407" y="3127248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Calibri"/>
              </a:rPr>
              <a:t>+ 기술 추가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40680" y="352958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비고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40680" y="3675887"/>
            <a:ext cx="3337560" cy="3657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513832" y="3675887"/>
            <a:ext cx="319125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현장·계약 관련 특이사항 입력...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693408" y="4261104"/>
            <a:ext cx="1078992" cy="2926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93408" y="4261104"/>
            <a:ext cx="1078992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Calibri"/>
              </a:rPr>
              <a:t>취소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82127" y="4261104"/>
            <a:ext cx="1097280" cy="292608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9525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82127" y="4261104"/>
            <a:ext cx="10972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저장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572768" y="4645152"/>
            <a:ext cx="7406640" cy="2743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 w="9525">
            <a:solidFill>
              <a:srgbClr val="DE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00784" y="464515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>
                <a:solidFill>
                  <a:srgbClr val="B45309"/>
                </a:solidFill>
                <a:latin typeface="Calibri"/>
              </a:rPr>
              <a:t>⚠  저장 시 프로젝트 목록·대시보드 KPI에 즉시 반영  ·  인력 배정은 [인력 배정] 화면에서 진행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상세  ·  /projects/:id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A금융 차세대 코어뱅킹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699248" y="1060704"/>
            <a:ext cx="6583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394192" y="1060704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57276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1572768" y="1719072"/>
            <a:ext cx="1371600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299008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40740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일정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824728" y="1444752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1572768" y="1792224"/>
            <a:ext cx="3474720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82496" y="190195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2852928" y="190195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A금융그룹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682496" y="2322576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기간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852928" y="2322576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2025.03.01 ~ 2026.12.31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682496" y="274320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852928" y="27432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 부장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682496" y="3163824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 유형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852928" y="3163824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T&amp;M (시간·재료)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1682496" y="358444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계약금액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2852928" y="358444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12억 원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682496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진척도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852928" y="400507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1682496" y="4462272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진척도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670048" y="4517136"/>
            <a:ext cx="2194560" cy="109728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2670048" y="4517136"/>
            <a:ext cx="1492301" cy="10972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4974336" y="4462272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193792" y="1792224"/>
            <a:ext cx="3785616" cy="3163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5303520" y="1901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인력  (7명)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266944" y="215798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5303520" y="215798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5998464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035040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6565392" y="2157984"/>
            <a:ext cx="56692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601968" y="2157984"/>
            <a:ext cx="53035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7132320" y="2157984"/>
            <a:ext cx="713232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7168896" y="2157984"/>
            <a:ext cx="6766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7845552" y="2157984"/>
            <a:ext cx="78638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7882128" y="2157984"/>
            <a:ext cx="749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철수예정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193792" y="2414016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303520" y="2414016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035040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70" name="Text 68"/>
          <p:cNvSpPr/>
          <p:nvPr/>
        </p:nvSpPr>
        <p:spPr>
          <a:xfrm>
            <a:off x="6601968" y="2414016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7168896" y="2414016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7882128" y="2414016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03520" y="2798064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35040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601968" y="2798064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7168896" y="2798064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7882128" y="2798064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5193792" y="3182112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5303520" y="3182112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6035040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601968" y="3182112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7168896" y="3182112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7882128" y="3182112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5303520" y="3566160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035040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6601968" y="3566160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7168896" y="3566160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25.05.01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7882128" y="3566160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26.06.30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5193792" y="3950208"/>
            <a:ext cx="3785616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5303520" y="3950208"/>
            <a:ext cx="685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035040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6601968" y="3950208"/>
            <a:ext cx="53035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7168896" y="3950208"/>
            <a:ext cx="6766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7882128" y="3950208"/>
            <a:ext cx="74980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26.12.31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303520" y="4498848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 스택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530352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581558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327648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6839712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iBatis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7351776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MSA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7863840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750" dirty="0"/>
          </a:p>
        </p:txBody>
      </p:sp>
      <p:sp>
        <p:nvSpPr>
          <p:cNvPr id="108" name="Shape 106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1D4ED8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/>
          <p:nvPr/>
        </p:nvSpPr>
        <p:spPr>
          <a:xfrm>
            <a:off x="8375904" y="4700016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배정  ·  /projects/:id/assign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프로젝트 상세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인력 배정  —  A금융 차세대 코어뱅킹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572768" y="1444752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682496" y="155448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필터: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1518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67004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▾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07822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13308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투입률(현재)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59612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경력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004304" y="1554480"/>
            <a:ext cx="138988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7059168" y="1554480"/>
            <a:ext cx="12984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723376" y="155448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572768" y="1956816"/>
            <a:ext cx="457200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682496" y="2066544"/>
            <a:ext cx="4297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가용 인력 목록  (벤치 8명)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645920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82496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313432" y="2322576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2350008" y="2322576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980944" y="2322576"/>
            <a:ext cx="149961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017520" y="2322576"/>
            <a:ext cx="1463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480560" y="2322576"/>
            <a:ext cx="73152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517136" y="2322576"/>
            <a:ext cx="6949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 투입률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5559552" y="2322576"/>
            <a:ext cx="548640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5596128" y="2322576"/>
            <a:ext cx="51206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1572768" y="2578608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1682496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2350008" y="257860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3017520" y="257860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Java·Spring·React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4517136" y="257860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669280" y="265176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1682496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2350008" y="2907792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3017520" y="2907792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Figma·CSS·React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517136" y="2907792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669280" y="298094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1572768" y="3236976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682496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2350008" y="3236976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3017520" y="3236976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Python·Django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4517136" y="3236976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669280" y="331012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82496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2350008" y="3566160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3017520" y="3566160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517136" y="3566160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669280" y="36393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72" name="Shape 70"/>
          <p:cNvSpPr/>
          <p:nvPr/>
        </p:nvSpPr>
        <p:spPr>
          <a:xfrm>
            <a:off x="1572768" y="3895344"/>
            <a:ext cx="4572000" cy="329184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73" name="Text 71"/>
          <p:cNvSpPr/>
          <p:nvPr/>
        </p:nvSpPr>
        <p:spPr>
          <a:xfrm>
            <a:off x="1682496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350008" y="3895344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3017520" y="3895344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Java·Oracle·React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4517136" y="3895344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669280" y="396849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682496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50008" y="4224528"/>
            <a:ext cx="6400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3017520" y="4224528"/>
            <a:ext cx="14630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Java·Spring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4517136" y="4224528"/>
            <a:ext cx="69494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5669280" y="429768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84" name="Shape 82"/>
          <p:cNvSpPr/>
          <p:nvPr/>
        </p:nvSpPr>
        <p:spPr>
          <a:xfrm>
            <a:off x="6291072" y="1956816"/>
            <a:ext cx="2706624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400800" y="2066544"/>
            <a:ext cx="2468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설정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6345936" y="2322576"/>
            <a:ext cx="2596896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400800" y="2395728"/>
            <a:ext cx="24688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선택 인력: 김민준, 정다은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6400800" y="2642616"/>
            <a:ext cx="24688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 *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6400800" y="2798064"/>
            <a:ext cx="24688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6455664" y="2798064"/>
            <a:ext cx="23774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· PL · 개발 · QA · 디자인 ▾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6400800" y="3118104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*</a:t>
            </a:r>
            <a:endParaRPr lang="en-US" sz="850" dirty="0"/>
          </a:p>
        </p:txBody>
      </p:sp>
      <p:sp>
        <p:nvSpPr>
          <p:cNvPr id="92" name="Shape 90"/>
          <p:cNvSpPr/>
          <p:nvPr/>
        </p:nvSpPr>
        <p:spPr>
          <a:xfrm>
            <a:off x="6400800" y="3273552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6455664" y="3273552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▾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7626096" y="3273552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7680960" y="3273552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400800" y="3520440"/>
            <a:ext cx="11704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시작일 *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6400800" y="3675888"/>
            <a:ext cx="117043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6455664" y="3675888"/>
            <a:ext cx="10789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2026.06.01 📅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7626096" y="3520440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예정일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7626096" y="3675888"/>
            <a:ext cx="124358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7680960" y="3675888"/>
            <a:ext cx="11521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2026.12.31 📅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6400800" y="4169664"/>
            <a:ext cx="2468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배정 확정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1572768" y="5047488"/>
            <a:ext cx="7406640" cy="237744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05" name="Text 103"/>
          <p:cNvSpPr/>
          <p:nvPr/>
        </p:nvSpPr>
        <p:spPr>
          <a:xfrm>
            <a:off x="1682496" y="5047488"/>
            <a:ext cx="72237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배정 확정 시 투입 현황 자동 갱신  ·  해당 직원 이메일 알림 발송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현황  ·  /projects/status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0" y="2167128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0" y="2167128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전체 투입 현황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1719072" cy="347472"/>
          </a:xfrm>
          <a:prstGeom prst="rect">
            <a:avLst/>
          </a:prstGeom>
          <a:solidFill>
            <a:srgbClr val="E6F1FB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166420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 32명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55848" y="1207008"/>
            <a:ext cx="1719072" cy="347472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4728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중  26명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138928" y="1207008"/>
            <a:ext cx="1719072" cy="34747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23036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 6명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922008" y="1207008"/>
            <a:ext cx="1719072" cy="347472"/>
          </a:xfrm>
          <a:prstGeom prst="rect">
            <a:avLst/>
          </a:prstGeom>
          <a:solidFill>
            <a:srgbClr val="F1EFE8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7013448" y="1207008"/>
            <a:ext cx="1554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5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 1명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572768" y="1645920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682496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737360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 ▾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017520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072384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352544" y="1737360"/>
            <a:ext cx="1261872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4407408" y="1737360"/>
            <a:ext cx="11704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임박(30일) ▾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516368" y="1737360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046720" y="1737360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조회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572768" y="2103120"/>
            <a:ext cx="740664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1609344" y="2121408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645920" y="2121408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340864" y="2121408"/>
            <a:ext cx="658368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2377440" y="2121408"/>
            <a:ext cx="6217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962656" y="2121408"/>
            <a:ext cx="1728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999232" y="2121408"/>
            <a:ext cx="1691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46542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46908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5202936" y="2121408"/>
            <a:ext cx="5394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239512" y="2121408"/>
            <a:ext cx="502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5705856" y="2121408"/>
            <a:ext cx="72237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742432" y="2121408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투입일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391656" y="2121408"/>
            <a:ext cx="8138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428232" y="2121408"/>
            <a:ext cx="777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철수 예정일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68896" y="2121408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7205472" y="212140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1572768" y="241401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1645920" y="241401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377440" y="241401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2999232" y="241401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4690872" y="241401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50" dirty="0"/>
          </a:p>
        </p:txBody>
      </p:sp>
      <p:sp>
        <p:nvSpPr>
          <p:cNvPr id="67" name="Text 65"/>
          <p:cNvSpPr/>
          <p:nvPr/>
        </p:nvSpPr>
        <p:spPr>
          <a:xfrm>
            <a:off x="5239512" y="241401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5742432" y="241401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25.03.01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428232" y="241401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26.09.30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7205472" y="249631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1645920" y="276148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2377440" y="2761488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2999232" y="2761488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4690872" y="276148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6" name="Text 74"/>
          <p:cNvSpPr/>
          <p:nvPr/>
        </p:nvSpPr>
        <p:spPr>
          <a:xfrm>
            <a:off x="5239512" y="276148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5742432" y="276148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8" name="Text 76"/>
          <p:cNvSpPr/>
          <p:nvPr/>
        </p:nvSpPr>
        <p:spPr>
          <a:xfrm>
            <a:off x="6428232" y="2761488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7205472" y="284378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1572768" y="3108960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1645920" y="310896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2377440" y="3108960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84" name="Text 82"/>
          <p:cNvSpPr/>
          <p:nvPr/>
        </p:nvSpPr>
        <p:spPr>
          <a:xfrm>
            <a:off x="2999232" y="3108960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4690872" y="310896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5239512" y="31089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5742432" y="310896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24.12.01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428232" y="3108960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26.03.31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7205472" y="319125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91" name="Text 89"/>
          <p:cNvSpPr/>
          <p:nvPr/>
        </p:nvSpPr>
        <p:spPr>
          <a:xfrm>
            <a:off x="1645920" y="345643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2377440" y="3456432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2999232" y="3456432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94" name="Text 92"/>
          <p:cNvSpPr/>
          <p:nvPr/>
        </p:nvSpPr>
        <p:spPr>
          <a:xfrm>
            <a:off x="4690872" y="345643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5239512" y="345643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42432" y="345643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25.08.01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428232" y="3456432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26.06.15</a:t>
            </a:r>
            <a:endParaRPr lang="en-US" sz="850" dirty="0"/>
          </a:p>
        </p:txBody>
      </p:sp>
      <p:sp>
        <p:nvSpPr>
          <p:cNvPr id="98" name="Shape 96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7205472" y="353872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1572768" y="3803904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1645920" y="380390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2377440" y="3803904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2999232" y="3803904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4690872" y="380390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5239512" y="380390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5742432" y="380390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25.06.01</a:t>
            </a:r>
            <a:endParaRPr lang="en-US" sz="850" dirty="0"/>
          </a:p>
        </p:txBody>
      </p:sp>
      <p:sp>
        <p:nvSpPr>
          <p:cNvPr id="107" name="Text 105"/>
          <p:cNvSpPr/>
          <p:nvPr/>
        </p:nvSpPr>
        <p:spPr>
          <a:xfrm>
            <a:off x="6428232" y="3803904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26.06.28</a:t>
            </a:r>
            <a:endParaRPr lang="en-US" sz="850" dirty="0"/>
          </a:p>
        </p:txBody>
      </p:sp>
      <p:sp>
        <p:nvSpPr>
          <p:cNvPr id="108" name="Shape 106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p/>
        </p:txBody>
      </p:sp>
      <p:sp>
        <p:nvSpPr>
          <p:cNvPr id="109" name="Text 107"/>
          <p:cNvSpPr/>
          <p:nvPr/>
        </p:nvSpPr>
        <p:spPr>
          <a:xfrm>
            <a:off x="7205472" y="38862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임박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45920" y="415137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2377440" y="4151376"/>
            <a:ext cx="6217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2999232" y="4151376"/>
            <a:ext cx="1691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4690872" y="415137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5239512" y="41513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115" name="Text 113"/>
          <p:cNvSpPr/>
          <p:nvPr/>
        </p:nvSpPr>
        <p:spPr>
          <a:xfrm>
            <a:off x="5742432" y="41513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24.01.01</a:t>
            </a:r>
            <a:endParaRPr lang="en-US" sz="850" dirty="0"/>
          </a:p>
        </p:txBody>
      </p:sp>
      <p:sp>
        <p:nvSpPr>
          <p:cNvPr id="116" name="Text 114"/>
          <p:cNvSpPr/>
          <p:nvPr/>
        </p:nvSpPr>
        <p:spPr>
          <a:xfrm>
            <a:off x="6428232" y="4151376"/>
            <a:ext cx="777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25.12.31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7205472" y="4233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목록 (투입 프로젝트 컬럼 추가)  ·  /employees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8266176" y="877824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직원 등록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572768" y="1207008"/>
            <a:ext cx="7406640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82496" y="1316736"/>
            <a:ext cx="182880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737360" y="1316736"/>
            <a:ext cx="17373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 검색...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639312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3694176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 ▾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54880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809744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 ▾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870448" y="1316736"/>
            <a:ext cx="1060704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5925312" y="1316736"/>
            <a:ext cx="969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투입상태 ▾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572768" y="1719072"/>
            <a:ext cx="740664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1627632" y="1737360"/>
            <a:ext cx="76809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64208" y="1737360"/>
            <a:ext cx="731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35915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39572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95351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99008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직급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502152" y="1737360"/>
            <a:ext cx="20482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538728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투입 프로젝트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513832" y="1737360"/>
            <a:ext cx="58521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550408" y="173736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062472" y="1737360"/>
            <a:ext cx="63093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099048" y="1737360"/>
            <a:ext cx="594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재직상태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656832" y="1737360"/>
            <a:ext cx="676656" cy="25603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6693408" y="1737360"/>
            <a:ext cx="640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액션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1572768" y="2029968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1664208" y="202996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2395728" y="202996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99008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과장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3538728" y="202996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5550408" y="202996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6099048" y="211226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729984" y="211226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1664208" y="2377440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2395728" y="2377440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99008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대리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3538728" y="2377440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550408" y="2377440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099048" y="245973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6729984" y="2459736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1572768" y="2724912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1664208" y="2724912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2395728" y="2724912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299008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3538728" y="2724912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5550408" y="2724912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6099048" y="28072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6729984" y="2807208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1664208" y="3072384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2395728" y="3072384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299008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차장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3538728" y="3072384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 코어뱅킹</a:t>
            </a:r>
            <a:endParaRPr lang="en-US" sz="850" dirty="0"/>
          </a:p>
        </p:txBody>
      </p:sp>
      <p:sp>
        <p:nvSpPr>
          <p:cNvPr id="83" name="Text 81"/>
          <p:cNvSpPr/>
          <p:nvPr/>
        </p:nvSpPr>
        <p:spPr>
          <a:xfrm>
            <a:off x="5550408" y="3072384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85" name="Text 83"/>
          <p:cNvSpPr/>
          <p:nvPr/>
        </p:nvSpPr>
        <p:spPr>
          <a:xfrm>
            <a:off x="6099048" y="31546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6729984" y="3154680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1572768" y="3419856"/>
            <a:ext cx="740664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664208" y="3419856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2395728" y="3419856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50" dirty="0"/>
          </a:p>
        </p:txBody>
      </p:sp>
      <p:sp>
        <p:nvSpPr>
          <p:cNvPr id="91" name="Text 89"/>
          <p:cNvSpPr/>
          <p:nvPr/>
        </p:nvSpPr>
        <p:spPr>
          <a:xfrm>
            <a:off x="299008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</a:t>
            </a:r>
            <a:endParaRPr lang="en-US" sz="850" dirty="0"/>
          </a:p>
        </p:txBody>
      </p:sp>
      <p:sp>
        <p:nvSpPr>
          <p:cNvPr id="92" name="Text 90"/>
          <p:cNvSpPr/>
          <p:nvPr/>
        </p:nvSpPr>
        <p:spPr>
          <a:xfrm>
            <a:off x="3538728" y="3419856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B공공기관 ERP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5550408" y="3419856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94" name="Shape 92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6099048" y="350215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6729984" y="3502152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1664208" y="3767328"/>
            <a:ext cx="731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99" name="Text 97"/>
          <p:cNvSpPr/>
          <p:nvPr/>
        </p:nvSpPr>
        <p:spPr>
          <a:xfrm>
            <a:off x="2395728" y="3767328"/>
            <a:ext cx="594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영업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299008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부장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3538728" y="3767328"/>
            <a:ext cx="20116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 (미투입)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5550408" y="3767328"/>
            <a:ext cx="548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6099048" y="38496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휴직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6729984" y="3849624"/>
            <a:ext cx="2560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 상세 (투입 이력 탭 추가)  ·  /employees/:id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0" y="1563624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0" y="1563624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직원 목록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572768" y="10607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직원 상세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863840" y="106070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수정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449056" y="1060704"/>
            <a:ext cx="53035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삭제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572768" y="1426464"/>
            <a:ext cx="233172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2286000" y="1591056"/>
            <a:ext cx="914400" cy="91440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286000" y="1591056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4ED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1664208" y="2596896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김민준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1664208" y="2852928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 · 과장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459736" y="30906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재직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682496" y="3364992"/>
            <a:ext cx="210312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682496" y="3456432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이메일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2350008" y="3456432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kim.mj@...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682496" y="3749040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연락처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350008" y="3749040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010-1234-5678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1682496" y="404164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입사일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2350008" y="4041648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2021.03.15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682496" y="4334256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현투입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350008" y="4334256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4626864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350008" y="4626864"/>
            <a:ext cx="1463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041648" y="1426464"/>
            <a:ext cx="4983480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4041648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기본정보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5285232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 이력 ★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85232" y="1700784"/>
            <a:ext cx="1243584" cy="2743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6528816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7772400" y="1426464"/>
            <a:ext cx="124358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계약정보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151376" y="1810512"/>
            <a:ext cx="47548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투입 이력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0" y="2066544"/>
            <a:ext cx="14081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4151376" y="2066544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5486400" y="2066544"/>
            <a:ext cx="85953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522976" y="2066544"/>
            <a:ext cx="8229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고객사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3093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63459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6812280" y="2066544"/>
            <a:ext cx="1298448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848856" y="2066544"/>
            <a:ext cx="12618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8074152" y="2066544"/>
            <a:ext cx="4937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8110728" y="2066544"/>
            <a:ext cx="457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8531352" y="2066544"/>
            <a:ext cx="51206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8567928" y="2066544"/>
            <a:ext cx="47548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041648" y="2322576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4151376" y="2322576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522976" y="2322576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3459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6848856" y="2322576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75" name="Text 73"/>
          <p:cNvSpPr/>
          <p:nvPr/>
        </p:nvSpPr>
        <p:spPr>
          <a:xfrm>
            <a:off x="8110728" y="2322576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8567928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4151376" y="2670048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5522976" y="2670048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63459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6848856" y="2670048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24.01~24.12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8110728" y="2670048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567928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4041648" y="3017520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151376" y="301752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5522976" y="3017520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</a:t>
            </a:r>
            <a:endParaRPr lang="en-US" sz="800" dirty="0"/>
          </a:p>
        </p:txBody>
      </p:sp>
      <p:sp>
        <p:nvSpPr>
          <p:cNvPr id="88" name="Text 86"/>
          <p:cNvSpPr/>
          <p:nvPr/>
        </p:nvSpPr>
        <p:spPr>
          <a:xfrm>
            <a:off x="63459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89" name="Text 87"/>
          <p:cNvSpPr/>
          <p:nvPr/>
        </p:nvSpPr>
        <p:spPr>
          <a:xfrm>
            <a:off x="6848856" y="3017520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23.03~23.12</a:t>
            </a:r>
            <a:endParaRPr lang="en-US" sz="800" dirty="0"/>
          </a:p>
        </p:txBody>
      </p:sp>
      <p:sp>
        <p:nvSpPr>
          <p:cNvPr id="90" name="Text 88"/>
          <p:cNvSpPr/>
          <p:nvPr/>
        </p:nvSpPr>
        <p:spPr>
          <a:xfrm>
            <a:off x="8110728" y="3017520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8567928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93" name="Text 91"/>
          <p:cNvSpPr/>
          <p:nvPr/>
        </p:nvSpPr>
        <p:spPr>
          <a:xfrm>
            <a:off x="4151376" y="3364992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물류</a:t>
            </a:r>
            <a:endParaRPr lang="en-US" sz="800" dirty="0"/>
          </a:p>
        </p:txBody>
      </p:sp>
      <p:sp>
        <p:nvSpPr>
          <p:cNvPr id="94" name="Text 92"/>
          <p:cNvSpPr/>
          <p:nvPr/>
        </p:nvSpPr>
        <p:spPr>
          <a:xfrm>
            <a:off x="5522976" y="3364992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</a:t>
            </a:r>
            <a:endParaRPr lang="en-US" sz="800" dirty="0"/>
          </a:p>
        </p:txBody>
      </p:sp>
      <p:sp>
        <p:nvSpPr>
          <p:cNvPr id="95" name="Text 93"/>
          <p:cNvSpPr/>
          <p:nvPr/>
        </p:nvSpPr>
        <p:spPr>
          <a:xfrm>
            <a:off x="63459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96" name="Text 94"/>
          <p:cNvSpPr/>
          <p:nvPr/>
        </p:nvSpPr>
        <p:spPr>
          <a:xfrm>
            <a:off x="6848856" y="3364992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22.01~22.12</a:t>
            </a:r>
            <a:endParaRPr lang="en-US" sz="800" dirty="0"/>
          </a:p>
        </p:txBody>
      </p:sp>
      <p:sp>
        <p:nvSpPr>
          <p:cNvPr id="97" name="Text 95"/>
          <p:cNvSpPr/>
          <p:nvPr/>
        </p:nvSpPr>
        <p:spPr>
          <a:xfrm>
            <a:off x="8110728" y="3364992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8567928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4041648" y="3712464"/>
            <a:ext cx="4983480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4151376" y="3712464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CRM</a:t>
            </a:r>
            <a:endParaRPr lang="en-US" sz="800" dirty="0"/>
          </a:p>
        </p:txBody>
      </p:sp>
      <p:sp>
        <p:nvSpPr>
          <p:cNvPr id="102" name="Text 100"/>
          <p:cNvSpPr/>
          <p:nvPr/>
        </p:nvSpPr>
        <p:spPr>
          <a:xfrm>
            <a:off x="5522976" y="3712464"/>
            <a:ext cx="822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</a:t>
            </a:r>
            <a:endParaRPr lang="en-US" sz="800" dirty="0"/>
          </a:p>
        </p:txBody>
      </p:sp>
      <p:sp>
        <p:nvSpPr>
          <p:cNvPr id="103" name="Text 101"/>
          <p:cNvSpPr/>
          <p:nvPr/>
        </p:nvSpPr>
        <p:spPr>
          <a:xfrm>
            <a:off x="63459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6848856" y="3712464"/>
            <a:ext cx="12618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21.03~22.12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8110728" y="3712464"/>
            <a:ext cx="457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6" name="Shape 104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07" name="Text 105"/>
          <p:cNvSpPr/>
          <p:nvPr/>
        </p:nvSpPr>
        <p:spPr>
          <a:xfrm>
            <a:off x="8567928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월별 근무 보고 (간소화)  ·  /attendance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월별 근무 보고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572768" y="113385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5월 기준  ·  제출 마감: 5월 31일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572768" y="1389888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1682496" y="149961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 내 근무 보고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682496" y="1691640"/>
            <a:ext cx="15544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근무일수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1682496" y="1847088"/>
            <a:ext cx="1554480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737360" y="1847088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383280" y="1691640"/>
            <a:ext cx="162763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초과근무(시간)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383280" y="1847088"/>
            <a:ext cx="1627632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3438144" y="1847088"/>
            <a:ext cx="1536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682496" y="2267712"/>
            <a:ext cx="329184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682496" y="2432304"/>
            <a:ext cx="3346704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755648" y="2432304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현장 특이사항 입력...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4133088" y="2944368"/>
            <a:ext cx="9692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제출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1572768" y="3310128"/>
            <a:ext cx="35661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82496" y="341985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최근 보고 이력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682496" y="3694176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651760" y="369417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22일  초과 4시간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4517136" y="374904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682496" y="4023360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3월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51760" y="402336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21일  초과 0시간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517136" y="4078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682496" y="4352544"/>
            <a:ext cx="914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2월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51760" y="435254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 20일  초과 12시간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517136" y="440740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5276088" y="1389888"/>
            <a:ext cx="3630168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5385816" y="149961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팀 보고 현황  (Manager 뷰)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276088" y="1773936"/>
            <a:ext cx="3630168" cy="256032"/>
          </a:xfrm>
          <a:prstGeom prst="rect">
            <a:avLst/>
          </a:prstGeom>
          <a:solidFill>
            <a:srgbClr val="FEF3C7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385816" y="17739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미제출: 2명 (박지훈, 홍길동)  —  알림 발송 가능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5349240" y="2066544"/>
            <a:ext cx="72237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7" name="Text 55"/>
          <p:cNvSpPr/>
          <p:nvPr/>
        </p:nvSpPr>
        <p:spPr>
          <a:xfrm>
            <a:off x="5385816" y="2066544"/>
            <a:ext cx="685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603504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607161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근무일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37960" y="2066544"/>
            <a:ext cx="53949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6574536" y="2066544"/>
            <a:ext cx="502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초과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7040880" y="2066544"/>
            <a:ext cx="694944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7077456" y="206654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제출상태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7699248" y="2066544"/>
            <a:ext cx="676656" cy="21945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7735824" y="2066544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작업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5276088" y="2322576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385816" y="232257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07161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574536" y="232257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7077456" y="24048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7735824" y="2322576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5385816" y="2670048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607161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75" name="Text 73"/>
          <p:cNvSpPr/>
          <p:nvPr/>
        </p:nvSpPr>
        <p:spPr>
          <a:xfrm>
            <a:off x="6574536" y="2670048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/>
          <p:nvPr/>
        </p:nvSpPr>
        <p:spPr>
          <a:xfrm>
            <a:off x="7077456" y="275234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7735824" y="2670048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276088" y="3017520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5385816" y="3017520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07161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6574536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7077456" y="309981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7735824" y="30998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5385816" y="3364992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최유나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607161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574536" y="3364992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0h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7077456" y="3447288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제출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735824" y="3364992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5276088" y="3712464"/>
            <a:ext cx="3630168" cy="347472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5385816" y="3712464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정다은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607161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6574536" y="3712464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4h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7077456" y="379476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735824" y="3712464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0" name="Text 98"/>
          <p:cNvSpPr/>
          <p:nvPr/>
        </p:nvSpPr>
        <p:spPr>
          <a:xfrm>
            <a:off x="5385816" y="4059936"/>
            <a:ext cx="685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홍길동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7161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2" name="Text 100"/>
          <p:cNvSpPr/>
          <p:nvPr/>
        </p:nvSpPr>
        <p:spPr>
          <a:xfrm>
            <a:off x="6574536" y="4059936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7077456" y="414223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미제출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solidFill>
            <a:srgbClr val="FEE2E2"/>
          </a:solidFill>
          <a:ln w="12700">
            <a:solidFill>
              <a:srgbClr val="B91C1C">
                <a:alpha val="5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7735824" y="414223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관리  ·  /attendance/leave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0" y="277063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0" y="2770632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휴가 관리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572768" y="1207008"/>
            <a:ext cx="7406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00784" y="1316736"/>
            <a:ext cx="1371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 현황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2186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부여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186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5902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5902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9618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잔여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9618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9일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33488" y="129844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신청중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7333488" y="1481328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1572768" y="1956816"/>
            <a:ext cx="3566160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1700784" y="206654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신청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664208" y="2322576"/>
            <a:ext cx="338328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1700784" y="2395728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휴가 종류 *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700784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377440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반차(오전)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054096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반차(오후)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3730752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4407408" y="2578608"/>
            <a:ext cx="6217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경조사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1700784" y="2825496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시작일 *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1700784" y="2980944"/>
            <a:ext cx="1664208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1755648" y="2980944"/>
            <a:ext cx="15727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3493008" y="2825496"/>
            <a:ext cx="160934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종료일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3493008" y="2980944"/>
            <a:ext cx="1609344" cy="256032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547872" y="2980944"/>
            <a:ext cx="151790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2026.05.28 📅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1700784" y="3383280"/>
            <a:ext cx="3200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*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1700784" y="3566160"/>
            <a:ext cx="3310128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1773936" y="3566160"/>
            <a:ext cx="3163824" cy="4206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사유 입력...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700784" y="4114800"/>
            <a:ext cx="3310128" cy="274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1773936" y="411480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현장 투입 중 휴가 시 프로젝트 PM에게도 알림 자동 발송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2245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신청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3310128" y="4480560"/>
            <a:ext cx="804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초기화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5276088" y="1956816"/>
            <a:ext cx="3630168" cy="2999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5385816" y="2066544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신청 내역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5303520" y="2322576"/>
            <a:ext cx="3566160" cy="0"/>
          </a:xfrm>
          <a:prstGeom prst="line">
            <a:avLst/>
          </a:prstGeom>
          <a:noFill/>
          <a:ln w="635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5276088" y="2450592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5385816" y="2450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5925312" y="245059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05.28 ~ 05.28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7333488" y="2450592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1일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7808976" y="2551176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승인대기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5385816" y="283464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반차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5925312" y="283464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05.15 ~ 05.15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333488" y="283464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0.5일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7808976" y="2935224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5276088" y="3218688"/>
            <a:ext cx="3630168" cy="38404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385816" y="32186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연차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5925312" y="3218688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05.01 ~ 05.02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7333488" y="3218688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7808976" y="3319272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5385816" y="360273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병가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5925312" y="360273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04.20 ~ 04.21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7333488" y="3602736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2일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7808976" y="37033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47472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B9C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도메인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8778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통계/리포트 (투입 분석 중심)  ·  /reports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887968" y="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6A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13/13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0" y="347472"/>
            <a:ext cx="1417320" cy="479602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0" y="347472"/>
            <a:ext cx="1417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Peoplify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" y="1005840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대시보드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" y="1609344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직원관리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" y="2212848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" y="2816352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근태관리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0" y="3374136"/>
            <a:ext cx="1417320" cy="512064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0" y="3374136"/>
            <a:ext cx="36576" cy="512064"/>
          </a:xfrm>
          <a:prstGeom prst="rect">
            <a:avLst/>
          </a:prstGeom>
          <a:solidFill>
            <a:srgbClr val="3B9EE8"/>
          </a:solidFill>
          <a:ln w="12700">
            <a:solidFill>
              <a:srgbClr val="3B9EE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4864" y="3419856"/>
            <a:ext cx="13167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리포트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417320" y="347472"/>
            <a:ext cx="772668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572768" y="448056"/>
            <a:ext cx="2926080" cy="237744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609344" y="448056"/>
            <a:ext cx="28529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검색...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046720" y="43891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 관리자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833104" y="448056"/>
            <a:ext cx="237744" cy="237744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833104" y="448056"/>
            <a:ext cx="23774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1417320" y="786384"/>
            <a:ext cx="7726680" cy="4357116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1572768" y="87782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통계 / 리포트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90688" y="877824"/>
            <a:ext cx="6583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저장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8485632" y="877824"/>
            <a:ext cx="4937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엑셀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572768" y="1207008"/>
            <a:ext cx="7406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1664208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이번달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2468880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지난달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3273552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4078224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연도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solidFill>
            <a:srgbClr val="F8FAFC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882896" y="1298448"/>
            <a:ext cx="7498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직접입력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572768" y="1664208"/>
            <a:ext cx="35661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82496" y="1773936"/>
            <a:ext cx="3291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프로젝트별 투입 인원 (5월)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682496" y="206654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743200" y="212140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2743200" y="2121408"/>
            <a:ext cx="1420978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846320" y="206654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682496" y="238658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B공공 ERP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2743200" y="244144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2743200" y="2441448"/>
            <a:ext cx="101498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4846320" y="238658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5명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682496" y="270662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743200" y="276148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2743200" y="2761488"/>
            <a:ext cx="1623974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4846320" y="270662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8명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1682496" y="302666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D유통 (예정)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743200" y="308152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2743200" y="3081528"/>
            <a:ext cx="0" cy="14630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4846320" y="302666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0명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1682496" y="3346704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E통신 (완료)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2743200" y="3401568"/>
            <a:ext cx="2029968" cy="146304"/>
          </a:xfrm>
          <a:prstGeom prst="rect">
            <a:avLst/>
          </a:prstGeom>
          <a:solidFill>
            <a:srgbClr val="F4F6F9"/>
          </a:solidFill>
          <a:ln w="12700">
            <a:solidFill>
              <a:srgbClr val="DEE2E8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2743200" y="3401568"/>
            <a:ext cx="1217981" cy="146304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4846320" y="3346704"/>
            <a:ext cx="292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6명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5276088" y="1664208"/>
            <a:ext cx="3630168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5385816" y="1773936"/>
            <a:ext cx="3383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 추이 (월별)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376672" y="2679192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5175504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1월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248656" y="2551176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5431536" y="2734056"/>
            <a:ext cx="662026" cy="-8046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6038698" y="2598725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5837530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2월</a:t>
            </a:r>
            <a:endParaRPr lang="en-US" sz="700" dirty="0"/>
          </a:p>
        </p:txBody>
      </p:sp>
      <p:sp>
        <p:nvSpPr>
          <p:cNvPr id="69" name="Text 67"/>
          <p:cNvSpPr/>
          <p:nvPr/>
        </p:nvSpPr>
        <p:spPr>
          <a:xfrm>
            <a:off x="5910682" y="2470709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6093562" y="2653589"/>
            <a:ext cx="662026" cy="-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700723" y="2558491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499555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72707" y="2430475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82%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6755587" y="2613355"/>
            <a:ext cx="662026" cy="20117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5" name="Shape 73"/>
          <p:cNvSpPr/>
          <p:nvPr/>
        </p:nvSpPr>
        <p:spPr>
          <a:xfrm>
            <a:off x="7362749" y="2578608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7161581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7234733" y="2450592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700" dirty="0"/>
          </a:p>
        </p:txBody>
      </p:sp>
      <p:sp>
        <p:nvSpPr>
          <p:cNvPr id="78" name="Shape 76"/>
          <p:cNvSpPr/>
          <p:nvPr/>
        </p:nvSpPr>
        <p:spPr>
          <a:xfrm>
            <a:off x="7417613" y="2633472"/>
            <a:ext cx="662026" cy="-50292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8024774" y="2528316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7823606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5월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896758" y="2400300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8079638" y="2583180"/>
            <a:ext cx="662026" cy="40234"/>
          </a:xfrm>
          <a:prstGeom prst="line">
            <a:avLst/>
          </a:prstGeom>
          <a:noFill/>
          <a:ln w="1905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3" name="Shape 81"/>
          <p:cNvSpPr/>
          <p:nvPr/>
        </p:nvSpPr>
        <p:spPr>
          <a:xfrm>
            <a:off x="8686800" y="2568550"/>
            <a:ext cx="109728" cy="109728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8485632" y="3474720"/>
            <a:ext cx="51206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8558784" y="2440534"/>
            <a:ext cx="36576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1572768" y="3858768"/>
            <a:ext cx="74066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E2E8"/>
            </a:solidFill>
            <a:prstDash val="solid"/>
          </a:ln>
          <a:effectLst>
            <a:outerShdw sx="100000" sy="100000" kx="0" ky="0" algn="bl" rotWithShape="0" blurRad="50800" dist="12700" dir="8100000">
              <a:srgbClr val="000000">
                <a:alpha val="6000"/>
              </a:srgbClr>
            </a:outerShdw>
          </a:effectLst>
        </p:spPr>
        <p:txBody>
          <a:bodyPr/>
          <a:p/>
        </p:txBody>
      </p:sp>
      <p:sp>
        <p:nvSpPr>
          <p:cNvPr id="87" name="Text 85"/>
          <p:cNvSpPr/>
          <p:nvPr/>
        </p:nvSpPr>
        <p:spPr>
          <a:xfrm>
            <a:off x="1682496" y="3968496"/>
            <a:ext cx="3657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개인별 투입 요약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1627632" y="4169664"/>
            <a:ext cx="7680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89" name="Text 87"/>
          <p:cNvSpPr/>
          <p:nvPr/>
        </p:nvSpPr>
        <p:spPr>
          <a:xfrm>
            <a:off x="1664208" y="4169664"/>
            <a:ext cx="731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이름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2359152" y="4169664"/>
            <a:ext cx="630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1" name="Text 89"/>
          <p:cNvSpPr/>
          <p:nvPr/>
        </p:nvSpPr>
        <p:spPr>
          <a:xfrm>
            <a:off x="2395728" y="4169664"/>
            <a:ext cx="594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부서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2953512" y="4169664"/>
            <a:ext cx="177393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3" name="Text 91"/>
          <p:cNvSpPr/>
          <p:nvPr/>
        </p:nvSpPr>
        <p:spPr>
          <a:xfrm>
            <a:off x="2990088" y="4169664"/>
            <a:ext cx="17373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프로젝트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4690872" y="4169664"/>
            <a:ext cx="53949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5" name="Text 93"/>
          <p:cNvSpPr/>
          <p:nvPr/>
        </p:nvSpPr>
        <p:spPr>
          <a:xfrm>
            <a:off x="4727448" y="4169664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역할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5193792" y="4169664"/>
            <a:ext cx="49377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7" name="Text 95"/>
          <p:cNvSpPr/>
          <p:nvPr/>
        </p:nvSpPr>
        <p:spPr>
          <a:xfrm>
            <a:off x="5230368" y="4169664"/>
            <a:ext cx="457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투입률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5650992" y="4169664"/>
            <a:ext cx="1042416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99" name="Text 97"/>
          <p:cNvSpPr/>
          <p:nvPr/>
        </p:nvSpPr>
        <p:spPr>
          <a:xfrm>
            <a:off x="5687568" y="4169664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투입기간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6656832" y="4169664"/>
            <a:ext cx="603504" cy="201168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101" name="Text 99"/>
          <p:cNvSpPr/>
          <p:nvPr/>
        </p:nvSpPr>
        <p:spPr>
          <a:xfrm>
            <a:off x="6693408" y="4169664"/>
            <a:ext cx="56692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572768" y="437083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103" name="Text 101"/>
          <p:cNvSpPr/>
          <p:nvPr/>
        </p:nvSpPr>
        <p:spPr>
          <a:xfrm>
            <a:off x="1664208" y="438912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김민준</a:t>
            </a:r>
            <a:endParaRPr lang="en-US" sz="800" dirty="0"/>
          </a:p>
        </p:txBody>
      </p:sp>
      <p:sp>
        <p:nvSpPr>
          <p:cNvPr id="104" name="Text 102"/>
          <p:cNvSpPr/>
          <p:nvPr/>
        </p:nvSpPr>
        <p:spPr>
          <a:xfrm>
            <a:off x="2395728" y="438912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개발팀</a:t>
            </a:r>
            <a:endParaRPr lang="en-US" sz="800" dirty="0"/>
          </a:p>
        </p:txBody>
      </p:sp>
      <p:sp>
        <p:nvSpPr>
          <p:cNvPr id="105" name="Text 103"/>
          <p:cNvSpPr/>
          <p:nvPr/>
        </p:nvSpPr>
        <p:spPr>
          <a:xfrm>
            <a:off x="2990088" y="438912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A금융 차세대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4727448" y="43891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</a:t>
            </a:r>
            <a:endParaRPr lang="en-US" sz="800" dirty="0"/>
          </a:p>
        </p:txBody>
      </p:sp>
      <p:sp>
        <p:nvSpPr>
          <p:cNvPr id="107" name="Text 105"/>
          <p:cNvSpPr/>
          <p:nvPr/>
        </p:nvSpPr>
        <p:spPr>
          <a:xfrm>
            <a:off x="5230368" y="438912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08" name="Text 106"/>
          <p:cNvSpPr/>
          <p:nvPr/>
        </p:nvSpPr>
        <p:spPr>
          <a:xfrm>
            <a:off x="5687568" y="438912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25.03~26.09</a:t>
            </a:r>
            <a:endParaRPr lang="en-US" sz="800" dirty="0"/>
          </a:p>
        </p:txBody>
      </p:sp>
      <p:sp>
        <p:nvSpPr>
          <p:cNvPr id="109" name="Text 107"/>
          <p:cNvSpPr/>
          <p:nvPr/>
        </p:nvSpPr>
        <p:spPr>
          <a:xfrm>
            <a:off x="6693408" y="438912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664208" y="457200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이서연</a:t>
            </a:r>
            <a:endParaRPr lang="en-US" sz="800" dirty="0"/>
          </a:p>
        </p:txBody>
      </p:sp>
      <p:sp>
        <p:nvSpPr>
          <p:cNvPr id="111" name="Text 109"/>
          <p:cNvSpPr/>
          <p:nvPr/>
        </p:nvSpPr>
        <p:spPr>
          <a:xfrm>
            <a:off x="2395728" y="457200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디자인</a:t>
            </a:r>
            <a:endParaRPr lang="en-US" sz="800" dirty="0"/>
          </a:p>
        </p:txBody>
      </p:sp>
      <p:sp>
        <p:nvSpPr>
          <p:cNvPr id="112" name="Text 110"/>
          <p:cNvSpPr/>
          <p:nvPr/>
        </p:nvSpPr>
        <p:spPr>
          <a:xfrm>
            <a:off x="2990088" y="457200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4727448" y="45720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4" name="Text 112"/>
          <p:cNvSpPr/>
          <p:nvPr/>
        </p:nvSpPr>
        <p:spPr>
          <a:xfrm>
            <a:off x="5230368" y="45720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800" dirty="0"/>
          </a:p>
        </p:txBody>
      </p:sp>
      <p:sp>
        <p:nvSpPr>
          <p:cNvPr id="115" name="Text 113"/>
          <p:cNvSpPr/>
          <p:nvPr/>
        </p:nvSpPr>
        <p:spPr>
          <a:xfrm>
            <a:off x="5687568" y="457200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6693408" y="457200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</a:t>
            </a:r>
            <a:endParaRPr lang="en-US" sz="800" dirty="0"/>
          </a:p>
        </p:txBody>
      </p:sp>
      <p:sp>
        <p:nvSpPr>
          <p:cNvPr id="117" name="Shape 115"/>
          <p:cNvSpPr/>
          <p:nvPr/>
        </p:nvSpPr>
        <p:spPr>
          <a:xfrm>
            <a:off x="1572768" y="4736592"/>
            <a:ext cx="7406640" cy="18288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1664208" y="4754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박지훈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2395728" y="4754880"/>
            <a:ext cx="594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마케팅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2990088" y="4754880"/>
            <a:ext cx="17373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C제조 MES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727448" y="475488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5230368" y="475488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5687568" y="4754880"/>
            <a:ext cx="1005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24.12~26.03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6693408" y="4754880"/>
            <a:ext cx="56692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투입중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682496" y="4965192"/>
            <a:ext cx="45720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행 클릭 시 해당 직원 투입 이력 상세 팝업 표시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react-app-peoplify SI UI 화면 기획서 v2</dc:title>
  <dc:subject>PptxGenJS Presentation</dc:subject>
  <dc:creator>PptxGenJS</dc:creator>
  <cp:lastModifiedBy>PptxGenJS</cp:lastModifiedBy>
  <cp:revision>1</cp:revision>
  <dcterms:created xsi:type="dcterms:W3CDTF">2026-05-26T04:49:45Z</dcterms:created>
  <dcterms:modified xsi:type="dcterms:W3CDTF">2026-05-26T04:49:45Z</dcterms:modified>
</cp:coreProperties>
</file>