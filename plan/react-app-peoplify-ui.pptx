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69" r:id="rId3"/>
    <p:sldId id="272" r:id="rId4"/>
    <p:sldId id="270" r:id="rId5"/>
    <p:sldId id="276" r:id="rId6"/>
    <p:sldId id="274" r:id="rId7"/>
    <p:sldId id="271" r:id="rId8"/>
    <p:sldId id="257" r:id="rId9"/>
    <p:sldId id="259" r:id="rId10"/>
    <p:sldId id="268" r:id="rId11"/>
    <p:sldId id="260" r:id="rId12"/>
    <p:sldId id="261" r:id="rId13"/>
    <p:sldId id="262" r:id="rId14"/>
    <p:sldId id="265" r:id="rId15"/>
    <p:sldId id="266" r:id="rId16"/>
    <p:sldId id="267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9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1230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198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035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3536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671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9507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8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5143500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37744" y="3017520"/>
            <a:ext cx="8906256" cy="21259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react-app-peoplify  v2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042416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UI 화면 기획서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02920" y="202996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회사 맞춤형 · 프로젝트 투입 관리 중심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32004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13개 화면  ·  5개 도메인  ·  project 도메인 신규  ·  attendance 간소화</a:t>
            </a:r>
            <a:endParaRPr lang="en-US" sz="1100" dirty="0"/>
          </a:p>
        </p:txBody>
      </p:sp>
      <p:sp>
        <p:nvSpPr>
          <p:cNvPr id="8" name="Rounded Rectangle 7"/>
          <p:cNvSpPr/>
          <p:nvPr/>
        </p:nvSpPr>
        <p:spPr>
          <a:xfrm>
            <a:off x="502920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3584448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Login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00046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200046" y="3584448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Dashboard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97172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97172" y="3584448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직원 목록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94299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94299" y="3584448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직원 상세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91425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91425" y="3584448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직원 등록/수정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A7A"/>
          </a:solidFill>
          <a:ln w="9525">
            <a:solidFill>
              <a:srgbClr val="2D4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3986784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3C5FD"/>
                </a:solidFill>
                <a:latin typeface="Calibri"/>
              </a:rPr>
              <a:t>프로젝트 목록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00046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C4A7A"/>
          </a:solidFill>
          <a:ln w="15875">
            <a:solidFill>
              <a:srgbClr val="3B9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200046" y="3986784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프로젝트 등록/수정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97172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A7A"/>
          </a:solidFill>
          <a:ln w="9525">
            <a:solidFill>
              <a:srgbClr val="2D4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97172" y="3986784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3C5FD"/>
                </a:solidFill>
                <a:latin typeface="Calibri"/>
              </a:rPr>
              <a:t>프로젝트 상세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94299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A7A"/>
          </a:solidFill>
          <a:ln w="9525">
            <a:solidFill>
              <a:srgbClr val="2D4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594299" y="3986784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3C5FD"/>
                </a:solidFill>
                <a:latin typeface="Calibri"/>
              </a:rPr>
              <a:t>인력 배정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91425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A7A"/>
          </a:solidFill>
          <a:ln w="9525">
            <a:solidFill>
              <a:srgbClr val="2D4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291425" y="3986784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3C5FD"/>
                </a:solidFill>
                <a:latin typeface="Calibri"/>
              </a:rPr>
              <a:t>투입 현황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89120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4389120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월별 근무 보고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00046" y="4389120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00046" y="4389120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휴가 관리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97172" y="4389120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97172" y="4389120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통계/리포트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9143771" cy="356616"/>
          </a:xfrm>
          <a:prstGeom prst="rect">
            <a:avLst/>
          </a:prstGeom>
          <a:solidFill>
            <a:srgbClr val="192B49"/>
          </a:solidFill>
          <a:ln w="12700">
            <a:solidFill>
              <a:srgbClr val="19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" name="TextBox 2"/>
          <p:cNvSpPr txBox="1"/>
          <p:nvPr/>
        </p:nvSpPr>
        <p:spPr>
          <a:xfrm>
            <a:off x="260604" y="82296"/>
            <a:ext cx="910249" cy="156966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r>
              <a:rPr sz="750" b="1">
                <a:solidFill>
                  <a:srgbClr val="C0CDE2"/>
                </a:solidFill>
                <a:latin typeface="Malgun Gothic"/>
              </a:rPr>
              <a:t>Peoplify UI 기획서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71822" y="68580"/>
            <a:ext cx="583237" cy="191591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pPr algn="ctr"/>
            <a:r>
              <a:rPr sz="975" b="1">
                <a:solidFill>
                  <a:srgbClr val="FFFFFF"/>
                </a:solidFill>
                <a:latin typeface="Malgun Gothic"/>
              </a:rPr>
              <a:t>개정이력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62303" y="89154"/>
            <a:ext cx="647358" cy="133883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pPr algn="r"/>
            <a:r>
              <a:rPr sz="600">
                <a:solidFill>
                  <a:srgbClr val="C0CDE2"/>
                </a:solidFill>
                <a:latin typeface="Malgun Gothic"/>
              </a:rPr>
              <a:t>Revision History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35783" y="82296"/>
            <a:ext cx="182487" cy="145424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pPr algn="r"/>
            <a:r>
              <a:rPr sz="675" b="1">
                <a:solidFill>
                  <a:srgbClr val="C0CDE2"/>
                </a:solidFill>
                <a:latin typeface="Malgun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770" y="630937"/>
            <a:ext cx="1426416" cy="295466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r>
              <a:rPr sz="1650" b="1">
                <a:solidFill>
                  <a:srgbClr val="192130"/>
                </a:solidFill>
                <a:latin typeface="Malgun Gothic"/>
              </a:rPr>
              <a:t>문서 개정이력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486" y="925830"/>
            <a:ext cx="2949269" cy="156966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r>
              <a:rPr sz="750">
                <a:solidFill>
                  <a:srgbClr val="5A687E"/>
                </a:solidFill>
                <a:latin typeface="Malgun Gothic"/>
              </a:rPr>
              <a:t>화면 설계 변경사항, 검토 의견 반영 내역, 확정 이력을 관리합니다.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0570" y="1556766"/>
            <a:ext cx="83164" cy="249299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endParaRPr sz="1350"/>
          </a:p>
        </p:txBody>
      </p:sp>
      <p:sp>
        <p:nvSpPr>
          <p:cNvPr id="85" name="TextBox 84"/>
          <p:cNvSpPr txBox="1"/>
          <p:nvPr/>
        </p:nvSpPr>
        <p:spPr>
          <a:xfrm>
            <a:off x="308611" y="4924045"/>
            <a:ext cx="2192652" cy="122341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r>
              <a:rPr sz="525">
                <a:solidFill>
                  <a:srgbClr val="5A687E"/>
                </a:solidFill>
                <a:latin typeface="Malgun Gothic"/>
              </a:rPr>
              <a:t>※ 개정이력은 주요 산출물 배포/검토/확정 시점 기준으로 작성합니다.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7151" y="4924045"/>
            <a:ext cx="445379" cy="122341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pPr algn="r"/>
            <a:r>
              <a:rPr sz="525">
                <a:solidFill>
                  <a:srgbClr val="5A687E"/>
                </a:solidFill>
                <a:latin typeface="Malgun Gothic"/>
              </a:rPr>
              <a:t>Confidential</a:t>
            </a:r>
          </a:p>
        </p:txBody>
      </p:sp>
      <p:graphicFrame>
        <p:nvGraphicFramePr>
          <p:cNvPr id="89" name="표 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257471"/>
              </p:ext>
            </p:extLst>
          </p:nvPr>
        </p:nvGraphicFramePr>
        <p:xfrm>
          <a:off x="432706" y="1200722"/>
          <a:ext cx="8270425" cy="36268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945">
                  <a:extLst>
                    <a:ext uri="{9D8B030D-6E8A-4147-A177-3AD203B41FA5}">
                      <a16:colId xmlns:a16="http://schemas.microsoft.com/office/drawing/2014/main" val="2991338917"/>
                    </a:ext>
                  </a:extLst>
                </a:gridCol>
                <a:gridCol w="757646">
                  <a:extLst>
                    <a:ext uri="{9D8B030D-6E8A-4147-A177-3AD203B41FA5}">
                      <a16:colId xmlns:a16="http://schemas.microsoft.com/office/drawing/2014/main" val="2614421820"/>
                    </a:ext>
                  </a:extLst>
                </a:gridCol>
                <a:gridCol w="894806">
                  <a:extLst>
                    <a:ext uri="{9D8B030D-6E8A-4147-A177-3AD203B41FA5}">
                      <a16:colId xmlns:a16="http://schemas.microsoft.com/office/drawing/2014/main" val="1128527261"/>
                    </a:ext>
                  </a:extLst>
                </a:gridCol>
                <a:gridCol w="5368834">
                  <a:extLst>
                    <a:ext uri="{9D8B030D-6E8A-4147-A177-3AD203B41FA5}">
                      <a16:colId xmlns:a16="http://schemas.microsoft.com/office/drawing/2014/main" val="3724886803"/>
                    </a:ext>
                  </a:extLst>
                </a:gridCol>
                <a:gridCol w="715194">
                  <a:extLst>
                    <a:ext uri="{9D8B030D-6E8A-4147-A177-3AD203B41FA5}">
                      <a16:colId xmlns:a16="http://schemas.microsoft.com/office/drawing/2014/main" val="1094740758"/>
                    </a:ext>
                  </a:extLst>
                </a:gridCol>
              </a:tblGrid>
              <a:tr h="4154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버전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일자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작성자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변경내용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비고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1575491"/>
                  </a:ext>
                </a:extLst>
              </a:tr>
              <a:tr h="4154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v0.1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2026.06.15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err="1" smtClean="0">
                          <a:latin typeface="+mn-ea"/>
                          <a:ea typeface="+mn-ea"/>
                        </a:rPr>
                        <a:t>정위현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초안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9733972"/>
                  </a:ext>
                </a:extLst>
              </a:tr>
              <a:tr h="11339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v0.2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2026.06.17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이용진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직원관리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수정</a:t>
                      </a:r>
                      <a:endParaRPr lang="en-US" altLang="ko-KR" sz="700" dirty="0" smtClean="0"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재직 상태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재직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또는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휴직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상태에서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퇴사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로 변경한 경우 오늘 날짜 퇴사일 노출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재직 상태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퇴사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상태에서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재직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또는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휴직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로 변경한 경우 퇴사일 초기화</a:t>
                      </a:r>
                      <a:endParaRPr lang="en-US" altLang="ko-KR" sz="700" dirty="0" smtClean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- Validation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문구 추가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,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사용자 안내 방법 변경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,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날짜 입력 필드 </a:t>
                      </a:r>
                      <a:r>
                        <a:rPr lang="en-US" altLang="ko-KR" sz="700" dirty="0" err="1" smtClean="0">
                          <a:latin typeface="+mn-ea"/>
                          <a:ea typeface="+mn-ea"/>
                        </a:rPr>
                        <a:t>datepiker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적용</a:t>
                      </a:r>
                      <a:endParaRPr lang="en-US" altLang="ko-KR" sz="700" dirty="0" smtClean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직원관리 등록</a:t>
                      </a:r>
                      <a:endParaRPr lang="en-US" altLang="ko-KR" sz="700" dirty="0" smtClean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- Validation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문구 추가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,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사용자 안내 방법 변경</a:t>
                      </a:r>
                      <a:endParaRPr lang="en-US" altLang="ko-KR" sz="700" dirty="0" smtClean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직원관리 상세</a:t>
                      </a:r>
                      <a:endParaRPr lang="en-US" altLang="ko-KR" sz="700" dirty="0" smtClean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퇴사 상태일 경우 상단 삭제 버튼 삭제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상단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하단 수정 버튼 중 하단 버튼 삭제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중복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프로젝트 이력 영역 중 프로젝트 명 클릭 시 해당 프로젝트 상세 화면 이동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0006999"/>
                  </a:ext>
                </a:extLst>
              </a:tr>
              <a:tr h="415496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555998"/>
                  </a:ext>
                </a:extLst>
              </a:tr>
              <a:tr h="415496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5283618"/>
                  </a:ext>
                </a:extLst>
              </a:tr>
              <a:tr h="415496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0007832"/>
                  </a:ext>
                </a:extLst>
              </a:tr>
              <a:tr h="415496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72958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5060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 (SI 투입 중심)  ·  / 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960120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0" y="960120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대시보드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72768" y="113385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5월 26일 (화)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572768" y="1389888"/>
            <a:ext cx="1691640" cy="731520"/>
          </a:xfrm>
          <a:prstGeom prst="rect">
            <a:avLst/>
          </a:prstGeom>
          <a:solidFill>
            <a:srgbClr val="E6F1FB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66420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인원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66420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32명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66420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 중 30명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355848" y="1389888"/>
            <a:ext cx="1691640" cy="73152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344728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중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44728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26명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44728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26개 프로젝트 현장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138928" y="1389888"/>
            <a:ext cx="1691640" cy="731520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523036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벤치(가용)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23036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6명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523036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배정 가능 인원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922008" y="1389888"/>
            <a:ext cx="1691640" cy="731520"/>
          </a:xfrm>
          <a:prstGeom prst="rect">
            <a:avLst/>
          </a:prstGeom>
          <a:solidFill>
            <a:srgbClr val="CCFBF1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701344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프로젝트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1344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5건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701344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완료1·예정1 별도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1572768" y="2212848"/>
            <a:ext cx="44805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1682496" y="2322576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 프로젝트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645920" y="2578608"/>
            <a:ext cx="19110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1682496" y="2578608"/>
            <a:ext cx="1874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프로젝트명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547872" y="2578608"/>
            <a:ext cx="67665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3584448" y="257860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투입인원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233672" y="2578608"/>
            <a:ext cx="12252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4270248" y="2578608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486400" y="2578608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5522976" y="2578608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572768" y="2834640"/>
            <a:ext cx="4480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1682496" y="2834640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584448" y="283464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7명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270248" y="2834640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2025.03~2026.12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486400" y="2907792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5486400" y="290779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1682496" y="3163824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 ERP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3584448" y="3163824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5명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270248" y="3163824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2025.06~2026.06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5486400" y="323697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5486400" y="323697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1572768" y="3493008"/>
            <a:ext cx="4480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1682496" y="349300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3584448" y="349300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8명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4270248" y="3493008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2024.12~2026.03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486400" y="3566160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5486400" y="356616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6190488" y="2212848"/>
            <a:ext cx="2926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6300216" y="2322576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인원 현황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6300216" y="2615184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7059168" y="2615184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7772400" y="2615184"/>
            <a:ext cx="1243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2주째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6300216" y="28529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7059168" y="28529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7772400" y="2852928"/>
            <a:ext cx="1243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1개월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6300216" y="309067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7059168" y="309067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7772400" y="3090672"/>
            <a:ext cx="1243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3일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6190488" y="3383280"/>
            <a:ext cx="2926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6300216" y="349300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철수 임박 (30일 이내)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6236208" y="3785616"/>
            <a:ext cx="2880360" cy="256032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Text 80"/>
          <p:cNvSpPr/>
          <p:nvPr/>
        </p:nvSpPr>
        <p:spPr>
          <a:xfrm>
            <a:off x="6345936" y="378561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  /  A금융  →  철수 06.15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6236208" y="4078224"/>
            <a:ext cx="2880360" cy="256032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/>
          <p:cNvSpPr/>
          <p:nvPr/>
        </p:nvSpPr>
        <p:spPr>
          <a:xfrm>
            <a:off x="6345936" y="40782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  /  B공공  →  철수 06.28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235892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목록 (투입 프로젝트 컬럼 추가)  ·  /employees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0" y="1563624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0" y="1563624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직원 관리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직원 등록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572768" y="1207008"/>
            <a:ext cx="74066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1682496" y="131673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737360" y="1316736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 검색...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39312" y="1316736"/>
            <a:ext cx="106070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3694176" y="1316736"/>
            <a:ext cx="969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 ▾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54880" y="1316736"/>
            <a:ext cx="106070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809744" y="1316736"/>
            <a:ext cx="969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재직상태 ▾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870448" y="1316736"/>
            <a:ext cx="106070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5925312" y="1316736"/>
            <a:ext cx="969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투입상태 ▾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572768" y="1719072"/>
            <a:ext cx="740664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1627632" y="1737360"/>
            <a:ext cx="76809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1664208" y="17373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359152" y="1737360"/>
            <a:ext cx="63093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2395728" y="173736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953512" y="1737360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2990088" y="173736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502152" y="1737360"/>
            <a:ext cx="204825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3538728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투입 프로젝트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513832" y="1737360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5550408" y="173736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062472" y="1737360"/>
            <a:ext cx="63093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6099048" y="173736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재직상태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656832" y="1737360"/>
            <a:ext cx="67665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6693408" y="173736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액션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572768" y="2029968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1664208" y="2029968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2395728" y="2029968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2990088" y="202996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과장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3538728" y="202996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 코어뱅킹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550408" y="202996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099048" y="211226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6099048" y="211226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729984" y="2112264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6729984" y="2112264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1664208" y="2377440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2395728" y="2377440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990088" y="237744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대리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3538728" y="237744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(미투입)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5550408" y="237744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6099048" y="2459736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6099048" y="245973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729984" y="2459736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6729984" y="2459736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1572768" y="2724912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1664208" y="2724912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2395728" y="2724912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2990088" y="2724912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사원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3538728" y="272491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550408" y="2724912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6099048" y="2807208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Text 74"/>
          <p:cNvSpPr/>
          <p:nvPr/>
        </p:nvSpPr>
        <p:spPr>
          <a:xfrm>
            <a:off x="6099048" y="280720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6729984" y="2807208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76"/>
          <p:cNvSpPr/>
          <p:nvPr/>
        </p:nvSpPr>
        <p:spPr>
          <a:xfrm>
            <a:off x="6729984" y="2807208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1664208" y="3072384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2395728" y="3072384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2990088" y="3072384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차장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3538728" y="30723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 코어뱅킹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550408" y="3072384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099048" y="315468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Text 83"/>
          <p:cNvSpPr/>
          <p:nvPr/>
        </p:nvSpPr>
        <p:spPr>
          <a:xfrm>
            <a:off x="6099048" y="315468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6729984" y="3154680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7" name="Text 85"/>
          <p:cNvSpPr/>
          <p:nvPr/>
        </p:nvSpPr>
        <p:spPr>
          <a:xfrm>
            <a:off x="6729984" y="3154680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1572768" y="3419856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9" name="Text 87"/>
          <p:cNvSpPr/>
          <p:nvPr/>
        </p:nvSpPr>
        <p:spPr>
          <a:xfrm>
            <a:off x="1664208" y="3419856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2395728" y="3419856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2990088" y="341985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사원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3538728" y="3419856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 ERP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5550408" y="341985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099048" y="3502152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5" name="Text 93"/>
          <p:cNvSpPr/>
          <p:nvPr/>
        </p:nvSpPr>
        <p:spPr>
          <a:xfrm>
            <a:off x="6099048" y="350215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6729984" y="3502152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7" name="Text 95"/>
          <p:cNvSpPr/>
          <p:nvPr/>
        </p:nvSpPr>
        <p:spPr>
          <a:xfrm>
            <a:off x="6729984" y="3502152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1664208" y="3767328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2395728" y="3767328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</a:t>
            </a:r>
            <a:endParaRPr lang="en-US" sz="850" dirty="0"/>
          </a:p>
        </p:txBody>
      </p:sp>
      <p:sp>
        <p:nvSpPr>
          <p:cNvPr id="100" name="Text 98"/>
          <p:cNvSpPr/>
          <p:nvPr/>
        </p:nvSpPr>
        <p:spPr>
          <a:xfrm>
            <a:off x="2990088" y="376732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부장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3538728" y="376732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(미투입)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5550408" y="376732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099048" y="3849624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4" name="Text 102"/>
          <p:cNvSpPr/>
          <p:nvPr/>
        </p:nvSpPr>
        <p:spPr>
          <a:xfrm>
            <a:off x="6099048" y="384962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휴직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729984" y="3849624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Text 104"/>
          <p:cNvSpPr/>
          <p:nvPr/>
        </p:nvSpPr>
        <p:spPr>
          <a:xfrm>
            <a:off x="6729984" y="3849624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39937145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" y="0"/>
            <a:ext cx="9143771" cy="397764"/>
          </a:xfrm>
          <a:prstGeom prst="rect">
            <a:avLst/>
          </a:prstGeom>
          <a:solidFill>
            <a:srgbClr val="13233D"/>
          </a:solidFill>
          <a:ln w="8890">
            <a:solidFill>
              <a:srgbClr val="1323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1752" y="82296"/>
            <a:ext cx="1371600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78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Peoplify UI 기획서</a:t>
            </a:r>
            <a:endParaRPr lang="en-US" sz="788" dirty="0"/>
          </a:p>
        </p:txBody>
      </p:sp>
      <p:sp>
        <p:nvSpPr>
          <p:cNvPr id="4" name="Text 2"/>
          <p:cNvSpPr/>
          <p:nvPr/>
        </p:nvSpPr>
        <p:spPr>
          <a:xfrm>
            <a:off x="2" y="68580"/>
            <a:ext cx="9143771" cy="24688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12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상세 화면 설계</a:t>
            </a:r>
            <a:endParaRPr lang="en-US" sz="1238" dirty="0"/>
          </a:p>
        </p:txBody>
      </p:sp>
      <p:sp>
        <p:nvSpPr>
          <p:cNvPr id="5" name="Text 3"/>
          <p:cNvSpPr/>
          <p:nvPr/>
        </p:nvSpPr>
        <p:spPr>
          <a:xfrm>
            <a:off x="6665976" y="96012"/>
            <a:ext cx="2023110" cy="16459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555" dirty="0">
                <a:solidFill>
                  <a:srgbClr val="D8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employee 도메인 · /employees/employee-detail/:id</a:t>
            </a:r>
            <a:endParaRPr lang="en-US" sz="555" dirty="0"/>
          </a:p>
        </p:txBody>
      </p:sp>
      <p:sp>
        <p:nvSpPr>
          <p:cNvPr id="6" name="Text 4"/>
          <p:cNvSpPr/>
          <p:nvPr/>
        </p:nvSpPr>
        <p:spPr>
          <a:xfrm>
            <a:off x="8833104" y="96012"/>
            <a:ext cx="150876" cy="16459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6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638" dirty="0"/>
          </a:p>
        </p:txBody>
      </p:sp>
      <p:sp>
        <p:nvSpPr>
          <p:cNvPr id="7" name="Text 5"/>
          <p:cNvSpPr/>
          <p:nvPr/>
        </p:nvSpPr>
        <p:spPr>
          <a:xfrm>
            <a:off x="377190" y="576072"/>
            <a:ext cx="822960" cy="16459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825" b="1" dirty="0">
                <a:solidFill>
                  <a:srgbClr val="132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설계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6227064" y="562356"/>
            <a:ext cx="1234440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10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380476" y="624078"/>
            <a:ext cx="377190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63" b="1" dirty="0">
                <a:solidFill>
                  <a:srgbClr val="0057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검토용</a:t>
            </a:r>
            <a:endParaRPr lang="en-US" sz="563" dirty="0"/>
          </a:p>
        </p:txBody>
      </p:sp>
      <p:sp>
        <p:nvSpPr>
          <p:cNvPr id="10" name="Shape 8"/>
          <p:cNvSpPr/>
          <p:nvPr/>
        </p:nvSpPr>
        <p:spPr>
          <a:xfrm>
            <a:off x="356616" y="740664"/>
            <a:ext cx="5719572" cy="3922776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8890">
            <a:solidFill>
              <a:srgbClr val="D5DD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850392"/>
            <a:ext cx="5500116" cy="3703320"/>
          </a:xfrm>
          <a:prstGeom prst="rect">
            <a:avLst/>
          </a:prstGeom>
          <a:solidFill>
            <a:srgbClr val="1F1E3A"/>
          </a:solidFill>
          <a:ln w="8890">
            <a:solidFill>
              <a:srgbClr val="1F1E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" y="850392"/>
            <a:ext cx="5500116" cy="370332"/>
          </a:xfrm>
          <a:prstGeom prst="rect">
            <a:avLst/>
          </a:prstGeom>
          <a:solidFill>
            <a:srgbClr val="302F50"/>
          </a:solidFill>
          <a:ln w="8890">
            <a:solidFill>
              <a:srgbClr val="302F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" y="850392"/>
            <a:ext cx="1062990" cy="3703320"/>
          </a:xfrm>
          <a:prstGeom prst="rect">
            <a:avLst/>
          </a:prstGeom>
          <a:solidFill>
            <a:srgbClr val="2F2E4F"/>
          </a:solidFill>
          <a:ln w="8890">
            <a:solidFill>
              <a:srgbClr val="2F2E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939546"/>
            <a:ext cx="85725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  인력관리 시스템</a:t>
            </a:r>
            <a:endParaRPr lang="en-US" sz="540" dirty="0"/>
          </a:p>
        </p:txBody>
      </p:sp>
      <p:sp>
        <p:nvSpPr>
          <p:cNvPr id="15" name="Text 13"/>
          <p:cNvSpPr/>
          <p:nvPr/>
        </p:nvSpPr>
        <p:spPr>
          <a:xfrm>
            <a:off x="665226" y="1056132"/>
            <a:ext cx="548640" cy="6858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60" dirty="0">
                <a:solidFill>
                  <a:srgbClr val="C9C7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Peoplify v1.0</a:t>
            </a:r>
            <a:endParaRPr lang="en-US" sz="360" dirty="0"/>
          </a:p>
        </p:txBody>
      </p:sp>
      <p:sp>
        <p:nvSpPr>
          <p:cNvPr id="16" name="Text 14"/>
          <p:cNvSpPr/>
          <p:nvPr/>
        </p:nvSpPr>
        <p:spPr>
          <a:xfrm>
            <a:off x="555498" y="1330452"/>
            <a:ext cx="51435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B6B4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메뉴</a:t>
            </a:r>
            <a:endParaRPr lang="en-US" sz="375" dirty="0"/>
          </a:p>
        </p:txBody>
      </p:sp>
      <p:sp>
        <p:nvSpPr>
          <p:cNvPr id="17" name="Text 15"/>
          <p:cNvSpPr/>
          <p:nvPr/>
        </p:nvSpPr>
        <p:spPr>
          <a:xfrm>
            <a:off x="569214" y="150876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  대시보드</a:t>
            </a:r>
            <a:endParaRPr lang="en-US" sz="450" dirty="0"/>
          </a:p>
        </p:txBody>
      </p:sp>
      <p:sp>
        <p:nvSpPr>
          <p:cNvPr id="18" name="Text 16"/>
          <p:cNvSpPr/>
          <p:nvPr/>
        </p:nvSpPr>
        <p:spPr>
          <a:xfrm>
            <a:off x="569214" y="1776222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♙  직원관리     ˅</a:t>
            </a:r>
            <a:endParaRPr lang="en-US" sz="450" dirty="0"/>
          </a:p>
        </p:txBody>
      </p:sp>
      <p:sp>
        <p:nvSpPr>
          <p:cNvPr id="19" name="Text 17"/>
          <p:cNvSpPr/>
          <p:nvPr/>
        </p:nvSpPr>
        <p:spPr>
          <a:xfrm>
            <a:off x="569214" y="2043684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프로젝트      ˅</a:t>
            </a:r>
            <a:endParaRPr lang="en-US" sz="450" dirty="0"/>
          </a:p>
        </p:txBody>
      </p:sp>
      <p:sp>
        <p:nvSpPr>
          <p:cNvPr id="20" name="Text 18"/>
          <p:cNvSpPr/>
          <p:nvPr/>
        </p:nvSpPr>
        <p:spPr>
          <a:xfrm>
            <a:off x="569214" y="2311146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◴  근태관리      ˅</a:t>
            </a:r>
            <a:endParaRPr lang="en-US" sz="450" dirty="0"/>
          </a:p>
        </p:txBody>
      </p:sp>
      <p:sp>
        <p:nvSpPr>
          <p:cNvPr id="21" name="Text 19"/>
          <p:cNvSpPr/>
          <p:nvPr/>
        </p:nvSpPr>
        <p:spPr>
          <a:xfrm>
            <a:off x="569214" y="2578608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▥  리포트</a:t>
            </a:r>
            <a:endParaRPr lang="en-US" sz="450" dirty="0"/>
          </a:p>
        </p:txBody>
      </p:sp>
      <p:sp>
        <p:nvSpPr>
          <p:cNvPr id="22" name="Text 20"/>
          <p:cNvSpPr/>
          <p:nvPr/>
        </p:nvSpPr>
        <p:spPr>
          <a:xfrm>
            <a:off x="569214" y="284607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A8A6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패럴링(임시)</a:t>
            </a:r>
            <a:endParaRPr lang="en-US" sz="375" dirty="0"/>
          </a:p>
        </p:txBody>
      </p:sp>
      <p:sp>
        <p:nvSpPr>
          <p:cNvPr id="23" name="Text 21"/>
          <p:cNvSpPr/>
          <p:nvPr/>
        </p:nvSpPr>
        <p:spPr>
          <a:xfrm>
            <a:off x="569214" y="305181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  대시보드</a:t>
            </a:r>
            <a:endParaRPr lang="en-US" sz="450" dirty="0"/>
          </a:p>
        </p:txBody>
      </p:sp>
      <p:sp>
        <p:nvSpPr>
          <p:cNvPr id="24" name="Text 22"/>
          <p:cNvSpPr/>
          <p:nvPr/>
        </p:nvSpPr>
        <p:spPr>
          <a:xfrm>
            <a:off x="569214" y="3319272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♙  직원관리     ˅</a:t>
            </a:r>
            <a:endParaRPr lang="en-US" sz="450" dirty="0"/>
          </a:p>
        </p:txBody>
      </p:sp>
      <p:sp>
        <p:nvSpPr>
          <p:cNvPr id="25" name="Text 23"/>
          <p:cNvSpPr/>
          <p:nvPr/>
        </p:nvSpPr>
        <p:spPr>
          <a:xfrm>
            <a:off x="569214" y="3586734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프로젝트      ˅</a:t>
            </a:r>
            <a:endParaRPr lang="en-US" sz="450" dirty="0"/>
          </a:p>
        </p:txBody>
      </p:sp>
      <p:sp>
        <p:nvSpPr>
          <p:cNvPr id="26" name="Text 24"/>
          <p:cNvSpPr/>
          <p:nvPr/>
        </p:nvSpPr>
        <p:spPr>
          <a:xfrm>
            <a:off x="569214" y="3854196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◴  근태관리      ˅</a:t>
            </a:r>
            <a:endParaRPr lang="en-US" sz="450" dirty="0"/>
          </a:p>
        </p:txBody>
      </p:sp>
      <p:sp>
        <p:nvSpPr>
          <p:cNvPr id="27" name="Text 25"/>
          <p:cNvSpPr/>
          <p:nvPr/>
        </p:nvSpPr>
        <p:spPr>
          <a:xfrm>
            <a:off x="569214" y="4121658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▥  리포트</a:t>
            </a:r>
            <a:endParaRPr lang="en-US" sz="450" dirty="0"/>
          </a:p>
        </p:txBody>
      </p:sp>
      <p:sp>
        <p:nvSpPr>
          <p:cNvPr id="28" name="Text 26"/>
          <p:cNvSpPr/>
          <p:nvPr/>
        </p:nvSpPr>
        <p:spPr>
          <a:xfrm>
            <a:off x="569214" y="438912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↪  로그인</a:t>
            </a:r>
            <a:endParaRPr lang="en-US" sz="450" dirty="0"/>
          </a:p>
        </p:txBody>
      </p:sp>
      <p:sp>
        <p:nvSpPr>
          <p:cNvPr id="29" name="Shape 27"/>
          <p:cNvSpPr/>
          <p:nvPr/>
        </p:nvSpPr>
        <p:spPr>
          <a:xfrm>
            <a:off x="1632204" y="932688"/>
            <a:ext cx="192024" cy="205740"/>
          </a:xfrm>
          <a:prstGeom prst="roundRect">
            <a:avLst>
              <a:gd name="adj" fmla="val 14286"/>
            </a:avLst>
          </a:prstGeom>
          <a:solidFill>
            <a:srgbClr val="292848"/>
          </a:solidFill>
          <a:ln w="8890">
            <a:solidFill>
              <a:srgbClr val="3F3E6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52778" y="960120"/>
            <a:ext cx="150876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☰</a:t>
            </a:r>
            <a:endParaRPr lang="en-US" sz="600" dirty="0"/>
          </a:p>
        </p:txBody>
      </p:sp>
      <p:sp>
        <p:nvSpPr>
          <p:cNvPr id="31" name="Shape 29"/>
          <p:cNvSpPr/>
          <p:nvPr/>
        </p:nvSpPr>
        <p:spPr>
          <a:xfrm>
            <a:off x="1885950" y="918972"/>
            <a:ext cx="2023110" cy="233172"/>
          </a:xfrm>
          <a:prstGeom prst="roundRect">
            <a:avLst>
              <a:gd name="adj" fmla="val 14706"/>
            </a:avLst>
          </a:prstGeom>
          <a:solidFill>
            <a:srgbClr val="39385C"/>
          </a:solidFill>
          <a:ln w="8890">
            <a:solidFill>
              <a:srgbClr val="6260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54530" y="960120"/>
            <a:ext cx="154305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65" dirty="0">
                <a:solidFill>
                  <a:srgbClr val="AFAE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⌕  Search or type command...</a:t>
            </a:r>
            <a:endParaRPr lang="en-US" sz="465" dirty="0"/>
          </a:p>
        </p:txBody>
      </p:sp>
      <p:sp>
        <p:nvSpPr>
          <p:cNvPr id="33" name="Shape 31"/>
          <p:cNvSpPr/>
          <p:nvPr/>
        </p:nvSpPr>
        <p:spPr>
          <a:xfrm>
            <a:off x="5232654" y="939546"/>
            <a:ext cx="260604" cy="164592"/>
          </a:xfrm>
          <a:prstGeom prst="roundRect">
            <a:avLst>
              <a:gd name="adj" fmla="val 20833"/>
            </a:avLst>
          </a:prstGeom>
          <a:solidFill>
            <a:srgbClr val="2E2D4E"/>
          </a:solidFill>
          <a:ln w="8890">
            <a:solidFill>
              <a:srgbClr val="3C3B5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2654" y="946404"/>
            <a:ext cx="260604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428" dirty="0">
                <a:solidFill>
                  <a:srgbClr val="CFCD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⌘K</a:t>
            </a:r>
            <a:endParaRPr lang="en-US" sz="428" dirty="0"/>
          </a:p>
        </p:txBody>
      </p:sp>
      <p:sp>
        <p:nvSpPr>
          <p:cNvPr id="35" name="Shape 33"/>
          <p:cNvSpPr/>
          <p:nvPr/>
        </p:nvSpPr>
        <p:spPr>
          <a:xfrm>
            <a:off x="5589270" y="932688"/>
            <a:ext cx="192024" cy="192024"/>
          </a:xfrm>
          <a:prstGeom prst="roundRect">
            <a:avLst>
              <a:gd name="adj" fmla="val 50000"/>
            </a:avLst>
          </a:prstGeom>
          <a:solidFill>
            <a:srgbClr val="2A2949"/>
          </a:solidFill>
          <a:ln w="8890">
            <a:solidFill>
              <a:srgbClr val="3B3A5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89270" y="939546"/>
            <a:ext cx="192024" cy="17145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63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☼</a:t>
            </a:r>
            <a:endParaRPr lang="en-US" sz="563" dirty="0"/>
          </a:p>
        </p:txBody>
      </p:sp>
      <p:sp>
        <p:nvSpPr>
          <p:cNvPr id="37" name="Text 35"/>
          <p:cNvSpPr/>
          <p:nvPr/>
        </p:nvSpPr>
        <p:spPr>
          <a:xfrm>
            <a:off x="1769364" y="1440180"/>
            <a:ext cx="102870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dirty="0">
                <a:solidFill>
                  <a:srgbClr val="AFAE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직원관리  ›  윤지수</a:t>
            </a:r>
            <a:endParaRPr lang="en-US" sz="450" dirty="0"/>
          </a:p>
        </p:txBody>
      </p:sp>
      <p:sp>
        <p:nvSpPr>
          <p:cNvPr id="38" name="Text 36"/>
          <p:cNvSpPr/>
          <p:nvPr/>
        </p:nvSpPr>
        <p:spPr>
          <a:xfrm>
            <a:off x="1769364" y="1577340"/>
            <a:ext cx="857250" cy="17830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상세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266944" y="1570482"/>
            <a:ext cx="274320" cy="157734"/>
          </a:xfrm>
          <a:prstGeom prst="roundRect">
            <a:avLst>
              <a:gd name="adj" fmla="val 21739"/>
            </a:avLst>
          </a:prstGeom>
          <a:solidFill>
            <a:srgbClr val="302F50"/>
          </a:solidFill>
          <a:ln w="8890">
            <a:solidFill>
              <a:srgbClr val="5B597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66944" y="1570482"/>
            <a:ext cx="274320" cy="15773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✎ 수정</a:t>
            </a:r>
            <a:endParaRPr lang="en-US" sz="525" dirty="0"/>
          </a:p>
        </p:txBody>
      </p:sp>
      <p:sp>
        <p:nvSpPr>
          <p:cNvPr id="41" name="Shape 39"/>
          <p:cNvSpPr/>
          <p:nvPr/>
        </p:nvSpPr>
        <p:spPr>
          <a:xfrm>
            <a:off x="5596128" y="1570482"/>
            <a:ext cx="274320" cy="157734"/>
          </a:xfrm>
          <a:prstGeom prst="roundRect">
            <a:avLst>
              <a:gd name="adj" fmla="val 21739"/>
            </a:avLst>
          </a:prstGeom>
          <a:solidFill>
            <a:srgbClr val="302F50"/>
          </a:solidFill>
          <a:ln w="8890">
            <a:solidFill>
              <a:srgbClr val="5B597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96128" y="1570482"/>
            <a:ext cx="274320" cy="15773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55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🗑 삭제</a:t>
            </a:r>
            <a:endParaRPr lang="en-US" sz="525" dirty="0"/>
          </a:p>
        </p:txBody>
      </p:sp>
      <p:sp>
        <p:nvSpPr>
          <p:cNvPr id="43" name="Text 41"/>
          <p:cNvSpPr/>
          <p:nvPr/>
        </p:nvSpPr>
        <p:spPr>
          <a:xfrm>
            <a:off x="5520690" y="1467612"/>
            <a:ext cx="150876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10000"/>
          </a:bodyPr>
          <a:lstStyle/>
          <a:p>
            <a:pPr algn="ctr"/>
            <a:r>
              <a:rPr lang="en-US" sz="1125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1769364" y="1837944"/>
            <a:ext cx="4073652" cy="493776"/>
          </a:xfrm>
          <a:prstGeom prst="roundRect">
            <a:avLst>
              <a:gd name="adj" fmla="val 9722"/>
            </a:avLst>
          </a:prstGeom>
          <a:solidFill>
            <a:srgbClr val="333253"/>
          </a:solidFill>
          <a:ln w="8890">
            <a:solidFill>
              <a:srgbClr val="55537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92808" y="1947672"/>
            <a:ext cx="294894" cy="294894"/>
          </a:xfrm>
          <a:prstGeom prst="ellipse">
            <a:avLst/>
          </a:prstGeom>
          <a:solidFill>
            <a:srgbClr val="E8E4FF"/>
          </a:solidFill>
          <a:ln w="6350">
            <a:solidFill>
              <a:srgbClr val="E8E4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892808" y="1947672"/>
            <a:ext cx="294894" cy="29489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975" b="1" dirty="0">
                <a:solidFill>
                  <a:srgbClr val="4235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</a:t>
            </a:r>
            <a:endParaRPr lang="en-US" sz="975" dirty="0"/>
          </a:p>
        </p:txBody>
      </p:sp>
      <p:sp>
        <p:nvSpPr>
          <p:cNvPr id="47" name="Text 45"/>
          <p:cNvSpPr/>
          <p:nvPr/>
        </p:nvSpPr>
        <p:spPr>
          <a:xfrm>
            <a:off x="2249424" y="1954530"/>
            <a:ext cx="356616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윤지수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2578608" y="1968246"/>
            <a:ext cx="65151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90" dirty="0">
                <a:solidFill>
                  <a:srgbClr val="B4B2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기획팀 · 프로젝트 관리자</a:t>
            </a:r>
            <a:endParaRPr lang="en-US" sz="390" dirty="0"/>
          </a:p>
        </p:txBody>
      </p:sp>
      <p:sp>
        <p:nvSpPr>
          <p:cNvPr id="49" name="Text 47"/>
          <p:cNvSpPr/>
          <p:nvPr/>
        </p:nvSpPr>
        <p:spPr>
          <a:xfrm>
            <a:off x="2249424" y="2132838"/>
            <a:ext cx="188595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60" dirty="0">
                <a:solidFill>
                  <a:srgbClr val="D8D6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 jisu.yoon@peoplify.com   ☎ 010-1001-0005   ◷ 입사 2018년 9월 1일</a:t>
            </a:r>
            <a:endParaRPr lang="en-US" sz="360" dirty="0"/>
          </a:p>
        </p:txBody>
      </p:sp>
      <p:sp>
        <p:nvSpPr>
          <p:cNvPr id="50" name="Text 48"/>
          <p:cNvSpPr/>
          <p:nvPr/>
        </p:nvSpPr>
        <p:spPr>
          <a:xfrm>
            <a:off x="5184648" y="1933956"/>
            <a:ext cx="51435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413" dirty="0">
                <a:solidFill>
                  <a:srgbClr val="B4B2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 투입 프로젝트</a:t>
            </a:r>
            <a:endParaRPr lang="en-US" sz="413" dirty="0"/>
          </a:p>
        </p:txBody>
      </p:sp>
      <p:sp>
        <p:nvSpPr>
          <p:cNvPr id="51" name="Text 49"/>
          <p:cNvSpPr/>
          <p:nvPr/>
        </p:nvSpPr>
        <p:spPr>
          <a:xfrm>
            <a:off x="4786884" y="2036826"/>
            <a:ext cx="92583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54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A금융 차세대 코어뱅킹</a:t>
            </a:r>
            <a:endParaRPr lang="en-US" sz="540" dirty="0"/>
          </a:p>
        </p:txBody>
      </p:sp>
      <p:sp>
        <p:nvSpPr>
          <p:cNvPr id="52" name="Text 50"/>
          <p:cNvSpPr/>
          <p:nvPr/>
        </p:nvSpPr>
        <p:spPr>
          <a:xfrm>
            <a:off x="5239512" y="2139696"/>
            <a:ext cx="466344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435" b="1" dirty="0">
                <a:solidFill>
                  <a:srgbClr val="8B7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투입률 100%</a:t>
            </a:r>
            <a:endParaRPr lang="en-US" sz="435" dirty="0"/>
          </a:p>
        </p:txBody>
      </p:sp>
      <p:sp>
        <p:nvSpPr>
          <p:cNvPr id="53" name="Text 51"/>
          <p:cNvSpPr/>
          <p:nvPr/>
        </p:nvSpPr>
        <p:spPr>
          <a:xfrm>
            <a:off x="1851660" y="2482596"/>
            <a:ext cx="342900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65" dirty="0">
                <a:solidFill>
                  <a:srgbClr val="C6C3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기본정보</a:t>
            </a:r>
            <a:endParaRPr lang="en-US" sz="465" dirty="0"/>
          </a:p>
        </p:txBody>
      </p:sp>
      <p:sp>
        <p:nvSpPr>
          <p:cNvPr id="54" name="Text 52"/>
          <p:cNvSpPr/>
          <p:nvPr/>
        </p:nvSpPr>
        <p:spPr>
          <a:xfrm>
            <a:off x="2263140" y="2482596"/>
            <a:ext cx="480060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80" b="1" dirty="0">
                <a:solidFill>
                  <a:srgbClr val="79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 이력 ★</a:t>
            </a:r>
            <a:endParaRPr lang="en-US" sz="480" dirty="0"/>
          </a:p>
        </p:txBody>
      </p:sp>
      <p:sp>
        <p:nvSpPr>
          <p:cNvPr id="55" name="Text 53"/>
          <p:cNvSpPr/>
          <p:nvPr/>
        </p:nvSpPr>
        <p:spPr>
          <a:xfrm>
            <a:off x="2798064" y="2482596"/>
            <a:ext cx="425196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65" dirty="0">
                <a:solidFill>
                  <a:srgbClr val="C6C3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기술스택</a:t>
            </a:r>
            <a:endParaRPr lang="en-US" sz="465" dirty="0"/>
          </a:p>
        </p:txBody>
      </p:sp>
      <p:sp>
        <p:nvSpPr>
          <p:cNvPr id="56" name="Text 54"/>
          <p:cNvSpPr/>
          <p:nvPr/>
        </p:nvSpPr>
        <p:spPr>
          <a:xfrm>
            <a:off x="3319272" y="2482596"/>
            <a:ext cx="425196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65" dirty="0">
                <a:solidFill>
                  <a:srgbClr val="C6C3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계약정보</a:t>
            </a:r>
            <a:endParaRPr lang="en-US" sz="465" dirty="0"/>
          </a:p>
        </p:txBody>
      </p:sp>
      <p:sp>
        <p:nvSpPr>
          <p:cNvPr id="57" name="Shape 55"/>
          <p:cNvSpPr/>
          <p:nvPr/>
        </p:nvSpPr>
        <p:spPr>
          <a:xfrm>
            <a:off x="1769364" y="2654046"/>
            <a:ext cx="4073652" cy="8230"/>
          </a:xfrm>
          <a:prstGeom prst="rect">
            <a:avLst/>
          </a:prstGeom>
          <a:solidFill>
            <a:srgbClr val="4A486B"/>
          </a:solidFill>
          <a:ln w="8890">
            <a:solidFill>
              <a:srgbClr val="4A486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228850" y="2647189"/>
            <a:ext cx="432054" cy="17145"/>
          </a:xfrm>
          <a:prstGeom prst="rect">
            <a:avLst/>
          </a:prstGeom>
          <a:solidFill>
            <a:srgbClr val="796BFF"/>
          </a:solidFill>
          <a:ln w="8890">
            <a:solidFill>
              <a:srgbClr val="796B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769364" y="2791206"/>
            <a:ext cx="4073652" cy="617220"/>
          </a:xfrm>
          <a:prstGeom prst="roundRect">
            <a:avLst>
              <a:gd name="adj" fmla="val 6667"/>
            </a:avLst>
          </a:prstGeom>
          <a:solidFill>
            <a:srgbClr val="333253"/>
          </a:solidFill>
          <a:ln w="8890">
            <a:solidFill>
              <a:srgbClr val="55537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851660" y="2859786"/>
            <a:ext cx="754380" cy="10287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투입 이력</a:t>
            </a:r>
            <a:endParaRPr lang="en-US" sz="525" dirty="0"/>
          </a:p>
        </p:txBody>
      </p:sp>
      <p:sp>
        <p:nvSpPr>
          <p:cNvPr id="61" name="Shape 59"/>
          <p:cNvSpPr/>
          <p:nvPr/>
        </p:nvSpPr>
        <p:spPr>
          <a:xfrm>
            <a:off x="1769364" y="3038094"/>
            <a:ext cx="4073652" cy="6858"/>
          </a:xfrm>
          <a:prstGeom prst="rect">
            <a:avLst/>
          </a:prstGeom>
          <a:solidFill>
            <a:srgbClr val="55537B"/>
          </a:solidFill>
          <a:ln w="8890">
            <a:solidFill>
              <a:srgbClr val="55537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858518" y="3113532"/>
            <a:ext cx="92583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dirty="0">
                <a:solidFill>
                  <a:srgbClr val="AAA7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</a:t>
            </a:r>
            <a:endParaRPr lang="en-US" sz="428" dirty="0"/>
          </a:p>
        </p:txBody>
      </p:sp>
      <p:sp>
        <p:nvSpPr>
          <p:cNvPr id="63" name="Text 61"/>
          <p:cNvSpPr/>
          <p:nvPr/>
        </p:nvSpPr>
        <p:spPr>
          <a:xfrm>
            <a:off x="2832354" y="3113532"/>
            <a:ext cx="589788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dirty="0">
                <a:solidFill>
                  <a:srgbClr val="AAA7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</a:t>
            </a:r>
            <a:endParaRPr lang="en-US" sz="428" dirty="0"/>
          </a:p>
        </p:txBody>
      </p:sp>
      <p:sp>
        <p:nvSpPr>
          <p:cNvPr id="64" name="Text 62"/>
          <p:cNvSpPr/>
          <p:nvPr/>
        </p:nvSpPr>
        <p:spPr>
          <a:xfrm>
            <a:off x="3998214" y="3113532"/>
            <a:ext cx="37719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dirty="0">
                <a:solidFill>
                  <a:srgbClr val="AAA7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</a:t>
            </a:r>
            <a:endParaRPr lang="en-US" sz="428" dirty="0"/>
          </a:p>
        </p:txBody>
      </p:sp>
      <p:sp>
        <p:nvSpPr>
          <p:cNvPr id="65" name="Text 63"/>
          <p:cNvSpPr/>
          <p:nvPr/>
        </p:nvSpPr>
        <p:spPr>
          <a:xfrm>
            <a:off x="4581144" y="3113532"/>
            <a:ext cx="92583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dirty="0">
                <a:solidFill>
                  <a:srgbClr val="AAA7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투입기간</a:t>
            </a:r>
            <a:endParaRPr lang="en-US" sz="428" dirty="0"/>
          </a:p>
        </p:txBody>
      </p:sp>
      <p:sp>
        <p:nvSpPr>
          <p:cNvPr id="66" name="Text 64"/>
          <p:cNvSpPr/>
          <p:nvPr/>
        </p:nvSpPr>
        <p:spPr>
          <a:xfrm>
            <a:off x="5232654" y="3113532"/>
            <a:ext cx="37719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dirty="0">
                <a:solidFill>
                  <a:srgbClr val="AAA7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투입률</a:t>
            </a:r>
            <a:endParaRPr lang="en-US" sz="428" dirty="0"/>
          </a:p>
        </p:txBody>
      </p:sp>
      <p:sp>
        <p:nvSpPr>
          <p:cNvPr id="67" name="Text 65"/>
          <p:cNvSpPr/>
          <p:nvPr/>
        </p:nvSpPr>
        <p:spPr>
          <a:xfrm>
            <a:off x="5637276" y="3113532"/>
            <a:ext cx="219456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dirty="0">
                <a:solidFill>
                  <a:srgbClr val="AAA7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428" dirty="0"/>
          </a:p>
        </p:txBody>
      </p:sp>
      <p:sp>
        <p:nvSpPr>
          <p:cNvPr id="68" name="Shape 66"/>
          <p:cNvSpPr/>
          <p:nvPr/>
        </p:nvSpPr>
        <p:spPr>
          <a:xfrm>
            <a:off x="1769364" y="3236976"/>
            <a:ext cx="4073652" cy="6858"/>
          </a:xfrm>
          <a:prstGeom prst="rect">
            <a:avLst/>
          </a:prstGeom>
          <a:solidFill>
            <a:srgbClr val="55537B"/>
          </a:solidFill>
          <a:ln w="8890">
            <a:solidFill>
              <a:srgbClr val="55537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858518" y="3284982"/>
            <a:ext cx="99441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A금융 차세대 코어뱅킹</a:t>
            </a:r>
            <a:endParaRPr lang="en-US" sz="450" dirty="0"/>
          </a:p>
        </p:txBody>
      </p:sp>
      <p:sp>
        <p:nvSpPr>
          <p:cNvPr id="70" name="Text 68"/>
          <p:cNvSpPr/>
          <p:nvPr/>
        </p:nvSpPr>
        <p:spPr>
          <a:xfrm>
            <a:off x="2832354" y="3284982"/>
            <a:ext cx="58293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35" dirty="0">
                <a:solidFill>
                  <a:srgbClr val="BEBC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A금융그룹</a:t>
            </a:r>
            <a:endParaRPr lang="en-US" sz="435" dirty="0"/>
          </a:p>
        </p:txBody>
      </p:sp>
      <p:sp>
        <p:nvSpPr>
          <p:cNvPr id="71" name="Text 69"/>
          <p:cNvSpPr/>
          <p:nvPr/>
        </p:nvSpPr>
        <p:spPr>
          <a:xfrm>
            <a:off x="3998214" y="3284982"/>
            <a:ext cx="219456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35" b="1" dirty="0">
                <a:solidFill>
                  <a:srgbClr val="A395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</a:t>
            </a:r>
            <a:endParaRPr lang="en-US" sz="435" dirty="0"/>
          </a:p>
        </p:txBody>
      </p:sp>
      <p:sp>
        <p:nvSpPr>
          <p:cNvPr id="72" name="Text 70"/>
          <p:cNvSpPr/>
          <p:nvPr/>
        </p:nvSpPr>
        <p:spPr>
          <a:xfrm>
            <a:off x="4232366" y="3284982"/>
            <a:ext cx="92583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0" dirty="0">
                <a:solidFill>
                  <a:srgbClr val="C6C3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3월 1일 ~ 2026년 6월 10일</a:t>
            </a:r>
            <a:endParaRPr lang="en-US" sz="420" dirty="0"/>
          </a:p>
        </p:txBody>
      </p:sp>
      <p:sp>
        <p:nvSpPr>
          <p:cNvPr id="73" name="Text 71"/>
          <p:cNvSpPr/>
          <p:nvPr/>
        </p:nvSpPr>
        <p:spPr>
          <a:xfrm>
            <a:off x="5232654" y="3284982"/>
            <a:ext cx="30861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3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435" dirty="0"/>
          </a:p>
        </p:txBody>
      </p:sp>
      <p:sp>
        <p:nvSpPr>
          <p:cNvPr id="74" name="Shape 72"/>
          <p:cNvSpPr/>
          <p:nvPr/>
        </p:nvSpPr>
        <p:spPr>
          <a:xfrm>
            <a:off x="5519712" y="3277143"/>
            <a:ext cx="288036" cy="109728"/>
          </a:xfrm>
          <a:prstGeom prst="roundRect">
            <a:avLst>
              <a:gd name="adj" fmla="val 50000"/>
            </a:avLst>
          </a:prstGeom>
          <a:solidFill>
            <a:srgbClr val="117D69"/>
          </a:solidFill>
          <a:ln w="8890">
            <a:solidFill>
              <a:srgbClr val="117D69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519712" y="3270612"/>
            <a:ext cx="288036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98" b="1" dirty="0">
                <a:solidFill>
                  <a:srgbClr val="ABF7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투입중</a:t>
            </a:r>
            <a:endParaRPr lang="en-US" sz="398" dirty="0"/>
          </a:p>
        </p:txBody>
      </p:sp>
      <p:sp>
        <p:nvSpPr>
          <p:cNvPr id="76" name="Text 74"/>
          <p:cNvSpPr/>
          <p:nvPr/>
        </p:nvSpPr>
        <p:spPr>
          <a:xfrm>
            <a:off x="1687068" y="3243834"/>
            <a:ext cx="150876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10000"/>
          </a:bodyPr>
          <a:lstStyle/>
          <a:p>
            <a:pPr algn="ctr"/>
            <a:r>
              <a:rPr lang="en-US" sz="1125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125" dirty="0"/>
          </a:p>
        </p:txBody>
      </p:sp>
      <p:sp>
        <p:nvSpPr>
          <p:cNvPr id="77" name="Shape 75"/>
          <p:cNvSpPr/>
          <p:nvPr/>
        </p:nvSpPr>
        <p:spPr>
          <a:xfrm>
            <a:off x="5596128" y="3504438"/>
            <a:ext cx="308610" cy="185166"/>
          </a:xfrm>
          <a:prstGeom prst="roundRect">
            <a:avLst>
              <a:gd name="adj" fmla="val 18519"/>
            </a:avLst>
          </a:prstGeom>
          <a:solidFill>
            <a:srgbClr val="302F50"/>
          </a:solidFill>
          <a:ln w="8890">
            <a:solidFill>
              <a:srgbClr val="5B597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596128" y="3504438"/>
            <a:ext cx="308610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목록으로</a:t>
            </a:r>
            <a:endParaRPr lang="en-US" sz="525" dirty="0"/>
          </a:p>
        </p:txBody>
      </p:sp>
      <p:sp>
        <p:nvSpPr>
          <p:cNvPr id="79" name="Text 77"/>
          <p:cNvSpPr/>
          <p:nvPr/>
        </p:nvSpPr>
        <p:spPr>
          <a:xfrm>
            <a:off x="5404104" y="3511296"/>
            <a:ext cx="150876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10000"/>
          </a:bodyPr>
          <a:lstStyle/>
          <a:p>
            <a:pPr algn="ctr"/>
            <a:r>
              <a:rPr lang="en-US" sz="1125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125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3061388"/>
              </p:ext>
            </p:extLst>
          </p:nvPr>
        </p:nvGraphicFramePr>
        <p:xfrm>
          <a:off x="6172200" y="809244"/>
          <a:ext cx="2592324" cy="1796796"/>
        </p:xfrm>
        <a:graphic>
          <a:graphicData uri="http://schemas.openxmlformats.org/drawingml/2006/table">
            <a:tbl>
              <a:tblPr/>
              <a:tblGrid>
                <a:gridCol w="672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6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 내용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수정/삭제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버튼 클릭 시 직원 수정 화면 이동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버튼 클릭 시 삭제 확인 처리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퇴사 상태 직원은 삭제 버튼 미노출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목록으로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직원 </a:t>
                      </a:r>
                      <a:r>
                        <a:rPr lang="en-US" sz="600" dirty="0" err="1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</a:t>
                      </a: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r>
                        <a:rPr lang="en-US" sz="600" baseline="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600" baseline="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투입 이력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현재/과거 프로젝트 투입 이력 조회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프로젝트명·고객사·역할·투입기간·투입률·상태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전환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기본정보/투입 이력/기술스택/계약정보 영역 전환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탭 하단 강조선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1" name="Text 78"/>
          <p:cNvSpPr/>
          <p:nvPr/>
        </p:nvSpPr>
        <p:spPr>
          <a:xfrm>
            <a:off x="384048" y="4834890"/>
            <a:ext cx="288036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25" dirty="0">
                <a:solidFill>
                  <a:srgbClr val="3641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본 문서는 화면 설계 검토용이며, 실제 구현 상태와 다를 수 있습니다.</a:t>
            </a:r>
            <a:endParaRPr lang="en-US" sz="525" dirty="0"/>
          </a:p>
        </p:txBody>
      </p:sp>
      <p:sp>
        <p:nvSpPr>
          <p:cNvPr id="82" name="Text 79"/>
          <p:cNvSpPr/>
          <p:nvPr/>
        </p:nvSpPr>
        <p:spPr>
          <a:xfrm>
            <a:off x="8380476" y="4834890"/>
            <a:ext cx="48006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510" dirty="0">
                <a:solidFill>
                  <a:srgbClr val="3641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</a:t>
            </a:r>
            <a:endParaRPr lang="en-US" sz="51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0756893"/>
              </p:ext>
            </p:extLst>
          </p:nvPr>
        </p:nvGraphicFramePr>
        <p:xfrm>
          <a:off x="6165342" y="2708910"/>
          <a:ext cx="2592324" cy="1796796"/>
        </p:xfrm>
        <a:graphic>
          <a:graphicData uri="http://schemas.openxmlformats.org/drawingml/2006/table">
            <a:tbl>
              <a:tblPr/>
              <a:tblGrid>
                <a:gridCol w="672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6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b="1" dirty="0" smtClean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수정 내용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</a:t>
                      </a:r>
                      <a:r>
                        <a:rPr lang="en-US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퇴사 상태일 경우 상단 삭제 버튼 숨기기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</a:t>
                      </a: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수정 버튼 삭제 </a:t>
                      </a:r>
                      <a:r>
                        <a:rPr lang="en-US" altLang="ko-KR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</a:t>
                      </a:r>
                      <a:r>
                        <a:rPr lang="ko-KR" altLang="en-US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수정버튼</a:t>
                      </a: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중복</a:t>
                      </a:r>
                      <a:r>
                        <a:rPr lang="en-US" altLang="ko-KR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투입 이력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프로젝트명</a:t>
                      </a: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클릭시</a:t>
                      </a: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해당 프로젝트 상세화면이동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16040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0"/>
            <a:ext cx="9143771" cy="397764"/>
          </a:xfrm>
          <a:prstGeom prst="rect">
            <a:avLst/>
          </a:prstGeom>
          <a:solidFill>
            <a:srgbClr val="13233D"/>
          </a:solidFill>
          <a:ln w="8890">
            <a:solidFill>
              <a:srgbClr val="1323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1752" y="82296"/>
            <a:ext cx="1371600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78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Peoplify UI 기획서</a:t>
            </a:r>
            <a:endParaRPr lang="en-US" sz="788" dirty="0"/>
          </a:p>
        </p:txBody>
      </p:sp>
      <p:sp>
        <p:nvSpPr>
          <p:cNvPr id="4" name="Text 2"/>
          <p:cNvSpPr/>
          <p:nvPr/>
        </p:nvSpPr>
        <p:spPr>
          <a:xfrm>
            <a:off x="1" y="68580"/>
            <a:ext cx="9143771" cy="24688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12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수정 화면 설계</a:t>
            </a:r>
            <a:endParaRPr lang="en-US" sz="1238" dirty="0"/>
          </a:p>
        </p:txBody>
      </p:sp>
      <p:sp>
        <p:nvSpPr>
          <p:cNvPr id="5" name="Text 3"/>
          <p:cNvSpPr/>
          <p:nvPr/>
        </p:nvSpPr>
        <p:spPr>
          <a:xfrm>
            <a:off x="6768846" y="96012"/>
            <a:ext cx="1920240" cy="16459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563" dirty="0">
                <a:solidFill>
                  <a:srgbClr val="D8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employee 도메인 · /employee/employee-edit/:id</a:t>
            </a:r>
            <a:endParaRPr lang="en-US" sz="563" dirty="0"/>
          </a:p>
        </p:txBody>
      </p:sp>
      <p:sp>
        <p:nvSpPr>
          <p:cNvPr id="6" name="Text 4"/>
          <p:cNvSpPr/>
          <p:nvPr/>
        </p:nvSpPr>
        <p:spPr>
          <a:xfrm>
            <a:off x="8819388" y="96012"/>
            <a:ext cx="150876" cy="16459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6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638" dirty="0"/>
          </a:p>
        </p:txBody>
      </p:sp>
      <p:sp>
        <p:nvSpPr>
          <p:cNvPr id="7" name="Text 5"/>
          <p:cNvSpPr/>
          <p:nvPr/>
        </p:nvSpPr>
        <p:spPr>
          <a:xfrm>
            <a:off x="377190" y="576072"/>
            <a:ext cx="822960" cy="16459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825" b="1" dirty="0">
                <a:solidFill>
                  <a:srgbClr val="132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설계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6240780" y="562356"/>
            <a:ext cx="1234440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10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353044" y="624078"/>
            <a:ext cx="377190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63" b="1" dirty="0">
                <a:solidFill>
                  <a:srgbClr val="0057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검토용</a:t>
            </a:r>
            <a:endParaRPr lang="en-US" sz="563" dirty="0"/>
          </a:p>
        </p:txBody>
      </p:sp>
      <p:sp>
        <p:nvSpPr>
          <p:cNvPr id="10" name="Shape 8"/>
          <p:cNvSpPr/>
          <p:nvPr/>
        </p:nvSpPr>
        <p:spPr>
          <a:xfrm>
            <a:off x="356616" y="740664"/>
            <a:ext cx="5719572" cy="3922776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8890">
            <a:solidFill>
              <a:srgbClr val="D5DD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850392"/>
            <a:ext cx="5500116" cy="3703320"/>
          </a:xfrm>
          <a:prstGeom prst="rect">
            <a:avLst/>
          </a:prstGeom>
          <a:solidFill>
            <a:srgbClr val="1E1D3A"/>
          </a:solidFill>
          <a:ln w="8890">
            <a:solidFill>
              <a:srgbClr val="1E1D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" y="850392"/>
            <a:ext cx="5500116" cy="370332"/>
          </a:xfrm>
          <a:prstGeom prst="rect">
            <a:avLst/>
          </a:prstGeom>
          <a:solidFill>
            <a:srgbClr val="302F50"/>
          </a:solidFill>
          <a:ln w="8890">
            <a:solidFill>
              <a:srgbClr val="302F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" y="850392"/>
            <a:ext cx="1062990" cy="3703320"/>
          </a:xfrm>
          <a:prstGeom prst="rect">
            <a:avLst/>
          </a:prstGeom>
          <a:solidFill>
            <a:srgbClr val="2E2D4E"/>
          </a:solidFill>
          <a:ln w="8890">
            <a:solidFill>
              <a:srgbClr val="2E2D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939546"/>
            <a:ext cx="85725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  인력관리 시스템</a:t>
            </a:r>
            <a:endParaRPr lang="en-US" sz="540" dirty="0"/>
          </a:p>
        </p:txBody>
      </p:sp>
      <p:sp>
        <p:nvSpPr>
          <p:cNvPr id="15" name="Text 13"/>
          <p:cNvSpPr/>
          <p:nvPr/>
        </p:nvSpPr>
        <p:spPr>
          <a:xfrm>
            <a:off x="665226" y="1056132"/>
            <a:ext cx="548640" cy="6858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60" dirty="0">
                <a:solidFill>
                  <a:srgbClr val="C9C7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Peoplify v1.0</a:t>
            </a:r>
            <a:endParaRPr lang="en-US" sz="360" dirty="0"/>
          </a:p>
        </p:txBody>
      </p:sp>
      <p:sp>
        <p:nvSpPr>
          <p:cNvPr id="16" name="Text 14"/>
          <p:cNvSpPr/>
          <p:nvPr/>
        </p:nvSpPr>
        <p:spPr>
          <a:xfrm>
            <a:off x="555498" y="1330452"/>
            <a:ext cx="51435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B6B4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메뉴</a:t>
            </a:r>
            <a:endParaRPr lang="en-US" sz="375" dirty="0"/>
          </a:p>
        </p:txBody>
      </p:sp>
      <p:sp>
        <p:nvSpPr>
          <p:cNvPr id="17" name="Text 15"/>
          <p:cNvSpPr/>
          <p:nvPr/>
        </p:nvSpPr>
        <p:spPr>
          <a:xfrm>
            <a:off x="569214" y="150876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  대시보드</a:t>
            </a:r>
            <a:endParaRPr lang="en-US" sz="450" dirty="0"/>
          </a:p>
        </p:txBody>
      </p:sp>
      <p:sp>
        <p:nvSpPr>
          <p:cNvPr id="18" name="Text 16"/>
          <p:cNvSpPr/>
          <p:nvPr/>
        </p:nvSpPr>
        <p:spPr>
          <a:xfrm>
            <a:off x="569214" y="1776222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♙  직원관리  ˅</a:t>
            </a:r>
            <a:endParaRPr lang="en-US" sz="450" dirty="0"/>
          </a:p>
        </p:txBody>
      </p:sp>
      <p:sp>
        <p:nvSpPr>
          <p:cNvPr id="19" name="Text 17"/>
          <p:cNvSpPr/>
          <p:nvPr/>
        </p:nvSpPr>
        <p:spPr>
          <a:xfrm>
            <a:off x="569214" y="2043684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프로젝트   ˅</a:t>
            </a:r>
            <a:endParaRPr lang="en-US" sz="450" dirty="0"/>
          </a:p>
        </p:txBody>
      </p:sp>
      <p:sp>
        <p:nvSpPr>
          <p:cNvPr id="20" name="Text 18"/>
          <p:cNvSpPr/>
          <p:nvPr/>
        </p:nvSpPr>
        <p:spPr>
          <a:xfrm>
            <a:off x="569214" y="2311146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◴  근태관리   ˅</a:t>
            </a:r>
            <a:endParaRPr lang="en-US" sz="450" dirty="0"/>
          </a:p>
        </p:txBody>
      </p:sp>
      <p:sp>
        <p:nvSpPr>
          <p:cNvPr id="21" name="Text 19"/>
          <p:cNvSpPr/>
          <p:nvPr/>
        </p:nvSpPr>
        <p:spPr>
          <a:xfrm>
            <a:off x="569214" y="2578608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▥  리포트</a:t>
            </a:r>
            <a:endParaRPr lang="en-US" sz="450" dirty="0"/>
          </a:p>
        </p:txBody>
      </p:sp>
      <p:sp>
        <p:nvSpPr>
          <p:cNvPr id="22" name="Text 20"/>
          <p:cNvSpPr/>
          <p:nvPr/>
        </p:nvSpPr>
        <p:spPr>
          <a:xfrm>
            <a:off x="569214" y="284607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A8A6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패럴링(임시)</a:t>
            </a:r>
            <a:endParaRPr lang="en-US" sz="375" dirty="0"/>
          </a:p>
        </p:txBody>
      </p:sp>
      <p:sp>
        <p:nvSpPr>
          <p:cNvPr id="23" name="Text 21"/>
          <p:cNvSpPr/>
          <p:nvPr/>
        </p:nvSpPr>
        <p:spPr>
          <a:xfrm>
            <a:off x="569214" y="305181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  대시보드</a:t>
            </a:r>
            <a:endParaRPr lang="en-US" sz="450" dirty="0"/>
          </a:p>
        </p:txBody>
      </p:sp>
      <p:sp>
        <p:nvSpPr>
          <p:cNvPr id="24" name="Text 22"/>
          <p:cNvSpPr/>
          <p:nvPr/>
        </p:nvSpPr>
        <p:spPr>
          <a:xfrm>
            <a:off x="569214" y="3319272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♙  직원관리  ˅</a:t>
            </a:r>
            <a:endParaRPr lang="en-US" sz="450" dirty="0"/>
          </a:p>
        </p:txBody>
      </p:sp>
      <p:sp>
        <p:nvSpPr>
          <p:cNvPr id="25" name="Text 23"/>
          <p:cNvSpPr/>
          <p:nvPr/>
        </p:nvSpPr>
        <p:spPr>
          <a:xfrm>
            <a:off x="569214" y="3586734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프로젝트   ˅</a:t>
            </a:r>
            <a:endParaRPr lang="en-US" sz="450" dirty="0"/>
          </a:p>
        </p:txBody>
      </p:sp>
      <p:sp>
        <p:nvSpPr>
          <p:cNvPr id="26" name="Text 24"/>
          <p:cNvSpPr/>
          <p:nvPr/>
        </p:nvSpPr>
        <p:spPr>
          <a:xfrm>
            <a:off x="569214" y="3854196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◴  근태관리   ˅</a:t>
            </a:r>
            <a:endParaRPr lang="en-US" sz="450" dirty="0"/>
          </a:p>
        </p:txBody>
      </p:sp>
      <p:sp>
        <p:nvSpPr>
          <p:cNvPr id="27" name="Text 25"/>
          <p:cNvSpPr/>
          <p:nvPr/>
        </p:nvSpPr>
        <p:spPr>
          <a:xfrm>
            <a:off x="569214" y="4121658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▥  리포트</a:t>
            </a:r>
            <a:endParaRPr lang="en-US" sz="450" dirty="0"/>
          </a:p>
        </p:txBody>
      </p:sp>
      <p:sp>
        <p:nvSpPr>
          <p:cNvPr id="28" name="Text 26"/>
          <p:cNvSpPr/>
          <p:nvPr/>
        </p:nvSpPr>
        <p:spPr>
          <a:xfrm>
            <a:off x="569214" y="438912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↪  로그인</a:t>
            </a:r>
            <a:endParaRPr lang="en-US" sz="450" dirty="0"/>
          </a:p>
        </p:txBody>
      </p:sp>
      <p:sp>
        <p:nvSpPr>
          <p:cNvPr id="29" name="Shape 27"/>
          <p:cNvSpPr/>
          <p:nvPr/>
        </p:nvSpPr>
        <p:spPr>
          <a:xfrm>
            <a:off x="1632204" y="932688"/>
            <a:ext cx="192024" cy="205740"/>
          </a:xfrm>
          <a:prstGeom prst="roundRect">
            <a:avLst>
              <a:gd name="adj" fmla="val 14286"/>
            </a:avLst>
          </a:prstGeom>
          <a:solidFill>
            <a:srgbClr val="292848"/>
          </a:solidFill>
          <a:ln w="8890">
            <a:solidFill>
              <a:srgbClr val="3F3E6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52778" y="960120"/>
            <a:ext cx="150876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☰</a:t>
            </a:r>
            <a:endParaRPr lang="en-US" sz="600" dirty="0"/>
          </a:p>
        </p:txBody>
      </p:sp>
      <p:sp>
        <p:nvSpPr>
          <p:cNvPr id="31" name="Shape 29"/>
          <p:cNvSpPr/>
          <p:nvPr/>
        </p:nvSpPr>
        <p:spPr>
          <a:xfrm>
            <a:off x="1885950" y="918972"/>
            <a:ext cx="2023110" cy="233172"/>
          </a:xfrm>
          <a:prstGeom prst="roundRect">
            <a:avLst>
              <a:gd name="adj" fmla="val 14706"/>
            </a:avLst>
          </a:prstGeom>
          <a:solidFill>
            <a:srgbClr val="39385C"/>
          </a:solidFill>
          <a:ln w="8890">
            <a:solidFill>
              <a:srgbClr val="6260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54530" y="960120"/>
            <a:ext cx="154305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65" dirty="0">
                <a:solidFill>
                  <a:srgbClr val="AFAE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⌕  Search or type command...</a:t>
            </a:r>
            <a:endParaRPr lang="en-US" sz="465" dirty="0"/>
          </a:p>
        </p:txBody>
      </p:sp>
      <p:sp>
        <p:nvSpPr>
          <p:cNvPr id="33" name="Shape 31"/>
          <p:cNvSpPr/>
          <p:nvPr/>
        </p:nvSpPr>
        <p:spPr>
          <a:xfrm>
            <a:off x="5232654" y="939546"/>
            <a:ext cx="377190" cy="171450"/>
          </a:xfrm>
          <a:prstGeom prst="roundRect">
            <a:avLst>
              <a:gd name="adj" fmla="val 20000"/>
            </a:avLst>
          </a:prstGeom>
          <a:solidFill>
            <a:srgbClr val="2D2C4D"/>
          </a:solidFill>
          <a:ln w="8890">
            <a:solidFill>
              <a:srgbClr val="2D2C4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2654" y="939546"/>
            <a:ext cx="377190" cy="17145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5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↗</a:t>
            </a:r>
            <a:endParaRPr lang="en-US" sz="555" dirty="0"/>
          </a:p>
        </p:txBody>
      </p:sp>
      <p:sp>
        <p:nvSpPr>
          <p:cNvPr id="35" name="Shape 33"/>
          <p:cNvSpPr/>
          <p:nvPr/>
        </p:nvSpPr>
        <p:spPr>
          <a:xfrm>
            <a:off x="5747004" y="932688"/>
            <a:ext cx="198882" cy="198882"/>
          </a:xfrm>
          <a:prstGeom prst="ellipse">
            <a:avLst/>
          </a:prstGeom>
          <a:solidFill>
            <a:srgbClr val="7C6AF3"/>
          </a:solidFill>
          <a:ln w="8890">
            <a:solidFill>
              <a:srgbClr val="7C6AF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7004" y="932688"/>
            <a:ext cx="198882" cy="19888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2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525" dirty="0"/>
          </a:p>
        </p:txBody>
      </p:sp>
      <p:sp>
        <p:nvSpPr>
          <p:cNvPr id="37" name="Text 35"/>
          <p:cNvSpPr/>
          <p:nvPr/>
        </p:nvSpPr>
        <p:spPr>
          <a:xfrm>
            <a:off x="1892808" y="1440180"/>
            <a:ext cx="96012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dirty="0">
                <a:solidFill>
                  <a:srgbClr val="AFAE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직원관리  ›  윤지수</a:t>
            </a:r>
            <a:endParaRPr lang="en-US" sz="450" dirty="0"/>
          </a:p>
        </p:txBody>
      </p:sp>
      <p:sp>
        <p:nvSpPr>
          <p:cNvPr id="38" name="Text 36"/>
          <p:cNvSpPr/>
          <p:nvPr/>
        </p:nvSpPr>
        <p:spPr>
          <a:xfrm>
            <a:off x="1892808" y="1577340"/>
            <a:ext cx="857250" cy="17830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수정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892808" y="1817370"/>
            <a:ext cx="3963924" cy="1062990"/>
          </a:xfrm>
          <a:prstGeom prst="roundRect">
            <a:avLst>
              <a:gd name="adj" fmla="val 4516"/>
            </a:avLst>
          </a:prstGeom>
          <a:solidFill>
            <a:srgbClr val="333253"/>
          </a:solidFill>
          <a:ln w="8890">
            <a:solidFill>
              <a:srgbClr val="59577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95678" y="1899666"/>
            <a:ext cx="171450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20000"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167128" y="1906524"/>
            <a:ext cx="54864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정보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2029968" y="2105406"/>
            <a:ext cx="37719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*</a:t>
            </a:r>
            <a:endParaRPr lang="en-US" sz="480" dirty="0"/>
          </a:p>
        </p:txBody>
      </p:sp>
      <p:sp>
        <p:nvSpPr>
          <p:cNvPr id="43" name="Text 41"/>
          <p:cNvSpPr/>
          <p:nvPr/>
        </p:nvSpPr>
        <p:spPr>
          <a:xfrm>
            <a:off x="3915918" y="2105406"/>
            <a:ext cx="37719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*</a:t>
            </a:r>
            <a:endParaRPr lang="en-US" sz="480" dirty="0"/>
          </a:p>
        </p:txBody>
      </p:sp>
      <p:sp>
        <p:nvSpPr>
          <p:cNvPr id="44" name="Shape 42"/>
          <p:cNvSpPr/>
          <p:nvPr/>
        </p:nvSpPr>
        <p:spPr>
          <a:xfrm>
            <a:off x="2029968" y="2215134"/>
            <a:ext cx="1769364" cy="185166"/>
          </a:xfrm>
          <a:prstGeom prst="roundRect">
            <a:avLst>
              <a:gd name="adj" fmla="val 14815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077974" y="2215134"/>
            <a:ext cx="1673352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윤지수</a:t>
            </a:r>
            <a:endParaRPr lang="en-US" sz="540" dirty="0"/>
          </a:p>
        </p:txBody>
      </p:sp>
      <p:sp>
        <p:nvSpPr>
          <p:cNvPr id="46" name="Shape 44"/>
          <p:cNvSpPr/>
          <p:nvPr/>
        </p:nvSpPr>
        <p:spPr>
          <a:xfrm>
            <a:off x="3915918" y="2215134"/>
            <a:ext cx="1769364" cy="185166"/>
          </a:xfrm>
          <a:prstGeom prst="roundRect">
            <a:avLst>
              <a:gd name="adj" fmla="val 14815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63924" y="2215134"/>
            <a:ext cx="1673352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jisu.yoon@peoplify.com</a:t>
            </a:r>
            <a:endParaRPr lang="en-US" sz="540" dirty="0"/>
          </a:p>
        </p:txBody>
      </p:sp>
      <p:sp>
        <p:nvSpPr>
          <p:cNvPr id="48" name="Text 46"/>
          <p:cNvSpPr/>
          <p:nvPr/>
        </p:nvSpPr>
        <p:spPr>
          <a:xfrm>
            <a:off x="2029968" y="2462022"/>
            <a:ext cx="41148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연락처 *</a:t>
            </a:r>
            <a:endParaRPr lang="en-US" sz="480" dirty="0"/>
          </a:p>
        </p:txBody>
      </p:sp>
      <p:sp>
        <p:nvSpPr>
          <p:cNvPr id="49" name="Text 47"/>
          <p:cNvSpPr/>
          <p:nvPr/>
        </p:nvSpPr>
        <p:spPr>
          <a:xfrm>
            <a:off x="3915918" y="2462022"/>
            <a:ext cx="41148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입사일 *</a:t>
            </a:r>
            <a:endParaRPr lang="en-US" sz="480" dirty="0"/>
          </a:p>
        </p:txBody>
      </p:sp>
      <p:sp>
        <p:nvSpPr>
          <p:cNvPr id="50" name="Shape 48"/>
          <p:cNvSpPr/>
          <p:nvPr/>
        </p:nvSpPr>
        <p:spPr>
          <a:xfrm>
            <a:off x="2029968" y="2571750"/>
            <a:ext cx="1769364" cy="185166"/>
          </a:xfrm>
          <a:prstGeom prst="roundRect">
            <a:avLst>
              <a:gd name="adj" fmla="val 14815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077974" y="2571750"/>
            <a:ext cx="1673352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010-1001-0005</a:t>
            </a:r>
            <a:endParaRPr lang="en-US" sz="540" dirty="0"/>
          </a:p>
        </p:txBody>
      </p:sp>
      <p:sp>
        <p:nvSpPr>
          <p:cNvPr id="52" name="Shape 50"/>
          <p:cNvSpPr/>
          <p:nvPr/>
        </p:nvSpPr>
        <p:spPr>
          <a:xfrm>
            <a:off x="3915918" y="2571750"/>
            <a:ext cx="1769364" cy="185166"/>
          </a:xfrm>
          <a:prstGeom prst="roundRect">
            <a:avLst>
              <a:gd name="adj" fmla="val 14815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63924" y="2571750"/>
            <a:ext cx="1673352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2018-08-31</a:t>
            </a:r>
            <a:endParaRPr lang="en-US" sz="540" dirty="0"/>
          </a:p>
        </p:txBody>
      </p:sp>
      <p:sp>
        <p:nvSpPr>
          <p:cNvPr id="54" name="Shape 52"/>
          <p:cNvSpPr/>
          <p:nvPr/>
        </p:nvSpPr>
        <p:spPr>
          <a:xfrm>
            <a:off x="1892808" y="2914650"/>
            <a:ext cx="3963924" cy="562356"/>
          </a:xfrm>
          <a:prstGeom prst="roundRect">
            <a:avLst>
              <a:gd name="adj" fmla="val 8537"/>
            </a:avLst>
          </a:prstGeom>
          <a:solidFill>
            <a:srgbClr val="333253"/>
          </a:solidFill>
          <a:ln w="8890">
            <a:solidFill>
              <a:srgbClr val="59577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95678" y="2983230"/>
            <a:ext cx="171450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20000"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2167128" y="2990088"/>
            <a:ext cx="58293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재직 상태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2029968" y="3188970"/>
            <a:ext cx="54864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재직 상태 *</a:t>
            </a:r>
            <a:endParaRPr lang="en-US" sz="480" dirty="0"/>
          </a:p>
        </p:txBody>
      </p:sp>
      <p:sp>
        <p:nvSpPr>
          <p:cNvPr id="58" name="Shape 56"/>
          <p:cNvSpPr/>
          <p:nvPr/>
        </p:nvSpPr>
        <p:spPr>
          <a:xfrm>
            <a:off x="2029968" y="3291840"/>
            <a:ext cx="1769364" cy="171450"/>
          </a:xfrm>
          <a:prstGeom prst="roundRect">
            <a:avLst>
              <a:gd name="adj" fmla="val 16000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077974" y="3291840"/>
            <a:ext cx="1673352" cy="17145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재직                                      ⌄</a:t>
            </a:r>
            <a:endParaRPr lang="en-US" sz="540" dirty="0"/>
          </a:p>
        </p:txBody>
      </p:sp>
      <p:sp>
        <p:nvSpPr>
          <p:cNvPr id="60" name="Shape 58"/>
          <p:cNvSpPr/>
          <p:nvPr/>
        </p:nvSpPr>
        <p:spPr>
          <a:xfrm>
            <a:off x="1892808" y="3518154"/>
            <a:ext cx="3963924" cy="822960"/>
          </a:xfrm>
          <a:prstGeom prst="roundRect">
            <a:avLst>
              <a:gd name="adj" fmla="val 5833"/>
            </a:avLst>
          </a:prstGeom>
          <a:solidFill>
            <a:srgbClr val="333253"/>
          </a:solidFill>
          <a:ln w="8890">
            <a:solidFill>
              <a:srgbClr val="59577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995678" y="3586734"/>
            <a:ext cx="171450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20000"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2167128" y="3593592"/>
            <a:ext cx="51435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기술스택</a:t>
            </a:r>
            <a:endParaRPr lang="en-US" sz="600" dirty="0"/>
          </a:p>
        </p:txBody>
      </p:sp>
      <p:sp>
        <p:nvSpPr>
          <p:cNvPr id="63" name="Shape 61"/>
          <p:cNvSpPr/>
          <p:nvPr/>
        </p:nvSpPr>
        <p:spPr>
          <a:xfrm>
            <a:off x="2029968" y="3785616"/>
            <a:ext cx="3689604" cy="274320"/>
          </a:xfrm>
          <a:prstGeom prst="roundRect">
            <a:avLst>
              <a:gd name="adj" fmla="val 12500"/>
            </a:avLst>
          </a:prstGeom>
          <a:solidFill>
            <a:srgbClr val="333253"/>
          </a:solidFill>
          <a:ln w="8890">
            <a:solidFill>
              <a:srgbClr val="4F4D7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132838" y="3854196"/>
            <a:ext cx="342900" cy="137160"/>
          </a:xfrm>
          <a:prstGeom prst="roundRect">
            <a:avLst>
              <a:gd name="adj" fmla="val 40000"/>
            </a:avLst>
          </a:prstGeom>
          <a:solidFill>
            <a:srgbClr val="37365A"/>
          </a:solidFill>
          <a:ln w="8890">
            <a:solidFill>
              <a:srgbClr val="56548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132838" y="3854196"/>
            <a:ext cx="342900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435" dirty="0">
                <a:solidFill>
                  <a:srgbClr val="EFE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PMP  ×</a:t>
            </a:r>
            <a:endParaRPr lang="en-US" sz="435" dirty="0"/>
          </a:p>
        </p:txBody>
      </p:sp>
      <p:sp>
        <p:nvSpPr>
          <p:cNvPr id="66" name="Shape 64"/>
          <p:cNvSpPr/>
          <p:nvPr/>
        </p:nvSpPr>
        <p:spPr>
          <a:xfrm>
            <a:off x="2633472" y="3854196"/>
            <a:ext cx="397764" cy="137160"/>
          </a:xfrm>
          <a:prstGeom prst="roundRect">
            <a:avLst>
              <a:gd name="adj" fmla="val 40000"/>
            </a:avLst>
          </a:prstGeom>
          <a:solidFill>
            <a:srgbClr val="37365A"/>
          </a:solidFill>
          <a:ln w="8890">
            <a:solidFill>
              <a:srgbClr val="565481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633472" y="3854196"/>
            <a:ext cx="397764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435" dirty="0">
                <a:solidFill>
                  <a:srgbClr val="EFE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Jira  ×</a:t>
            </a:r>
            <a:endParaRPr lang="en-US" sz="435" dirty="0"/>
          </a:p>
        </p:txBody>
      </p:sp>
      <p:sp>
        <p:nvSpPr>
          <p:cNvPr id="68" name="Shape 66"/>
          <p:cNvSpPr/>
          <p:nvPr/>
        </p:nvSpPr>
        <p:spPr>
          <a:xfrm>
            <a:off x="3140964" y="3854196"/>
            <a:ext cx="589788" cy="137160"/>
          </a:xfrm>
          <a:prstGeom prst="roundRect">
            <a:avLst>
              <a:gd name="adj" fmla="val 40000"/>
            </a:avLst>
          </a:prstGeom>
          <a:solidFill>
            <a:srgbClr val="37365A"/>
          </a:solidFill>
          <a:ln w="8890">
            <a:solidFill>
              <a:srgbClr val="56548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140964" y="3854196"/>
            <a:ext cx="589788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435" dirty="0">
                <a:solidFill>
                  <a:srgbClr val="EFE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Confluence  ×</a:t>
            </a:r>
            <a:endParaRPr lang="en-US" sz="435" dirty="0"/>
          </a:p>
        </p:txBody>
      </p:sp>
      <p:sp>
        <p:nvSpPr>
          <p:cNvPr id="70" name="Shape 68"/>
          <p:cNvSpPr/>
          <p:nvPr/>
        </p:nvSpPr>
        <p:spPr>
          <a:xfrm>
            <a:off x="2029968" y="4135374"/>
            <a:ext cx="3463290" cy="192024"/>
          </a:xfrm>
          <a:prstGeom prst="roundRect">
            <a:avLst>
              <a:gd name="adj" fmla="val 14286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077974" y="4135374"/>
            <a:ext cx="3367278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기술스택 직접 입력...</a:t>
            </a:r>
            <a:endParaRPr lang="en-US" sz="540" dirty="0"/>
          </a:p>
        </p:txBody>
      </p:sp>
      <p:sp>
        <p:nvSpPr>
          <p:cNvPr id="72" name="Shape 70"/>
          <p:cNvSpPr/>
          <p:nvPr/>
        </p:nvSpPr>
        <p:spPr>
          <a:xfrm>
            <a:off x="5548122" y="4135374"/>
            <a:ext cx="171450" cy="192024"/>
          </a:xfrm>
          <a:prstGeom prst="roundRect">
            <a:avLst>
              <a:gd name="adj" fmla="val 16000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48122" y="4142232"/>
            <a:ext cx="171450" cy="17145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6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</a:t>
            </a:r>
            <a:endParaRPr lang="en-US" sz="675" dirty="0"/>
          </a:p>
        </p:txBody>
      </p:sp>
      <p:sp>
        <p:nvSpPr>
          <p:cNvPr id="74" name="Shape 72"/>
          <p:cNvSpPr/>
          <p:nvPr/>
        </p:nvSpPr>
        <p:spPr>
          <a:xfrm>
            <a:off x="5218938" y="4299966"/>
            <a:ext cx="288036" cy="185166"/>
          </a:xfrm>
          <a:prstGeom prst="roundRect">
            <a:avLst>
              <a:gd name="adj" fmla="val 18519"/>
            </a:avLst>
          </a:prstGeom>
          <a:solidFill>
            <a:srgbClr val="302F50"/>
          </a:solidFill>
          <a:ln w="8890">
            <a:solidFill>
              <a:srgbClr val="302F5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218938" y="4299966"/>
            <a:ext cx="288036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5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555" dirty="0"/>
          </a:p>
        </p:txBody>
      </p:sp>
      <p:sp>
        <p:nvSpPr>
          <p:cNvPr id="76" name="Shape 74"/>
          <p:cNvSpPr/>
          <p:nvPr/>
        </p:nvSpPr>
        <p:spPr>
          <a:xfrm>
            <a:off x="5575554" y="4299966"/>
            <a:ext cx="288036" cy="185166"/>
          </a:xfrm>
          <a:prstGeom prst="roundRect">
            <a:avLst>
              <a:gd name="adj" fmla="val 18519"/>
            </a:avLst>
          </a:prstGeom>
          <a:solidFill>
            <a:srgbClr val="5E50D5"/>
          </a:solidFill>
          <a:ln w="8890">
            <a:solidFill>
              <a:srgbClr val="5E50D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575554" y="4299966"/>
            <a:ext cx="288036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5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555" dirty="0"/>
          </a:p>
        </p:txBody>
      </p:sp>
      <p:sp>
        <p:nvSpPr>
          <p:cNvPr id="78" name="Text 76"/>
          <p:cNvSpPr/>
          <p:nvPr/>
        </p:nvSpPr>
        <p:spPr>
          <a:xfrm>
            <a:off x="5445252" y="4162806"/>
            <a:ext cx="171450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20000"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2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/>
          </p:nvPr>
        </p:nvGraphicFramePr>
        <p:xfrm>
          <a:off x="6172200" y="809244"/>
          <a:ext cx="2592324" cy="1421892"/>
        </p:xfrm>
        <a:graphic>
          <a:graphicData uri="http://schemas.openxmlformats.org/drawingml/2006/table">
            <a:tbl>
              <a:tblPr/>
              <a:tblGrid>
                <a:gridCol w="672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6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 내용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3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기본 정보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이름/이메일/연락처/입사일/부서/직급 입력 및 수정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03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재직 상태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재직/휴직/퇴사 등 상태값 수정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퇴사 상태 선택 시 저장 전 확인 필요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03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기술스택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보유 기술 태그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입력 후 + 버튼 또는 Enter로 태그 추가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03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 저장/취소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취소: 직원 상세 화면으로 복귀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저장: 수정 데이터 반영 후 상세 화면 이동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0" name="Text 77"/>
          <p:cNvSpPr/>
          <p:nvPr/>
        </p:nvSpPr>
        <p:spPr>
          <a:xfrm>
            <a:off x="384048" y="4834890"/>
            <a:ext cx="288036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25" dirty="0">
                <a:solidFill>
                  <a:srgbClr val="3641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본 문서는 화면 설계 검토용이며, 실제 구현 상태와 다를 수 있습니다.</a:t>
            </a:r>
            <a:endParaRPr lang="en-US" sz="525" dirty="0"/>
          </a:p>
        </p:txBody>
      </p:sp>
      <p:sp>
        <p:nvSpPr>
          <p:cNvPr id="81" name="Text 78"/>
          <p:cNvSpPr/>
          <p:nvPr/>
        </p:nvSpPr>
        <p:spPr>
          <a:xfrm>
            <a:off x="8380476" y="4834890"/>
            <a:ext cx="48006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510" dirty="0">
                <a:solidFill>
                  <a:srgbClr val="3641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</a:t>
            </a:r>
            <a:endParaRPr lang="en-US" sz="51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0355687"/>
              </p:ext>
            </p:extLst>
          </p:nvPr>
        </p:nvGraphicFramePr>
        <p:xfrm>
          <a:off x="6165342" y="2658781"/>
          <a:ext cx="2592324" cy="841248"/>
        </p:xfrm>
        <a:graphic>
          <a:graphicData uri="http://schemas.openxmlformats.org/drawingml/2006/table">
            <a:tbl>
              <a:tblPr/>
              <a:tblGrid>
                <a:gridCol w="672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6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b="1" dirty="0" smtClean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수정</a:t>
                      </a:r>
                      <a:r>
                        <a:rPr lang="en-US" altLang="ko-KR" sz="600" b="1" dirty="0" smtClean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/</a:t>
                      </a:r>
                      <a:r>
                        <a:rPr lang="ko-KR" altLang="en-US" sz="600" b="1" dirty="0" smtClean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추가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3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 </a:t>
                      </a: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정보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입사일 </a:t>
                      </a:r>
                      <a:r>
                        <a:rPr lang="en-US" altLang="ko-KR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datepiker</a:t>
                      </a:r>
                      <a:r>
                        <a:rPr lang="en-US" altLang="ko-KR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03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 </a:t>
                      </a:r>
                      <a:r>
                        <a:rPr lang="en-US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</a:t>
                      </a: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/예외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필수값 미입력 시 해당 입력값 붉은 테두리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입력창 하단에 안내 문구 노출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4" name="Text 38"/>
          <p:cNvSpPr/>
          <p:nvPr/>
        </p:nvSpPr>
        <p:spPr>
          <a:xfrm>
            <a:off x="3753612" y="2431161"/>
            <a:ext cx="171450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20000"/>
          </a:bodyPr>
          <a:lstStyle/>
          <a:p>
            <a:pPr algn="ctr"/>
            <a:r>
              <a:rPr lang="en-US" sz="1200" b="1" dirty="0" smtClean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1200" dirty="0"/>
          </a:p>
        </p:txBody>
      </p:sp>
      <p:pic>
        <p:nvPicPr>
          <p:cNvPr id="85" name="그림 8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570927"/>
            <a:ext cx="1928081" cy="703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48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상세 (투입 이력 탭 추가)  ·  /employees/:id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0" y="1563624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0" y="1563624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직원 목록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572768" y="106070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직원 상세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863840" y="1060704"/>
            <a:ext cx="54864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7863840" y="10607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수정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449056" y="1060704"/>
            <a:ext cx="530352" cy="25603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8449056" y="1060704"/>
            <a:ext cx="530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삭제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572768" y="1426464"/>
            <a:ext cx="2331720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2286000" y="1591056"/>
            <a:ext cx="914400" cy="91440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2286000" y="15910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D4E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김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1664208" y="2596896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김민준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664208" y="2852928"/>
            <a:ext cx="2148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 · 과장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459736" y="3090672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2459736" y="30906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682496" y="3364992"/>
            <a:ext cx="210312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1682496" y="3456432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350008" y="345643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kim.mj@...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682496" y="3749040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연락처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350008" y="3749040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010-1234-5678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682496" y="404164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입사일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0008" y="4041648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2021.03.15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682496" y="4334256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현투입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350008" y="4334256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682496" y="4626864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350008" y="4626864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041648" y="1426464"/>
            <a:ext cx="4983480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4041648" y="1426464"/>
            <a:ext cx="1243584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4041648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기본정보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85232" y="1426464"/>
            <a:ext cx="1243584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5285232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이력 ★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85232" y="1700784"/>
            <a:ext cx="1243584" cy="274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6528816" y="1426464"/>
            <a:ext cx="1243584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6528816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72400" y="1426464"/>
            <a:ext cx="1243584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7772400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계약정보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4151376" y="1810512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투입 이력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114800" y="2066544"/>
            <a:ext cx="140817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4151376" y="2066544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486400" y="2066544"/>
            <a:ext cx="85953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5522976" y="2066544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고객사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309360" y="2066544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6345936" y="206654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6812280" y="2066544"/>
            <a:ext cx="1298448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6848856" y="2066544"/>
            <a:ext cx="12618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투입기간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8074152" y="2066544"/>
            <a:ext cx="49377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8110728" y="2066544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8531352" y="2066544"/>
            <a:ext cx="512064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8567928" y="2066544"/>
            <a:ext cx="4754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041648" y="2322576"/>
            <a:ext cx="498348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9"/>
          <p:cNvSpPr/>
          <p:nvPr/>
        </p:nvSpPr>
        <p:spPr>
          <a:xfrm>
            <a:off x="4151376" y="2322576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522976" y="2322576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6345936" y="23225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6848856" y="2322576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25.03~26.09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110728" y="2322576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567928" y="2404872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Text 75"/>
          <p:cNvSpPr/>
          <p:nvPr/>
        </p:nvSpPr>
        <p:spPr>
          <a:xfrm>
            <a:off x="8567928" y="24048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151376" y="267004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5522976" y="2670048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6345936" y="267004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6848856" y="2670048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24.01~24.12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8110728" y="2670048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8567928" y="2752344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/>
          <p:cNvSpPr/>
          <p:nvPr/>
        </p:nvSpPr>
        <p:spPr>
          <a:xfrm>
            <a:off x="8567928" y="275234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4041648" y="3017520"/>
            <a:ext cx="498348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Text 84"/>
          <p:cNvSpPr/>
          <p:nvPr/>
        </p:nvSpPr>
        <p:spPr>
          <a:xfrm>
            <a:off x="4151376" y="301752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 ERP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5522976" y="301752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6345936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6848856" y="3017520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23.03~23.12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8110728" y="301752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8567928" y="3099816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Text 90"/>
          <p:cNvSpPr/>
          <p:nvPr/>
        </p:nvSpPr>
        <p:spPr>
          <a:xfrm>
            <a:off x="8567928" y="309981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4151376" y="336499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 물류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5522976" y="3364992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6345936" y="33649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6848856" y="3364992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22.01~22.12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8110728" y="336499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8567928" y="3447288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9" name="Text 97"/>
          <p:cNvSpPr/>
          <p:nvPr/>
        </p:nvSpPr>
        <p:spPr>
          <a:xfrm>
            <a:off x="8567928" y="344728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4041648" y="3712464"/>
            <a:ext cx="498348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1" name="Text 99"/>
          <p:cNvSpPr/>
          <p:nvPr/>
        </p:nvSpPr>
        <p:spPr>
          <a:xfrm>
            <a:off x="4151376" y="3712464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CRM</a:t>
            </a:r>
            <a:endParaRPr lang="en-US" sz="800" dirty="0"/>
          </a:p>
        </p:txBody>
      </p:sp>
      <p:sp>
        <p:nvSpPr>
          <p:cNvPr id="102" name="Text 100"/>
          <p:cNvSpPr/>
          <p:nvPr/>
        </p:nvSpPr>
        <p:spPr>
          <a:xfrm>
            <a:off x="5522976" y="3712464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6345936" y="371246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00" dirty="0"/>
          </a:p>
        </p:txBody>
      </p:sp>
      <p:sp>
        <p:nvSpPr>
          <p:cNvPr id="104" name="Text 102"/>
          <p:cNvSpPr/>
          <p:nvPr/>
        </p:nvSpPr>
        <p:spPr>
          <a:xfrm>
            <a:off x="6848856" y="3712464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21.03~22.12</a:t>
            </a:r>
            <a:endParaRPr lang="en-US" sz="800" dirty="0"/>
          </a:p>
        </p:txBody>
      </p:sp>
      <p:sp>
        <p:nvSpPr>
          <p:cNvPr id="105" name="Text 103"/>
          <p:cNvSpPr/>
          <p:nvPr/>
        </p:nvSpPr>
        <p:spPr>
          <a:xfrm>
            <a:off x="8110728" y="3712464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8567928" y="3794760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7" name="Text 105"/>
          <p:cNvSpPr/>
          <p:nvPr/>
        </p:nvSpPr>
        <p:spPr>
          <a:xfrm>
            <a:off x="8567928" y="379476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90748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레이아웃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Layout  ·  모든 화면 공통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2194560" y="960120"/>
            <a:ext cx="52120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2331720" y="1078992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사이드바 메뉴 구성 (변경)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331720" y="1389888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2423160" y="138988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749040" y="1389888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중심 KPI·프로젝트 현황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331720" y="1792224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2423160" y="1792224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749040" y="1792224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목록·상세·등록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331720" y="2194560"/>
            <a:ext cx="4937760" cy="347472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2423160" y="219456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★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749040" y="219456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목록·등록·상세·인력 배정·투입 현황 (신규)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223760" y="2267712"/>
            <a:ext cx="457200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7223760" y="2267712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331720" y="2596896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2423160" y="2596896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749040" y="2596896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근무 보고·휴가 관리 (간소화)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331720" y="2999232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2423160" y="299923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749040" y="299923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투입률·인력 분석 통계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3456432"/>
            <a:ext cx="493776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2331720" y="3529584"/>
            <a:ext cx="4937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헤더: 전역 검색 · 알림 · 사용자 아바타  ③ 콘텐츠 영역: 패딩 20px · 카드 그룹핑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194560" y="3950208"/>
            <a:ext cx="5212080" cy="329184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2304288" y="395020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Login 화면은 사이드바/헤더 없이 단독 레이아웃  |  근무일정(교대 배정) 메뉴 삭제됨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목록  ·  /projects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프로젝트 관리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프로젝트 등록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572768" y="1207008"/>
            <a:ext cx="129844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1572768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(5)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572768" y="1444752"/>
            <a:ext cx="1298448" cy="274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2926080" y="1207008"/>
            <a:ext cx="129844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2926080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 (3)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279392" y="1207008"/>
            <a:ext cx="129844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279392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 (1)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632704" y="1207008"/>
            <a:ext cx="129844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5632704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예정 (1)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1572768" y="1517904"/>
            <a:ext cx="7406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1682496" y="1627632"/>
            <a:ext cx="20116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1737360" y="162763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프로젝트명·고객사 검색...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822192" y="1627632"/>
            <a:ext cx="100584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3877056" y="1627632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▾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937760" y="1627632"/>
            <a:ext cx="9144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4992624" y="162763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▾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572768" y="204825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1700784" y="212140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 코어뱅킹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700784" y="235915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A금융그룹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151376" y="212140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2025.03 ~ 2026.12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888736" y="212140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7명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675120" y="212140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151376" y="230428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Java/Spring/Oracle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680960" y="223113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7680960" y="223113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8321040" y="221284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8321040" y="221284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1572768" y="268833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1700784" y="276148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 ERP 구축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700784" y="299923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151376" y="276148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2025.06 ~ 2026.06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888736" y="276148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5명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675120" y="276148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151376" y="294436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SAP/ABAP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680960" y="287121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7680960" y="287121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8321040" y="285292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8321040" y="285292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1572768" y="332841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1700784" y="340156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 고도화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1700784" y="363931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4151376" y="340156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2024.12 ~ 2026.03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5888736" y="340156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8명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675120" y="340156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151376" y="358444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Java/React/MySQL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7680960" y="351129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7680960" y="351129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8321040" y="349300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Text 72"/>
          <p:cNvSpPr/>
          <p:nvPr/>
        </p:nvSpPr>
        <p:spPr>
          <a:xfrm>
            <a:off x="8321040" y="349300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572768" y="396849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6" name="Text 74"/>
          <p:cNvSpPr/>
          <p:nvPr/>
        </p:nvSpPr>
        <p:spPr>
          <a:xfrm>
            <a:off x="1700784" y="4041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 물류 시스템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1700784" y="427939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4151376" y="404164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~ 2027.06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5888736" y="404164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0명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6675120" y="40416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—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4151376" y="422452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MSA/K8s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7680960" y="4151376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Text 81"/>
          <p:cNvSpPr/>
          <p:nvPr/>
        </p:nvSpPr>
        <p:spPr>
          <a:xfrm>
            <a:off x="7680960" y="415137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예정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8321040" y="413308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Text 83"/>
          <p:cNvSpPr/>
          <p:nvPr/>
        </p:nvSpPr>
        <p:spPr>
          <a:xfrm>
            <a:off x="8321040" y="413308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1572768" y="460857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7" name="Text 85"/>
          <p:cNvSpPr/>
          <p:nvPr/>
        </p:nvSpPr>
        <p:spPr>
          <a:xfrm>
            <a:off x="1700784" y="468172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CRM 재구축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1700784" y="491947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4151376" y="468172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2024.01 ~ 2025.12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5888736" y="46817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6명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6675120" y="468172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4151376" y="486460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Python/Django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7680960" y="4791456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Text 92"/>
          <p:cNvSpPr/>
          <p:nvPr/>
        </p:nvSpPr>
        <p:spPr>
          <a:xfrm>
            <a:off x="7680960" y="479145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8321040" y="477316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6" name="Text 94"/>
          <p:cNvSpPr/>
          <p:nvPr/>
        </p:nvSpPr>
        <p:spPr>
          <a:xfrm>
            <a:off x="8321040" y="477316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등록 / 수정  ·  /projects/new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72768" y="877824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1D4ED8"/>
                </a:solidFill>
                <a:latin typeface="Calibri"/>
              </a:rPr>
              <a:t>← 프로젝트 목록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72768" y="1060704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1E293B"/>
                </a:solidFill>
                <a:latin typeface="Calibri"/>
              </a:rPr>
              <a:t>프로젝트 등록 / 수정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72768" y="1325880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신규 프로젝트 정보를 입력하고 저장하면 프로젝트 목록·대시보드에 즉시 반영됩니다.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72768" y="1572768"/>
            <a:ext cx="7406640" cy="25968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276088" y="1792224"/>
            <a:ext cx="9525" cy="2139696"/>
          </a:xfrm>
          <a:prstGeom prst="rect">
            <a:avLst/>
          </a:prstGeom>
          <a:solidFill>
            <a:srgbClr val="DE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783080" y="1682496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1E293B"/>
                </a:solidFill>
                <a:latin typeface="Calibri"/>
              </a:rPr>
              <a:t>기본 정보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1682496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1E293B"/>
                </a:solidFill>
                <a:latin typeface="Calibri"/>
              </a:rPr>
              <a:t>계약 · 인력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3080" y="1901952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프로젝트명 *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83080" y="2057400"/>
            <a:ext cx="3246120" cy="237744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856231" y="2057400"/>
            <a:ext cx="309981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예 : F금융 차세대 시스템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3957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고객사 *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783080" y="2551176"/>
            <a:ext cx="3246120" cy="237744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856231" y="2551176"/>
            <a:ext cx="309981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고객사명 입력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83080" y="2889504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계약 기간 *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783080" y="3044952"/>
            <a:ext cx="1554480" cy="237744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856231" y="3044952"/>
            <a:ext cx="140817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2026.07.01  📅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74720" y="3044952"/>
            <a:ext cx="1554480" cy="237744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547872" y="3044952"/>
            <a:ext cx="140817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2027.06.30  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3383280"/>
            <a:ext cx="324612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상태 *   ( 예정 · 진행중 · 완료 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783080" y="3538728"/>
            <a:ext cx="3246120" cy="237744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856231" y="3538728"/>
            <a:ext cx="309981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예정  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40680" y="1901952"/>
            <a:ext cx="333756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PM (프로젝트 매니저) *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40680" y="2057400"/>
            <a:ext cx="3337560" cy="237744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513832" y="2057400"/>
            <a:ext cx="319125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직원 선택  ▾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80" y="2395728"/>
            <a:ext cx="333756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계약 형태 *               계약 금액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40680" y="2551176"/>
            <a:ext cx="1600200" cy="237744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513832" y="2551176"/>
            <a:ext cx="145389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도급  ▾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178040" y="2551176"/>
            <a:ext cx="1600200" cy="237744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251192" y="2551176"/>
            <a:ext cx="145389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예 : 12억 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80" y="2889504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기술 스택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40680" y="3044952"/>
            <a:ext cx="3337560" cy="384048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5532120" y="3127248"/>
            <a:ext cx="585216" cy="219456"/>
          </a:xfrm>
          <a:prstGeom prst="roundRect">
            <a:avLst>
              <a:gd name="adj" fmla="val 18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532120" y="3127248"/>
            <a:ext cx="58521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3730A3"/>
                </a:solidFill>
                <a:latin typeface="Calibri"/>
              </a:rPr>
              <a:t>Java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90488" y="3127248"/>
            <a:ext cx="740664" cy="219456"/>
          </a:xfrm>
          <a:prstGeom prst="roundRect">
            <a:avLst>
              <a:gd name="adj" fmla="val 18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190488" y="3127248"/>
            <a:ext cx="74066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3730A3"/>
                </a:solidFill>
                <a:latin typeface="Calibri"/>
              </a:rPr>
              <a:t>Spring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04303" y="3127248"/>
            <a:ext cx="740664" cy="219456"/>
          </a:xfrm>
          <a:prstGeom prst="roundRect">
            <a:avLst>
              <a:gd name="adj" fmla="val 18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004303" y="3127248"/>
            <a:ext cx="74066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3730A3"/>
                </a:solidFill>
                <a:latin typeface="Calibri"/>
              </a:rPr>
              <a:t>Oracle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36407" y="312724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+ 기술 추가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40680" y="3529584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비고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40680" y="3675887"/>
            <a:ext cx="3337560" cy="3657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513832" y="3675887"/>
            <a:ext cx="31912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현장·계약 관련 특이사항 입력...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693408" y="4261104"/>
            <a:ext cx="1078992" cy="2926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693408" y="4261104"/>
            <a:ext cx="1078992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취소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82127" y="4261104"/>
            <a:ext cx="1097280" cy="292608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 w="952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882127" y="4261104"/>
            <a:ext cx="10972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저장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572768" y="4645152"/>
            <a:ext cx="7406640" cy="2743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700784" y="4645152"/>
            <a:ext cx="7223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B45309"/>
                </a:solidFill>
                <a:latin typeface="Calibri"/>
              </a:rPr>
              <a:t>⚠  저장 시 프로젝트 목록·대시보드 KPI에 즉시 반영  ·  인력 배정은 [인력 배정] 화면에서 진행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상세  ·  /projects/:id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프로젝트 목록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572768" y="106070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A금융 차세대 코어뱅킹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699248" y="1060704"/>
            <a:ext cx="65836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7699248" y="1060704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수정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394192" y="1060704"/>
            <a:ext cx="585216" cy="2743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8394192" y="1060704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 배정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572768" y="1444752"/>
            <a:ext cx="13716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1572768" y="14447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개요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572768" y="1719072"/>
            <a:ext cx="1371600" cy="274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2990088" y="1444752"/>
            <a:ext cx="1371600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2990088" y="14447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인력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407408" y="1444752"/>
            <a:ext cx="1371600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4407408" y="14447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일정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824728" y="1444752"/>
            <a:ext cx="1371600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5824728" y="14447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572768" y="1792224"/>
            <a:ext cx="3474720" cy="316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1682496" y="190195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고객사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852928" y="190195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A금융그룹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682496" y="2322576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기간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852928" y="2322576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2025.03.01 ~ 2026.12.31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682496" y="274320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852928" y="274320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 부장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682496" y="316382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 유형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852928" y="316382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T&amp;M (시간·재료)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1682496" y="358444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계약금액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852928" y="358444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12억 원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682496" y="400507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진척도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852928" y="400507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1682496" y="4462272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진척도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670048" y="4517136"/>
            <a:ext cx="2194560" cy="109728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2670048" y="4517136"/>
            <a:ext cx="1492301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4974336" y="4462272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193792" y="1792224"/>
            <a:ext cx="3785616" cy="316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5303520" y="1901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인력  (7명)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266944" y="2157984"/>
            <a:ext cx="72237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5303520" y="2157984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998464" y="2157984"/>
            <a:ext cx="566928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6035040" y="2157984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6565392" y="2157984"/>
            <a:ext cx="566928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6601968" y="2157984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132320" y="2157984"/>
            <a:ext cx="713232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7168896" y="2157984"/>
            <a:ext cx="6766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투입일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845552" y="2157984"/>
            <a:ext cx="786384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7882128" y="2157984"/>
            <a:ext cx="7498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철수예정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193792" y="2414016"/>
            <a:ext cx="3785616" cy="3840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5303520" y="2414016"/>
            <a:ext cx="685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6035040" y="2414016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6601968" y="2414016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7168896" y="2414016"/>
            <a:ext cx="6766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25.03.01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7882128" y="2414016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26.12.31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303520" y="2798064"/>
            <a:ext cx="685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6035040" y="2798064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6601968" y="2798064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7168896" y="2798064"/>
            <a:ext cx="6766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25.03.01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7882128" y="2798064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26.09.30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5193792" y="3182112"/>
            <a:ext cx="3785616" cy="3840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Text 77"/>
          <p:cNvSpPr/>
          <p:nvPr/>
        </p:nvSpPr>
        <p:spPr>
          <a:xfrm>
            <a:off x="5303520" y="3182112"/>
            <a:ext cx="685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6035040" y="3182112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6601968" y="3182112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7168896" y="3182112"/>
            <a:ext cx="6766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25.05.01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7882128" y="3182112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26.12.31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303520" y="3566160"/>
            <a:ext cx="685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6035040" y="3566160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6601968" y="3566160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7168896" y="3566160"/>
            <a:ext cx="6766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25.05.01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7882128" y="3566160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26.06.30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5193792" y="3950208"/>
            <a:ext cx="3785616" cy="3840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" name="Text 88"/>
          <p:cNvSpPr/>
          <p:nvPr/>
        </p:nvSpPr>
        <p:spPr>
          <a:xfrm>
            <a:off x="5303520" y="3950208"/>
            <a:ext cx="685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6035040" y="3950208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6601968" y="3950208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7168896" y="3950208"/>
            <a:ext cx="6766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25.08.01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7882128" y="3950208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26.12.31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5303520" y="449884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 스택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303520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7" name="Text 95"/>
          <p:cNvSpPr/>
          <p:nvPr/>
        </p:nvSpPr>
        <p:spPr>
          <a:xfrm>
            <a:off x="5303520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5815584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9" name="Text 97"/>
          <p:cNvSpPr/>
          <p:nvPr/>
        </p:nvSpPr>
        <p:spPr>
          <a:xfrm>
            <a:off x="5815584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6327648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1" name="Text 99"/>
          <p:cNvSpPr/>
          <p:nvPr/>
        </p:nvSpPr>
        <p:spPr>
          <a:xfrm>
            <a:off x="6327648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6839712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Text 101"/>
          <p:cNvSpPr/>
          <p:nvPr/>
        </p:nvSpPr>
        <p:spPr>
          <a:xfrm>
            <a:off x="6839712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iBatis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7351776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5" name="Text 103"/>
          <p:cNvSpPr/>
          <p:nvPr/>
        </p:nvSpPr>
        <p:spPr>
          <a:xfrm>
            <a:off x="7351776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MSA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7863840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7" name="Text 105"/>
          <p:cNvSpPr/>
          <p:nvPr/>
        </p:nvSpPr>
        <p:spPr>
          <a:xfrm>
            <a:off x="7863840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en-US" sz="750" dirty="0"/>
          </a:p>
        </p:txBody>
      </p:sp>
      <p:sp>
        <p:nvSpPr>
          <p:cNvPr id="108" name="Shape 106"/>
          <p:cNvSpPr/>
          <p:nvPr/>
        </p:nvSpPr>
        <p:spPr>
          <a:xfrm>
            <a:off x="8375904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Text 107"/>
          <p:cNvSpPr/>
          <p:nvPr/>
        </p:nvSpPr>
        <p:spPr>
          <a:xfrm>
            <a:off x="8375904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 배정  ·  /projects/:id/assign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프로젝트 상세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572768" y="106070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인력 배정  —  A금융 차세대 코어뱅킹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572768" y="1444752"/>
            <a:ext cx="74066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682496" y="155448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가용 인력 필터: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15184" y="1554480"/>
            <a:ext cx="138988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2670048" y="1554480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▾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078224" y="1554480"/>
            <a:ext cx="138988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4133088" y="1554480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투입률(현재) ▾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41264" y="1554480"/>
            <a:ext cx="138988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5596128" y="1554480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경력 ▾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004304" y="1554480"/>
            <a:ext cx="138988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7059168" y="1554480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 ▾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8723376" y="1554480"/>
            <a:ext cx="237744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8723376" y="1554480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초기화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572768" y="1956816"/>
            <a:ext cx="457200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1682496" y="2066544"/>
            <a:ext cx="4297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가용 인력 목록  (벤치 8명)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645920" y="2322576"/>
            <a:ext cx="67665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1682496" y="2322576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313432" y="2322576"/>
            <a:ext cx="67665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2350008" y="2322576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2980944" y="2322576"/>
            <a:ext cx="149961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3017520" y="2322576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480560" y="2322576"/>
            <a:ext cx="731520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4517136" y="2322576"/>
            <a:ext cx="6949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 투입률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559552" y="2322576"/>
            <a:ext cx="548640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5596128" y="2322576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1572768" y="2578608"/>
            <a:ext cx="457200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1682496" y="257860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2350008" y="257860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3017520" y="2578608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Java·Spring·React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17136" y="2578608"/>
            <a:ext cx="6949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669280" y="2651760"/>
            <a:ext cx="201168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5669280" y="265176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1682496" y="29077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2350008" y="29077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3017520" y="2907792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Figma·CSS·React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17136" y="2907792"/>
            <a:ext cx="6949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669280" y="2980944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1572768" y="3236976"/>
            <a:ext cx="457200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1682496" y="3236976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2350008" y="3236976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3017520" y="3236976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Python·Django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4517136" y="3236976"/>
            <a:ext cx="6949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669280" y="3310128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1682496" y="356616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2350008" y="356616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3017520" y="35661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4517136" y="3566160"/>
            <a:ext cx="6949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5669280" y="363931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Shape 70"/>
          <p:cNvSpPr/>
          <p:nvPr/>
        </p:nvSpPr>
        <p:spPr>
          <a:xfrm>
            <a:off x="1572768" y="3895344"/>
            <a:ext cx="457200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Text 71"/>
          <p:cNvSpPr/>
          <p:nvPr/>
        </p:nvSpPr>
        <p:spPr>
          <a:xfrm>
            <a:off x="1682496" y="3895344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2350008" y="3895344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3017520" y="3895344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Java·Oracle·React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4517136" y="3895344"/>
            <a:ext cx="6949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5669280" y="3968496"/>
            <a:ext cx="201168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76"/>
          <p:cNvSpPr/>
          <p:nvPr/>
        </p:nvSpPr>
        <p:spPr>
          <a:xfrm>
            <a:off x="5669280" y="39684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1682496" y="422452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2350008" y="422452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3017520" y="4224528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Java·Spring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4517136" y="4224528"/>
            <a:ext cx="6949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5669280" y="4297680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Shape 82"/>
          <p:cNvSpPr/>
          <p:nvPr/>
        </p:nvSpPr>
        <p:spPr>
          <a:xfrm>
            <a:off x="6291072" y="1956816"/>
            <a:ext cx="2706624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5" name="Text 83"/>
          <p:cNvSpPr/>
          <p:nvPr/>
        </p:nvSpPr>
        <p:spPr>
          <a:xfrm>
            <a:off x="6400800" y="2066544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배정 설정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6345936" y="2322576"/>
            <a:ext cx="2596896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7" name="Text 85"/>
          <p:cNvSpPr/>
          <p:nvPr/>
        </p:nvSpPr>
        <p:spPr>
          <a:xfrm>
            <a:off x="6400800" y="239572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 인력: 김민준, 정다은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6400800" y="2642616"/>
            <a:ext cx="24688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 *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400800" y="2798064"/>
            <a:ext cx="24688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" name="Text 88"/>
          <p:cNvSpPr/>
          <p:nvPr/>
        </p:nvSpPr>
        <p:spPr>
          <a:xfrm>
            <a:off x="6455664" y="2798064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· PL · 개발 · QA · 디자인 ▾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6400800" y="3118104"/>
            <a:ext cx="117043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*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6400800" y="3273552"/>
            <a:ext cx="117043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3" name="Text 91"/>
          <p:cNvSpPr/>
          <p:nvPr/>
        </p:nvSpPr>
        <p:spPr>
          <a:xfrm>
            <a:off x="6455664" y="3273552"/>
            <a:ext cx="1078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▾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7626096" y="3273552"/>
            <a:ext cx="124358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5" name="Text 93"/>
          <p:cNvSpPr/>
          <p:nvPr/>
        </p:nvSpPr>
        <p:spPr>
          <a:xfrm>
            <a:off x="7680960" y="3273552"/>
            <a:ext cx="11521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6400800" y="3520440"/>
            <a:ext cx="117043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시작일 *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6400800" y="3675888"/>
            <a:ext cx="117043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8" name="Text 96"/>
          <p:cNvSpPr/>
          <p:nvPr/>
        </p:nvSpPr>
        <p:spPr>
          <a:xfrm>
            <a:off x="6455664" y="3675888"/>
            <a:ext cx="1078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2026.06.01 📅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7626096" y="3520440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 예정일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626096" y="3675888"/>
            <a:ext cx="124358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1" name="Text 99"/>
          <p:cNvSpPr/>
          <p:nvPr/>
        </p:nvSpPr>
        <p:spPr>
          <a:xfrm>
            <a:off x="7680960" y="3675888"/>
            <a:ext cx="11521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2026.12.31 📅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6400800" y="4169664"/>
            <a:ext cx="2468880" cy="31089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Text 101"/>
          <p:cNvSpPr/>
          <p:nvPr/>
        </p:nvSpPr>
        <p:spPr>
          <a:xfrm>
            <a:off x="6400800" y="416966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배정 확정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1572768" y="5047488"/>
            <a:ext cx="7406640" cy="237744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5" name="Text 103"/>
          <p:cNvSpPr/>
          <p:nvPr/>
        </p:nvSpPr>
        <p:spPr>
          <a:xfrm>
            <a:off x="1682496" y="5047488"/>
            <a:ext cx="7223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배정 확정 시 투입 현황 자동 갱신  ·  해당 직원 이메일 알림 발송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현황  ·  /projects/status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전체 투입 현황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엑셀 저장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572768" y="1207008"/>
            <a:ext cx="1719072" cy="347472"/>
          </a:xfrm>
          <a:prstGeom prst="rect">
            <a:avLst/>
          </a:prstGeom>
          <a:solidFill>
            <a:srgbClr val="E6F1FB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166420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 32명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55848" y="1207008"/>
            <a:ext cx="1719072" cy="347472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344728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중  26명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38928" y="1207008"/>
            <a:ext cx="1719072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523036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 6명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922008" y="1207008"/>
            <a:ext cx="1719072" cy="347472"/>
          </a:xfrm>
          <a:prstGeom prst="rect">
            <a:avLst/>
          </a:prstGeom>
          <a:solidFill>
            <a:srgbClr val="F1EFE8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701344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 1명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572768" y="1645920"/>
            <a:ext cx="7406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1682496" y="1737360"/>
            <a:ext cx="1261872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1737360" y="1737360"/>
            <a:ext cx="1170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 ▾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017520" y="1737360"/>
            <a:ext cx="1261872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3072384" y="1737360"/>
            <a:ext cx="1170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 ▾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352544" y="1737360"/>
            <a:ext cx="1261872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4407408" y="1737360"/>
            <a:ext cx="1170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철수 임박(30일) ▾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516368" y="1737360"/>
            <a:ext cx="457200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7516368" y="173736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초기화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046720" y="1737360"/>
            <a:ext cx="914400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8046720" y="173736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조회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572768" y="2103120"/>
            <a:ext cx="740664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1609344" y="2121408"/>
            <a:ext cx="76809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1645920" y="212140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340864" y="2121408"/>
            <a:ext cx="65836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2377440" y="2121408"/>
            <a:ext cx="6217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962656" y="2121408"/>
            <a:ext cx="1728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2999232" y="2121408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프로젝트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4654296" y="2121408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4690872" y="212140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5202936" y="2121408"/>
            <a:ext cx="53949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5239512" y="2121408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705856" y="2121408"/>
            <a:ext cx="72237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5742432" y="212140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투입일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391656" y="2121408"/>
            <a:ext cx="8138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6428232" y="212140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철수 예정일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168896" y="2121408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7205472" y="212140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1572768" y="2414016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1645920" y="2414016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377440" y="2414016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2999232" y="2414016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690872" y="241401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5239512" y="241401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5742432" y="241401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25.03.01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6428232" y="2414016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26.09.30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7205472" y="2496312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9"/>
          <p:cNvSpPr/>
          <p:nvPr/>
        </p:nvSpPr>
        <p:spPr>
          <a:xfrm>
            <a:off x="7205472" y="249631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1645920" y="2761488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2377440" y="2761488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2999232" y="276148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4690872" y="276148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239512" y="276148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742432" y="2761488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6428232" y="2761488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7205472" y="2843784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7205472" y="284378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1572768" y="3108960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Text 80"/>
          <p:cNvSpPr/>
          <p:nvPr/>
        </p:nvSpPr>
        <p:spPr>
          <a:xfrm>
            <a:off x="1645920" y="3108960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2377440" y="3108960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2999232" y="3108960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4690872" y="310896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5239512" y="31089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5742432" y="3108960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24.12.01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6428232" y="3108960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26.03.31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205472" y="319125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" name="Text 88"/>
          <p:cNvSpPr/>
          <p:nvPr/>
        </p:nvSpPr>
        <p:spPr>
          <a:xfrm>
            <a:off x="7205472" y="319125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1645920" y="3456432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2377440" y="3456432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2999232" y="3456432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4690872" y="3456432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5239512" y="345643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5742432" y="3456432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25.08.01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6428232" y="3456432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26.06.15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7205472" y="3538728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9" name="Text 97"/>
          <p:cNvSpPr/>
          <p:nvPr/>
        </p:nvSpPr>
        <p:spPr>
          <a:xfrm>
            <a:off x="7205472" y="353872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임박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1572768" y="3803904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1" name="Text 99"/>
          <p:cNvSpPr/>
          <p:nvPr/>
        </p:nvSpPr>
        <p:spPr>
          <a:xfrm>
            <a:off x="1645920" y="3803904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2377440" y="3803904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103" name="Text 101"/>
          <p:cNvSpPr/>
          <p:nvPr/>
        </p:nvSpPr>
        <p:spPr>
          <a:xfrm>
            <a:off x="2999232" y="3803904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 ERP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4690872" y="3803904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5239512" y="380390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106" name="Text 104"/>
          <p:cNvSpPr/>
          <p:nvPr/>
        </p:nvSpPr>
        <p:spPr>
          <a:xfrm>
            <a:off x="5742432" y="3803904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25.06.01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6428232" y="3803904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26.06.28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7205472" y="3886200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Text 107"/>
          <p:cNvSpPr/>
          <p:nvPr/>
        </p:nvSpPr>
        <p:spPr>
          <a:xfrm>
            <a:off x="7205472" y="388620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임박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645920" y="4151376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111" name="Text 109"/>
          <p:cNvSpPr/>
          <p:nvPr/>
        </p:nvSpPr>
        <p:spPr>
          <a:xfrm>
            <a:off x="2377440" y="4151376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</a:t>
            </a:r>
            <a:endParaRPr lang="en-US" sz="850" dirty="0"/>
          </a:p>
        </p:txBody>
      </p:sp>
      <p:sp>
        <p:nvSpPr>
          <p:cNvPr id="112" name="Text 110"/>
          <p:cNvSpPr/>
          <p:nvPr/>
        </p:nvSpPr>
        <p:spPr>
          <a:xfrm>
            <a:off x="2999232" y="4151376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CRM</a:t>
            </a:r>
            <a:endParaRPr lang="en-US" sz="850" dirty="0"/>
          </a:p>
        </p:txBody>
      </p:sp>
      <p:sp>
        <p:nvSpPr>
          <p:cNvPr id="113" name="Text 111"/>
          <p:cNvSpPr/>
          <p:nvPr/>
        </p:nvSpPr>
        <p:spPr>
          <a:xfrm>
            <a:off x="4690872" y="415137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850" dirty="0"/>
          </a:p>
        </p:txBody>
      </p:sp>
      <p:sp>
        <p:nvSpPr>
          <p:cNvPr id="114" name="Text 112"/>
          <p:cNvSpPr/>
          <p:nvPr/>
        </p:nvSpPr>
        <p:spPr>
          <a:xfrm>
            <a:off x="5239512" y="41513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115" name="Text 113"/>
          <p:cNvSpPr/>
          <p:nvPr/>
        </p:nvSpPr>
        <p:spPr>
          <a:xfrm>
            <a:off x="5742432" y="415137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24.01.01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6428232" y="4151376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25.12.31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7205472" y="4233672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8" name="Text 116"/>
          <p:cNvSpPr/>
          <p:nvPr/>
        </p:nvSpPr>
        <p:spPr>
          <a:xfrm>
            <a:off x="7205472" y="42336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근무 보고 (간소화)  ·  /attendance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277063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0" y="2770632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월별 근무 보고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72768" y="113385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5월 기준  ·  제출 마감: 5월 31일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572768" y="1389888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682496" y="149961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이번달 내 근무 보고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682496" y="1691640"/>
            <a:ext cx="1554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근무일수 *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682496" y="1847088"/>
            <a:ext cx="1554480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1737360" y="184708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383280" y="1691640"/>
            <a:ext cx="162763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초과근무(시간)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383280" y="1847088"/>
            <a:ext cx="1627632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3438144" y="1847088"/>
            <a:ext cx="1536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682496" y="2267712"/>
            <a:ext cx="32918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특이사항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682496" y="2432304"/>
            <a:ext cx="3346704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1755648" y="2432304"/>
            <a:ext cx="320040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특이사항 입력...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3088" y="2944368"/>
            <a:ext cx="969264" cy="2743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4133088" y="2944368"/>
            <a:ext cx="969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제출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572768" y="3310128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1682496" y="341985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보고 이력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682496" y="3694176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4월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651760" y="369417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 22일  초과 4시간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517136" y="374904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4517136" y="374904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682496" y="402336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3월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51760" y="402336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 21일  초과 0시간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17136" y="407822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4517136" y="407822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682496" y="435254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2월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51760" y="4352544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 20일  초과 12시간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17136" y="4407408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4517136" y="440740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5276088" y="1389888"/>
            <a:ext cx="363016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5385816" y="1499616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보고 현황  (Manager 뷰)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5276088" y="1773936"/>
            <a:ext cx="3630168" cy="256032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5385816" y="1773936"/>
            <a:ext cx="3456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미제출: 2명 (박지훈, 홍길동)  —  알림 발송 가능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5349240" y="2066544"/>
            <a:ext cx="72237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5385816" y="2066544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035040" y="2066544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6071616" y="206654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537960" y="2066544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6574536" y="206654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초과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7040880" y="2066544"/>
            <a:ext cx="694944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7077456" y="206654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제출상태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699248" y="2066544"/>
            <a:ext cx="67665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7735824" y="2066544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276088" y="2322576"/>
            <a:ext cx="3630168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5385816" y="232257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071616" y="23225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6574536" y="23225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8h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7077456" y="2404872"/>
            <a:ext cx="566928" cy="182880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9"/>
          <p:cNvSpPr/>
          <p:nvPr/>
        </p:nvSpPr>
        <p:spPr>
          <a:xfrm>
            <a:off x="7077456" y="24048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제출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7735824" y="2322576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385816" y="2670048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6071616" y="267004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6574536" y="267004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0h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077456" y="275234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Text 75"/>
          <p:cNvSpPr/>
          <p:nvPr/>
        </p:nvSpPr>
        <p:spPr>
          <a:xfrm>
            <a:off x="7077456" y="275234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7735824" y="2670048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276088" y="3017520"/>
            <a:ext cx="3630168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5385816" y="3017520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6071616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6574536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7077456" y="3099816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/>
          <p:cNvSpPr/>
          <p:nvPr/>
        </p:nvSpPr>
        <p:spPr>
          <a:xfrm>
            <a:off x="7077456" y="309981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미제출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7735824" y="3099816"/>
            <a:ext cx="548640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Text 84"/>
          <p:cNvSpPr/>
          <p:nvPr/>
        </p:nvSpPr>
        <p:spPr>
          <a:xfrm>
            <a:off x="7735824" y="3099816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알림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5385816" y="3364992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6071616" y="33649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6574536" y="33649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0h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7077456" y="3447288"/>
            <a:ext cx="566928" cy="182880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1" name="Text 89"/>
          <p:cNvSpPr/>
          <p:nvPr/>
        </p:nvSpPr>
        <p:spPr>
          <a:xfrm>
            <a:off x="7077456" y="344728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제출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7735824" y="3364992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5276088" y="3712464"/>
            <a:ext cx="3630168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Text 92"/>
          <p:cNvSpPr/>
          <p:nvPr/>
        </p:nvSpPr>
        <p:spPr>
          <a:xfrm>
            <a:off x="5385816" y="3712464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6071616" y="371246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6574536" y="371246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4h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7077456" y="379476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8" name="Text 96"/>
          <p:cNvSpPr/>
          <p:nvPr/>
        </p:nvSpPr>
        <p:spPr>
          <a:xfrm>
            <a:off x="7077456" y="379476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7735824" y="3712464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00" name="Text 98"/>
          <p:cNvSpPr/>
          <p:nvPr/>
        </p:nvSpPr>
        <p:spPr>
          <a:xfrm>
            <a:off x="5385816" y="405993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6071616" y="405993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6574536" y="405993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7077456" y="4142232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4" name="Text 102"/>
          <p:cNvSpPr/>
          <p:nvPr/>
        </p:nvSpPr>
        <p:spPr>
          <a:xfrm>
            <a:off x="7077456" y="414223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미제출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7735824" y="4142232"/>
            <a:ext cx="548640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Text 104"/>
          <p:cNvSpPr/>
          <p:nvPr/>
        </p:nvSpPr>
        <p:spPr>
          <a:xfrm>
            <a:off x="7735824" y="414223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알림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관리  ·  /attendance/leave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277063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0" y="2770632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휴가 관리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572768" y="1207008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1700784" y="131673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 현황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186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부여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2186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15일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902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5902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6일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9618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잔여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9618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9일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3334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신청중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3334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1일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1572768" y="1956816"/>
            <a:ext cx="356616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1700784" y="206654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신청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664208" y="2322576"/>
            <a:ext cx="338328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1700784" y="2395728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종류 *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700784" y="2578608"/>
            <a:ext cx="621792" cy="23774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1700784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377440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2377440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반차(오전)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4096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3054096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반차(오후)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730752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3730752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병가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407408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4407408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경조사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1700784" y="2825496"/>
            <a:ext cx="16642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시작일 *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1700784" y="2980944"/>
            <a:ext cx="1664208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1755648" y="2980944"/>
            <a:ext cx="1572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2026.05.28 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3493008" y="2825496"/>
            <a:ext cx="160934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종료일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3493008" y="2980944"/>
            <a:ext cx="160934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3547872" y="2980944"/>
            <a:ext cx="1517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2026.05.28 📅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1700784" y="3383280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사유 *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1700784" y="3566160"/>
            <a:ext cx="3310128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1773936" y="3566160"/>
            <a:ext cx="316382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사유 입력...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700784" y="4114800"/>
            <a:ext cx="3310128" cy="274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1773936" y="4114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현장 투입 중 휴가 시 프로젝트 PM에게도 알림 자동 발송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224528" y="4480560"/>
            <a:ext cx="804672" cy="2743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4224528" y="4480560"/>
            <a:ext cx="804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신청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310128" y="4480560"/>
            <a:ext cx="8046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3310128" y="4480560"/>
            <a:ext cx="804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초기화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276088" y="1956816"/>
            <a:ext cx="3630168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5385816" y="2066544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신청 내역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303520" y="2322576"/>
            <a:ext cx="356616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5276088" y="2450592"/>
            <a:ext cx="3630168" cy="3840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5385816" y="245059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5925312" y="245059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05.28 ~ 05.28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7333488" y="2450592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1일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808976" y="2551176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9"/>
          <p:cNvSpPr/>
          <p:nvPr/>
        </p:nvSpPr>
        <p:spPr>
          <a:xfrm>
            <a:off x="7808976" y="255117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승인대기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385816" y="283464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반차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5925312" y="2834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05.15 ~ 05.15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7333488" y="283464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0.5일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808976" y="293522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Text 74"/>
          <p:cNvSpPr/>
          <p:nvPr/>
        </p:nvSpPr>
        <p:spPr>
          <a:xfrm>
            <a:off x="7808976" y="293522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5276088" y="3218688"/>
            <a:ext cx="3630168" cy="3840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76"/>
          <p:cNvSpPr/>
          <p:nvPr/>
        </p:nvSpPr>
        <p:spPr>
          <a:xfrm>
            <a:off x="5385816" y="321868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5925312" y="321868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05.01 ~ 05.02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7333488" y="3218688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2일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7808976" y="3319272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Text 80"/>
          <p:cNvSpPr/>
          <p:nvPr/>
        </p:nvSpPr>
        <p:spPr>
          <a:xfrm>
            <a:off x="7808976" y="33192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5385816" y="360273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병가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5925312" y="360273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04.20 ~ 04.21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7333488" y="360273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2일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7808976" y="370332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7" name="Text 85"/>
          <p:cNvSpPr/>
          <p:nvPr/>
        </p:nvSpPr>
        <p:spPr>
          <a:xfrm>
            <a:off x="7808976" y="370332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통계/리포트 (투입 분석 중심)  ·  /reports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0" y="3374136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0" y="3374136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통계 / 리포트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90688" y="877824"/>
            <a:ext cx="65836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7790688" y="877824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저장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485632" y="877824"/>
            <a:ext cx="493776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485632" y="877824"/>
            <a:ext cx="493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엑셀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572768" y="1207008"/>
            <a:ext cx="7406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1664208" y="1298448"/>
            <a:ext cx="749808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1664208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이번달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468880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2468880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지난달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73552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3273552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분기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078224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078224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연도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882896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4882896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직접입력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572768" y="1664208"/>
            <a:ext cx="35661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1682496" y="177393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프로젝트별 투입 인원 (5월)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682496" y="206654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743200" y="212140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2743200" y="2121408"/>
            <a:ext cx="1420978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4846320" y="206654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682496" y="238658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 ERP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2743200" y="244144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2743200" y="2441448"/>
            <a:ext cx="1014984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4846320" y="238658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5명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682496" y="270662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743200" y="276148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2743200" y="2761488"/>
            <a:ext cx="1623974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4846320" y="270662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8명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1682496" y="302666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 (예정)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2743200" y="308152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2743200" y="3081528"/>
            <a:ext cx="0" cy="14630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4846320" y="302666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0명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682496" y="334670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(완료)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743200" y="340156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2743200" y="3401568"/>
            <a:ext cx="1217981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4846320" y="334670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6명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5276088" y="1664208"/>
            <a:ext cx="3630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5385816" y="1773936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추이 (월별)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376672" y="2679192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5175504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1월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248656" y="2551176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5431536" y="2734056"/>
            <a:ext cx="662026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Shape 65"/>
          <p:cNvSpPr/>
          <p:nvPr/>
        </p:nvSpPr>
        <p:spPr>
          <a:xfrm>
            <a:off x="6038698" y="2598725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5837530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2월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910682" y="2470709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6093562" y="2653589"/>
            <a:ext cx="662026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Shape 69"/>
          <p:cNvSpPr/>
          <p:nvPr/>
        </p:nvSpPr>
        <p:spPr>
          <a:xfrm>
            <a:off x="6700723" y="2558491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6499555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3월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572707" y="2430475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6755587" y="2613355"/>
            <a:ext cx="662026" cy="20117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Shape 73"/>
          <p:cNvSpPr/>
          <p:nvPr/>
        </p:nvSpPr>
        <p:spPr>
          <a:xfrm>
            <a:off x="7362749" y="2578608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Text 74"/>
          <p:cNvSpPr/>
          <p:nvPr/>
        </p:nvSpPr>
        <p:spPr>
          <a:xfrm>
            <a:off x="7161581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4월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7234733" y="2450592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7417613" y="2633472"/>
            <a:ext cx="662026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Shape 77"/>
          <p:cNvSpPr/>
          <p:nvPr/>
        </p:nvSpPr>
        <p:spPr>
          <a:xfrm>
            <a:off x="8024774" y="2528316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7823606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5월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7896758" y="2400300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8079638" y="2583180"/>
            <a:ext cx="662026" cy="40234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Shape 81"/>
          <p:cNvSpPr/>
          <p:nvPr/>
        </p:nvSpPr>
        <p:spPr>
          <a:xfrm>
            <a:off x="8686800" y="2568550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/>
          <p:cNvSpPr/>
          <p:nvPr/>
        </p:nvSpPr>
        <p:spPr>
          <a:xfrm>
            <a:off x="8485632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6월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8558784" y="2440534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700" dirty="0"/>
          </a:p>
        </p:txBody>
      </p:sp>
      <p:sp>
        <p:nvSpPr>
          <p:cNvPr id="86" name="Shape 84"/>
          <p:cNvSpPr/>
          <p:nvPr/>
        </p:nvSpPr>
        <p:spPr>
          <a:xfrm>
            <a:off x="1572768" y="3858768"/>
            <a:ext cx="7406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7" name="Text 85"/>
          <p:cNvSpPr/>
          <p:nvPr/>
        </p:nvSpPr>
        <p:spPr>
          <a:xfrm>
            <a:off x="1682496" y="396849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개인별 투입 요약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1627632" y="4169664"/>
            <a:ext cx="76809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9" name="Text 87"/>
          <p:cNvSpPr/>
          <p:nvPr/>
        </p:nvSpPr>
        <p:spPr>
          <a:xfrm>
            <a:off x="1664208" y="4169664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2359152" y="4169664"/>
            <a:ext cx="63093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1" name="Text 89"/>
          <p:cNvSpPr/>
          <p:nvPr/>
        </p:nvSpPr>
        <p:spPr>
          <a:xfrm>
            <a:off x="2395728" y="4169664"/>
            <a:ext cx="594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2953512" y="4169664"/>
            <a:ext cx="177393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3" name="Text 91"/>
          <p:cNvSpPr/>
          <p:nvPr/>
        </p:nvSpPr>
        <p:spPr>
          <a:xfrm>
            <a:off x="2990088" y="4169664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프로젝트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690872" y="4169664"/>
            <a:ext cx="53949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5" name="Text 93"/>
          <p:cNvSpPr/>
          <p:nvPr/>
        </p:nvSpPr>
        <p:spPr>
          <a:xfrm>
            <a:off x="4727448" y="4169664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5193792" y="4169664"/>
            <a:ext cx="49377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7" name="Text 95"/>
          <p:cNvSpPr/>
          <p:nvPr/>
        </p:nvSpPr>
        <p:spPr>
          <a:xfrm>
            <a:off x="5230368" y="4169664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5650992" y="4169664"/>
            <a:ext cx="104241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9" name="Text 97"/>
          <p:cNvSpPr/>
          <p:nvPr/>
        </p:nvSpPr>
        <p:spPr>
          <a:xfrm>
            <a:off x="5687568" y="416966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투입기간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6656832" y="4169664"/>
            <a:ext cx="603504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1" name="Text 99"/>
          <p:cNvSpPr/>
          <p:nvPr/>
        </p:nvSpPr>
        <p:spPr>
          <a:xfrm>
            <a:off x="6693408" y="4169664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1572768" y="4370832"/>
            <a:ext cx="7406640" cy="182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Text 101"/>
          <p:cNvSpPr/>
          <p:nvPr/>
        </p:nvSpPr>
        <p:spPr>
          <a:xfrm>
            <a:off x="1664208" y="438912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00" dirty="0"/>
          </a:p>
        </p:txBody>
      </p:sp>
      <p:sp>
        <p:nvSpPr>
          <p:cNvPr id="104" name="Text 102"/>
          <p:cNvSpPr/>
          <p:nvPr/>
        </p:nvSpPr>
        <p:spPr>
          <a:xfrm>
            <a:off x="2395728" y="4389120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00" dirty="0"/>
          </a:p>
        </p:txBody>
      </p:sp>
      <p:sp>
        <p:nvSpPr>
          <p:cNvPr id="105" name="Text 103"/>
          <p:cNvSpPr/>
          <p:nvPr/>
        </p:nvSpPr>
        <p:spPr>
          <a:xfrm>
            <a:off x="2990088" y="438912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00" dirty="0"/>
          </a:p>
        </p:txBody>
      </p:sp>
      <p:sp>
        <p:nvSpPr>
          <p:cNvPr id="106" name="Text 104"/>
          <p:cNvSpPr/>
          <p:nvPr/>
        </p:nvSpPr>
        <p:spPr>
          <a:xfrm>
            <a:off x="4727448" y="43891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00" dirty="0"/>
          </a:p>
        </p:txBody>
      </p:sp>
      <p:sp>
        <p:nvSpPr>
          <p:cNvPr id="107" name="Text 105"/>
          <p:cNvSpPr/>
          <p:nvPr/>
        </p:nvSpPr>
        <p:spPr>
          <a:xfrm>
            <a:off x="5230368" y="43891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5687568" y="43891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25.03~26.09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6693408" y="438912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664208" y="45720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00" dirty="0"/>
          </a:p>
        </p:txBody>
      </p:sp>
      <p:sp>
        <p:nvSpPr>
          <p:cNvPr id="111" name="Text 109"/>
          <p:cNvSpPr/>
          <p:nvPr/>
        </p:nvSpPr>
        <p:spPr>
          <a:xfrm>
            <a:off x="2395728" y="4572000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00" dirty="0"/>
          </a:p>
        </p:txBody>
      </p:sp>
      <p:sp>
        <p:nvSpPr>
          <p:cNvPr id="112" name="Text 110"/>
          <p:cNvSpPr/>
          <p:nvPr/>
        </p:nvSpPr>
        <p:spPr>
          <a:xfrm>
            <a:off x="2990088" y="457200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00" dirty="0"/>
          </a:p>
        </p:txBody>
      </p:sp>
      <p:sp>
        <p:nvSpPr>
          <p:cNvPr id="113" name="Text 111"/>
          <p:cNvSpPr/>
          <p:nvPr/>
        </p:nvSpPr>
        <p:spPr>
          <a:xfrm>
            <a:off x="4727448" y="457200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5230368" y="457200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5687568" y="457200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116" name="Text 114"/>
          <p:cNvSpPr/>
          <p:nvPr/>
        </p:nvSpPr>
        <p:spPr>
          <a:xfrm>
            <a:off x="6693408" y="457200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00" dirty="0"/>
          </a:p>
        </p:txBody>
      </p:sp>
      <p:sp>
        <p:nvSpPr>
          <p:cNvPr id="117" name="Shape 115"/>
          <p:cNvSpPr/>
          <p:nvPr/>
        </p:nvSpPr>
        <p:spPr>
          <a:xfrm>
            <a:off x="1572768" y="4736592"/>
            <a:ext cx="7406640" cy="182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8" name="Text 116"/>
          <p:cNvSpPr/>
          <p:nvPr/>
        </p:nvSpPr>
        <p:spPr>
          <a:xfrm>
            <a:off x="1664208" y="47548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00" dirty="0"/>
          </a:p>
        </p:txBody>
      </p:sp>
      <p:sp>
        <p:nvSpPr>
          <p:cNvPr id="119" name="Text 117"/>
          <p:cNvSpPr/>
          <p:nvPr/>
        </p:nvSpPr>
        <p:spPr>
          <a:xfrm>
            <a:off x="2395728" y="4754880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00" dirty="0"/>
          </a:p>
        </p:txBody>
      </p:sp>
      <p:sp>
        <p:nvSpPr>
          <p:cNvPr id="120" name="Text 118"/>
          <p:cNvSpPr/>
          <p:nvPr/>
        </p:nvSpPr>
        <p:spPr>
          <a:xfrm>
            <a:off x="2990088" y="475488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00" dirty="0"/>
          </a:p>
        </p:txBody>
      </p:sp>
      <p:sp>
        <p:nvSpPr>
          <p:cNvPr id="121" name="Text 119"/>
          <p:cNvSpPr/>
          <p:nvPr/>
        </p:nvSpPr>
        <p:spPr>
          <a:xfrm>
            <a:off x="4727448" y="475488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122" name="Text 120"/>
          <p:cNvSpPr/>
          <p:nvPr/>
        </p:nvSpPr>
        <p:spPr>
          <a:xfrm>
            <a:off x="5230368" y="475488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123" name="Text 121"/>
          <p:cNvSpPr/>
          <p:nvPr/>
        </p:nvSpPr>
        <p:spPr>
          <a:xfrm>
            <a:off x="5687568" y="475488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24.12~26.03</a:t>
            </a:r>
            <a:endParaRPr lang="en-US" sz="800" dirty="0"/>
          </a:p>
        </p:txBody>
      </p:sp>
      <p:sp>
        <p:nvSpPr>
          <p:cNvPr id="124" name="Text 122"/>
          <p:cNvSpPr/>
          <p:nvPr/>
        </p:nvSpPr>
        <p:spPr>
          <a:xfrm>
            <a:off x="6693408" y="475488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125" name="Text 123"/>
          <p:cNvSpPr/>
          <p:nvPr/>
        </p:nvSpPr>
        <p:spPr>
          <a:xfrm>
            <a:off x="1682496" y="4965192"/>
            <a:ext cx="45720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행 클릭 시 해당 직원 투입 이력 상세 팝업 표시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2262</Words>
  <Application>Microsoft Office PowerPoint</Application>
  <PresentationFormat>화면 슬라이드 쇼(16:9)</PresentationFormat>
  <Paragraphs>954</Paragraphs>
  <Slides>16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Malgun Gothic</vt:lpstr>
      <vt:lpstr>Malgun Gothic</vt:lpstr>
      <vt:lpstr>Arial</vt:lpstr>
      <vt:lpstr>Calibri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react-app-peoplify SI UI 화면 기획서 v2</dc:title>
  <dc:subject>PptxGenJS Presentation</dc:subject>
  <dc:creator>PptxGenJS</dc:creator>
  <cp:lastModifiedBy>YongJin Lee</cp:lastModifiedBy>
  <cp:revision>16</cp:revision>
  <dcterms:created xsi:type="dcterms:W3CDTF">2026-05-26T04:49:45Z</dcterms:created>
  <dcterms:modified xsi:type="dcterms:W3CDTF">2026-06-17T02:15:24Z</dcterms:modified>
</cp:coreProperties>
</file>